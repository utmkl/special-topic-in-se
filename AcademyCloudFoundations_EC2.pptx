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ink/ink1.xml" ContentType="application/inkml+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ink/ink2.xml" ContentType="application/inkml+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ink/ink3.xml" ContentType="application/inkml+xml"/>
  <Override PartName="/ppt/tags/tag35.xml" ContentType="application/vnd.openxmlformats-officedocument.presentationml.tags+xml"/>
  <Override PartName="/ppt/notesSlides/notesSlide10.xml" ContentType="application/vnd.openxmlformats-officedocument.presentationml.notesSlide+xml"/>
  <Override PartName="/ppt/ink/ink4.xml" ContentType="application/inkml+xml"/>
  <Override PartName="/ppt/tags/tag36.xml" ContentType="application/vnd.openxmlformats-officedocument.presentationml.tags+xml"/>
  <Override PartName="/ppt/notesSlides/notesSlide11.xml" ContentType="application/vnd.openxmlformats-officedocument.presentationml.notesSlide+xml"/>
  <Override PartName="/ppt/ink/ink5.xml" ContentType="application/inkml+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ink/ink6.xml" ContentType="application/inkml+xml"/>
  <Override PartName="/ppt/tags/tag39.xml" ContentType="application/vnd.openxmlformats-officedocument.presentationml.tags+xml"/>
  <Override PartName="/ppt/notesSlides/notesSlide14.xml" ContentType="application/vnd.openxmlformats-officedocument.presentationml.notesSlide+xml"/>
  <Override PartName="/ppt/ink/ink7.xml" ContentType="application/inkml+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tags/tag53.xml" ContentType="application/vnd.openxmlformats-officedocument.presentationml.tags+xml"/>
  <Override PartName="/ppt/notesSlides/notesSlide28.xml" ContentType="application/vnd.openxmlformats-officedocument.presentationml.notesSlide+xml"/>
  <Override PartName="/ppt/tags/tag54.xml" ContentType="application/vnd.openxmlformats-officedocument.presentationml.tags+xml"/>
  <Override PartName="/ppt/notesSlides/notesSlide29.xml" ContentType="application/vnd.openxmlformats-officedocument.presentationml.notesSlide+xml"/>
  <Override PartName="/ppt/tags/tag55.xml" ContentType="application/vnd.openxmlformats-officedocument.presentationml.tags+xml"/>
  <Override PartName="/ppt/notesSlides/notesSlide30.xml" ContentType="application/vnd.openxmlformats-officedocument.presentationml.notesSlide+xml"/>
  <Override PartName="/ppt/tags/tag56.xml" ContentType="application/vnd.openxmlformats-officedocument.presentationml.tags+xml"/>
  <Override PartName="/ppt/notesSlides/notesSlide31.xml" ContentType="application/vnd.openxmlformats-officedocument.presentationml.notesSlide+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notesSlides/notesSlide33.xml" ContentType="application/vnd.openxmlformats-officedocument.presentationml.notesSlide+xml"/>
  <Override PartName="/ppt/tags/tag59.xml" ContentType="application/vnd.openxmlformats-officedocument.presentationml.tags+xml"/>
  <Override PartName="/ppt/notesSlides/notesSlide34.xml" ContentType="application/vnd.openxmlformats-officedocument.presentationml.notesSlide+xml"/>
  <Override PartName="/ppt/tags/tag60.xml" ContentType="application/vnd.openxmlformats-officedocument.presentationml.tags+xml"/>
  <Override PartName="/ppt/notesSlides/notesSlide35.xml" ContentType="application/vnd.openxmlformats-officedocument.presentationml.notesSlide+xml"/>
  <Override PartName="/ppt/tags/tag61.xml" ContentType="application/vnd.openxmlformats-officedocument.presentationml.tags+xml"/>
  <Override PartName="/ppt/notesSlides/notesSlide36.xml" ContentType="application/vnd.openxmlformats-officedocument.presentationml.notesSlide+xml"/>
  <Override PartName="/ppt/tags/tag62.xml" ContentType="application/vnd.openxmlformats-officedocument.presentationml.tags+xml"/>
  <Override PartName="/ppt/notesSlides/notesSlide37.xml" ContentType="application/vnd.openxmlformats-officedocument.presentationml.notesSlide+xml"/>
  <Override PartName="/ppt/tags/tag63.xml" ContentType="application/vnd.openxmlformats-officedocument.presentationml.tags+xml"/>
  <Override PartName="/ppt/notesSlides/notesSlide38.xml" ContentType="application/vnd.openxmlformats-officedocument.presentationml.notesSlide+xml"/>
  <Override PartName="/ppt/tags/tag64.xml" ContentType="application/vnd.openxmlformats-officedocument.presentationml.tags+xml"/>
  <Override PartName="/ppt/notesSlides/notesSlide39.xml" ContentType="application/vnd.openxmlformats-officedocument.presentationml.notesSlide+xml"/>
  <Override PartName="/ppt/tags/tag65.xml" ContentType="application/vnd.openxmlformats-officedocument.presentationml.tags+xml"/>
  <Override PartName="/ppt/notesSlides/notesSlide40.xml" ContentType="application/vnd.openxmlformats-officedocument.presentationml.notesSlide+xml"/>
  <Override PartName="/ppt/tags/tag66.xml" ContentType="application/vnd.openxmlformats-officedocument.presentationml.tags+xml"/>
  <Override PartName="/ppt/notesSlides/notesSlide41.xml" ContentType="application/vnd.openxmlformats-officedocument.presentationml.notesSlide+xml"/>
  <Override PartName="/ppt/tags/tag67.xml" ContentType="application/vnd.openxmlformats-officedocument.presentationml.tags+xml"/>
  <Override PartName="/ppt/notesSlides/notesSlide42.xml" ContentType="application/vnd.openxmlformats-officedocument.presentationml.notesSlide+xml"/>
  <Override PartName="/ppt/tags/tag68.xml" ContentType="application/vnd.openxmlformats-officedocument.presentationml.tags+xml"/>
  <Override PartName="/ppt/notesSlides/notesSlide43.xml" ContentType="application/vnd.openxmlformats-officedocument.presentationml.notesSlide+xml"/>
  <Override PartName="/ppt/tags/tag69.xml" ContentType="application/vnd.openxmlformats-officedocument.presentationml.tags+xml"/>
  <Override PartName="/ppt/notesSlides/notesSlide44.xml" ContentType="application/vnd.openxmlformats-officedocument.presentationml.notesSlide+xml"/>
  <Override PartName="/ppt/tags/tag70.xml" ContentType="application/vnd.openxmlformats-officedocument.presentationml.tags+xml"/>
  <Override PartName="/ppt/notesSlides/notesSlide45.xml" ContentType="application/vnd.openxmlformats-officedocument.presentationml.notesSlide+xml"/>
  <Override PartName="/ppt/tags/tag71.xml" ContentType="application/vnd.openxmlformats-officedocument.presentationml.tags+xml"/>
  <Override PartName="/ppt/notesSlides/notesSlide46.xml" ContentType="application/vnd.openxmlformats-officedocument.presentationml.notesSlide+xml"/>
  <Override PartName="/ppt/tags/tag72.xml" ContentType="application/vnd.openxmlformats-officedocument.presentationml.tags+xml"/>
  <Override PartName="/ppt/notesSlides/notesSlide47.xml" ContentType="application/vnd.openxmlformats-officedocument.presentationml.notesSlide+xml"/>
  <Override PartName="/ppt/tags/tag73.xml" ContentType="application/vnd.openxmlformats-officedocument.presentationml.tags+xml"/>
  <Override PartName="/ppt/notesSlides/notesSlide48.xml" ContentType="application/vnd.openxmlformats-officedocument.presentationml.notesSlide+xml"/>
  <Override PartName="/ppt/tags/tag74.xml" ContentType="application/vnd.openxmlformats-officedocument.presentationml.tags+xml"/>
  <Override PartName="/ppt/notesSlides/notesSlide49.xml" ContentType="application/vnd.openxmlformats-officedocument.presentationml.notesSlide+xml"/>
  <Override PartName="/ppt/tags/tag75.xml" ContentType="application/vnd.openxmlformats-officedocument.presentationml.tags+xml"/>
  <Override PartName="/ppt/notesSlides/notesSlide50.xml" ContentType="application/vnd.openxmlformats-officedocument.presentationml.notesSlide+xml"/>
  <Override PartName="/ppt/tags/tag76.xml" ContentType="application/vnd.openxmlformats-officedocument.presentationml.tags+xml"/>
  <Override PartName="/ppt/notesSlides/notesSlide51.xml" ContentType="application/vnd.openxmlformats-officedocument.presentationml.notesSlide+xml"/>
  <Override PartName="/ppt/tags/tag77.xml" ContentType="application/vnd.openxmlformats-officedocument.presentationml.tags+xml"/>
  <Override PartName="/ppt/notesSlides/notesSlide52.xml" ContentType="application/vnd.openxmlformats-officedocument.presentationml.notesSlide+xml"/>
  <Override PartName="/ppt/tags/tag78.xml" ContentType="application/vnd.openxmlformats-officedocument.presentationml.tags+xml"/>
  <Override PartName="/ppt/notesSlides/notesSlide53.xml" ContentType="application/vnd.openxmlformats-officedocument.presentationml.notesSlide+xml"/>
  <Override PartName="/ppt/tags/tag79.xml" ContentType="application/vnd.openxmlformats-officedocument.presentationml.tags+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handoutMasterIdLst>
    <p:handoutMasterId r:id="rId58"/>
  </p:handoutMasterIdLst>
  <p:sldIdLst>
    <p:sldId id="317" r:id="rId2"/>
    <p:sldId id="613" r:id="rId3"/>
    <p:sldId id="402" r:id="rId4"/>
    <p:sldId id="445" r:id="rId5"/>
    <p:sldId id="904" r:id="rId6"/>
    <p:sldId id="926" r:id="rId7"/>
    <p:sldId id="407" r:id="rId8"/>
    <p:sldId id="357" r:id="rId9"/>
    <p:sldId id="427" r:id="rId10"/>
    <p:sldId id="875" r:id="rId11"/>
    <p:sldId id="876" r:id="rId12"/>
    <p:sldId id="898" r:id="rId13"/>
    <p:sldId id="877" r:id="rId14"/>
    <p:sldId id="375" r:id="rId15"/>
    <p:sldId id="359" r:id="rId16"/>
    <p:sldId id="903" r:id="rId17"/>
    <p:sldId id="878" r:id="rId18"/>
    <p:sldId id="879" r:id="rId19"/>
    <p:sldId id="880" r:id="rId20"/>
    <p:sldId id="881" r:id="rId21"/>
    <p:sldId id="911" r:id="rId22"/>
    <p:sldId id="912" r:id="rId23"/>
    <p:sldId id="882" r:id="rId24"/>
    <p:sldId id="883" r:id="rId25"/>
    <p:sldId id="884" r:id="rId26"/>
    <p:sldId id="913" r:id="rId27"/>
    <p:sldId id="885" r:id="rId28"/>
    <p:sldId id="301" r:id="rId29"/>
    <p:sldId id="444" r:id="rId30"/>
    <p:sldId id="887" r:id="rId31"/>
    <p:sldId id="309" r:id="rId32"/>
    <p:sldId id="886" r:id="rId33"/>
    <p:sldId id="619" r:id="rId34"/>
    <p:sldId id="899" r:id="rId35"/>
    <p:sldId id="506" r:id="rId36"/>
    <p:sldId id="507" r:id="rId37"/>
    <p:sldId id="515" r:id="rId38"/>
    <p:sldId id="509" r:id="rId39"/>
    <p:sldId id="621" r:id="rId40"/>
    <p:sldId id="622" r:id="rId41"/>
    <p:sldId id="856" r:id="rId42"/>
    <p:sldId id="916" r:id="rId43"/>
    <p:sldId id="917" r:id="rId44"/>
    <p:sldId id="475" r:id="rId45"/>
    <p:sldId id="905" r:id="rId46"/>
    <p:sldId id="441" r:id="rId47"/>
    <p:sldId id="443" r:id="rId48"/>
    <p:sldId id="478" r:id="rId49"/>
    <p:sldId id="479" r:id="rId50"/>
    <p:sldId id="480" r:id="rId51"/>
    <p:sldId id="907" r:id="rId52"/>
    <p:sldId id="908" r:id="rId53"/>
    <p:sldId id="906" r:id="rId54"/>
    <p:sldId id="900" r:id="rId55"/>
    <p:sldId id="448" r:id="rId56"/>
  </p:sldIdLst>
  <p:sldSz cx="12192000" cy="6858000"/>
  <p:notesSz cx="6858000" cy="9144000"/>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1B701101-3F87-7C40-AAA7-CC7ECC9A03E1}">
          <p14:sldIdLst>
            <p14:sldId id="317"/>
            <p14:sldId id="613"/>
            <p14:sldId id="402"/>
          </p14:sldIdLst>
        </p14:section>
        <p14:section name="Section 1: Compute services overview" id="{6580AF0A-E824-EE4C-BDEB-DBC9366E509F}">
          <p14:sldIdLst>
            <p14:sldId id="445"/>
            <p14:sldId id="904"/>
            <p14:sldId id="926"/>
          </p14:sldIdLst>
        </p14:section>
        <p14:section name="Section 2: Amazon EC2" id="{11BA73F0-6732-5E4A-9F87-6B43194AEFC8}">
          <p14:sldIdLst>
            <p14:sldId id="407"/>
            <p14:sldId id="357"/>
            <p14:sldId id="427"/>
            <p14:sldId id="875"/>
            <p14:sldId id="876"/>
            <p14:sldId id="898"/>
            <p14:sldId id="877"/>
            <p14:sldId id="375"/>
            <p14:sldId id="359"/>
            <p14:sldId id="903"/>
            <p14:sldId id="878"/>
            <p14:sldId id="879"/>
            <p14:sldId id="880"/>
            <p14:sldId id="881"/>
            <p14:sldId id="911"/>
            <p14:sldId id="912"/>
            <p14:sldId id="882"/>
            <p14:sldId id="883"/>
            <p14:sldId id="884"/>
            <p14:sldId id="913"/>
            <p14:sldId id="885"/>
            <p14:sldId id="301"/>
            <p14:sldId id="444"/>
            <p14:sldId id="887"/>
            <p14:sldId id="309"/>
            <p14:sldId id="886"/>
            <p14:sldId id="619"/>
          </p14:sldIdLst>
        </p14:section>
        <p14:section name="Demo - EC2" id="{741A1D33-2BD4-F24E-B89E-8CF8BDB2F6AA}">
          <p14:sldIdLst>
            <p14:sldId id="899"/>
          </p14:sldIdLst>
        </p14:section>
        <p14:section name="Lab - EC2" id="{17EBDFE2-3355-564C-9BE5-574C22CDD18C}">
          <p14:sldIdLst>
            <p14:sldId id="506"/>
            <p14:sldId id="507"/>
            <p14:sldId id="515"/>
            <p14:sldId id="509"/>
            <p14:sldId id="621"/>
            <p14:sldId id="622"/>
          </p14:sldIdLst>
        </p14:section>
        <p14:section name="Activity - EC2" id="{878813B1-DF00-2542-99E8-D03677C5ECA5}">
          <p14:sldIdLst>
            <p14:sldId id="856"/>
            <p14:sldId id="916"/>
            <p14:sldId id="917"/>
          </p14:sldIdLst>
        </p14:section>
        <p14:section name="Section 3: Amazon EC2 cost optimization" id="{018BC752-F05C-6147-8904-FFB4D98BCB23}">
          <p14:sldIdLst>
            <p14:sldId id="475"/>
            <p14:sldId id="905"/>
            <p14:sldId id="441"/>
            <p14:sldId id="443"/>
            <p14:sldId id="478"/>
            <p14:sldId id="479"/>
            <p14:sldId id="480"/>
            <p14:sldId id="907"/>
            <p14:sldId id="908"/>
            <p14:sldId id="906"/>
            <p14:sldId id="900"/>
          </p14:sldIdLst>
        </p14:section>
        <p14:section name="Section 4: Containers" id="{EE2DB81C-4445-0042-8245-2990DB059D82}">
          <p14:sldIdLst/>
        </p14:section>
        <p14:section name="Section 5: Introduction to AWS Lambda" id="{0E2F2DB6-26F1-1144-8C9A-E00581D845EB}">
          <p14:sldIdLst/>
        </p14:section>
        <p14:section name="Activity - AWS Lambda" id="{FDEFD54F-C0F6-6748-B58C-4CC17B60FDF7}">
          <p14:sldIdLst/>
        </p14:section>
        <p14:section name="Section 6: Introduction to AWS Elastic Beanstalk" id="{F3378C16-EE67-AC41-9A2F-DEDC3CDFC9B1}">
          <p14:sldIdLst/>
        </p14:section>
        <p14:section name="Activity - Elastic Beanstalk" id="{542B38C3-BC5F-FF46-978C-1C3059C71E08}">
          <p14:sldIdLst/>
        </p14:section>
        <p14:section name="Module wrap up" id="{0E0CCB54-1F98-0A47-AEEB-1E262013818F}">
          <p14:sldIdLst>
            <p14:sldId id="4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rette, Jen" initials="CJ" lastIdx="15" clrIdx="0">
    <p:extLst>
      <p:ext uri="{19B8F6BF-5375-455C-9EA6-DF929625EA0E}">
        <p15:presenceInfo xmlns:p15="http://schemas.microsoft.com/office/powerpoint/2012/main" userId="Charrette, Jen" providerId="None"/>
      </p:ext>
    </p:extLst>
  </p:cmAuthor>
  <p:cmAuthor id="2" name="Yoshii, June" initials="YJ" lastIdx="54" clrIdx="1">
    <p:extLst>
      <p:ext uri="{19B8F6BF-5375-455C-9EA6-DF929625EA0E}">
        <p15:presenceInfo xmlns:p15="http://schemas.microsoft.com/office/powerpoint/2012/main" userId="S-1-5-21-1407069837-2091007605-538272213-300324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2"/>
    <a:srgbClr val="16966D"/>
    <a:srgbClr val="FAFAFA"/>
    <a:srgbClr val="FF9B29"/>
    <a:srgbClr val="CD6E1C"/>
    <a:srgbClr val="E27A1E"/>
    <a:srgbClr val="2D75E7"/>
    <a:srgbClr val="FFFD78"/>
    <a:srgbClr val="FF0000"/>
    <a:srgbClr val="73F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792" autoAdjust="0"/>
    <p:restoredTop sz="73468" autoAdjust="0"/>
  </p:normalViewPr>
  <p:slideViewPr>
    <p:cSldViewPr snapToGrid="0" snapToObjects="1" showGuides="1">
      <p:cViewPr varScale="1">
        <p:scale>
          <a:sx n="48" d="100"/>
          <a:sy n="48" d="100"/>
        </p:scale>
        <p:origin x="1098" y="36"/>
      </p:cViewPr>
      <p:guideLst>
        <p:guide orient="horz" pos="2160"/>
        <p:guide pos="3840"/>
      </p:guideLst>
    </p:cSldViewPr>
  </p:slideViewPr>
  <p:outlineViewPr>
    <p:cViewPr>
      <p:scale>
        <a:sx n="33" d="100"/>
        <a:sy n="33" d="100"/>
      </p:scale>
      <p:origin x="0" y="-71248"/>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showGuides="1">
      <p:cViewPr varScale="1">
        <p:scale>
          <a:sx n="84" d="100"/>
          <a:sy n="84" d="100"/>
        </p:scale>
        <p:origin x="382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7D4CC6-1AC1-6547-8987-01DDD7392771}" type="datetimeFigureOut">
              <a:rPr lang="en-US" smtClean="0"/>
              <a:t>4/24/2022</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2:40:42.999"/>
    </inkml:context>
    <inkml:brush xml:id="br0">
      <inkml:brushProperty name="width" value="0.05292" units="cm"/>
      <inkml:brushProperty name="height" value="0.05292" units="cm"/>
      <inkml:brushProperty name="color" value="#FF0000"/>
    </inkml:brush>
  </inkml:definitions>
  <inkml:trace contextRef="#ctx0" brushRef="#br0">18132 8905 0,'0'25'47,"0"-1"-1,0 1-46,25 75 16,0-26 0,-25-24-1,25-26 1,-25 1 15,24 0-15,1-25 218,0-25-234,0 25 16,0-99-1,-1 49 1,1 50-16,0-24 16,-25-1 77,25 0-77,0 25-16,-25-25 109,24 0-109,-24-24 16,25 49 0,-25-25 93,25 25-78</inkml:trace>
  <inkml:trace contextRef="#ctx0" brushRef="#br0" timeOffset="7481.92">24532 9178 0,'0'25'140,"-25"-1"-124,25 1-16,0 25 16,-25-1-1,0 26 1,25-50 0,0-1 109,0 1-125,0 0 0,0 49 15,0-24 1,0-75 171,0 0-187,25-74 16,25 0 0,-1 25-1,-24-1 1,0 75 15,-25-25-31,50-24 16,-50 24 15,24 0-15,1 25-16,74-124 15,-49 74 1,-25 26-1,0 24 1</inkml:trace>
  <inkml:trace contextRef="#ctx0" brushRef="#br0" timeOffset="13008.14">18355 13345 0,'25'25'78,"0"-25"-46,0 0-1,0 0-31,-1 0 78,1 0-47,0 0 0,0 0 48,0 0 30,0 0 63,-25-25 140,0-25-312,24-123 16,-24 148-16,0-74 16,0 24-1,0 50 1,0 1 15</inkml:trace>
  <inkml:trace contextRef="#ctx0" brushRef="#br0" timeOffset="26686.21">12254 17041 0,'0'25'125,"-25"-25"-125,25 24 15,-25 1 1,25 0-1,0 0 1,0 0 62,0-1 78,25-24-109,0 0 16,-1-24 234,1-26-297,25 25 0,74-173 15,-50 74 1,-24 74 0</inkml:trace>
  <inkml:trace contextRef="#ctx0" brushRef="#br0" timeOffset="50183.42">4762 13543 0,'0'-24'0,"25"24"16,0 0 31,-25 24-32,0 1-15,25 0 16,0 0 15,0 0-15,-25-1-1,0 26 1,0-25 0,24 0-1,1-1 1,0-48 156,0-1-172,0 0 15,-1-25 1,-24 26-16,50-51 16,-25 50-1,-25 1 610,25 24-609,-1 0 15,1 0-31,0 0 31,-25-25 16,25 25-47,0 0 47,-1 0-31,-24-25 31,25 25-32,0 0 32,0-25-31,0 25-1</inkml:trace>
  <inkml:trace contextRef="#ctx0" brushRef="#br0" timeOffset="81162.14">10939 12874 0,'25'0'62,"-25"24"32,0 1-94,0 0 16,0 25-16,24-1 15,-24-24 16,0 0-15,25 0 47,0-1-48,-25 1 1,25 0-16,-25 0 15,25 0 1,-25-50 187,24 0-203,1 0 16,0-99-1,-25 99-15,50-24 16,-50 24-16,49-49 16,-49 49 77,0 0-93,25-49 16,0 49-16,49-50 16,-24 51-1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2:48:48.779"/>
    </inkml:context>
    <inkml:brush xml:id="br0">
      <inkml:brushProperty name="width" value="0.05292" units="cm"/>
      <inkml:brushProperty name="height" value="0.05292" units="cm"/>
      <inkml:brushProperty name="color" value="#FF0000"/>
    </inkml:brush>
  </inkml:definitions>
  <inkml:trace contextRef="#ctx0" brushRef="#br0">19794 7789 0,'0'24'94,"0"1"-32,0 0-62,0 0 16,0 24-16,0 26 15,0-1 1,0-24 0,0 0-1,0-26 1,0-48 124,25-1-140,-25 0 16,25 0-16,24-24 16,-24 24 15,0 25-15,-25-25 30,25 0-46,0 0 16,-1 0-16,76-49 16,-26 49-1,-49 25 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2:59:16.713"/>
    </inkml:context>
    <inkml:brush xml:id="br0">
      <inkml:brushProperty name="width" value="0.05292" units="cm"/>
      <inkml:brushProperty name="height" value="0.05292" units="cm"/>
      <inkml:brushProperty name="color" value="#FF0000"/>
    </inkml:brush>
  </inkml:definitions>
  <inkml:trace contextRef="#ctx0" brushRef="#br0">4638 6375 0,'25'0'47,"0"0"-31,0 0-16,49 0 15,1 0 1,24 0-1,-74 0-15,49 0 16,-49 0-16,99 25 16,0-25-1,-50 24 1,1-24 15,-50 0-31,49 0 16,25 0-1,0 0 1,-49 0 0,74 0 15,-74 0-31,123 0 16,-123 0-16,74 0 15,-25 25 1,25-25-1,0 0 1,0 0 0,-24 0-1,-76 0-15,26 0 16,-25 0 0,0 0 46,173 25-46,-124-25-16,100 25 15,-124-25 1,-26 0 0,100 0 15,100 0-16,-175 0-15,100 0 16,-74 25 0,-51-25-1,1 0 32,0 0-47,25 0 16,198 0-1,49 24 1,-148-24 0,-99 0-1,-25 0 17,-1 0-1,200 0-16,98 0 1,-173 0 0,-100 0-1,1 0 251,49 0-250,373 50-16,-76-50 31,-346 0-31,0 0 15</inkml:trace>
  <inkml:trace contextRef="#ctx0" brushRef="#br0" timeOffset="1352.57">5060 6672 0,'0'-24'47,"75"24"-31,197 0-1,26 0 1,25 0 0,-249 0-16,100 0 15,-150 0-15,125 0 16,-124 0-16,198 0 15,1 0 1,-51 0 0,-24 0-1,-25 0 1,-74 0-16,49 0 16,50 0-1,-25 0 16,0 0-15,25 0 0,-100 0-1,-24 0 1,0 0-16,0 0 16,49 0-1,100 0 1,-26 0-1,26 0 1,0 0 0,-125 0-1,1 0 1,-25 0 15,24 0-15,1 0-1,24 0 1,-49 0-16,74 0 16,-24 0-1,-50 0 1</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2:59:54.859"/>
    </inkml:context>
    <inkml:brush xml:id="br0">
      <inkml:brushProperty name="width" value="0.05292" units="cm"/>
      <inkml:brushProperty name="height" value="0.05292" units="cm"/>
      <inkml:brushProperty name="color" value="#FF0000"/>
    </inkml:brush>
  </inkml:definitions>
  <inkml:trace contextRef="#ctx0" brushRef="#br0">16718 13320 0,'25'0'391,"0"0"-297,0 0-16,0 0-78,-1 0 125,1 0-94,25-25-15,74 1-16,25 24 15,-50 0 1,-74 0-1,-1 0 1,1 0 15,0-25-15,0 25 0,0 0-1,-1 0 1,1 0-1,-25-25 1,25 25 0,0 0 31,0 0-32,0 0 1,-1-25-1,1 25-15</inkml:trace>
  <inkml:trace contextRef="#ctx0" brushRef="#br0" timeOffset="957.22">16371 13271 0,'75'0'47,"-26"0"-32,100 0-15,49 24 32,-49-24-17,-99 0-15,173 25 16,0 25-1,-49-1 1,0-24 0,-150-25-16,1 0 15</inkml:trace>
  <inkml:trace contextRef="#ctx0" brushRef="#br0" timeOffset="8784.74">13692 15925 0</inkml:trace>
  <inkml:trace contextRef="#ctx0" brushRef="#br0" timeOffset="9655.21">15701 14858 0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3:00:24.905"/>
    </inkml:context>
    <inkml:brush xml:id="br0">
      <inkml:brushProperty name="width" value="0.05292" units="cm"/>
      <inkml:brushProperty name="height" value="0.05292" units="cm"/>
      <inkml:brushProperty name="color" value="#FF0000"/>
    </inkml:brush>
  </inkml:definitions>
  <inkml:trace contextRef="#ctx0" brushRef="#br0">15032 15429 0,'0'24'15,"0"1"251,0 0-251,0 49 1,0-49-16,0 25 16,24-25-1,1-1 126,0-24-110,0 0-31,0-24 16,-1 24-1,51-50 1,-50 25 0,-1 25-16,-24-25 31,25 25-15,-25-24 15,25-1-31,0 25 15,25-50 1,-50 25-16,24 1 16,1-1 15,-25 0 0,25 25-31</inkml:trace>
  <inkml:trace contextRef="#ctx0" brushRef="#br0" timeOffset="16255.73">23341 11683 0,'0'25'94,"0"0"-79,0-1 16,0 1 16,0 0-31,25 0-16,0-25 78,0 0-15,-1 0-63,1 0 15,25 0 1,99 0-1,-100 0-15,249-25 16,-174-25 0,-74 26-1,-50-1 79,24 0-78,76-49-1,-76 49-15,51-50 16,-26 1 0,-24 24-1</inkml:trace>
  <inkml:trace contextRef="#ctx0" brushRef="#br0" timeOffset="17578.79">16222 11906 0,'0'25'78,"0"0"-78,0 0 16,25-1 109,0 1-78,0-25 62,-1 0-93,26 0-16,25 0 0,148-74 15,0-25 1,-74 24 0,-100 50-1,-49 1-15,50 24 16,-25-50 15,0 50-31,-25-25 78,24 25-78,26-74 16,-50 49-16,50-25 15,-26 50 1</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3:01:13.545"/>
    </inkml:context>
    <inkml:brush xml:id="br0">
      <inkml:brushProperty name="width" value="0.05292" units="cm"/>
      <inkml:brushProperty name="height" value="0.05292" units="cm"/>
      <inkml:brushProperty name="color" value="#FF0000"/>
    </inkml:brush>
  </inkml:definitions>
  <inkml:trace contextRef="#ctx0" brushRef="#br0">16743 9475 0,'25'0'78,"25"0"-78,-26 0 16,51 0-1,-50 0-15,-1 0 16,76 0 15,73 0-15,-24 0-1,-124 0-15,24 0 16,26 0 0,-1 0-1,26 0 1,24 0-1,-50 0 1,25 0 0,25 25 15,-25-25-15,-49 0-1,-25 0-15,0 25 16,-1-25-1,1 0-15,0 0 32,0 0-32,49 0 15,-49 0-15,25 0 16,-25 0 46,24 0-62,-24 25 16,0 0 15,0-25 16,-1 0-31,1 0-1,0 0 1,0 0 0,0 0-1</inkml:trace>
  <inkml:trace contextRef="#ctx0" brushRef="#br0" timeOffset="13008.41">3547 10889 0,'25'0'109,"0"0"-62,-1 0-31,1 0-1,0 0 32,0 0-15,0 0-17</inkml:trace>
  <inkml:trace contextRef="#ctx0" brushRef="#br0" timeOffset="14796.47">3621 11956 0,'25'0'375,"0"0"-359,25 0-16,49 0 0,75 0 15,-100 0 1,-49 0 62,0 0-47,-1 0-15,1 0 0,0 0 15,0 0-31,0 0 15,24 0 1,-24 0 0,0 0-1,0 25 1</inkml:trace>
  <inkml:trace contextRef="#ctx0" brushRef="#br0" timeOffset="29075.77">23589 10964 0,'25'0'313,"0"0"-313,0 24 15,-1-24-15,26 0 16,0 0 0,-26 0-1,26 0 1,-25 0 0,0 0 46,0 0-46,-1 0 31,1 0-32,0 0 1</inkml:trace>
  <inkml:trace contextRef="#ctx0" brushRef="#br0" timeOffset="31400.18">23912 9277 0,'-25'25'218,"0"-25"-202,0 0-16,0 25 16,1-25-1,-26 0 1,25 0 281,0 0-282,1 0-15,-1 0 0,-25 0 32,25 0 46,25 24-78</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1-12-23T03:01:58.957"/>
    </inkml:context>
    <inkml:brush xml:id="br0">
      <inkml:brushProperty name="width" value="0.05292" units="cm"/>
      <inkml:brushProperty name="height" value="0.05292" units="cm"/>
      <inkml:brushProperty name="color" value="#FF0000"/>
    </inkml:brush>
  </inkml:definitions>
  <inkml:trace contextRef="#ctx0" brushRef="#br0">8731 11832 0,'25'0'235,"0"0"-220,0 0 16,-1 0-15,1-25 0,0 25-16,-25-25 31,25 25-15,0 0-1,-1 0 1,26 0-1,-25 0 1,0 0 15</inkml:trace>
  <inkml:trace contextRef="#ctx0" brushRef="#br0" timeOffset="906.58">8582 12105 0,'0'-25'125,"0"0"-125,50 25 16,-25-50-1,0 50 1,-1 0-1,125-24 251,-50 24-266,50 0 16,-25 0-1,-99 0-15</inkml:trace>
  <inkml:trace contextRef="#ctx0" brushRef="#br0" timeOffset="4149.13">9723 11733 0,'25'0'187,"0"0"-187,0 0 47,0 0-47,-1 0 31,1 0 32,0 0-63,0 0 16,0 0 15,-1 0-16,1 0 1,0 0 0,0 0-16,0 0 15</inkml:trace>
  <inkml:trace contextRef="#ctx0" brushRef="#br0" timeOffset="5341.42">9798 12105 0,'0'-25'359,"25"25"-296,-1 0-48,1 0 1,0 0 0,0 0-16,0 0 78,-1 0-47,1 0-15,0 0-1,0 0-15,0 0 16,0 0 0,-1 0 15,1 0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1FDFC-8250-AD46-B773-8125051BCCF6}" type="datetimeFigureOut">
              <a:rPr lang="en-US" smtClean="0"/>
              <a:t>4/24/2022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aws.amazon.com/AWSEC2/latest/UserGuide/placement-groups.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docs.aws.amazon.com/AWSEC2/latest/UserGuide/enhanced-networking-ena.html"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cs.aws.amazon.com/AWSEC2/latest/WindowsGuide/ec2-windows-user-data.html#user-data-script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aws.amazon.com/premiumsupport/knowledge-center/execute-user-data-ec2/"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aws.amazon.com/answers/account-management/aws-tagging-strategie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d1.awsstatic.com/whitepapers/aws-tagging-best-practices.pdf"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ocs.aws.amazon.com/AWSEC2/latest/UserGuide/Hibernate.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aws.amazon.com/AWSEC2/latest/UserGuide/using-cloudwatch-new.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6_EC2+v2.0.mp4"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youtube.com/watch?v=UYy-UeQ29jo&amp;did=ta_card&amp;trk=ta_card" TargetMode="External"/><Relationship Id="rId2" Type="http://schemas.openxmlformats.org/officeDocument/2006/relationships/slide" Target="../slides/slide42.xml"/><Relationship Id="rId1" Type="http://schemas.openxmlformats.org/officeDocument/2006/relationships/notesMaster" Target="../notesMasters/notesMaster1.xml"/><Relationship Id="rId5" Type="http://schemas.openxmlformats.org/officeDocument/2006/relationships/hyperlink" Target="https://aws.amazon.com/blogs/publicsector/the-scoop-on-moving-your-microsoft-sql-server-to-aws/" TargetMode="External"/><Relationship Id="rId4" Type="http://schemas.openxmlformats.org/officeDocument/2006/relationships/hyperlink" Target="https://aws.amazon.com/quickstart/architecture/sql/"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aws.amazon.com/free/"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6: Compute</a:t>
            </a:r>
            <a:endParaRPr lang="en-US" sz="1100" dirty="0"/>
          </a:p>
        </p:txBody>
      </p:sp>
    </p:spTree>
    <p:extLst>
      <p:ext uri="{BB962C8B-B14F-4D97-AF65-F5344CB8AC3E}">
        <p14:creationId xmlns:p14="http://schemas.microsoft.com/office/powerpoint/2010/main" val="11030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a:lstStyle/>
          <a:p>
            <a:r>
              <a:rPr lang="en-US" sz="1100" kern="1200" dirty="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Compute </a:t>
            </a:r>
            <a:r>
              <a:rPr lang="en-US" sz="1100" dirty="0">
                <a:latin typeface="+mn-lt"/>
              </a:rPr>
              <a:t>services overview</a:t>
            </a:r>
          </a:p>
          <a:p>
            <a:pPr marL="171450" indent="-171450">
              <a:buFont typeface="Arial" panose="020B0604020202020204" pitchFamily="34" charset="0"/>
              <a:buChar char="•"/>
            </a:pPr>
            <a:r>
              <a:rPr lang="en-US" sz="1100" dirty="0">
                <a:latin typeface="+mn-lt"/>
              </a:rPr>
              <a:t>Amazon EC2</a:t>
            </a:r>
          </a:p>
          <a:p>
            <a:pPr marL="171450" indent="-171450">
              <a:buFont typeface="Arial" panose="020B0604020202020204" pitchFamily="34" charset="0"/>
              <a:buChar char="•"/>
            </a:pPr>
            <a:r>
              <a:rPr lang="en-US" sz="1100" dirty="0">
                <a:latin typeface="+mn-lt"/>
              </a:rPr>
              <a:t>Amazon EC2 cost optimization</a:t>
            </a:r>
          </a:p>
          <a:p>
            <a:pPr marL="171450" indent="-171450">
              <a:buFont typeface="Arial" panose="020B0604020202020204" pitchFamily="34" charset="0"/>
              <a:buChar char="•"/>
            </a:pPr>
            <a:r>
              <a:rPr lang="en-US" sz="1100" dirty="0">
                <a:latin typeface="+mn-lt"/>
              </a:rPr>
              <a:t>Container</a:t>
            </a:r>
            <a:r>
              <a:rPr lang="en-US" sz="1100" baseline="0" dirty="0">
                <a:latin typeface="+mn-lt"/>
              </a:rPr>
              <a:t> services</a:t>
            </a:r>
            <a:endParaRPr lang="en-US" sz="1100" dirty="0">
              <a:latin typeface="+mn-lt"/>
            </a:endParaRPr>
          </a:p>
          <a:p>
            <a:pPr marL="171450" indent="-171450">
              <a:buFont typeface="Arial" panose="020B0604020202020204" pitchFamily="34" charset="0"/>
              <a:buChar char="•"/>
            </a:pPr>
            <a:r>
              <a:rPr lang="en-US" sz="1100" dirty="0">
                <a:latin typeface="+mn-lt"/>
              </a:rPr>
              <a:t>Introduction to AWS Lambda</a:t>
            </a:r>
          </a:p>
          <a:p>
            <a:pPr marL="171450" indent="-171450">
              <a:buFont typeface="Arial" panose="020B0604020202020204" pitchFamily="34" charset="0"/>
              <a:buChar char="•"/>
            </a:pPr>
            <a:r>
              <a:rPr lang="en-US" sz="1100" dirty="0">
                <a:latin typeface="+mn-lt"/>
              </a:rPr>
              <a:t>Introduction to AWS Elastic Beanstalk</a:t>
            </a:r>
            <a:endParaRPr lang="en-US" sz="1100" kern="1200" dirty="0">
              <a:solidFill>
                <a:schemeClr val="tx1"/>
              </a:solidFill>
              <a:effectLst/>
              <a:latin typeface="+mn-lt"/>
              <a:ea typeface="+mn-ea"/>
              <a:cs typeface="+mn-cs"/>
            </a:endParaRP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Section 2 includes a recorded </a:t>
            </a:r>
            <a:r>
              <a:rPr lang="en-US" sz="1100" b="1" kern="1200" dirty="0">
                <a:solidFill>
                  <a:schemeClr val="tx1"/>
                </a:solidFill>
                <a:effectLst/>
                <a:latin typeface="+mn-lt"/>
                <a:ea typeface="+mn-ea"/>
                <a:cs typeface="+mn-cs"/>
              </a:rPr>
              <a:t>Amazon EC2</a:t>
            </a:r>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demonstration.</a:t>
            </a:r>
            <a:r>
              <a:rPr lang="en-US" sz="1100" b="1" kern="1200" baseline="0" dirty="0">
                <a:solidFill>
                  <a:schemeClr val="tx1"/>
                </a:solidFill>
                <a:effectLst/>
                <a:latin typeface="+mn-lt"/>
                <a:ea typeface="+mn-ea"/>
                <a:cs typeface="+mn-cs"/>
              </a:rPr>
              <a:t> </a:t>
            </a:r>
            <a:r>
              <a:rPr lang="en-US" sz="1100" b="0" kern="1200" baseline="0" dirty="0">
                <a:solidFill>
                  <a:schemeClr val="tx1"/>
                </a:solidFill>
                <a:effectLst/>
                <a:latin typeface="+mn-lt"/>
                <a:ea typeface="+mn-ea"/>
                <a:cs typeface="+mn-cs"/>
              </a:rPr>
              <a:t>T</a:t>
            </a:r>
            <a:r>
              <a:rPr lang="en-US" sz="1100" dirty="0"/>
              <a:t>he end of this same section includes </a:t>
            </a:r>
            <a:r>
              <a:rPr lang="en-US" sz="1100" kern="1200" dirty="0">
                <a:solidFill>
                  <a:schemeClr val="tx1"/>
                </a:solidFill>
                <a:effectLst/>
                <a:latin typeface="+mn-lt"/>
                <a:ea typeface="+mn-ea"/>
                <a:cs typeface="+mn-cs"/>
              </a:rPr>
              <a:t>a</a:t>
            </a:r>
            <a:r>
              <a:rPr lang="en-US" sz="1100" b="1" kern="1200" dirty="0">
                <a:solidFill>
                  <a:schemeClr val="tx1"/>
                </a:solidFill>
                <a:effectLst/>
                <a:latin typeface="+mn-lt"/>
                <a:ea typeface="+mn-ea"/>
                <a:cs typeface="+mn-cs"/>
              </a:rPr>
              <a:t> hands-on lab</a:t>
            </a:r>
            <a:r>
              <a:rPr lang="en-US" sz="1100" b="0" kern="1200" dirty="0">
                <a:solidFill>
                  <a:schemeClr val="tx1"/>
                </a:solidFill>
                <a:effectLst/>
                <a:latin typeface="+mn-lt"/>
                <a:ea typeface="+mn-ea"/>
                <a:cs typeface="+mn-cs"/>
              </a:rPr>
              <a:t>, where </a:t>
            </a:r>
            <a:r>
              <a:rPr lang="en-US" sz="1100" kern="1200" dirty="0">
                <a:solidFill>
                  <a:schemeClr val="tx1"/>
                </a:solidFill>
                <a:effectLst/>
                <a:latin typeface="+mn-lt"/>
                <a:ea typeface="+mn-ea"/>
                <a:cs typeface="+mn-cs"/>
              </a:rPr>
              <a:t>you will practice launching an EC2 instance by</a:t>
            </a:r>
            <a:r>
              <a:rPr lang="en-US" sz="1100" kern="1200" baseline="0" dirty="0">
                <a:solidFill>
                  <a:schemeClr val="tx1"/>
                </a:solidFill>
                <a:effectLst/>
                <a:latin typeface="+mn-lt"/>
                <a:ea typeface="+mn-ea"/>
                <a:cs typeface="+mn-cs"/>
              </a:rPr>
              <a:t> using </a:t>
            </a:r>
            <a:r>
              <a:rPr lang="en-US" sz="1100" kern="1200" dirty="0">
                <a:solidFill>
                  <a:schemeClr val="tx1"/>
                </a:solidFill>
                <a:effectLst/>
                <a:latin typeface="+mn-lt"/>
                <a:ea typeface="+mn-ea"/>
                <a:cs typeface="+mn-cs"/>
              </a:rPr>
              <a:t>the AWS Management Console. There is also an activity in this section that has you compare the advantages and disadvantages of running a database deployment on Amazon EC2, versus running it on Amazon Relational Database Service (RDS).</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Section 5 includes a hands-on AWS Lambda activity and section 6 includes a hands-on Elastic Beanstalk activity.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Finally, you will be asked to complete a </a:t>
            </a:r>
            <a:r>
              <a:rPr lang="en-US" sz="1100" b="1" kern="1200" dirty="0">
                <a:solidFill>
                  <a:schemeClr val="tx1"/>
                </a:solidFill>
                <a:effectLst/>
                <a:latin typeface="+mn-lt"/>
                <a:ea typeface="+mn-ea"/>
                <a:cs typeface="+mn-cs"/>
              </a:rPr>
              <a:t>knowledge check </a:t>
            </a:r>
            <a:r>
              <a:rPr lang="en-US" sz="1100" b="0" kern="1200" dirty="0">
                <a:solidFill>
                  <a:schemeClr val="tx1"/>
                </a:solidFill>
                <a:effectLst/>
                <a:latin typeface="+mn-lt"/>
                <a:ea typeface="+mn-ea"/>
                <a:cs typeface="+mn-cs"/>
              </a:rPr>
              <a:t>that</a:t>
            </a:r>
            <a:r>
              <a:rPr lang="en-US" sz="1100" b="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will test your understanding of the key concepts that are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covered in this module.</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56536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59736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Introducing Section 1: Compute services overview. </a:t>
            </a:r>
          </a:p>
        </p:txBody>
      </p:sp>
    </p:spTree>
    <p:extLst>
      <p:ext uri="{BB962C8B-B14F-4D97-AF65-F5344CB8AC3E}">
        <p14:creationId xmlns:p14="http://schemas.microsoft.com/office/powerpoint/2010/main" val="334630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73602"/>
          </a:xfrm>
        </p:spPr>
        <p:txBody>
          <a:bodyPr/>
          <a:lstStyle/>
          <a:p>
            <a:pPr>
              <a:lnSpc>
                <a:spcPct val="100000"/>
              </a:lnSpc>
            </a:pPr>
            <a:r>
              <a:rPr lang="en-US" sz="1100" dirty="0"/>
              <a:t>Amazon Web Services (AWS)</a:t>
            </a:r>
            <a:r>
              <a:rPr lang="en-US" sz="1100" baseline="0" dirty="0"/>
              <a:t> offers many compute services. Here is</a:t>
            </a:r>
            <a:r>
              <a:rPr lang="en-US" sz="1100" dirty="0"/>
              <a:t> a brief summary of what each compute</a:t>
            </a:r>
            <a:r>
              <a:rPr lang="en-US" sz="1100" baseline="0" dirty="0"/>
              <a:t> service</a:t>
            </a:r>
            <a:r>
              <a:rPr lang="en-US" sz="1100" dirty="0"/>
              <a:t> offers:</a:t>
            </a:r>
          </a:p>
          <a:p>
            <a:pPr>
              <a:lnSpc>
                <a:spcPct val="100000"/>
              </a:lnSpc>
            </a:pPr>
            <a:endParaRPr lang="en-US" sz="1100" dirty="0"/>
          </a:p>
          <a:p>
            <a:pPr marL="171450" indent="-171450">
              <a:lnSpc>
                <a:spcPct val="100000"/>
              </a:lnSpc>
              <a:buFont typeface="Arial" panose="020B0604020202020204" pitchFamily="34" charset="0"/>
              <a:buChar char="•"/>
            </a:pPr>
            <a:r>
              <a:rPr lang="en-US" sz="1100" b="1" dirty="0"/>
              <a:t>Amazon Elastic Compute Cloud</a:t>
            </a:r>
            <a:r>
              <a:rPr lang="en-US" sz="1100" b="0" dirty="0"/>
              <a:t> </a:t>
            </a:r>
            <a:r>
              <a:rPr lang="en-US" sz="1100" b="1" dirty="0"/>
              <a:t>(Amazon EC2) </a:t>
            </a:r>
            <a:r>
              <a:rPr lang="en-US" sz="1100" dirty="0"/>
              <a:t>provides resizable virtual machines.</a:t>
            </a:r>
          </a:p>
          <a:p>
            <a:pPr marL="171450" indent="-171450">
              <a:lnSpc>
                <a:spcPct val="100000"/>
              </a:lnSpc>
              <a:buFont typeface="Arial" panose="020B0604020202020204" pitchFamily="34" charset="0"/>
              <a:buChar char="•"/>
            </a:pPr>
            <a:r>
              <a:rPr lang="en-US" sz="1100" b="1" dirty="0"/>
              <a:t>Amazon EC2 Auto Scaling</a:t>
            </a:r>
            <a:r>
              <a:rPr lang="en-US" sz="1100" dirty="0"/>
              <a:t> supports application availability by </a:t>
            </a:r>
            <a:r>
              <a:rPr lang="en-US" sz="1100" b="0" i="0" kern="1200" dirty="0">
                <a:solidFill>
                  <a:schemeClr val="tx1"/>
                </a:solidFill>
                <a:effectLst/>
                <a:latin typeface="+mn-lt"/>
                <a:ea typeface="+mn-ea"/>
                <a:cs typeface="+mn-cs"/>
              </a:rPr>
              <a:t>allowing you to define conditions that will automatically launch or terminate EC2 instances.</a:t>
            </a:r>
            <a:endParaRPr lang="en-US" sz="1100" dirty="0"/>
          </a:p>
          <a:p>
            <a:pPr marL="171450" indent="-171450">
              <a:lnSpc>
                <a:spcPct val="100000"/>
              </a:lnSpc>
              <a:buFont typeface="Arial" panose="020B0604020202020204" pitchFamily="34" charset="0"/>
              <a:buChar char="•"/>
            </a:pPr>
            <a:r>
              <a:rPr lang="en-US" sz="1100" b="1" dirty="0"/>
              <a:t>Amazon Elastic Container Registry</a:t>
            </a:r>
            <a:r>
              <a:rPr lang="en-US" sz="1100" dirty="0"/>
              <a:t> </a:t>
            </a:r>
            <a:r>
              <a:rPr lang="en-US" sz="1100" b="1" dirty="0"/>
              <a:t>(Amazon ECR) </a:t>
            </a:r>
            <a:r>
              <a:rPr lang="en-US" sz="1100" dirty="0"/>
              <a:t>is used to store and retrieve Docker images. </a:t>
            </a:r>
          </a:p>
          <a:p>
            <a:pPr marL="171450" indent="-171450">
              <a:lnSpc>
                <a:spcPct val="100000"/>
              </a:lnSpc>
              <a:buFont typeface="Arial" panose="020B0604020202020204" pitchFamily="34" charset="0"/>
              <a:buChar char="•"/>
            </a:pPr>
            <a:r>
              <a:rPr lang="en-US" sz="1100" b="1" dirty="0"/>
              <a:t>Amazon Elastic Container Service (Amazon ECS) </a:t>
            </a:r>
            <a:r>
              <a:rPr lang="en-US" sz="1100" dirty="0"/>
              <a:t>is a container orchestration service that supports Docker.</a:t>
            </a:r>
          </a:p>
          <a:p>
            <a:pPr marL="171450" indent="-171450">
              <a:lnSpc>
                <a:spcPct val="100000"/>
              </a:lnSpc>
              <a:buFont typeface="Arial" panose="020B0604020202020204" pitchFamily="34" charset="0"/>
              <a:buChar char="•"/>
            </a:pPr>
            <a:r>
              <a:rPr lang="en-US" sz="1100" b="1" dirty="0"/>
              <a:t>VMware Cloud on AWS</a:t>
            </a:r>
            <a:r>
              <a:rPr lang="en-US" sz="1100" dirty="0"/>
              <a:t> enables you to provision a hybrid cloud without custom hardware.</a:t>
            </a:r>
          </a:p>
          <a:p>
            <a:pPr marL="171450" indent="-171450">
              <a:lnSpc>
                <a:spcPct val="100000"/>
              </a:lnSpc>
              <a:buFont typeface="Arial" panose="020B0604020202020204" pitchFamily="34" charset="0"/>
              <a:buChar char="•"/>
            </a:pPr>
            <a:r>
              <a:rPr lang="en-US" sz="1100" b="1" dirty="0"/>
              <a:t>AWS Elastic Beanstalk</a:t>
            </a:r>
            <a:r>
              <a:rPr lang="en-US" sz="1100" dirty="0"/>
              <a:t> provides a simple way to run and manage web applications.</a:t>
            </a:r>
          </a:p>
          <a:p>
            <a:pPr marL="171450" indent="-171450">
              <a:lnSpc>
                <a:spcPct val="100000"/>
              </a:lnSpc>
              <a:buFont typeface="Arial" panose="020B0604020202020204" pitchFamily="34" charset="0"/>
              <a:buChar char="•"/>
            </a:pPr>
            <a:r>
              <a:rPr lang="en-US" sz="1100" b="1" dirty="0"/>
              <a:t>AWS Lambda </a:t>
            </a:r>
            <a:r>
              <a:rPr lang="en-US" sz="1100" dirty="0"/>
              <a:t>is a serverless compute solution. You pay only for the compute time that you use.</a:t>
            </a:r>
          </a:p>
          <a:p>
            <a:pPr marL="171450" indent="-171450">
              <a:lnSpc>
                <a:spcPct val="100000"/>
              </a:lnSpc>
              <a:buFont typeface="Arial" panose="020B0604020202020204" pitchFamily="34" charset="0"/>
              <a:buChar char="•"/>
            </a:pPr>
            <a:r>
              <a:rPr lang="en-US" sz="1100" b="1" dirty="0"/>
              <a:t>Amazon Elastic Kubernetes Service</a:t>
            </a:r>
            <a:r>
              <a:rPr lang="en-US" sz="1100" b="1" baseline="0" dirty="0"/>
              <a:t> (Amazon EKS) </a:t>
            </a:r>
            <a:r>
              <a:rPr lang="en-US" sz="1100" b="0" baseline="0" dirty="0"/>
              <a:t>enables </a:t>
            </a:r>
            <a:r>
              <a:rPr lang="en-US" sz="1100" dirty="0"/>
              <a:t>you to run managed Kubernetes on AWS.</a:t>
            </a:r>
          </a:p>
          <a:p>
            <a:pPr marL="171450" indent="-171450">
              <a:lnSpc>
                <a:spcPct val="100000"/>
              </a:lnSpc>
              <a:buFont typeface="Arial" panose="020B0604020202020204" pitchFamily="34" charset="0"/>
              <a:buChar char="•"/>
            </a:pPr>
            <a:r>
              <a:rPr lang="en-US" sz="1100" b="1" dirty="0"/>
              <a:t>Amazon Lightsail </a:t>
            </a:r>
            <a:r>
              <a:rPr lang="en-US" sz="1100" dirty="0"/>
              <a:t>provides a simple-to-use service for building an application or website.</a:t>
            </a:r>
          </a:p>
          <a:p>
            <a:pPr marL="171450" indent="-171450">
              <a:lnSpc>
                <a:spcPct val="100000"/>
              </a:lnSpc>
              <a:buFont typeface="Arial" panose="020B0604020202020204" pitchFamily="34" charset="0"/>
              <a:buChar char="•"/>
            </a:pPr>
            <a:r>
              <a:rPr lang="en-US" sz="1100" b="1" dirty="0"/>
              <a:t>AWS Batch</a:t>
            </a:r>
            <a:r>
              <a:rPr lang="en-US" sz="1100" dirty="0"/>
              <a:t> provides a tool for running batch jobs at any scale.</a:t>
            </a:r>
          </a:p>
          <a:p>
            <a:pPr marL="171450" indent="-171450">
              <a:lnSpc>
                <a:spcPct val="100000"/>
              </a:lnSpc>
              <a:buFont typeface="Arial" panose="020B0604020202020204" pitchFamily="34" charset="0"/>
              <a:buChar char="•"/>
            </a:pPr>
            <a:r>
              <a:rPr lang="en-US" sz="1100" b="1" dirty="0"/>
              <a:t>AWS Fargate </a:t>
            </a:r>
            <a:r>
              <a:rPr lang="en-US" sz="1100" dirty="0"/>
              <a:t>provides a way to run containers that reduce the need for you to manage servers or clusters.</a:t>
            </a:r>
          </a:p>
          <a:p>
            <a:pPr marL="171450" indent="-171450">
              <a:lnSpc>
                <a:spcPct val="100000"/>
              </a:lnSpc>
              <a:buFont typeface="Arial" panose="020B0604020202020204" pitchFamily="34" charset="0"/>
              <a:buChar char="•"/>
            </a:pPr>
            <a:r>
              <a:rPr lang="en-US" sz="1100" b="1" dirty="0"/>
              <a:t>AWS Outposts </a:t>
            </a:r>
            <a:r>
              <a:rPr lang="en-US" sz="1100" dirty="0"/>
              <a:t>provides a way to run select AWS services in your on-premises data center.</a:t>
            </a:r>
          </a:p>
          <a:p>
            <a:pPr marL="171450" indent="-171450">
              <a:lnSpc>
                <a:spcPct val="100000"/>
              </a:lnSpc>
              <a:buFont typeface="Arial" panose="020B0604020202020204" pitchFamily="34" charset="0"/>
              <a:buChar char="•"/>
            </a:pPr>
            <a:r>
              <a:rPr lang="en-US" sz="1100" b="1" dirty="0"/>
              <a:t>AWS Serverless Application Repository </a:t>
            </a:r>
            <a:r>
              <a:rPr lang="en-US" sz="1100" dirty="0"/>
              <a:t>provides a way to discover, deploy, and publish serverless applications.</a:t>
            </a:r>
          </a:p>
          <a:p>
            <a:pPr marL="171450" indent="-171450">
              <a:lnSpc>
                <a:spcPct val="100000"/>
              </a:lnSpc>
              <a:buFont typeface="Arial" panose="020B0604020202020204" pitchFamily="34" charset="0"/>
              <a:buChar char="•"/>
            </a:pPr>
            <a:endParaRPr lang="en-US" sz="1100" dirty="0"/>
          </a:p>
          <a:p>
            <a:pPr marL="0" indent="0">
              <a:lnSpc>
                <a:spcPct val="100000"/>
              </a:lnSpc>
              <a:buFont typeface="Arial" panose="020B0604020202020204" pitchFamily="34" charset="0"/>
              <a:buNone/>
            </a:pPr>
            <a:r>
              <a:rPr lang="en-US" sz="1100" dirty="0"/>
              <a:t>This module will discuss details of the services that are highlighted on the slide. </a:t>
            </a:r>
          </a:p>
          <a:p>
            <a:pPr marL="0" indent="0">
              <a:lnSpc>
                <a:spcPct val="100000"/>
              </a:lnSpc>
              <a:buFont typeface="Arial" panose="020B0604020202020204" pitchFamily="34" charset="0"/>
              <a:buNone/>
            </a:pPr>
            <a:endParaRPr lang="en-US" sz="1100" dirty="0"/>
          </a:p>
          <a:p>
            <a:endParaRPr lang="en-US" sz="1100" dirty="0"/>
          </a:p>
        </p:txBody>
      </p:sp>
    </p:spTree>
    <p:extLst>
      <p:ext uri="{BB962C8B-B14F-4D97-AF65-F5344CB8AC3E}">
        <p14:creationId xmlns:p14="http://schemas.microsoft.com/office/powerpoint/2010/main" val="3242972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t>Introducing</a:t>
            </a:r>
            <a:r>
              <a:rPr lang="en-US" sz="1100" dirty="0"/>
              <a:t> Section 2: Amazon EC2. </a:t>
            </a:r>
            <a:br>
              <a:rPr lang="en-US" sz="1100" dirty="0"/>
            </a:br>
            <a:br>
              <a:rPr lang="en-US" sz="1100" dirty="0"/>
            </a:br>
            <a:endParaRPr lang="en-US" sz="1100" dirty="0"/>
          </a:p>
        </p:txBody>
      </p:sp>
    </p:spTree>
    <p:extLst>
      <p:ext uri="{BB962C8B-B14F-4D97-AF65-F5344CB8AC3E}">
        <p14:creationId xmlns:p14="http://schemas.microsoft.com/office/powerpoint/2010/main" val="4160734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435858"/>
          </a:xfrm>
        </p:spPr>
        <p:txBody>
          <a:bodyPr/>
          <a:lstStyle/>
          <a:p>
            <a:r>
              <a:rPr lang="en-US" sz="1100" b="1" dirty="0"/>
              <a:t>Running servers on-premises </a:t>
            </a:r>
            <a:r>
              <a:rPr lang="en-US" sz="1100" dirty="0"/>
              <a:t>is an expensive undertaking. Hardware must be procured, and</a:t>
            </a:r>
            <a:r>
              <a:rPr lang="en-US" sz="1100" baseline="0" dirty="0"/>
              <a:t> this procurement can be </a:t>
            </a:r>
            <a:r>
              <a:rPr lang="en-US" sz="1100" dirty="0"/>
              <a:t>based on project plans instead of the reality of how the servers are used. Data centers are expensive to build, staff, and maintain. Organizations also need to permanently provision a sufficient amount of hardware to handle traffic spikes and peak workloads. After traditional on-premises deployments are built, server capacity might</a:t>
            </a:r>
            <a:r>
              <a:rPr lang="en-US" sz="1100" baseline="0" dirty="0"/>
              <a:t> be unused</a:t>
            </a:r>
            <a:r>
              <a:rPr lang="en-US" sz="1100" dirty="0"/>
              <a:t> and</a:t>
            </a:r>
            <a:r>
              <a:rPr lang="en-US" sz="1100" baseline="0" dirty="0"/>
              <a:t> </a:t>
            </a:r>
            <a:r>
              <a:rPr lang="en-US" sz="1100" dirty="0"/>
              <a:t>idle for a significant portion of the time that the servers are running, which is wasteful. </a:t>
            </a:r>
          </a:p>
          <a:p>
            <a:endParaRPr lang="en-US" sz="11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i="0" kern="1200" dirty="0">
                <a:solidFill>
                  <a:schemeClr val="tx1"/>
                </a:solidFill>
                <a:effectLst/>
                <a:latin typeface="+mn-lt"/>
                <a:ea typeface="+mn-ea"/>
                <a:cs typeface="+mn-cs"/>
              </a:rPr>
              <a:t>Amazon Elastic</a:t>
            </a:r>
            <a:r>
              <a:rPr lang="en-US" sz="1100" b="0" i="0" kern="1200" baseline="0" dirty="0">
                <a:solidFill>
                  <a:schemeClr val="tx1"/>
                </a:solidFill>
                <a:effectLst/>
                <a:latin typeface="+mn-lt"/>
                <a:ea typeface="+mn-ea"/>
                <a:cs typeface="+mn-cs"/>
              </a:rPr>
              <a:t> Compute Cloud (Amazon </a:t>
            </a:r>
            <a:r>
              <a:rPr lang="en-US" sz="1100" b="0" i="0" kern="1200" dirty="0">
                <a:solidFill>
                  <a:schemeClr val="tx1"/>
                </a:solidFill>
                <a:effectLst/>
                <a:latin typeface="+mn-lt"/>
                <a:ea typeface="+mn-ea"/>
                <a:cs typeface="+mn-cs"/>
              </a:rPr>
              <a:t>EC2)</a:t>
            </a:r>
            <a:r>
              <a:rPr lang="en-US" sz="1100" kern="1200" dirty="0">
                <a:solidFill>
                  <a:schemeClr val="tx1"/>
                </a:solidFill>
                <a:effectLst/>
                <a:ea typeface="Amazon Ember" panose="020B0603020204020204" pitchFamily="34" charset="0"/>
                <a:cs typeface="Amazon Ember" panose="020B0603020204020204" pitchFamily="34" charset="0"/>
              </a:rPr>
              <a:t> provides virtual machines where you can host the same kinds of applications that you might run on a traditional on-premises server. It </a:t>
            </a:r>
            <a:r>
              <a:rPr lang="en-US" sz="1100" b="0" i="0" kern="1200" dirty="0">
                <a:solidFill>
                  <a:schemeClr val="tx1"/>
                </a:solidFill>
                <a:effectLst/>
                <a:latin typeface="+mn-lt"/>
                <a:ea typeface="+mn-ea"/>
                <a:cs typeface="+mn-cs"/>
              </a:rPr>
              <a:t>provides secure, resizable compute capacity in the cloud. </a:t>
            </a:r>
            <a:r>
              <a:rPr lang="en-US" sz="1100" kern="1200" dirty="0">
                <a:solidFill>
                  <a:schemeClr val="tx1"/>
                </a:solidFill>
                <a:effectLst/>
                <a:ea typeface="Amazon Ember" panose="020B0603020204020204" pitchFamily="34" charset="0"/>
                <a:cs typeface="Amazon Ember" panose="020B0603020204020204" pitchFamily="34" charset="0"/>
              </a:rPr>
              <a:t>EC2 instances can support a variety of workloads. Common uses for EC2 instances include, but are not limited to:</a:t>
            </a:r>
          </a:p>
          <a:p>
            <a:r>
              <a:rPr lang="en-US" sz="1100" kern="1200" dirty="0">
                <a:solidFill>
                  <a:schemeClr val="tx1"/>
                </a:solidFill>
                <a:effectLst/>
                <a:ea typeface="Amazon Ember" panose="020B0603020204020204" pitchFamily="34" charset="0"/>
                <a:cs typeface="Amazon Ember" panose="020B0603020204020204" pitchFamily="34" charset="0"/>
              </a:rPr>
              <a:t> </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Application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Web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Database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Game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Mail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Media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Catalog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File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Computing servers</a:t>
            </a:r>
          </a:p>
          <a:p>
            <a:pPr marL="171450" indent="-171450">
              <a:buClr>
                <a:schemeClr val="tx1"/>
              </a:buClr>
              <a:buFont typeface="Arial" panose="020B0604020202020204" pitchFamily="34" charset="0"/>
              <a:buChar char="•"/>
            </a:pPr>
            <a:r>
              <a:rPr lang="en-US" sz="1100" dirty="0">
                <a:ea typeface="Amazon Ember" panose="020B0603020204020204" pitchFamily="34" charset="0"/>
                <a:cs typeface="Amazon Ember" panose="020B0603020204020204" pitchFamily="34" charset="0"/>
              </a:rPr>
              <a:t>Proxy servers</a:t>
            </a:r>
            <a:endParaRPr lang="en-US" sz="1100" i="0" kern="1200" dirty="0">
              <a:solidFill>
                <a:schemeClr val="tx1"/>
              </a:solidFill>
              <a:effectLst/>
            </a:endParaRPr>
          </a:p>
          <a:p>
            <a:pPr marL="171450" indent="-171450">
              <a:buFont typeface="Arial" panose="020B0604020202020204" pitchFamily="34" charset="0"/>
              <a:buChar char="•"/>
            </a:pPr>
            <a:endParaRPr lang="en-US" sz="1100" kern="1200" dirty="0">
              <a:solidFill>
                <a:schemeClr val="tx1"/>
              </a:solidFill>
              <a:effectLst/>
            </a:endParaRP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3591547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59402"/>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rPr>
              <a:t>The </a:t>
            </a:r>
            <a:r>
              <a:rPr lang="en-US" sz="1100" b="1" i="0" kern="1200" dirty="0">
                <a:solidFill>
                  <a:schemeClr val="tx1"/>
                </a:solidFill>
                <a:effectLst/>
              </a:rPr>
              <a:t>EC2 </a:t>
            </a:r>
            <a:r>
              <a:rPr lang="en-US" sz="1100" b="0" i="0" kern="1200" dirty="0">
                <a:solidFill>
                  <a:schemeClr val="tx1"/>
                </a:solidFill>
                <a:effectLst/>
              </a:rPr>
              <a:t>in Amazon EC2 </a:t>
            </a:r>
            <a:r>
              <a:rPr lang="en-US" sz="1100" kern="1200" dirty="0">
                <a:solidFill>
                  <a:schemeClr val="tx1"/>
                </a:solidFill>
                <a:effectLst/>
              </a:rPr>
              <a:t>stands for </a:t>
            </a:r>
            <a:r>
              <a:rPr lang="en-US" sz="1100" b="1" i="0" kern="1200" dirty="0">
                <a:solidFill>
                  <a:schemeClr val="tx1"/>
                </a:solidFill>
                <a:effectLst/>
              </a:rPr>
              <a:t>Elastic Compute Cloud</a:t>
            </a:r>
            <a:r>
              <a:rPr lang="en-US" sz="1100" b="0" i="1" kern="1200" dirty="0">
                <a:solidFill>
                  <a:schemeClr val="tx1"/>
                </a:solidFill>
                <a:effectLst/>
              </a:rPr>
              <a:t>:</a:t>
            </a:r>
            <a:endParaRPr lang="en-US" sz="1100" kern="1200" dirty="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i="0" kern="1200" dirty="0">
                <a:solidFill>
                  <a:schemeClr val="tx1"/>
                </a:solidFill>
                <a:effectLst/>
              </a:rPr>
              <a:t>Elastic</a:t>
            </a:r>
            <a:r>
              <a:rPr lang="en-US" sz="1100" i="0" kern="1200" dirty="0">
                <a:solidFill>
                  <a:schemeClr val="tx1"/>
                </a:solidFill>
                <a:effectLst/>
              </a:rPr>
              <a:t> refers to the fact that you can easily increase or decrease the number of servers you run to support an application automatically, and you can also increase or decrease the size of existing servers.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i="0" kern="1200" dirty="0">
                <a:solidFill>
                  <a:schemeClr val="tx1"/>
                </a:solidFill>
                <a:effectLst/>
              </a:rPr>
              <a:t>Compute</a:t>
            </a:r>
            <a:r>
              <a:rPr lang="en-US" sz="1100" i="0" kern="1200" dirty="0">
                <a:solidFill>
                  <a:schemeClr val="tx1"/>
                </a:solidFill>
                <a:effectLst/>
              </a:rPr>
              <a:t> refers to reason why most users run servers in the first place, which is to host running applications or process data—actions that require compute resources, including processing power (CPU) and memory (RAM).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i="0" kern="1200" dirty="0">
                <a:solidFill>
                  <a:schemeClr val="tx1"/>
                </a:solidFill>
                <a:effectLst/>
              </a:rPr>
              <a:t>Cloud</a:t>
            </a:r>
            <a:r>
              <a:rPr lang="en-US" sz="1100" i="0" kern="1200" dirty="0">
                <a:solidFill>
                  <a:schemeClr val="tx1"/>
                </a:solidFill>
                <a:effectLst/>
              </a:rPr>
              <a:t> refers to the fact that the EC2 instances that you run are hosted in the cloud.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i="0" kern="1200" dirty="0">
              <a:solidFill>
                <a:schemeClr val="tx1"/>
              </a:solidFill>
              <a:effectLst/>
            </a:endParaRPr>
          </a:p>
          <a:p>
            <a:pPr marL="0" indent="0">
              <a:buFont typeface="Arial" panose="020B0604020202020204" pitchFamily="34" charset="0"/>
              <a:buNone/>
            </a:pPr>
            <a:r>
              <a:rPr lang="en-US" sz="1100" kern="1200" dirty="0">
                <a:solidFill>
                  <a:schemeClr val="tx1"/>
                </a:solidFill>
                <a:effectLst/>
              </a:rPr>
              <a:t>Amazon EC2 provides virtual machines in the cloud and gives you full administrative control over the Windows or Linux operating</a:t>
            </a:r>
            <a:r>
              <a:rPr lang="en-US" sz="1100" kern="1200" baseline="0" dirty="0">
                <a:solidFill>
                  <a:schemeClr val="tx1"/>
                </a:solidFill>
                <a:effectLst/>
              </a:rPr>
              <a:t> system </a:t>
            </a:r>
            <a:r>
              <a:rPr lang="en-US" sz="1100" kern="1200" dirty="0">
                <a:solidFill>
                  <a:schemeClr val="tx1"/>
                </a:solidFill>
                <a:effectLst/>
              </a:rPr>
              <a:t>that runs on the instance. Most server operating systems are supported, including: Windows 2008, 2012, 2016, and 2019, Red Hat, SuSE, Ubuntu, and Amazon Linux.</a:t>
            </a:r>
          </a:p>
          <a:p>
            <a:pPr marL="0" indent="0">
              <a:buFont typeface="Arial" panose="020B0604020202020204" pitchFamily="34" charset="0"/>
              <a:buNone/>
            </a:pPr>
            <a:endParaRPr lang="en-US" sz="1100" kern="1200" dirty="0">
              <a:solidFill>
                <a:schemeClr val="tx1"/>
              </a:solidFill>
              <a:effectLst/>
            </a:endParaRPr>
          </a:p>
          <a:p>
            <a:pPr marL="0" indent="0">
              <a:buFont typeface="Arial" panose="020B0604020202020204" pitchFamily="34" charset="0"/>
              <a:buNone/>
            </a:pPr>
            <a:r>
              <a:rPr lang="en-US" sz="1100" kern="1200" dirty="0">
                <a:solidFill>
                  <a:schemeClr val="tx1"/>
                </a:solidFill>
                <a:effectLst/>
              </a:rPr>
              <a:t>An operating system that runs on a virtual machine is often called </a:t>
            </a:r>
            <a:r>
              <a:rPr lang="en-US" sz="1100" i="1" kern="1200" dirty="0">
                <a:solidFill>
                  <a:schemeClr val="tx1"/>
                </a:solidFill>
                <a:effectLst/>
              </a:rPr>
              <a:t>a guest operating system </a:t>
            </a:r>
            <a:r>
              <a:rPr lang="en-US" sz="1100" kern="1200" dirty="0">
                <a:solidFill>
                  <a:schemeClr val="tx1"/>
                </a:solidFill>
                <a:effectLst/>
              </a:rPr>
              <a:t>to distinguish it from the </a:t>
            </a:r>
            <a:r>
              <a:rPr lang="en-US" sz="1100" i="1" kern="1200" dirty="0">
                <a:solidFill>
                  <a:schemeClr val="tx1"/>
                </a:solidFill>
                <a:effectLst/>
              </a:rPr>
              <a:t>host</a:t>
            </a:r>
            <a:r>
              <a:rPr lang="en-US" sz="1100" kern="1200" dirty="0">
                <a:solidFill>
                  <a:schemeClr val="tx1"/>
                </a:solidFill>
                <a:effectLst/>
              </a:rPr>
              <a:t> operating system. The host operating system is directly installed on any server hardware that hosts one or more virtual machines.</a:t>
            </a:r>
          </a:p>
          <a:p>
            <a:pPr marL="0" indent="0">
              <a:buFont typeface="Arial" panose="020B0604020202020204" pitchFamily="34" charset="0"/>
              <a:buNone/>
            </a:pPr>
            <a:endParaRPr lang="en-US" sz="1100" kern="1200" dirty="0">
              <a:solidFill>
                <a:schemeClr val="tx1"/>
              </a:solidFill>
              <a:effectLst/>
            </a:endParaRPr>
          </a:p>
          <a:p>
            <a:r>
              <a:rPr lang="en-US" sz="1100" dirty="0"/>
              <a:t>With Amazon EC2, you can launch any number of instances of any size into any Availability Zone anywhere in the world in a matter of minutes. Instances launch from </a:t>
            </a:r>
            <a:r>
              <a:rPr lang="en-US" sz="1100" b="1" dirty="0"/>
              <a:t>Amazon Machine Images (AMIs)</a:t>
            </a:r>
            <a:r>
              <a:rPr lang="en-US" sz="1100" b="0" dirty="0"/>
              <a:t>, which are effectively virtual machine </a:t>
            </a:r>
            <a:r>
              <a:rPr lang="en-US" sz="1100" b="0" i="1" dirty="0"/>
              <a:t>templates</a:t>
            </a:r>
            <a:r>
              <a:rPr lang="en-US" sz="1100" b="0" dirty="0"/>
              <a:t>. AMIs are discussed in more detail later in this module.</a:t>
            </a:r>
          </a:p>
          <a:p>
            <a:endParaRPr lang="en-US" sz="1100" dirty="0"/>
          </a:p>
          <a:p>
            <a:r>
              <a:rPr lang="en-US" sz="1100" dirty="0"/>
              <a:t>You can control traffic to and from instances by using security groups. </a:t>
            </a:r>
            <a:r>
              <a:rPr lang="en-US" sz="1100" kern="1200" dirty="0">
                <a:solidFill>
                  <a:schemeClr val="tx1"/>
                </a:solidFill>
                <a:effectLst/>
              </a:rPr>
              <a:t>Also, because </a:t>
            </a:r>
            <a:r>
              <a:rPr lang="en-US" sz="1100" dirty="0"/>
              <a:t>the servers run in the AWS Cloud</a:t>
            </a:r>
            <a:r>
              <a:rPr lang="en-US" sz="1100" kern="1200" dirty="0">
                <a:solidFill>
                  <a:schemeClr val="tx1"/>
                </a:solidFill>
                <a:effectLst/>
              </a:rPr>
              <a:t>, </a:t>
            </a:r>
            <a:r>
              <a:rPr lang="en-US" sz="1100" dirty="0"/>
              <a:t>you can build solutions that take use multiple AWS services.</a:t>
            </a:r>
          </a:p>
        </p:txBody>
      </p:sp>
    </p:spTree>
    <p:extLst>
      <p:ext uri="{BB962C8B-B14F-4D97-AF65-F5344CB8AC3E}">
        <p14:creationId xmlns:p14="http://schemas.microsoft.com/office/powerpoint/2010/main" val="2797594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The first time you launch an Amazon EC2 instance, you will likely use the AWS Management Console</a:t>
            </a:r>
            <a:r>
              <a:rPr lang="en-US" sz="1100" baseline="0" dirty="0"/>
              <a:t> </a:t>
            </a:r>
            <a:r>
              <a:rPr lang="en-US" sz="1100" dirty="0"/>
              <a:t>Launch Instance Wizard. You will have the opportunity to experience using the Launch Wizard in the </a:t>
            </a:r>
            <a:r>
              <a:rPr lang="en-US" sz="1100" b="1" dirty="0"/>
              <a:t>lab</a:t>
            </a:r>
            <a:r>
              <a:rPr lang="en-US" sz="1100" dirty="0"/>
              <a:t> that is in this module.</a:t>
            </a:r>
          </a:p>
          <a:p>
            <a:endParaRPr lang="en-US" sz="1100" dirty="0"/>
          </a:p>
          <a:p>
            <a:r>
              <a:rPr lang="en-US" sz="1100" dirty="0"/>
              <a:t>The </a:t>
            </a:r>
            <a:r>
              <a:rPr lang="en-US" sz="1100" b="1" dirty="0"/>
              <a:t>Launch Instance Wizard </a:t>
            </a:r>
            <a:r>
              <a:rPr lang="en-US" sz="1100" dirty="0"/>
              <a:t>makes it easy to launch an instance. For example, if you choose to accept all the default settings, you can skip most of the steps that are provided by the wizard and launch an EC2 instance in as few as six clicks. An example of this process is shown in the </a:t>
            </a:r>
            <a:r>
              <a:rPr lang="en-US" sz="1100" b="1" dirty="0"/>
              <a:t>demonstration</a:t>
            </a:r>
            <a:r>
              <a:rPr lang="en-US" sz="1100" dirty="0"/>
              <a:t> at the end of this section. </a:t>
            </a:r>
          </a:p>
          <a:p>
            <a:endParaRPr lang="en-US" sz="1100" dirty="0"/>
          </a:p>
          <a:p>
            <a:r>
              <a:rPr lang="en-US" sz="1100" dirty="0"/>
              <a:t>However, for most deployments you will want to modify the default settings so that the servers you launch are deployed in a way that matches your specific needs.</a:t>
            </a:r>
          </a:p>
          <a:p>
            <a:endParaRPr lang="en-US" sz="1100" dirty="0"/>
          </a:p>
          <a:p>
            <a:r>
              <a:rPr lang="en-US" sz="1100" dirty="0"/>
              <a:t>The next series of slides introduce you to the essential choices that you must make when you launch an instance. The</a:t>
            </a:r>
            <a:r>
              <a:rPr lang="en-US" sz="1100" baseline="0" dirty="0"/>
              <a:t> slides cover</a:t>
            </a:r>
            <a:r>
              <a:rPr lang="en-US" sz="1100" dirty="0"/>
              <a:t> essential concepts that are good to know when you make these choices.</a:t>
            </a:r>
            <a:r>
              <a:rPr lang="en-US" sz="1100" baseline="0" dirty="0"/>
              <a:t> These concepts are described to help you </a:t>
            </a:r>
            <a:r>
              <a:rPr lang="en-US" sz="1100" dirty="0"/>
              <a:t>understand the options that are available, and the effects of the decisions</a:t>
            </a:r>
            <a:r>
              <a:rPr lang="en-US" sz="1100" baseline="0" dirty="0"/>
              <a:t> that </a:t>
            </a:r>
            <a:r>
              <a:rPr lang="en-US" sz="1100" dirty="0"/>
              <a:t>you will make.</a:t>
            </a:r>
          </a:p>
        </p:txBody>
      </p:sp>
    </p:spTree>
    <p:extLst>
      <p:ext uri="{BB962C8B-B14F-4D97-AF65-F5344CB8AC3E}">
        <p14:creationId xmlns:p14="http://schemas.microsoft.com/office/powerpoint/2010/main" val="6210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307842"/>
          </a:xfrm>
        </p:spPr>
        <p:txBody>
          <a:bodyPr/>
          <a:lstStyle/>
          <a:p>
            <a:r>
              <a:rPr lang="en-US" sz="1100" b="0" i="0" kern="1200" dirty="0">
                <a:solidFill>
                  <a:schemeClr val="tx1"/>
                </a:solidFill>
                <a:effectLst/>
                <a:latin typeface="Calibri" panose="020F0502020204030204" pitchFamily="34" charset="0"/>
                <a:ea typeface="+mn-ea"/>
                <a:cs typeface="+mn-cs"/>
              </a:rPr>
              <a:t>An </a:t>
            </a:r>
            <a:r>
              <a:rPr lang="en-US" sz="1100" b="1" i="0" kern="1200" dirty="0">
                <a:solidFill>
                  <a:schemeClr val="tx1"/>
                </a:solidFill>
                <a:effectLst/>
                <a:latin typeface="Calibri" panose="020F0502020204030204" pitchFamily="34" charset="0"/>
                <a:ea typeface="+mn-ea"/>
                <a:cs typeface="+mn-cs"/>
              </a:rPr>
              <a:t>Amazon Machine Image (AMI)</a:t>
            </a:r>
            <a:r>
              <a:rPr lang="en-US" sz="1100" b="0" i="0" kern="1200" dirty="0">
                <a:solidFill>
                  <a:schemeClr val="tx1"/>
                </a:solidFill>
                <a:effectLst/>
                <a:latin typeface="Calibri" panose="020F0502020204030204" pitchFamily="34" charset="0"/>
                <a:ea typeface="+mn-ea"/>
                <a:cs typeface="+mn-cs"/>
              </a:rPr>
              <a:t> provides information that is</a:t>
            </a:r>
            <a:r>
              <a:rPr lang="en-US" sz="1100" b="0" i="0" kern="1200" baseline="0" dirty="0">
                <a:solidFill>
                  <a:schemeClr val="tx1"/>
                </a:solidFill>
                <a:effectLst/>
                <a:latin typeface="Calibri" panose="020F0502020204030204" pitchFamily="34" charset="0"/>
                <a:ea typeface="+mn-ea"/>
                <a:cs typeface="+mn-cs"/>
              </a:rPr>
              <a:t> </a:t>
            </a:r>
            <a:r>
              <a:rPr lang="en-US" sz="1100" b="0" i="0" kern="1200" dirty="0">
                <a:solidFill>
                  <a:schemeClr val="tx1"/>
                </a:solidFill>
                <a:effectLst/>
                <a:latin typeface="Calibri" panose="020F0502020204030204" pitchFamily="34" charset="0"/>
                <a:ea typeface="+mn-ea"/>
                <a:cs typeface="+mn-cs"/>
              </a:rPr>
              <a:t>required to launch an </a:t>
            </a:r>
            <a:r>
              <a:rPr lang="en-US" sz="1100" b="1" i="0" kern="1200" dirty="0">
                <a:solidFill>
                  <a:schemeClr val="tx1"/>
                </a:solidFill>
                <a:effectLst/>
                <a:latin typeface="Calibri" panose="020F0502020204030204" pitchFamily="34" charset="0"/>
                <a:ea typeface="+mn-ea"/>
                <a:cs typeface="+mn-cs"/>
              </a:rPr>
              <a:t>EC2</a:t>
            </a:r>
            <a:r>
              <a:rPr lang="en-US" sz="1100" b="0" i="0" kern="1200" dirty="0">
                <a:solidFill>
                  <a:schemeClr val="tx1"/>
                </a:solidFill>
                <a:effectLst/>
                <a:latin typeface="Calibri" panose="020F0502020204030204" pitchFamily="34" charset="0"/>
                <a:ea typeface="+mn-ea"/>
                <a:cs typeface="+mn-cs"/>
              </a:rPr>
              <a:t> </a:t>
            </a:r>
            <a:r>
              <a:rPr lang="en-US" sz="1100" b="1" i="0" kern="1200" dirty="0">
                <a:solidFill>
                  <a:schemeClr val="tx1"/>
                </a:solidFill>
                <a:effectLst/>
                <a:latin typeface="Calibri" panose="020F0502020204030204" pitchFamily="34" charset="0"/>
                <a:ea typeface="+mn-ea"/>
                <a:cs typeface="+mn-cs"/>
              </a:rPr>
              <a:t>instance</a:t>
            </a:r>
            <a:r>
              <a:rPr lang="en-US" sz="1100" b="0" i="0" kern="1200" dirty="0">
                <a:solidFill>
                  <a:schemeClr val="tx1"/>
                </a:solidFill>
                <a:effectLst/>
                <a:latin typeface="Calibri" panose="020F0502020204030204" pitchFamily="34" charset="0"/>
                <a:ea typeface="+mn-ea"/>
                <a:cs typeface="+mn-cs"/>
              </a:rPr>
              <a:t>. You must specify a source AMI when you launch an instance. You can use different AMIs to launch different types of instances. For example, you can choose one AMI to launch</a:t>
            </a:r>
            <a:r>
              <a:rPr lang="en-US" sz="1100" b="0" i="0" kern="1200" baseline="0" dirty="0">
                <a:solidFill>
                  <a:schemeClr val="tx1"/>
                </a:solidFill>
                <a:effectLst/>
                <a:latin typeface="Calibri" panose="020F0502020204030204" pitchFamily="34" charset="0"/>
                <a:ea typeface="+mn-ea"/>
                <a:cs typeface="+mn-cs"/>
              </a:rPr>
              <a:t> an instance that will become a </a:t>
            </a:r>
            <a:r>
              <a:rPr lang="en-US" sz="1100" b="0" i="0" kern="1200" dirty="0">
                <a:solidFill>
                  <a:schemeClr val="tx1"/>
                </a:solidFill>
                <a:effectLst/>
                <a:latin typeface="Calibri" panose="020F0502020204030204" pitchFamily="34" charset="0"/>
                <a:ea typeface="+mn-ea"/>
                <a:cs typeface="+mn-cs"/>
              </a:rPr>
              <a:t>web server </a:t>
            </a:r>
            <a:r>
              <a:rPr lang="en-US" sz="1100" b="0" i="0" kern="1200" baseline="0" dirty="0">
                <a:solidFill>
                  <a:schemeClr val="tx1"/>
                </a:solidFill>
                <a:effectLst/>
                <a:latin typeface="Calibri" panose="020F0502020204030204" pitchFamily="34" charset="0"/>
                <a:ea typeface="+mn-ea"/>
                <a:cs typeface="+mn-cs"/>
              </a:rPr>
              <a:t>and another AMI to deploy an instance that will host an application server. </a:t>
            </a:r>
            <a:r>
              <a:rPr lang="en-US" sz="1100" dirty="0">
                <a:latin typeface="Calibri" panose="020F0502020204030204" pitchFamily="34" charset="0"/>
              </a:rPr>
              <a:t>You can also launch multiple instances from a single AMI.</a:t>
            </a:r>
            <a:endParaRPr lang="en-US" sz="1100" b="0" i="0" kern="1200" baseline="0" dirty="0">
              <a:solidFill>
                <a:schemeClr val="tx1"/>
              </a:solidFill>
              <a:effectLst/>
              <a:latin typeface="Calibri" panose="020F0502020204030204" pitchFamily="34" charset="0"/>
              <a:ea typeface="+mn-ea"/>
              <a:cs typeface="+mn-cs"/>
            </a:endParaRPr>
          </a:p>
          <a:p>
            <a:endParaRPr lang="en-US" sz="1100" b="0" i="0" kern="1200" baseline="0" dirty="0">
              <a:solidFill>
                <a:schemeClr val="tx1"/>
              </a:solidFill>
              <a:effectLst/>
              <a:latin typeface="Calibri" panose="020F0502020204030204" pitchFamily="34" charset="0"/>
              <a:ea typeface="+mn-ea"/>
              <a:cs typeface="+mn-cs"/>
            </a:endParaRPr>
          </a:p>
          <a:p>
            <a:r>
              <a:rPr lang="en-US" sz="1100" b="0" i="0" kern="1200" dirty="0">
                <a:solidFill>
                  <a:schemeClr val="tx1"/>
                </a:solidFill>
                <a:effectLst/>
                <a:latin typeface="Calibri" panose="020F0502020204030204" pitchFamily="34" charset="0"/>
                <a:ea typeface="+mn-ea"/>
                <a:cs typeface="+mn-cs"/>
              </a:rPr>
              <a:t>An AMI includes the following components:</a:t>
            </a:r>
          </a:p>
          <a:p>
            <a:pPr marL="171450" indent="-171450">
              <a:buFont typeface="Arial" panose="020B0604020202020204" pitchFamily="34" charset="0"/>
              <a:buChar char="•"/>
            </a:pPr>
            <a:r>
              <a:rPr lang="en-US" sz="1100" b="0" i="0" kern="1200" dirty="0">
                <a:solidFill>
                  <a:schemeClr val="tx1"/>
                </a:solidFill>
                <a:effectLst/>
                <a:latin typeface="Calibri" panose="020F0502020204030204" pitchFamily="34" charset="0"/>
                <a:ea typeface="+mn-ea"/>
                <a:cs typeface="+mn-cs"/>
              </a:rPr>
              <a:t>A </a:t>
            </a:r>
            <a:r>
              <a:rPr lang="en-US" sz="1100" b="1" i="0" kern="1200" dirty="0">
                <a:solidFill>
                  <a:schemeClr val="tx1"/>
                </a:solidFill>
                <a:effectLst/>
                <a:latin typeface="Calibri" panose="020F0502020204030204" pitchFamily="34" charset="0"/>
                <a:ea typeface="+mn-ea"/>
                <a:cs typeface="+mn-cs"/>
              </a:rPr>
              <a:t>template for the</a:t>
            </a:r>
            <a:r>
              <a:rPr lang="en-US" sz="1100" b="1" i="0" kern="1200" baseline="0" dirty="0">
                <a:solidFill>
                  <a:schemeClr val="tx1"/>
                </a:solidFill>
                <a:effectLst/>
                <a:latin typeface="Calibri" panose="020F0502020204030204" pitchFamily="34" charset="0"/>
                <a:ea typeface="+mn-ea"/>
                <a:cs typeface="+mn-cs"/>
              </a:rPr>
              <a:t> </a:t>
            </a:r>
            <a:r>
              <a:rPr lang="en-US" sz="1100" b="1" i="0" kern="1200" dirty="0">
                <a:solidFill>
                  <a:schemeClr val="tx1"/>
                </a:solidFill>
                <a:effectLst/>
                <a:latin typeface="Calibri" panose="020F0502020204030204" pitchFamily="34" charset="0"/>
                <a:ea typeface="+mn-ea"/>
                <a:cs typeface="+mn-cs"/>
              </a:rPr>
              <a:t>root volume </a:t>
            </a:r>
            <a:r>
              <a:rPr lang="en-US" sz="1100" b="0" i="0" kern="1200" dirty="0">
                <a:solidFill>
                  <a:schemeClr val="tx1"/>
                </a:solidFill>
                <a:effectLst/>
                <a:latin typeface="Calibri" panose="020F0502020204030204" pitchFamily="34" charset="0"/>
                <a:ea typeface="+mn-ea"/>
                <a:cs typeface="+mn-cs"/>
              </a:rPr>
              <a:t>of the </a:t>
            </a:r>
            <a:r>
              <a:rPr lang="en-US" sz="1100" b="0" i="0" kern="1200" baseline="0" dirty="0">
                <a:solidFill>
                  <a:schemeClr val="tx1"/>
                </a:solidFill>
                <a:effectLst/>
                <a:latin typeface="Calibri" panose="020F0502020204030204" pitchFamily="34" charset="0"/>
                <a:ea typeface="+mn-ea"/>
                <a:cs typeface="+mn-cs"/>
              </a:rPr>
              <a:t>instance. A root volume typically</a:t>
            </a:r>
            <a:r>
              <a:rPr lang="en-US" sz="1100" b="0" i="0" kern="1200" dirty="0">
                <a:solidFill>
                  <a:schemeClr val="tx1"/>
                </a:solidFill>
                <a:effectLst/>
                <a:latin typeface="Calibri" panose="020F0502020204030204" pitchFamily="34" charset="0"/>
                <a:ea typeface="+mn-ea"/>
                <a:cs typeface="+mn-cs"/>
              </a:rPr>
              <a:t> </a:t>
            </a:r>
            <a:r>
              <a:rPr lang="en-US" sz="1100" b="0" i="0" kern="1200" baseline="0" dirty="0">
                <a:solidFill>
                  <a:schemeClr val="tx1"/>
                </a:solidFill>
                <a:effectLst/>
                <a:latin typeface="Calibri" panose="020F0502020204030204" pitchFamily="34" charset="0"/>
                <a:ea typeface="+mn-ea"/>
                <a:cs typeface="+mn-cs"/>
              </a:rPr>
              <a:t>contains </a:t>
            </a:r>
            <a:r>
              <a:rPr lang="en-US" sz="1100" b="0" i="0" kern="1200" dirty="0">
                <a:solidFill>
                  <a:schemeClr val="tx1"/>
                </a:solidFill>
                <a:effectLst/>
                <a:latin typeface="Calibri" panose="020F0502020204030204" pitchFamily="34" charset="0"/>
                <a:ea typeface="+mn-ea"/>
                <a:cs typeface="+mn-cs"/>
              </a:rPr>
              <a:t>a</a:t>
            </a:r>
            <a:r>
              <a:rPr lang="en-US" sz="1100" dirty="0">
                <a:latin typeface="Calibri" panose="020F0502020204030204" pitchFamily="34" charset="0"/>
              </a:rPr>
              <a:t>n </a:t>
            </a:r>
            <a:r>
              <a:rPr lang="en-US" sz="1100" b="0" i="0" kern="1200" dirty="0">
                <a:solidFill>
                  <a:schemeClr val="tx1"/>
                </a:solidFill>
                <a:effectLst/>
                <a:latin typeface="Calibri" panose="020F0502020204030204" pitchFamily="34" charset="0"/>
                <a:ea typeface="+mn-ea"/>
                <a:cs typeface="+mn-cs"/>
              </a:rPr>
              <a:t>operating system (OS) and everything</a:t>
            </a:r>
            <a:r>
              <a:rPr lang="en-US" sz="1100" b="0" i="0" kern="1200" baseline="0" dirty="0">
                <a:solidFill>
                  <a:schemeClr val="tx1"/>
                </a:solidFill>
                <a:effectLst/>
                <a:latin typeface="Calibri" panose="020F0502020204030204" pitchFamily="34" charset="0"/>
                <a:ea typeface="+mn-ea"/>
                <a:cs typeface="+mn-cs"/>
              </a:rPr>
              <a:t> that was </a:t>
            </a:r>
            <a:r>
              <a:rPr lang="en-US" sz="1100" b="0" i="0" kern="1200" dirty="0">
                <a:solidFill>
                  <a:schemeClr val="tx1"/>
                </a:solidFill>
                <a:effectLst/>
                <a:latin typeface="Calibri" panose="020F0502020204030204" pitchFamily="34" charset="0"/>
                <a:ea typeface="+mn-ea"/>
                <a:cs typeface="+mn-cs"/>
              </a:rPr>
              <a:t>installed in that </a:t>
            </a:r>
            <a:r>
              <a:rPr lang="en-US" sz="1100" b="0" i="0" kern="1200" baseline="0" dirty="0">
                <a:solidFill>
                  <a:schemeClr val="tx1"/>
                </a:solidFill>
                <a:effectLst/>
                <a:latin typeface="Calibri" panose="020F0502020204030204" pitchFamily="34" charset="0"/>
                <a:ea typeface="+mn-ea"/>
                <a:cs typeface="+mn-cs"/>
              </a:rPr>
              <a:t>OS (applications, libraries, etc.</a:t>
            </a:r>
            <a:r>
              <a:rPr lang="en-US" sz="1100" b="0" i="0" kern="1200" dirty="0">
                <a:solidFill>
                  <a:schemeClr val="tx1"/>
                </a:solidFill>
                <a:effectLst/>
                <a:latin typeface="Calibri" panose="020F0502020204030204" pitchFamily="34" charset="0"/>
                <a:ea typeface="+mn-ea"/>
                <a:cs typeface="+mn-cs"/>
              </a:rPr>
              <a:t>). Amazon EC2 copies</a:t>
            </a:r>
            <a:r>
              <a:rPr lang="en-US" sz="1100" b="0" i="0" kern="1200" baseline="0" dirty="0">
                <a:solidFill>
                  <a:schemeClr val="tx1"/>
                </a:solidFill>
                <a:effectLst/>
                <a:latin typeface="Calibri" panose="020F0502020204030204" pitchFamily="34" charset="0"/>
                <a:ea typeface="+mn-ea"/>
                <a:cs typeface="+mn-cs"/>
              </a:rPr>
              <a:t> the template to the root volume of a new EC2 instance, and then starts it.</a:t>
            </a:r>
            <a:endParaRPr lang="en-US" sz="1100" b="0" i="0" kern="1200" dirty="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sz="1100" b="1" i="0" kern="1200" dirty="0">
                <a:solidFill>
                  <a:schemeClr val="tx1"/>
                </a:solidFill>
                <a:effectLst/>
                <a:latin typeface="Calibri" panose="020F0502020204030204" pitchFamily="34" charset="0"/>
                <a:ea typeface="+mn-ea"/>
                <a:cs typeface="+mn-cs"/>
              </a:rPr>
              <a:t>Launch permissions </a:t>
            </a:r>
            <a:r>
              <a:rPr lang="en-US" sz="1100" b="0" i="0" kern="1200" dirty="0">
                <a:solidFill>
                  <a:schemeClr val="tx1"/>
                </a:solidFill>
                <a:effectLst/>
                <a:latin typeface="Calibri" panose="020F0502020204030204" pitchFamily="34" charset="0"/>
                <a:ea typeface="+mn-ea"/>
                <a:cs typeface="+mn-cs"/>
              </a:rPr>
              <a:t>that control which AWS accounts can use the AMI.</a:t>
            </a:r>
          </a:p>
          <a:p>
            <a:pPr marL="171450" indent="-171450">
              <a:buFont typeface="Arial" panose="020B0604020202020204" pitchFamily="34" charset="0"/>
              <a:buChar char="•"/>
            </a:pPr>
            <a:r>
              <a:rPr lang="en-US" sz="1100" b="0" i="0" kern="1200" dirty="0">
                <a:solidFill>
                  <a:schemeClr val="tx1"/>
                </a:solidFill>
                <a:effectLst/>
                <a:latin typeface="Calibri" panose="020F0502020204030204" pitchFamily="34" charset="0"/>
                <a:ea typeface="+mn-ea"/>
                <a:cs typeface="+mn-cs"/>
              </a:rPr>
              <a:t>A </a:t>
            </a:r>
            <a:r>
              <a:rPr lang="en-US" sz="1100" b="1" i="0" kern="1200" dirty="0">
                <a:solidFill>
                  <a:schemeClr val="tx1"/>
                </a:solidFill>
                <a:effectLst/>
                <a:latin typeface="Calibri" panose="020F0502020204030204" pitchFamily="34" charset="0"/>
                <a:ea typeface="+mn-ea"/>
                <a:cs typeface="+mn-cs"/>
              </a:rPr>
              <a:t>block device mapping</a:t>
            </a:r>
            <a:r>
              <a:rPr lang="en-US" sz="1100" b="0" i="0" kern="1200" dirty="0">
                <a:solidFill>
                  <a:schemeClr val="tx1"/>
                </a:solidFill>
                <a:effectLst/>
                <a:latin typeface="Calibri" panose="020F0502020204030204" pitchFamily="34" charset="0"/>
                <a:ea typeface="+mn-ea"/>
                <a:cs typeface="+mn-cs"/>
              </a:rPr>
              <a:t> that specifies the volumes to attach to the instance (if any) when it is launched.</a:t>
            </a:r>
          </a:p>
          <a:p>
            <a:pPr marL="171450" indent="-171450">
              <a:buFont typeface="Arial" panose="020B0604020202020204" pitchFamily="34" charset="0"/>
              <a:buChar char="•"/>
            </a:pPr>
            <a:endParaRPr lang="en-US" sz="1100" b="0" i="0"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sz="1100" b="0" i="0" kern="1200" dirty="0">
                <a:solidFill>
                  <a:schemeClr val="tx1"/>
                </a:solidFill>
                <a:effectLst/>
                <a:latin typeface="Calibri" panose="020F0502020204030204" pitchFamily="34" charset="0"/>
                <a:ea typeface="+mn-ea"/>
                <a:cs typeface="+mn-cs"/>
              </a:rPr>
              <a:t>You can choose many AMIs:</a:t>
            </a:r>
            <a:endParaRPr lang="en-US" sz="1100" b="1" kern="1200" dirty="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sz="1100" b="1" kern="1200" dirty="0">
                <a:solidFill>
                  <a:schemeClr val="tx1"/>
                </a:solidFill>
                <a:effectLst/>
                <a:latin typeface="Calibri" panose="020F0502020204030204" pitchFamily="34" charset="0"/>
                <a:ea typeface="+mn-ea"/>
                <a:cs typeface="+mn-cs"/>
              </a:rPr>
              <a:t>Quick Start</a:t>
            </a:r>
            <a:r>
              <a:rPr lang="en-US" sz="1100" b="1" kern="1200" baseline="0" dirty="0">
                <a:solidFill>
                  <a:schemeClr val="tx1"/>
                </a:solidFill>
                <a:effectLst/>
                <a:latin typeface="Calibri" panose="020F0502020204030204" pitchFamily="34" charset="0"/>
                <a:ea typeface="+mn-ea"/>
                <a:cs typeface="+mn-cs"/>
              </a:rPr>
              <a:t> – </a:t>
            </a:r>
            <a:r>
              <a:rPr lang="en-US" sz="1100" kern="1200" dirty="0">
                <a:solidFill>
                  <a:schemeClr val="tx1"/>
                </a:solidFill>
                <a:effectLst/>
                <a:latin typeface="Calibri" panose="020F0502020204030204" pitchFamily="34" charset="0"/>
                <a:ea typeface="+mn-ea"/>
                <a:cs typeface="+mn-cs"/>
              </a:rPr>
              <a:t>AWS offers a number of pre-built AMIs for launching your instances. These AMIs include many Linux and Windows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Calibri" panose="020F0502020204030204" pitchFamily="34" charset="0"/>
                <a:ea typeface="+mn-ea"/>
                <a:cs typeface="+mn-cs"/>
              </a:rPr>
              <a:t>My AMIs</a:t>
            </a:r>
            <a:r>
              <a:rPr lang="en-US" sz="1100" b="1" kern="1200" baseline="0" dirty="0">
                <a:solidFill>
                  <a:schemeClr val="tx1"/>
                </a:solidFill>
                <a:effectLst/>
                <a:latin typeface="Calibri" panose="020F0502020204030204" pitchFamily="34" charset="0"/>
                <a:ea typeface="+mn-ea"/>
                <a:cs typeface="+mn-cs"/>
              </a:rPr>
              <a:t> –</a:t>
            </a:r>
            <a:r>
              <a:rPr lang="en-US" sz="1100" b="1" kern="1200" dirty="0">
                <a:solidFill>
                  <a:schemeClr val="tx1"/>
                </a:solidFill>
                <a:effectLst/>
                <a:latin typeface="Calibri" panose="020F0502020204030204" pitchFamily="34" charset="0"/>
                <a:ea typeface="+mn-ea"/>
                <a:cs typeface="+mn-cs"/>
              </a:rPr>
              <a:t> </a:t>
            </a:r>
            <a:r>
              <a:rPr lang="en-US" sz="1100" b="0" kern="1200" dirty="0">
                <a:solidFill>
                  <a:schemeClr val="tx1"/>
                </a:solidFill>
                <a:effectLst/>
                <a:latin typeface="Calibri" panose="020F0502020204030204" pitchFamily="34" charset="0"/>
                <a:ea typeface="+mn-ea"/>
                <a:cs typeface="+mn-cs"/>
              </a:rPr>
              <a:t>These AMIs are AMIs that you created. </a:t>
            </a:r>
            <a:endParaRPr lang="en-US" sz="1100" kern="1200" dirty="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sz="1100" b="1" kern="1200" dirty="0">
                <a:solidFill>
                  <a:schemeClr val="tx1"/>
                </a:solidFill>
                <a:effectLst/>
                <a:latin typeface="Calibri" panose="020F0502020204030204" pitchFamily="34" charset="0"/>
                <a:ea typeface="+mn-ea"/>
                <a:cs typeface="+mn-cs"/>
              </a:rPr>
              <a:t>AWS Marketplace</a:t>
            </a:r>
            <a:r>
              <a:rPr lang="en-US" sz="1100" b="1" kern="1200" baseline="0" dirty="0">
                <a:solidFill>
                  <a:schemeClr val="tx1"/>
                </a:solidFill>
                <a:effectLst/>
                <a:latin typeface="Calibri" panose="020F0502020204030204" pitchFamily="34" charset="0"/>
                <a:ea typeface="+mn-ea"/>
                <a:cs typeface="+mn-cs"/>
              </a:rPr>
              <a:t> – </a:t>
            </a:r>
            <a:r>
              <a:rPr lang="en-US" sz="1100" kern="1200" dirty="0">
                <a:solidFill>
                  <a:schemeClr val="tx1"/>
                </a:solidFill>
                <a:effectLst/>
                <a:latin typeface="Calibri" panose="020F0502020204030204" pitchFamily="34" charset="0"/>
                <a:ea typeface="+mn-ea"/>
                <a:cs typeface="+mn-cs"/>
              </a:rPr>
              <a:t>The AWS Marketplace offers a digital catalog that lists thousands of software solutions. These AMIs can offer specific use cases to help you get started quickly.</a:t>
            </a:r>
          </a:p>
          <a:p>
            <a:pPr marL="171450" indent="-171450">
              <a:buFont typeface="Arial" panose="020B0604020202020204" pitchFamily="34" charset="0"/>
              <a:buChar char="•"/>
            </a:pPr>
            <a:r>
              <a:rPr lang="en-US" sz="1100" kern="1200" dirty="0">
                <a:solidFill>
                  <a:schemeClr val="tx1"/>
                </a:solidFill>
                <a:effectLst/>
                <a:latin typeface="Calibri" panose="020F0502020204030204" pitchFamily="34" charset="0"/>
                <a:ea typeface="+mn-ea"/>
                <a:cs typeface="+mn-cs"/>
              </a:rPr>
              <a:t>C</a:t>
            </a:r>
            <a:r>
              <a:rPr lang="en-US" sz="1100" b="1" kern="1200" dirty="0">
                <a:solidFill>
                  <a:schemeClr val="tx1"/>
                </a:solidFill>
                <a:effectLst/>
                <a:latin typeface="Calibri" panose="020F0502020204030204" pitchFamily="34" charset="0"/>
                <a:ea typeface="+mn-ea"/>
                <a:cs typeface="+mn-cs"/>
              </a:rPr>
              <a:t>ommunity AMIs</a:t>
            </a:r>
            <a:r>
              <a:rPr lang="en-US" sz="1100" b="1" kern="1200" baseline="0" dirty="0">
                <a:solidFill>
                  <a:schemeClr val="tx1"/>
                </a:solidFill>
                <a:effectLst/>
                <a:latin typeface="Calibri" panose="020F0502020204030204" pitchFamily="34" charset="0"/>
                <a:ea typeface="+mn-ea"/>
                <a:cs typeface="+mn-cs"/>
              </a:rPr>
              <a:t> – </a:t>
            </a:r>
            <a:r>
              <a:rPr lang="en-US" sz="1100" b="0" kern="1200" baseline="0" dirty="0">
                <a:solidFill>
                  <a:schemeClr val="tx1"/>
                </a:solidFill>
                <a:effectLst/>
                <a:latin typeface="Calibri" panose="020F0502020204030204" pitchFamily="34" charset="0"/>
                <a:ea typeface="+mn-ea"/>
                <a:cs typeface="+mn-cs"/>
              </a:rPr>
              <a:t>These AMIs are </a:t>
            </a:r>
            <a:r>
              <a:rPr lang="en-US" sz="1100" kern="1200" dirty="0">
                <a:solidFill>
                  <a:schemeClr val="tx1"/>
                </a:solidFill>
                <a:effectLst/>
                <a:latin typeface="Calibri" panose="020F0502020204030204" pitchFamily="34" charset="0"/>
                <a:ea typeface="+mn-ea"/>
                <a:cs typeface="+mn-cs"/>
              </a:rPr>
              <a:t>created by people all around the world. These AMIs are not checked by AWS, so use them at your own risk. Community AMIs can offer many different solutions to various problems, but use them with care. Avoid using them in any production</a:t>
            </a:r>
            <a:r>
              <a:rPr lang="en-US" sz="1100" kern="1200" baseline="0" dirty="0">
                <a:solidFill>
                  <a:schemeClr val="tx1"/>
                </a:solidFill>
                <a:effectLst/>
                <a:latin typeface="Calibri" panose="020F0502020204030204" pitchFamily="34" charset="0"/>
                <a:ea typeface="+mn-ea"/>
                <a:cs typeface="+mn-cs"/>
              </a:rPr>
              <a:t> or </a:t>
            </a:r>
            <a:r>
              <a:rPr lang="en-US" sz="1100" kern="1200" dirty="0">
                <a:solidFill>
                  <a:schemeClr val="tx1"/>
                </a:solidFill>
                <a:effectLst/>
                <a:latin typeface="Calibri" panose="020F0502020204030204" pitchFamily="34" charset="0"/>
                <a:ea typeface="+mn-ea"/>
                <a:cs typeface="+mn-cs"/>
              </a:rPr>
              <a:t>corporate environment.</a:t>
            </a:r>
          </a:p>
        </p:txBody>
      </p:sp>
    </p:spTree>
    <p:extLst>
      <p:ext uri="{BB962C8B-B14F-4D97-AF65-F5344CB8AC3E}">
        <p14:creationId xmlns:p14="http://schemas.microsoft.com/office/powerpoint/2010/main" val="2840228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100" b="0" kern="1200" dirty="0">
                <a:solidFill>
                  <a:schemeClr val="tx1"/>
                </a:solidFill>
                <a:effectLst/>
                <a:latin typeface="Calibri" panose="020F0502020204030204" pitchFamily="34" charset="0"/>
                <a:ea typeface="+mn-ea"/>
                <a:cs typeface="+mn-cs"/>
              </a:rPr>
              <a:t>An AMI is created from an EC2 instance. You can </a:t>
            </a:r>
            <a:r>
              <a:rPr lang="en-US" sz="1100" b="1" kern="1200" dirty="0">
                <a:solidFill>
                  <a:schemeClr val="tx1"/>
                </a:solidFill>
                <a:effectLst/>
                <a:latin typeface="Calibri" panose="020F0502020204030204" pitchFamily="34" charset="0"/>
                <a:ea typeface="+mn-ea"/>
                <a:cs typeface="+mn-cs"/>
              </a:rPr>
              <a:t>import</a:t>
            </a:r>
            <a:r>
              <a:rPr lang="en-US" sz="1100" b="0" kern="1200" dirty="0">
                <a:solidFill>
                  <a:schemeClr val="tx1"/>
                </a:solidFill>
                <a:effectLst/>
                <a:latin typeface="Calibri" panose="020F0502020204030204" pitchFamily="34" charset="0"/>
                <a:ea typeface="+mn-ea"/>
                <a:cs typeface="+mn-cs"/>
              </a:rPr>
              <a:t> a </a:t>
            </a:r>
            <a:r>
              <a:rPr lang="en-US" sz="1100" dirty="0">
                <a:latin typeface="Calibri" panose="020F0502020204030204" pitchFamily="34" charset="0"/>
              </a:rPr>
              <a:t>virtual machine so that it becomes an EC2 instance,</a:t>
            </a:r>
            <a:r>
              <a:rPr lang="en-US" sz="1100" baseline="0" dirty="0">
                <a:latin typeface="Calibri" panose="020F0502020204030204" pitchFamily="34" charset="0"/>
              </a:rPr>
              <a:t> </a:t>
            </a:r>
            <a:r>
              <a:rPr lang="en-US" sz="1100" dirty="0">
                <a:latin typeface="Calibri" panose="020F0502020204030204" pitchFamily="34" charset="0"/>
              </a:rPr>
              <a:t>and then save the EC2 instance as an AMI. You can then launch an EC2 instance from that AMI. Alternatively, you can start with an </a:t>
            </a:r>
            <a:r>
              <a:rPr lang="en-US" sz="1100" b="1" dirty="0">
                <a:latin typeface="Calibri" panose="020F0502020204030204" pitchFamily="34" charset="0"/>
              </a:rPr>
              <a:t>existing AMI</a:t>
            </a:r>
            <a:r>
              <a:rPr lang="en-US" sz="1100" b="0" dirty="0">
                <a:latin typeface="Calibri" panose="020F0502020204030204" pitchFamily="34" charset="0"/>
              </a:rPr>
              <a:t>—</a:t>
            </a:r>
            <a:r>
              <a:rPr lang="en-US" sz="1100" dirty="0">
                <a:latin typeface="Calibri" panose="020F0502020204030204" pitchFamily="34" charset="0"/>
              </a:rPr>
              <a:t>such as of the Quick Start AMIs provided by AWS—and create an EC2 instance from it. </a:t>
            </a:r>
          </a:p>
          <a:p>
            <a:pPr marL="0" indent="0">
              <a:buFont typeface="Arial" panose="020B0604020202020204" pitchFamily="34" charset="0"/>
              <a:buNone/>
            </a:pPr>
            <a:endParaRPr lang="en-US" sz="1100" dirty="0">
              <a:latin typeface="Calibri" panose="020F0502020204030204" pitchFamily="34" charset="0"/>
            </a:endParaRPr>
          </a:p>
          <a:p>
            <a:pPr marL="0" indent="0">
              <a:buFont typeface="Arial" panose="020B0604020202020204" pitchFamily="34" charset="0"/>
              <a:buNone/>
            </a:pPr>
            <a:r>
              <a:rPr lang="en-US" sz="1100" dirty="0">
                <a:latin typeface="Calibri" panose="020F0502020204030204" pitchFamily="34" charset="0"/>
              </a:rPr>
              <a:t>Regardless of which options you chose (step 1), you will have what the diagram refers to as </a:t>
            </a:r>
            <a:r>
              <a:rPr lang="en-US" sz="1100" i="1" dirty="0">
                <a:latin typeface="Calibri" panose="020F0502020204030204" pitchFamily="34" charset="0"/>
              </a:rPr>
              <a:t>an unmodified instance</a:t>
            </a:r>
            <a:r>
              <a:rPr lang="en-US" sz="1100" dirty="0">
                <a:latin typeface="Calibri" panose="020F0502020204030204" pitchFamily="34" charset="0"/>
              </a:rPr>
              <a:t>. From that instance, y</a:t>
            </a:r>
            <a:r>
              <a:rPr lang="en-US" sz="1100" b="0" kern="1200" dirty="0">
                <a:solidFill>
                  <a:schemeClr val="tx1"/>
                </a:solidFill>
                <a:effectLst/>
                <a:latin typeface="Calibri" panose="020F0502020204030204" pitchFamily="34" charset="0"/>
                <a:ea typeface="+mn-ea"/>
                <a:cs typeface="+mn-cs"/>
              </a:rPr>
              <a:t>ou might then create a </a:t>
            </a:r>
            <a:r>
              <a:rPr lang="en-US" sz="1100" i="1" kern="1200" dirty="0">
                <a:solidFill>
                  <a:schemeClr val="tx1"/>
                </a:solidFill>
                <a:effectLst/>
                <a:latin typeface="Calibri" panose="020F0502020204030204" pitchFamily="34" charset="0"/>
                <a:ea typeface="+mn-ea"/>
                <a:cs typeface="+mn-cs"/>
              </a:rPr>
              <a:t>golden instance</a:t>
            </a:r>
            <a:r>
              <a:rPr lang="en-US" sz="1100" kern="1200" dirty="0">
                <a:solidFill>
                  <a:schemeClr val="tx1"/>
                </a:solidFill>
                <a:effectLst/>
                <a:latin typeface="Calibri" panose="020F0502020204030204" pitchFamily="34" charset="0"/>
                <a:ea typeface="+mn-ea"/>
                <a:cs typeface="+mn-cs"/>
              </a:rPr>
              <a:t>—that is, a virtual machine that you configured with the specific OS and application settings that you want (step 2)—and then capture that as a new AMI (step 3). When you create an AMI, Amazon EC2 stops the instance, creates</a:t>
            </a:r>
            <a:r>
              <a:rPr lang="en-US" sz="1100" kern="1200" baseline="0" dirty="0">
                <a:solidFill>
                  <a:schemeClr val="tx1"/>
                </a:solidFill>
                <a:effectLst/>
                <a:latin typeface="Calibri" panose="020F0502020204030204" pitchFamily="34" charset="0"/>
                <a:ea typeface="+mn-ea"/>
                <a:cs typeface="+mn-cs"/>
              </a:rPr>
              <a:t> a s</a:t>
            </a:r>
            <a:r>
              <a:rPr lang="en-US" sz="1100" kern="1200" dirty="0">
                <a:solidFill>
                  <a:schemeClr val="tx1"/>
                </a:solidFill>
                <a:effectLst/>
                <a:latin typeface="Calibri" panose="020F0502020204030204" pitchFamily="34" charset="0"/>
                <a:ea typeface="+mn-ea"/>
                <a:cs typeface="+mn-cs"/>
              </a:rPr>
              <a:t>napshot</a:t>
            </a:r>
            <a:r>
              <a:rPr lang="en-US" sz="1100" kern="1200" baseline="0" dirty="0">
                <a:solidFill>
                  <a:schemeClr val="tx1"/>
                </a:solidFill>
                <a:effectLst/>
                <a:latin typeface="Calibri" panose="020F0502020204030204" pitchFamily="34" charset="0"/>
                <a:ea typeface="+mn-ea"/>
                <a:cs typeface="+mn-cs"/>
              </a:rPr>
              <a:t> of</a:t>
            </a:r>
            <a:r>
              <a:rPr lang="en-US" sz="1100" kern="1200" dirty="0">
                <a:solidFill>
                  <a:schemeClr val="tx1"/>
                </a:solidFill>
                <a:effectLst/>
                <a:latin typeface="Calibri" panose="020F0502020204030204" pitchFamily="34" charset="0"/>
                <a:ea typeface="+mn-ea"/>
                <a:cs typeface="+mn-cs"/>
              </a:rPr>
              <a:t> its root volume, and finally registers the snapshot as an AMI.</a:t>
            </a:r>
          </a:p>
          <a:p>
            <a:pPr marL="0" indent="0">
              <a:buFont typeface="Arial" panose="020B0604020202020204" pitchFamily="34" charset="0"/>
              <a:buNone/>
            </a:pPr>
            <a:endParaRPr lang="en-US" sz="1100" b="0" i="0" kern="1200" dirty="0">
              <a:solidFill>
                <a:schemeClr val="tx1"/>
              </a:solidFill>
              <a:effectLst/>
              <a:latin typeface="+mn-lt"/>
              <a:ea typeface="+mn-ea"/>
              <a:cs typeface="+mn-cs"/>
            </a:endParaRPr>
          </a:p>
          <a:p>
            <a:pPr marL="0" indent="0">
              <a:buFont typeface="Arial" panose="020B0604020202020204" pitchFamily="34" charset="0"/>
              <a:buNone/>
            </a:pPr>
            <a:r>
              <a:rPr lang="en-US" sz="1100" b="0" i="0" kern="1200" dirty="0">
                <a:solidFill>
                  <a:schemeClr val="tx1"/>
                </a:solidFill>
                <a:effectLst/>
                <a:latin typeface="+mn-lt"/>
                <a:ea typeface="+mn-ea"/>
                <a:cs typeface="+mn-cs"/>
              </a:rPr>
              <a:t>After an AMI is registered, the AMI can be used to launch new instances in the same AWS Region. The new AMI can now be thought of as a new starter AMI. You might want to also copy the AMI to other Regions (step 4), so that EC2 instances can also be launched in those locations. </a:t>
            </a:r>
          </a:p>
          <a:p>
            <a:endParaRPr lang="en-US"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9716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i="0" kern="1200" dirty="0">
                <a:solidFill>
                  <a:schemeClr val="tx1"/>
                </a:solidFill>
                <a:effectLst/>
                <a:latin typeface="+mn-lt"/>
                <a:ea typeface="+mn-ea"/>
                <a:cs typeface="+mn-cs"/>
              </a:rPr>
              <a:t>After you choose the AMI for launching </a:t>
            </a:r>
            <a:r>
              <a:rPr lang="en-US" sz="1100" dirty="0"/>
              <a:t>the instance</a:t>
            </a:r>
            <a:r>
              <a:rPr lang="en-US" sz="1100" i="0" kern="1200" dirty="0">
                <a:solidFill>
                  <a:schemeClr val="tx1"/>
                </a:solidFill>
                <a:effectLst/>
                <a:latin typeface="+mn-lt"/>
                <a:ea typeface="+mn-ea"/>
                <a:cs typeface="+mn-cs"/>
              </a:rPr>
              <a:t>, you must choose on an instance type. </a:t>
            </a:r>
          </a:p>
          <a:p>
            <a:endParaRPr lang="en-US" sz="1100" dirty="0"/>
          </a:p>
          <a:p>
            <a:r>
              <a:rPr lang="en-US" sz="1100" dirty="0"/>
              <a:t>Amazon EC2 provides a selection of </a:t>
            </a:r>
            <a:r>
              <a:rPr lang="en-US" sz="1100" b="1" dirty="0"/>
              <a:t>instance types </a:t>
            </a:r>
            <a:r>
              <a:rPr lang="en-US" sz="1100" b="0" dirty="0"/>
              <a:t>that</a:t>
            </a:r>
            <a:r>
              <a:rPr lang="en-US" sz="1100" b="0" baseline="0" dirty="0"/>
              <a:t> </a:t>
            </a:r>
            <a:r>
              <a:rPr lang="en-US" sz="1100" dirty="0"/>
              <a:t>optimized to fit different use cases. Instance types comprise varying combinations of CPU, memory, storage, and networking capacity. The</a:t>
            </a:r>
            <a:r>
              <a:rPr lang="en-US" sz="1100" baseline="0" dirty="0"/>
              <a:t> different instance types</a:t>
            </a:r>
            <a:r>
              <a:rPr lang="en-US" sz="1100" dirty="0"/>
              <a:t> give you the flexibility to choose the appropriate mix of resources for your applications. Each instance type includes one or more instance sizes, which enable you to scale your resources to the requirements of your target workload.</a:t>
            </a:r>
          </a:p>
          <a:p>
            <a:endParaRPr lang="en-US" sz="1100" i="0" kern="1200" dirty="0">
              <a:solidFill>
                <a:schemeClr val="tx1"/>
              </a:solidFill>
              <a:effectLst/>
              <a:latin typeface="+mn-lt"/>
              <a:ea typeface="+mn-ea"/>
              <a:cs typeface="+mn-cs"/>
            </a:endParaRPr>
          </a:p>
          <a:p>
            <a:r>
              <a:rPr lang="en-US" sz="1100" b="1" dirty="0"/>
              <a:t>Instance type categories </a:t>
            </a:r>
            <a:r>
              <a:rPr lang="en-US" sz="1100" dirty="0"/>
              <a:t>include general purpose, compute optimized, memory optimized, storage optimized, and accelerated computing instances. Each instance type category offers many instance types to choose from. </a:t>
            </a:r>
            <a:endParaRPr lang="en-US" sz="110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103037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Calibri" panose="020F0502020204030204" pitchFamily="34" charset="0"/>
                <a:ea typeface="+mn-ea"/>
                <a:cs typeface="+mn-cs"/>
              </a:rPr>
              <a:t>When you</a:t>
            </a:r>
            <a:r>
              <a:rPr lang="en-US" sz="1100" kern="1200" baseline="0" dirty="0">
                <a:solidFill>
                  <a:schemeClr val="tx1"/>
                </a:solidFill>
                <a:effectLst/>
                <a:latin typeface="Calibri" panose="020F0502020204030204" pitchFamily="34" charset="0"/>
                <a:ea typeface="+mn-ea"/>
                <a:cs typeface="+mn-cs"/>
              </a:rPr>
              <a:t> l</a:t>
            </a:r>
            <a:r>
              <a:rPr lang="en-US" sz="1100" kern="1200" dirty="0">
                <a:solidFill>
                  <a:schemeClr val="tx1"/>
                </a:solidFill>
                <a:effectLst/>
                <a:latin typeface="Calibri" panose="020F0502020204030204" pitchFamily="34" charset="0"/>
                <a:ea typeface="+mn-ea"/>
                <a:cs typeface="+mn-cs"/>
              </a:rPr>
              <a:t>ook at an EC2 instance type, you will see that its name has several parts. For example, </a:t>
            </a:r>
            <a:r>
              <a:rPr lang="en-US" sz="1100" kern="1200" baseline="0" dirty="0">
                <a:solidFill>
                  <a:schemeClr val="tx1"/>
                </a:solidFill>
                <a:effectLst/>
                <a:latin typeface="Calibri" panose="020F0502020204030204" pitchFamily="34" charset="0"/>
                <a:ea typeface="+mn-ea"/>
                <a:cs typeface="+mn-cs"/>
              </a:rPr>
              <a:t>consider the T type. </a:t>
            </a:r>
          </a:p>
          <a:p>
            <a:endParaRPr lang="en-US" sz="1100" kern="1200" dirty="0">
              <a:solidFill>
                <a:schemeClr val="tx1"/>
              </a:solidFill>
              <a:effectLst/>
              <a:latin typeface="Calibri" panose="020F0502020204030204" pitchFamily="34" charset="0"/>
              <a:ea typeface="+mn-ea"/>
              <a:cs typeface="+mn-cs"/>
            </a:endParaRPr>
          </a:p>
          <a:p>
            <a:r>
              <a:rPr lang="en-US" sz="1100" dirty="0">
                <a:latin typeface="Calibri" panose="020F0502020204030204" pitchFamily="34" charset="0"/>
              </a:rPr>
              <a:t>T</a:t>
            </a:r>
            <a:r>
              <a:rPr lang="en-US" sz="1100" kern="1200" dirty="0">
                <a:solidFill>
                  <a:schemeClr val="tx1"/>
                </a:solidFill>
                <a:effectLst/>
                <a:latin typeface="Calibri" panose="020F0502020204030204" pitchFamily="34" charset="0"/>
                <a:ea typeface="+mn-ea"/>
                <a:cs typeface="+mn-cs"/>
              </a:rPr>
              <a:t> is the </a:t>
            </a:r>
            <a:r>
              <a:rPr lang="en-US" sz="1100" b="1" kern="1200" dirty="0">
                <a:solidFill>
                  <a:schemeClr val="tx1"/>
                </a:solidFill>
                <a:effectLst/>
                <a:latin typeface="Calibri" panose="020F0502020204030204" pitchFamily="34" charset="0"/>
                <a:ea typeface="+mn-ea"/>
                <a:cs typeface="+mn-cs"/>
              </a:rPr>
              <a:t>family</a:t>
            </a:r>
            <a:r>
              <a:rPr lang="en-US" sz="1100" kern="1200" dirty="0">
                <a:solidFill>
                  <a:schemeClr val="tx1"/>
                </a:solidFill>
                <a:effectLst/>
                <a:latin typeface="Calibri" panose="020F0502020204030204" pitchFamily="34" charset="0"/>
                <a:ea typeface="+mn-ea"/>
                <a:cs typeface="+mn-cs"/>
              </a:rPr>
              <a:t> </a:t>
            </a:r>
            <a:r>
              <a:rPr lang="en-US" sz="1100" b="1" kern="1200" dirty="0">
                <a:solidFill>
                  <a:schemeClr val="tx1"/>
                </a:solidFill>
                <a:effectLst/>
                <a:latin typeface="Calibri" panose="020F0502020204030204" pitchFamily="34" charset="0"/>
                <a:ea typeface="+mn-ea"/>
                <a:cs typeface="+mn-cs"/>
              </a:rPr>
              <a:t>name</a:t>
            </a:r>
            <a:r>
              <a:rPr lang="en-US" sz="1100" kern="1200" dirty="0">
                <a:solidFill>
                  <a:schemeClr val="tx1"/>
                </a:solidFill>
                <a:effectLst/>
                <a:latin typeface="Calibri" panose="020F0502020204030204" pitchFamily="34" charset="0"/>
                <a:ea typeface="+mn-ea"/>
                <a:cs typeface="+mn-cs"/>
              </a:rPr>
              <a:t>, which is then followed by a number. Here, that number is 3. </a:t>
            </a:r>
          </a:p>
          <a:p>
            <a:endParaRPr lang="en-US" sz="1100" kern="1200" dirty="0">
              <a:solidFill>
                <a:schemeClr val="tx1"/>
              </a:solidFill>
              <a:effectLst/>
              <a:latin typeface="Calibri" panose="020F0502020204030204" pitchFamily="34" charset="0"/>
              <a:ea typeface="+mn-ea"/>
              <a:cs typeface="+mn-cs"/>
            </a:endParaRPr>
          </a:p>
          <a:p>
            <a:r>
              <a:rPr lang="en-US" sz="1100" kern="1200" dirty="0">
                <a:solidFill>
                  <a:schemeClr val="tx1"/>
                </a:solidFill>
                <a:effectLst/>
                <a:latin typeface="Calibri" panose="020F0502020204030204" pitchFamily="34" charset="0"/>
                <a:ea typeface="+mn-ea"/>
                <a:cs typeface="+mn-cs"/>
              </a:rPr>
              <a:t>The number is the </a:t>
            </a:r>
            <a:r>
              <a:rPr lang="en-US" sz="1100" b="1" kern="1200" dirty="0">
                <a:solidFill>
                  <a:schemeClr val="tx1"/>
                </a:solidFill>
                <a:effectLst/>
                <a:latin typeface="Calibri" panose="020F0502020204030204" pitchFamily="34" charset="0"/>
                <a:ea typeface="+mn-ea"/>
                <a:cs typeface="+mn-cs"/>
              </a:rPr>
              <a:t>generation</a:t>
            </a:r>
            <a:r>
              <a:rPr lang="en-US" sz="1100" kern="1200" dirty="0">
                <a:solidFill>
                  <a:schemeClr val="tx1"/>
                </a:solidFill>
                <a:effectLst/>
                <a:latin typeface="Calibri" panose="020F0502020204030204" pitchFamily="34" charset="0"/>
                <a:ea typeface="+mn-ea"/>
                <a:cs typeface="+mn-cs"/>
              </a:rPr>
              <a:t> </a:t>
            </a:r>
            <a:r>
              <a:rPr lang="en-US" sz="1100" b="1" kern="1200" dirty="0">
                <a:solidFill>
                  <a:schemeClr val="tx1"/>
                </a:solidFill>
                <a:effectLst/>
                <a:latin typeface="Calibri" panose="020F0502020204030204" pitchFamily="34" charset="0"/>
                <a:ea typeface="+mn-ea"/>
                <a:cs typeface="+mn-cs"/>
              </a:rPr>
              <a:t>number</a:t>
            </a:r>
            <a:r>
              <a:rPr lang="en-US" sz="1100" kern="1200" dirty="0">
                <a:solidFill>
                  <a:schemeClr val="tx1"/>
                </a:solidFill>
                <a:effectLst/>
                <a:latin typeface="Calibri" panose="020F0502020204030204" pitchFamily="34" charset="0"/>
                <a:ea typeface="+mn-ea"/>
                <a:cs typeface="+mn-cs"/>
              </a:rPr>
              <a:t> of that type. So, a t3 instance is the third</a:t>
            </a:r>
            <a:r>
              <a:rPr lang="en-US" sz="1100" kern="1200" baseline="0" dirty="0">
                <a:solidFill>
                  <a:schemeClr val="tx1"/>
                </a:solidFill>
                <a:effectLst/>
                <a:latin typeface="Calibri" panose="020F0502020204030204" pitchFamily="34" charset="0"/>
                <a:ea typeface="+mn-ea"/>
                <a:cs typeface="+mn-cs"/>
              </a:rPr>
              <a:t> </a:t>
            </a:r>
            <a:r>
              <a:rPr lang="en-US" sz="1100" kern="1200" dirty="0">
                <a:solidFill>
                  <a:schemeClr val="tx1"/>
                </a:solidFill>
                <a:effectLst/>
                <a:latin typeface="Calibri" panose="020F0502020204030204" pitchFamily="34" charset="0"/>
                <a:ea typeface="+mn-ea"/>
                <a:cs typeface="+mn-cs"/>
              </a:rPr>
              <a:t>generation of the T family.</a:t>
            </a:r>
            <a:r>
              <a:rPr lang="en-US" sz="1100" kern="1200" baseline="0" dirty="0">
                <a:solidFill>
                  <a:schemeClr val="tx1"/>
                </a:solidFill>
                <a:effectLst/>
                <a:latin typeface="Calibri" panose="020F0502020204030204" pitchFamily="34" charset="0"/>
                <a:ea typeface="+mn-ea"/>
                <a:cs typeface="+mn-cs"/>
              </a:rPr>
              <a:t> </a:t>
            </a:r>
            <a:r>
              <a:rPr lang="en-US" sz="1100" kern="1200" dirty="0">
                <a:solidFill>
                  <a:schemeClr val="tx1"/>
                </a:solidFill>
                <a:effectLst/>
                <a:latin typeface="Calibri" panose="020F0502020204030204" pitchFamily="34" charset="0"/>
                <a:ea typeface="+mn-ea"/>
                <a:cs typeface="+mn-cs"/>
              </a:rPr>
              <a:t>In general, instance types that</a:t>
            </a:r>
            <a:r>
              <a:rPr lang="en-US" sz="1100" kern="1200" baseline="0" dirty="0">
                <a:solidFill>
                  <a:schemeClr val="tx1"/>
                </a:solidFill>
                <a:effectLst/>
                <a:latin typeface="Calibri" panose="020F0502020204030204" pitchFamily="34" charset="0"/>
                <a:ea typeface="+mn-ea"/>
                <a:cs typeface="+mn-cs"/>
              </a:rPr>
              <a:t> are of</a:t>
            </a:r>
            <a:r>
              <a:rPr lang="en-US" sz="1100" kern="1200" dirty="0">
                <a:solidFill>
                  <a:schemeClr val="tx1"/>
                </a:solidFill>
                <a:effectLst/>
                <a:latin typeface="Calibri" panose="020F0502020204030204" pitchFamily="34" charset="0"/>
                <a:ea typeface="+mn-ea"/>
                <a:cs typeface="+mn-cs"/>
              </a:rPr>
              <a:t> a higher generation are more powerful and provide a better value for the price.</a:t>
            </a:r>
          </a:p>
          <a:p>
            <a:r>
              <a:rPr lang="en-US" sz="1100" kern="1200" dirty="0">
                <a:solidFill>
                  <a:schemeClr val="tx1"/>
                </a:solidFill>
                <a:effectLst/>
                <a:latin typeface="Calibri" panose="020F0502020204030204" pitchFamily="34" charset="0"/>
                <a:ea typeface="+mn-ea"/>
                <a:cs typeface="+mn-cs"/>
              </a:rPr>
              <a:t> </a:t>
            </a:r>
          </a:p>
          <a:p>
            <a:r>
              <a:rPr lang="en-US" sz="1100" kern="1200" dirty="0">
                <a:solidFill>
                  <a:schemeClr val="tx1"/>
                </a:solidFill>
                <a:effectLst/>
                <a:latin typeface="Calibri" panose="020F0502020204030204" pitchFamily="34" charset="0"/>
                <a:ea typeface="+mn-ea"/>
                <a:cs typeface="+mn-cs"/>
              </a:rPr>
              <a:t>The next part of the name is the </a:t>
            </a:r>
            <a:r>
              <a:rPr lang="en-US" sz="1100" b="1" kern="1200" dirty="0">
                <a:solidFill>
                  <a:schemeClr val="tx1"/>
                </a:solidFill>
                <a:effectLst/>
                <a:latin typeface="Calibri" panose="020F0502020204030204" pitchFamily="34" charset="0"/>
                <a:ea typeface="+mn-ea"/>
                <a:cs typeface="+mn-cs"/>
              </a:rPr>
              <a:t>size</a:t>
            </a:r>
            <a:r>
              <a:rPr lang="en-US" sz="1100" kern="1200" dirty="0">
                <a:solidFill>
                  <a:schemeClr val="tx1"/>
                </a:solidFill>
                <a:effectLst/>
                <a:latin typeface="Calibri" panose="020F0502020204030204" pitchFamily="34" charset="0"/>
                <a:ea typeface="+mn-ea"/>
                <a:cs typeface="+mn-cs"/>
              </a:rPr>
              <a:t> portion of the instance. When you compare sizes, it is important to look at the coefficient portion of the size category.</a:t>
            </a:r>
          </a:p>
          <a:p>
            <a:r>
              <a:rPr lang="en-US" sz="1100" kern="1200" dirty="0">
                <a:solidFill>
                  <a:schemeClr val="tx1"/>
                </a:solidFill>
                <a:effectLst/>
                <a:latin typeface="Calibri" panose="020F0502020204030204" pitchFamily="34" charset="0"/>
                <a:ea typeface="+mn-ea"/>
                <a:cs typeface="+mn-cs"/>
              </a:rPr>
              <a:t> </a:t>
            </a:r>
          </a:p>
          <a:p>
            <a:r>
              <a:rPr lang="en-US" sz="1100" kern="1200" dirty="0">
                <a:solidFill>
                  <a:schemeClr val="tx1"/>
                </a:solidFill>
                <a:effectLst/>
                <a:latin typeface="Calibri" panose="020F0502020204030204" pitchFamily="34" charset="0"/>
                <a:ea typeface="+mn-ea"/>
                <a:cs typeface="+mn-cs"/>
              </a:rPr>
              <a:t>For example, a </a:t>
            </a:r>
            <a:r>
              <a:rPr lang="en-US" sz="1100" b="1" kern="1200" dirty="0">
                <a:solidFill>
                  <a:schemeClr val="tx1"/>
                </a:solidFill>
                <a:effectLst/>
                <a:latin typeface="Calibri" panose="020F0502020204030204" pitchFamily="34" charset="0"/>
                <a:ea typeface="+mn-ea"/>
                <a:cs typeface="+mn-cs"/>
              </a:rPr>
              <a:t>t3.2xlarge</a:t>
            </a:r>
            <a:r>
              <a:rPr lang="en-US" sz="1100" kern="1200" dirty="0">
                <a:solidFill>
                  <a:schemeClr val="tx1"/>
                </a:solidFill>
                <a:effectLst/>
                <a:latin typeface="Calibri" panose="020F0502020204030204" pitchFamily="34" charset="0"/>
                <a:ea typeface="+mn-ea"/>
                <a:cs typeface="+mn-cs"/>
              </a:rPr>
              <a:t> has twice the vCPU and memory of a </a:t>
            </a:r>
            <a:r>
              <a:rPr lang="en-US" sz="1100" b="1" kern="1200" dirty="0">
                <a:solidFill>
                  <a:schemeClr val="tx1"/>
                </a:solidFill>
                <a:effectLst/>
                <a:latin typeface="Calibri" panose="020F0502020204030204" pitchFamily="34" charset="0"/>
                <a:ea typeface="+mn-ea"/>
                <a:cs typeface="+mn-cs"/>
              </a:rPr>
              <a:t>t3.xlarge</a:t>
            </a:r>
            <a:r>
              <a:rPr lang="en-US" sz="1100" kern="1200" dirty="0">
                <a:solidFill>
                  <a:schemeClr val="tx1"/>
                </a:solidFill>
                <a:effectLst/>
                <a:latin typeface="Calibri" panose="020F0502020204030204" pitchFamily="34" charset="0"/>
                <a:ea typeface="+mn-ea"/>
                <a:cs typeface="+mn-cs"/>
              </a:rPr>
              <a:t>. The t3.xlarge has, in turn, twice the vCPU and memory of a t3.large.</a:t>
            </a:r>
          </a:p>
          <a:p>
            <a:r>
              <a:rPr lang="en-US" sz="1100" kern="1200" dirty="0">
                <a:solidFill>
                  <a:schemeClr val="tx1"/>
                </a:solidFill>
                <a:effectLst/>
                <a:latin typeface="Calibri" panose="020F0502020204030204" pitchFamily="34" charset="0"/>
                <a:ea typeface="+mn-ea"/>
                <a:cs typeface="+mn-cs"/>
              </a:rPr>
              <a:t> </a:t>
            </a:r>
          </a:p>
          <a:p>
            <a:r>
              <a:rPr lang="en-US" sz="1100" kern="1200" dirty="0">
                <a:solidFill>
                  <a:schemeClr val="tx1"/>
                </a:solidFill>
                <a:effectLst/>
                <a:latin typeface="Calibri" panose="020F0502020204030204" pitchFamily="34" charset="0"/>
                <a:ea typeface="+mn-ea"/>
                <a:cs typeface="+mn-cs"/>
              </a:rPr>
              <a:t>It is also important to note that </a:t>
            </a:r>
            <a:r>
              <a:rPr lang="en-US" sz="1100" b="1" kern="1200" dirty="0">
                <a:solidFill>
                  <a:schemeClr val="tx1"/>
                </a:solidFill>
                <a:effectLst/>
                <a:latin typeface="Calibri" panose="020F0502020204030204" pitchFamily="34" charset="0"/>
                <a:ea typeface="+mn-ea"/>
                <a:cs typeface="+mn-cs"/>
              </a:rPr>
              <a:t>network bandwidth </a:t>
            </a:r>
            <a:r>
              <a:rPr lang="en-US" sz="1100" kern="1200" dirty="0">
                <a:solidFill>
                  <a:schemeClr val="tx1"/>
                </a:solidFill>
                <a:effectLst/>
                <a:latin typeface="Calibri" panose="020F0502020204030204" pitchFamily="34" charset="0"/>
                <a:ea typeface="+mn-ea"/>
                <a:cs typeface="+mn-cs"/>
              </a:rPr>
              <a:t>is also tied to the size of the Amazon EC2 instance. If you will run jobs that will be very network-intensive, you might be required to increase the instance specifications to meet your needs.</a:t>
            </a:r>
          </a:p>
          <a:p>
            <a:endParaRPr lang="en-US" sz="1100" kern="1200" dirty="0">
              <a:solidFill>
                <a:schemeClr val="tx1"/>
              </a:solidFill>
              <a:effectLst/>
              <a:latin typeface="Calibri" panose="020F0502020204030204" pitchFamily="34" charset="0"/>
              <a:ea typeface="+mn-ea"/>
              <a:cs typeface="+mn-cs"/>
            </a:endParaRPr>
          </a:p>
          <a:p>
            <a:endParaRPr lang="en-US" sz="1100" dirty="0"/>
          </a:p>
        </p:txBody>
      </p:sp>
    </p:spTree>
    <p:extLst>
      <p:ext uri="{BB962C8B-B14F-4D97-AF65-F5344CB8AC3E}">
        <p14:creationId xmlns:p14="http://schemas.microsoft.com/office/powerpoint/2010/main" val="302774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74186"/>
          </a:xfrm>
        </p:spPr>
        <p:txBody>
          <a:bodyPr/>
          <a:lstStyle/>
          <a:p>
            <a:r>
              <a:rPr lang="en-US" sz="1100" b="1" dirty="0"/>
              <a:t>Instance types </a:t>
            </a:r>
            <a:r>
              <a:rPr lang="en-US" sz="1100" baseline="0" dirty="0"/>
              <a:t>vary in several ways, </a:t>
            </a:r>
            <a:r>
              <a:rPr lang="en-US" sz="1100" kern="1200" baseline="0" dirty="0">
                <a:solidFill>
                  <a:schemeClr val="tx1"/>
                </a:solidFill>
                <a:ea typeface="+mn-ea"/>
                <a:cs typeface="+mn-cs"/>
              </a:rPr>
              <a:t>including: CPU type, CPU or </a:t>
            </a:r>
            <a:r>
              <a:rPr lang="en-US" sz="1100" dirty="0"/>
              <a:t>c</a:t>
            </a:r>
            <a:r>
              <a:rPr lang="en-US" sz="1100" kern="1200" baseline="0" dirty="0">
                <a:solidFill>
                  <a:schemeClr val="tx1"/>
                </a:solidFill>
                <a:ea typeface="+mn-ea"/>
                <a:cs typeface="+mn-cs"/>
              </a:rPr>
              <a:t>ore count, storage type, storage amount, memory amount, and network performance.</a:t>
            </a:r>
            <a:r>
              <a:rPr lang="en-US" sz="1100" dirty="0"/>
              <a:t> </a:t>
            </a:r>
            <a:r>
              <a:rPr lang="en-US" sz="1100" kern="1200" baseline="0" dirty="0">
                <a:solidFill>
                  <a:schemeClr val="tx1"/>
                </a:solidFill>
                <a:ea typeface="+mn-ea"/>
                <a:cs typeface="+mn-cs"/>
              </a:rPr>
              <a:t>The chart provides a high-level view of the different instance categories, and which instance type families and </a:t>
            </a:r>
            <a:r>
              <a:rPr lang="en-US" sz="1100" dirty="0"/>
              <a:t>generation numbers</a:t>
            </a:r>
            <a:r>
              <a:rPr lang="en-US" sz="1100" kern="1200" baseline="0" dirty="0">
                <a:solidFill>
                  <a:schemeClr val="tx1"/>
                </a:solidFill>
                <a:ea typeface="+mn-ea"/>
                <a:cs typeface="+mn-cs"/>
              </a:rPr>
              <a:t> fit into each category type. Consider a few of the instance types in more detail:</a:t>
            </a:r>
            <a:endParaRPr lang="en-US" sz="1100" dirty="0"/>
          </a:p>
          <a:p>
            <a:endParaRPr lang="en-US" sz="1100" dirty="0"/>
          </a:p>
          <a:p>
            <a:pPr marL="171450" indent="-171450">
              <a:buFont typeface="Arial" panose="020B0604020202020204" pitchFamily="34" charset="0"/>
              <a:buChar char="•"/>
            </a:pPr>
            <a:r>
              <a:rPr lang="en-US" sz="1100" b="1" kern="1200" dirty="0">
                <a:solidFill>
                  <a:schemeClr val="tx1"/>
                </a:solidFill>
                <a:effectLst/>
                <a:ea typeface="+mn-ea"/>
                <a:cs typeface="+mn-cs"/>
              </a:rPr>
              <a:t>T3 </a:t>
            </a:r>
            <a:r>
              <a:rPr lang="en-US" sz="1100" kern="1200" dirty="0">
                <a:solidFill>
                  <a:schemeClr val="tx1"/>
                </a:solidFill>
                <a:effectLst/>
                <a:ea typeface="+mn-ea"/>
                <a:cs typeface="+mn-cs"/>
              </a:rPr>
              <a:t>instances </a:t>
            </a:r>
            <a:r>
              <a:rPr lang="en-US" sz="1100" dirty="0"/>
              <a:t>provide</a:t>
            </a:r>
            <a:r>
              <a:rPr lang="en-US" sz="1100" kern="1200" dirty="0">
                <a:solidFill>
                  <a:schemeClr val="tx1"/>
                </a:solidFill>
                <a:effectLst/>
                <a:ea typeface="+mn-ea"/>
                <a:cs typeface="+mn-cs"/>
              </a:rPr>
              <a:t> burstable performance </a:t>
            </a:r>
            <a:r>
              <a:rPr lang="en-US" sz="1100" b="1" kern="1200" dirty="0">
                <a:solidFill>
                  <a:schemeClr val="tx1"/>
                </a:solidFill>
                <a:effectLst/>
                <a:ea typeface="+mn-ea"/>
                <a:cs typeface="+mn-cs"/>
              </a:rPr>
              <a:t>general purpose</a:t>
            </a:r>
            <a:r>
              <a:rPr lang="en-US" sz="1100" kern="1200" dirty="0">
                <a:solidFill>
                  <a:schemeClr val="tx1"/>
                </a:solidFill>
                <a:effectLst/>
                <a:ea typeface="+mn-ea"/>
                <a:cs typeface="+mn-cs"/>
              </a:rPr>
              <a:t> instances that provide a baseline level of CPU performance with the ability to burst above the baseline. Use cases for this type of instance include websites and web applications, development environments, build servers, code repositories, microservices, test and staging environments, and line-of-business applications.</a:t>
            </a:r>
          </a:p>
          <a:p>
            <a:pPr marL="171450" indent="-171450">
              <a:buFont typeface="Arial" panose="020B0604020202020204" pitchFamily="34" charset="0"/>
              <a:buChar char="•"/>
            </a:pPr>
            <a:endParaRPr lang="en-US" sz="1100" kern="1200" dirty="0">
              <a:solidFill>
                <a:schemeClr val="tx1"/>
              </a:solidFill>
              <a:effectLst/>
              <a:ea typeface="+mn-ea"/>
              <a:cs typeface="+mn-cs"/>
            </a:endParaRPr>
          </a:p>
          <a:p>
            <a:pPr marL="171450" indent="-171450">
              <a:buFont typeface="Arial" panose="020B0604020202020204" pitchFamily="34" charset="0"/>
              <a:buChar char="•"/>
            </a:pPr>
            <a:r>
              <a:rPr lang="en-US" sz="1100" b="1" kern="1200" dirty="0">
                <a:solidFill>
                  <a:schemeClr val="tx1"/>
                </a:solidFill>
                <a:effectLst/>
                <a:ea typeface="+mn-ea"/>
                <a:cs typeface="+mn-cs"/>
              </a:rPr>
              <a:t>C5</a:t>
            </a:r>
            <a:r>
              <a:rPr lang="en-US" sz="1100" kern="1200" dirty="0">
                <a:solidFill>
                  <a:schemeClr val="tx1"/>
                </a:solidFill>
                <a:effectLst/>
                <a:ea typeface="+mn-ea"/>
                <a:cs typeface="+mn-cs"/>
              </a:rPr>
              <a:t> instances are optimized for </a:t>
            </a:r>
            <a:r>
              <a:rPr lang="en-US" sz="1100" b="1" kern="1200" dirty="0">
                <a:solidFill>
                  <a:schemeClr val="tx1"/>
                </a:solidFill>
                <a:effectLst/>
                <a:ea typeface="+mn-ea"/>
                <a:cs typeface="+mn-cs"/>
              </a:rPr>
              <a:t>compute-intensive</a:t>
            </a:r>
            <a:r>
              <a:rPr lang="en-US" sz="1100" kern="1200" dirty="0">
                <a:solidFill>
                  <a:schemeClr val="tx1"/>
                </a:solidFill>
                <a:effectLst/>
                <a:ea typeface="+mn-ea"/>
                <a:cs typeface="+mn-cs"/>
              </a:rPr>
              <a:t> workloads, and deliver cost-effective high performance at a low price per compute ratio.</a:t>
            </a:r>
            <a:r>
              <a:rPr lang="en-US" sz="1100" kern="1200" baseline="0" dirty="0">
                <a:solidFill>
                  <a:schemeClr val="tx1"/>
                </a:solidFill>
                <a:effectLst/>
                <a:ea typeface="+mn-ea"/>
                <a:cs typeface="+mn-cs"/>
              </a:rPr>
              <a:t> Use cases include</a:t>
            </a:r>
            <a:r>
              <a:rPr lang="en-US" sz="1100" kern="1200" dirty="0">
                <a:solidFill>
                  <a:schemeClr val="tx1"/>
                </a:solidFill>
                <a:effectLst/>
                <a:ea typeface="+mn-ea"/>
                <a:cs typeface="+mn-cs"/>
              </a:rPr>
              <a:t> scientific modeling, batch processing, ad serving, highly scalable multiplayer gaming, and video encoding.</a:t>
            </a:r>
          </a:p>
          <a:p>
            <a:pPr marL="171450" indent="-171450">
              <a:buFont typeface="Arial" panose="020B0604020202020204" pitchFamily="34" charset="0"/>
              <a:buChar char="•"/>
            </a:pPr>
            <a:endParaRPr lang="en-US" sz="1100" b="0" i="0" u="none" strike="noStrike" kern="1200" dirty="0">
              <a:solidFill>
                <a:schemeClr val="tx1"/>
              </a:solidFill>
              <a:effectLst/>
              <a:ea typeface="+mn-ea"/>
              <a:cs typeface="+mn-cs"/>
            </a:endParaRPr>
          </a:p>
          <a:p>
            <a:pPr marL="171450" indent="-171450">
              <a:buFont typeface="Arial" panose="020B0604020202020204" pitchFamily="34" charset="0"/>
              <a:buChar char="•"/>
            </a:pPr>
            <a:r>
              <a:rPr lang="en-US" sz="1100" b="1" kern="1200" dirty="0">
                <a:solidFill>
                  <a:schemeClr val="tx1"/>
                </a:solidFill>
                <a:effectLst/>
                <a:ea typeface="+mn-ea"/>
                <a:cs typeface="+mn-cs"/>
              </a:rPr>
              <a:t>R5</a:t>
            </a:r>
            <a:r>
              <a:rPr lang="en-US" sz="1100" kern="1200" dirty="0">
                <a:solidFill>
                  <a:schemeClr val="tx1"/>
                </a:solidFill>
                <a:effectLst/>
                <a:ea typeface="+mn-ea"/>
                <a:cs typeface="+mn-cs"/>
              </a:rPr>
              <a:t> instances are optimized for memory-intensive applications. Use</a:t>
            </a:r>
            <a:r>
              <a:rPr lang="en-US" sz="1100" kern="1200" baseline="0" dirty="0">
                <a:solidFill>
                  <a:schemeClr val="tx1"/>
                </a:solidFill>
                <a:effectLst/>
                <a:ea typeface="+mn-ea"/>
                <a:cs typeface="+mn-cs"/>
              </a:rPr>
              <a:t> cases include high-</a:t>
            </a:r>
            <a:r>
              <a:rPr lang="en-US" sz="1100" kern="1200" dirty="0">
                <a:solidFill>
                  <a:schemeClr val="tx1"/>
                </a:solidFill>
                <a:effectLst/>
                <a:ea typeface="+mn-ea"/>
                <a:cs typeface="+mn-cs"/>
              </a:rPr>
              <a:t>performance databases, data mining and analysis, in-memory databases, distributed web-scale in-memory caches, applications that perform real-time processing of unstructured big data, Apache Hadoop</a:t>
            </a:r>
            <a:r>
              <a:rPr lang="en-US" sz="1100" kern="1200" baseline="0" dirty="0">
                <a:solidFill>
                  <a:schemeClr val="tx1"/>
                </a:solidFill>
                <a:effectLst/>
                <a:ea typeface="+mn-ea"/>
                <a:cs typeface="+mn-cs"/>
              </a:rPr>
              <a:t> or Apache </a:t>
            </a:r>
            <a:r>
              <a:rPr lang="en-US" sz="1100" kern="1200" dirty="0">
                <a:solidFill>
                  <a:schemeClr val="tx1"/>
                </a:solidFill>
                <a:effectLst/>
                <a:ea typeface="+mn-ea"/>
                <a:cs typeface="+mn-cs"/>
              </a:rPr>
              <a:t>Spark clusters, and other enterprise applications.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To learn more about each instance type, see the </a:t>
            </a:r>
            <a:r>
              <a:rPr lang="en-US" sz="1100" dirty="0">
                <a:hlinkClick r:id="rId3"/>
              </a:rPr>
              <a:t>Amazon EC2 Instance Types</a:t>
            </a:r>
            <a:r>
              <a:rPr lang="en-US" sz="1100" dirty="0"/>
              <a:t> documentation.</a:t>
            </a:r>
            <a:endParaRPr lang="en-US" sz="1100" kern="1200" dirty="0">
              <a:solidFill>
                <a:schemeClr val="tx1"/>
              </a:solidFill>
              <a:effectLst/>
              <a:ea typeface="+mn-ea"/>
              <a:cs typeface="+mn-cs"/>
            </a:endParaRPr>
          </a:p>
          <a:p>
            <a:endParaRPr lang="en-US" sz="1100" dirty="0"/>
          </a:p>
          <a:p>
            <a:endParaRPr lang="en-US" sz="1100" dirty="0"/>
          </a:p>
          <a:p>
            <a:endParaRPr lang="en-US" sz="1100" dirty="0"/>
          </a:p>
          <a:p>
            <a:endParaRPr lang="en-US" sz="1100" dirty="0"/>
          </a:p>
          <a:p>
            <a:endParaRPr lang="en-US" sz="1100" dirty="0"/>
          </a:p>
        </p:txBody>
      </p:sp>
    </p:spTree>
    <p:extLst>
      <p:ext uri="{BB962C8B-B14F-4D97-AF65-F5344CB8AC3E}">
        <p14:creationId xmlns:p14="http://schemas.microsoft.com/office/powerpoint/2010/main" val="143862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addition to considering the CPU, RAM, and storage needs of your workloads, it is also important to consider your network bandwidth requirements.</a:t>
            </a:r>
          </a:p>
          <a:p>
            <a:endParaRPr lang="en-US" sz="1100" dirty="0"/>
          </a:p>
          <a:p>
            <a:r>
              <a:rPr lang="en-US" sz="1100" dirty="0"/>
              <a:t>Each instance type provides a documented network performance level. For example, an a1.medium instance will provide up to 10 Gbps, but a p3dn.24xlarge instance provides up to 100 Gbps. Choose an instance type that meets your requirements.</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When you launch multiple new EC2 instances, Amazon EC2 attempts to place the instances so that they are spread out across the underlying hardware by default. It does this to minimize correlated failures. However, if you want to specify specific placement criteria, you can use </a:t>
            </a:r>
            <a:r>
              <a:rPr lang="en-US" sz="1100" b="1" dirty="0"/>
              <a:t>placement groups </a:t>
            </a:r>
            <a:r>
              <a:rPr lang="en-US" sz="1100" dirty="0"/>
              <a:t>to influence the placement of a group of </a:t>
            </a:r>
            <a:r>
              <a:rPr lang="en-US" sz="1100" b="1" dirty="0"/>
              <a:t>interdependent </a:t>
            </a:r>
            <a:r>
              <a:rPr lang="en-US" sz="1100" dirty="0"/>
              <a:t>instances to meet the needs of your workload. For example, you might specify that</a:t>
            </a:r>
            <a:r>
              <a:rPr lang="en-US" sz="1100" baseline="0" dirty="0"/>
              <a:t> three </a:t>
            </a:r>
            <a:r>
              <a:rPr lang="en-US" sz="1100" dirty="0"/>
              <a:t>instances should all be deployed in the same Availability Zone to ensure lower network latency and higher network throughput between instances. See the </a:t>
            </a:r>
            <a:r>
              <a:rPr lang="en-US" sz="1100" dirty="0">
                <a:hlinkClick r:id="rId3"/>
              </a:rPr>
              <a:t>Placement Group</a:t>
            </a:r>
            <a:r>
              <a:rPr lang="en-US" sz="1100" dirty="0"/>
              <a:t> documentation for details. </a:t>
            </a:r>
          </a:p>
          <a:p>
            <a:endParaRPr lang="en-US" sz="1100" dirty="0"/>
          </a:p>
          <a:p>
            <a:r>
              <a:rPr lang="en-US" sz="1100" dirty="0"/>
              <a:t>Many instance types also enable you to configure enhanced networking to get significantly higher packet per second (PPS) performance, lower delay variation in the arrival of packets over the network (network jitter), and lower latencies. See the </a:t>
            </a:r>
            <a:r>
              <a:rPr lang="en-US" sz="1100" dirty="0">
                <a:hlinkClick r:id="rId4"/>
              </a:rPr>
              <a:t>Elastic Network Adapter (ENA)</a:t>
            </a:r>
            <a:r>
              <a:rPr lang="en-US" sz="1100" dirty="0"/>
              <a:t> documentation for details.</a:t>
            </a:r>
          </a:p>
        </p:txBody>
      </p:sp>
    </p:spTree>
    <p:extLst>
      <p:ext uri="{BB962C8B-B14F-4D97-AF65-F5344CB8AC3E}">
        <p14:creationId xmlns:p14="http://schemas.microsoft.com/office/powerpoint/2010/main" val="4114357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After</a:t>
            </a:r>
            <a:r>
              <a:rPr lang="en-US" sz="1100" baseline="0" dirty="0"/>
              <a:t> </a:t>
            </a:r>
            <a:r>
              <a:rPr lang="en-US" sz="1100" dirty="0"/>
              <a:t>you have choose an AMI and an instance type, you must specify the network location where the EC2 instance will be deployed. The choice of </a:t>
            </a:r>
            <a:r>
              <a:rPr lang="en-US" sz="1100" b="1" dirty="0"/>
              <a:t>Region</a:t>
            </a:r>
            <a:r>
              <a:rPr lang="en-US" sz="1100" dirty="0"/>
              <a:t> must be made before you start the Launch Instance Wizard. Verify that you are in the correct Region page of the Amazon EC2 console before you choose </a:t>
            </a:r>
            <a:r>
              <a:rPr lang="en-US" sz="1100" b="1" dirty="0"/>
              <a:t>Launch Instance</a:t>
            </a:r>
            <a:r>
              <a:rPr lang="en-US" sz="1100" dirty="0"/>
              <a:t>.</a:t>
            </a:r>
          </a:p>
          <a:p>
            <a:endParaRPr lang="en-US" sz="1100" dirty="0"/>
          </a:p>
          <a:p>
            <a:r>
              <a:rPr lang="en-US" sz="1100" b="0" i="0" kern="1200" dirty="0">
                <a:solidFill>
                  <a:schemeClr val="tx1"/>
                </a:solidFill>
                <a:effectLst/>
                <a:latin typeface="+mn-lt"/>
                <a:ea typeface="+mn-ea"/>
                <a:cs typeface="+mn-cs"/>
              </a:rPr>
              <a:t>When you launch an instance in a </a:t>
            </a:r>
            <a:r>
              <a:rPr lang="en-US" sz="1100" b="1" i="0" kern="1200" dirty="0">
                <a:solidFill>
                  <a:schemeClr val="tx1"/>
                </a:solidFill>
                <a:effectLst/>
                <a:latin typeface="+mn-lt"/>
                <a:ea typeface="+mn-ea"/>
                <a:cs typeface="+mn-cs"/>
              </a:rPr>
              <a:t>default VPC</a:t>
            </a:r>
            <a:r>
              <a:rPr lang="en-US" sz="1100" b="0" i="0" kern="1200" dirty="0">
                <a:solidFill>
                  <a:schemeClr val="tx1"/>
                </a:solidFill>
                <a:effectLst/>
                <a:latin typeface="+mn-lt"/>
                <a:ea typeface="+mn-ea"/>
                <a:cs typeface="+mn-cs"/>
              </a:rPr>
              <a:t>, AWS will assign it a </a:t>
            </a:r>
            <a:r>
              <a:rPr lang="en-US" sz="1100" b="1" i="0" kern="1200" dirty="0">
                <a:solidFill>
                  <a:schemeClr val="tx1"/>
                </a:solidFill>
                <a:effectLst/>
                <a:latin typeface="+mn-lt"/>
                <a:ea typeface="+mn-ea"/>
                <a:cs typeface="+mn-cs"/>
              </a:rPr>
              <a:t>public IP</a:t>
            </a:r>
            <a:r>
              <a:rPr lang="en-US" sz="1100" b="0" i="0" kern="1200" dirty="0">
                <a:solidFill>
                  <a:schemeClr val="tx1"/>
                </a:solidFill>
                <a:effectLst/>
                <a:latin typeface="+mn-lt"/>
                <a:ea typeface="+mn-ea"/>
                <a:cs typeface="+mn-cs"/>
              </a:rPr>
              <a:t> </a:t>
            </a:r>
            <a:r>
              <a:rPr lang="en-US" sz="1100" b="1" i="0" kern="1200" dirty="0">
                <a:solidFill>
                  <a:schemeClr val="tx1"/>
                </a:solidFill>
                <a:effectLst/>
                <a:latin typeface="+mn-lt"/>
                <a:ea typeface="+mn-ea"/>
                <a:cs typeface="+mn-cs"/>
              </a:rPr>
              <a:t>address</a:t>
            </a:r>
            <a:r>
              <a:rPr lang="en-US" sz="1100" b="0" i="0" kern="1200" dirty="0">
                <a:solidFill>
                  <a:schemeClr val="tx1"/>
                </a:solidFill>
                <a:effectLst/>
                <a:latin typeface="+mn-lt"/>
                <a:ea typeface="+mn-ea"/>
                <a:cs typeface="+mn-cs"/>
              </a:rPr>
              <a:t> by default. When you launch an instance into a </a:t>
            </a:r>
            <a:r>
              <a:rPr lang="en-US" sz="1100" b="1" i="0" kern="1200" dirty="0">
                <a:solidFill>
                  <a:schemeClr val="tx1"/>
                </a:solidFill>
                <a:effectLst/>
                <a:latin typeface="+mn-lt"/>
                <a:ea typeface="+mn-ea"/>
                <a:cs typeface="+mn-cs"/>
              </a:rPr>
              <a:t>nondefault VPC</a:t>
            </a:r>
            <a:r>
              <a:rPr lang="en-US" sz="1100" b="0" i="0" kern="1200" dirty="0">
                <a:solidFill>
                  <a:schemeClr val="tx1"/>
                </a:solidFill>
                <a:effectLst/>
                <a:latin typeface="+mn-lt"/>
                <a:ea typeface="+mn-ea"/>
                <a:cs typeface="+mn-cs"/>
              </a:rPr>
              <a:t>, the subnet has an attribute that determines whether instances launched into that subnet receive a public IP address from the public IPv4 address pool. By default, AWS will not assign a public IP address to instances that are launched in a nondefault subnet. You can control whether your instance receives a public IP address by either modifying the public IP addressing attribute of your subnet, or by enabling or disabling the public IP addressing feature during launch</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which overrides the subnet's public IP addressing attribute). </a:t>
            </a:r>
          </a:p>
          <a:p>
            <a:endParaRPr lang="en-US" sz="1100" dirty="0"/>
          </a:p>
        </p:txBody>
      </p:sp>
    </p:spTree>
    <p:extLst>
      <p:ext uri="{BB962C8B-B14F-4D97-AF65-F5344CB8AC3E}">
        <p14:creationId xmlns:p14="http://schemas.microsoft.com/office/powerpoint/2010/main" val="3108008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35858"/>
          </a:xfrm>
        </p:spPr>
        <p:txBody>
          <a:bodyPr/>
          <a:lstStyle/>
          <a:p>
            <a:r>
              <a:rPr lang="en-US" sz="1100" dirty="0"/>
              <a:t>It is common to use EC2 instances to run an application that must make secure API calls to other AWS services. To support these use cases, AWS enables you to </a:t>
            </a:r>
            <a:r>
              <a:rPr lang="en-US" sz="1100" b="1" dirty="0"/>
              <a:t>attach an AWS Identity and Access Management (IAM) role to an EC2 instance</a:t>
            </a:r>
            <a:r>
              <a:rPr lang="en-US" sz="1100" dirty="0"/>
              <a:t>. Without this feature, you might be tempted to place AWS credentials on an EC2 instance so an application that runs on that instance to use. However, you should never</a:t>
            </a:r>
            <a:r>
              <a:rPr lang="en-US" sz="1100" baseline="0" dirty="0"/>
              <a:t> store AWS credentials on an EC2 instance</a:t>
            </a:r>
            <a:r>
              <a:rPr lang="en-US" sz="1100" dirty="0"/>
              <a:t>. It is highly insecure. Instead, attach an IAM role to the EC2 instance. The IAM role then grants permission to make</a:t>
            </a:r>
            <a:r>
              <a:rPr lang="en-US" sz="1100" baseline="0" dirty="0"/>
              <a:t> application programming interface (API) requests</a:t>
            </a:r>
            <a:r>
              <a:rPr lang="en-US" sz="1100" dirty="0"/>
              <a:t> to the applications that run on the EC2 instance.</a:t>
            </a:r>
          </a:p>
          <a:p>
            <a:endParaRPr lang="en-US" sz="1100" dirty="0"/>
          </a:p>
          <a:p>
            <a:r>
              <a:rPr lang="en-US" sz="1100" dirty="0"/>
              <a:t>An </a:t>
            </a:r>
            <a:r>
              <a:rPr lang="en-US" sz="1100" b="1" dirty="0"/>
              <a:t>instance profile</a:t>
            </a:r>
            <a:r>
              <a:rPr lang="en-US" sz="1100" dirty="0"/>
              <a:t> is a container for an IAM role. If you use the AWS Management Console to create a role for Amazon EC2, the console automatically creates an instance profile and gives it the same name as the role. When you then use the Amazon EC2 console to launch an instance with an IAM role, you can select a role to associate with the instance. In the console, the list that displays is actually a list of instance profile names. </a:t>
            </a:r>
          </a:p>
          <a:p>
            <a:endParaRPr lang="en-US" sz="1100" dirty="0"/>
          </a:p>
          <a:p>
            <a:r>
              <a:rPr lang="en-US" sz="1100" b="1" dirty="0"/>
              <a:t>In the</a:t>
            </a:r>
            <a:r>
              <a:rPr lang="en-US" sz="1100" dirty="0"/>
              <a:t> </a:t>
            </a:r>
            <a:r>
              <a:rPr lang="en-US" sz="1100" b="1" dirty="0"/>
              <a:t>example</a:t>
            </a:r>
            <a:r>
              <a:rPr lang="en-US" sz="1100" dirty="0"/>
              <a:t>, you see that an IAM role is used to grant permissions to an application that</a:t>
            </a:r>
            <a:r>
              <a:rPr lang="en-US" sz="1100" baseline="0" dirty="0"/>
              <a:t> runs</a:t>
            </a:r>
            <a:r>
              <a:rPr lang="en-US" sz="1100" dirty="0"/>
              <a:t> on an EC2 instance. The application must access a bucket in Amazon S3.</a:t>
            </a:r>
          </a:p>
          <a:p>
            <a:endParaRPr lang="en-US" sz="1100" dirty="0"/>
          </a:p>
          <a:p>
            <a:r>
              <a:rPr lang="en-US" sz="1100" dirty="0"/>
              <a:t>You can attach an IAM role when you launch the instance, but you can also attach a role to an already running EC2 instance. When you define a role that can be used by an EC2 instance, you define which accounts or AWS services can assume the role. You also define which API actions and resources the application can use after it assumes the role. If you change a role, the change is propagated to all instances that have the role attached to them.</a:t>
            </a:r>
          </a:p>
          <a:p>
            <a:endParaRPr lang="en-US" sz="1100" dirty="0"/>
          </a:p>
          <a:p>
            <a:endParaRPr lang="en-US" sz="1100" dirty="0"/>
          </a:p>
        </p:txBody>
      </p:sp>
    </p:spTree>
    <p:extLst>
      <p:ext uri="{BB962C8B-B14F-4D97-AF65-F5344CB8AC3E}">
        <p14:creationId xmlns:p14="http://schemas.microsoft.com/office/powerpoint/2010/main" val="394915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54146"/>
          </a:xfrm>
        </p:spPr>
        <p:txBody>
          <a:bodyPr/>
          <a:lstStyle/>
          <a:p>
            <a:r>
              <a:rPr lang="en-US" sz="1100" dirty="0">
                <a:latin typeface="Calibri" panose="020F0502020204030204" pitchFamily="34" charset="0"/>
              </a:rPr>
              <a:t>When you create your EC2 instances, you have the option of passing </a:t>
            </a:r>
            <a:r>
              <a:rPr lang="en-US" sz="1100" b="1" dirty="0">
                <a:latin typeface="Calibri" panose="020F0502020204030204" pitchFamily="34" charset="0"/>
              </a:rPr>
              <a:t>user data </a:t>
            </a:r>
            <a:r>
              <a:rPr lang="en-US" sz="1100" dirty="0">
                <a:latin typeface="Calibri" panose="020F0502020204030204" pitchFamily="34" charset="0"/>
              </a:rPr>
              <a:t>to the instance. User data can automate the completion of installations and configurations at </a:t>
            </a:r>
            <a:r>
              <a:rPr lang="en-US" sz="1100" baseline="0" dirty="0">
                <a:latin typeface="Calibri" panose="020F0502020204030204" pitchFamily="34" charset="0"/>
              </a:rPr>
              <a:t>instance launch. For example, a user data script might </a:t>
            </a:r>
            <a:r>
              <a:rPr lang="en-US" sz="1100" dirty="0">
                <a:latin typeface="Calibri" panose="020F0502020204030204" pitchFamily="34" charset="0"/>
              </a:rPr>
              <a:t>patch and update the instance's operating system, fetch and install software</a:t>
            </a:r>
            <a:r>
              <a:rPr lang="en-US" sz="1100" baseline="0" dirty="0">
                <a:latin typeface="Calibri" panose="020F0502020204030204" pitchFamily="34" charset="0"/>
              </a:rPr>
              <a:t> license keys</a:t>
            </a:r>
            <a:r>
              <a:rPr lang="en-US" sz="1100" dirty="0">
                <a:latin typeface="Calibri" panose="020F0502020204030204" pitchFamily="34" charset="0"/>
              </a:rPr>
              <a:t>, or install additional software.</a:t>
            </a:r>
            <a:r>
              <a:rPr lang="en-US" sz="1100" baseline="0" dirty="0">
                <a:latin typeface="Calibri" panose="020F0502020204030204" pitchFamily="34" charset="0"/>
              </a:rPr>
              <a:t> </a:t>
            </a:r>
          </a:p>
          <a:p>
            <a:endParaRPr lang="en-US" sz="1100" dirty="0"/>
          </a:p>
          <a:p>
            <a:r>
              <a:rPr lang="en-US" sz="1100" dirty="0"/>
              <a:t>In the example user data script, you see a simple three-line </a:t>
            </a:r>
            <a:r>
              <a:rPr lang="en-US" sz="1100" b="1" dirty="0"/>
              <a:t>Linux</a:t>
            </a:r>
            <a:r>
              <a:rPr lang="en-US" sz="1100" dirty="0"/>
              <a:t> Bash shell script. The first line indicates that the script should be run by the Bash shell. The second line invokes the Yellowdog Updater, Modified (</a:t>
            </a:r>
            <a:r>
              <a:rPr lang="en-US" sz="1100" dirty="0">
                <a:latin typeface="Lucida Console" panose="020B0609040504020204" pitchFamily="49" charset="0"/>
              </a:rPr>
              <a:t>YUM)</a:t>
            </a:r>
            <a:r>
              <a:rPr lang="en-US" sz="1100" dirty="0"/>
              <a:t> utility, which is commonly used in many Linux distributions—such as Amazon Linux, CentOS, and Red Hat Linux—to retrieve software from an online repository and install it. In line two of the example, that command tells YUM to update all installed packages to the latest versions that are known to the software repository that it is configured to access. Line three of the script</a:t>
            </a:r>
            <a:r>
              <a:rPr lang="en-US" sz="1100" baseline="0" dirty="0"/>
              <a:t> </a:t>
            </a:r>
            <a:r>
              <a:rPr lang="en-US" sz="1100" dirty="0"/>
              <a:t>indicates that the </a:t>
            </a:r>
            <a:r>
              <a:rPr lang="en-US" sz="1100" dirty="0">
                <a:latin typeface="Lucida Console" panose="020B0609040504020204" pitchFamily="49" charset="0"/>
              </a:rPr>
              <a:t>Wget</a:t>
            </a:r>
            <a:r>
              <a:rPr lang="en-US" sz="1100" dirty="0"/>
              <a:t> utility should be installed. Wget is a common utility for downloading files from the web.</a:t>
            </a:r>
          </a:p>
          <a:p>
            <a:endParaRPr lang="en-US" sz="1100" dirty="0"/>
          </a:p>
          <a:p>
            <a:r>
              <a:rPr lang="en-US" sz="1100" dirty="0"/>
              <a:t>For a </a:t>
            </a:r>
            <a:r>
              <a:rPr lang="en-US" sz="1100" b="1" dirty="0"/>
              <a:t>Windows</a:t>
            </a:r>
            <a:r>
              <a:rPr lang="en-US" sz="1100" dirty="0"/>
              <a:t> instance, the user data script should be written in a format that is compatible with a Command Prompt window (batch commands) or with Windows PowerShell. See the </a:t>
            </a:r>
            <a:r>
              <a:rPr lang="en-US" sz="1100" dirty="0">
                <a:hlinkClick r:id="rId3"/>
              </a:rPr>
              <a:t>Windows User Data Scripts</a:t>
            </a:r>
            <a:r>
              <a:rPr lang="en-US" sz="1100" dirty="0"/>
              <a:t> documentation for details.</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When the EC2 instance is created</a:t>
            </a:r>
            <a:r>
              <a:rPr lang="en-US" sz="1100" b="1" dirty="0"/>
              <a:t>, the user data script will run with root privileges </a:t>
            </a:r>
            <a:r>
              <a:rPr lang="en-US" sz="1100" dirty="0"/>
              <a:t>during the final phases of the boot process. On Linux instances, it is run by the cloud-init service. On Windows instances, it is run by the EC2Config or EC2Launch utility. </a:t>
            </a:r>
            <a:r>
              <a:rPr lang="en-US" sz="1100" b="1" dirty="0"/>
              <a:t>By default, user data only runs the first time that the instance starts up</a:t>
            </a:r>
            <a:r>
              <a:rPr lang="en-US" sz="1100" dirty="0"/>
              <a:t>. However, if you would like your user data script to run every time the instance is booted, you can create a </a:t>
            </a:r>
            <a:r>
              <a:rPr lang="en-US" sz="1100" u="sng" kern="1200" dirty="0">
                <a:solidFill>
                  <a:schemeClr val="tx1"/>
                </a:solidFill>
                <a:effectLst/>
                <a:latin typeface="+mn-lt"/>
                <a:ea typeface="+mn-ea"/>
                <a:cs typeface="+mn-cs"/>
                <a:hlinkClick r:id="rId4"/>
              </a:rPr>
              <a:t>Multipurpose Internet Mail Extensions (MIME) multipart file</a:t>
            </a:r>
            <a:r>
              <a:rPr lang="en-US" sz="1100" kern="1200" dirty="0">
                <a:solidFill>
                  <a:schemeClr val="tx1"/>
                </a:solidFill>
                <a:effectLst/>
                <a:latin typeface="+mn-lt"/>
                <a:ea typeface="+mn-ea"/>
                <a:cs typeface="+mn-cs"/>
              </a:rPr>
              <a:t> </a:t>
            </a:r>
            <a:r>
              <a:rPr lang="en-US" sz="1100" dirty="0"/>
              <a:t>user data script (this process is not commonly done). </a:t>
            </a:r>
          </a:p>
        </p:txBody>
      </p:sp>
    </p:spTree>
    <p:extLst>
      <p:ext uri="{BB962C8B-B14F-4D97-AF65-F5344CB8AC3E}">
        <p14:creationId xmlns:p14="http://schemas.microsoft.com/office/powerpoint/2010/main" val="2590995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When you launch an EC2 instance, you can configure storage options. For example, you can configure the size of the root volume where the guest operating system is installed. You can also attach additional storage volumes when you launch the instance. Some AMIs are also configured to launch more than one storage volume by default to provide storage</a:t>
            </a:r>
            <a:r>
              <a:rPr lang="en-US" sz="1100" baseline="0" dirty="0"/>
              <a:t> that is</a:t>
            </a:r>
            <a:r>
              <a:rPr lang="en-US" sz="1100" dirty="0"/>
              <a:t> separate from the root volume. </a:t>
            </a:r>
          </a:p>
          <a:p>
            <a:endParaRPr lang="en-US" sz="1100" dirty="0"/>
          </a:p>
          <a:p>
            <a:r>
              <a:rPr lang="en-US" sz="1100" dirty="0"/>
              <a:t>For each volume that your instance will have, you can specify the size of the disks, the volume types, and whether the storage will be retained if the instance is terminated. You can also specify if encryption should be used.</a:t>
            </a:r>
          </a:p>
        </p:txBody>
      </p:sp>
    </p:spTree>
    <p:extLst>
      <p:ext uri="{BB962C8B-B14F-4D97-AF65-F5344CB8AC3E}">
        <p14:creationId xmlns:p14="http://schemas.microsoft.com/office/powerpoint/2010/main" val="2802811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54146"/>
          </a:xfrm>
        </p:spPr>
        <p:txBody>
          <a:bodyPr/>
          <a:lstStyle/>
          <a:p>
            <a:r>
              <a:rPr lang="en-US" sz="1100" b="1" dirty="0"/>
              <a:t>Amazon Elastic Block Store (Amazon EBS) </a:t>
            </a:r>
            <a:r>
              <a:rPr lang="en-US" sz="1100" dirty="0"/>
              <a:t>is an easy-to-use, high-performance </a:t>
            </a:r>
            <a:r>
              <a:rPr lang="en-US" sz="1100" b="1" dirty="0"/>
              <a:t>durable block storage </a:t>
            </a:r>
            <a:r>
              <a:rPr lang="en-US" sz="1100" dirty="0"/>
              <a:t>service that is designed to be used with Amazon EC2 for both throughput- and transaction-intensive workloads. With Amazon EBS, you can choose from four different volume types to balance the</a:t>
            </a:r>
            <a:r>
              <a:rPr lang="en-US" sz="1100" baseline="0" dirty="0"/>
              <a:t> </a:t>
            </a:r>
            <a:r>
              <a:rPr lang="en-US" sz="1100" dirty="0"/>
              <a:t>optimal price and performance. You can change volume types or increase volume size without disrupting your critical applications, so you can have cost-effective storage when you need it.</a:t>
            </a:r>
          </a:p>
          <a:p>
            <a:endParaRPr lang="en-US" sz="1100" dirty="0"/>
          </a:p>
          <a:p>
            <a:r>
              <a:rPr lang="en-US" sz="1100" b="1" dirty="0"/>
              <a:t>Amazon EC2 Instance Store </a:t>
            </a:r>
            <a:r>
              <a:rPr lang="en-US" sz="1100" dirty="0"/>
              <a:t>provides ephemeral, or temporary, block-level storage for your instance. This storage is located on disks that are physically attached to the host computer. Instance Store works well when you must temporarily store information that changes frequently, such as buffers, caches, scratch data, and other temporary content.</a:t>
            </a:r>
            <a:r>
              <a:rPr lang="en-US" sz="1100" baseline="0" dirty="0"/>
              <a:t> You can also use Instance Store</a:t>
            </a:r>
            <a:r>
              <a:rPr lang="en-US" sz="1100" dirty="0"/>
              <a:t> for data that is replicated across a fleet of instances, such as a load</a:t>
            </a:r>
            <a:r>
              <a:rPr lang="en-US" sz="1100" baseline="0" dirty="0"/>
              <a:t> </a:t>
            </a:r>
            <a:r>
              <a:rPr lang="en-US" sz="1100" dirty="0"/>
              <a:t>balanced pool of web servers. If the instances are stopped—either because of user error or a malfunction—the data on the instance store will be deleted.</a:t>
            </a:r>
          </a:p>
          <a:p>
            <a:endParaRPr lang="en-US" sz="1100" dirty="0"/>
          </a:p>
          <a:p>
            <a:r>
              <a:rPr lang="en-US" sz="1100" b="1" dirty="0"/>
              <a:t>Amazon Elastic File System (Amazon EFS)</a:t>
            </a:r>
            <a:r>
              <a:rPr lang="en-US" sz="1100" dirty="0"/>
              <a:t> provides a simple, scalable, fully managed elastic Network File System (NFS) file system for use with AWS Cloud services and on-premises resources. It is built to scale on-demand to petabytes without disrupting applications.</a:t>
            </a:r>
            <a:r>
              <a:rPr lang="en-US" sz="1100" baseline="0" dirty="0"/>
              <a:t> It </a:t>
            </a:r>
            <a:r>
              <a:rPr lang="en-US" sz="1100" dirty="0"/>
              <a:t>grows and shrinks automatically as you add and remove files, which reduces the need to provision and manage capacity to accommodate growth.</a:t>
            </a:r>
          </a:p>
          <a:p>
            <a:endParaRPr lang="en-US" sz="1100" dirty="0"/>
          </a:p>
          <a:p>
            <a:r>
              <a:rPr lang="en-US" sz="1100" b="1" dirty="0"/>
              <a:t>Amazon Simple Storage Service (Amazon S3) </a:t>
            </a:r>
            <a:r>
              <a:rPr lang="en-US" sz="1100" dirty="0"/>
              <a:t>is an object storage service that offers scalability, data availability, security, and performance. You</a:t>
            </a:r>
            <a:r>
              <a:rPr lang="en-US" sz="1100" baseline="0" dirty="0"/>
              <a:t> can s</a:t>
            </a:r>
            <a:r>
              <a:rPr lang="en-US" sz="1100" dirty="0"/>
              <a:t>tore and protect any amount of data for a variety of use cases, such as websites, mobile apps, backup and restore, archive, enterprise applications, Internet of Things (IoT)</a:t>
            </a:r>
            <a:r>
              <a:rPr lang="en-US" sz="1100" baseline="0" dirty="0"/>
              <a:t> </a:t>
            </a:r>
            <a:r>
              <a:rPr lang="en-US" sz="1100" dirty="0"/>
              <a:t>devices, and big data analytics.</a:t>
            </a:r>
          </a:p>
        </p:txBody>
      </p:sp>
    </p:spTree>
    <p:extLst>
      <p:ext uri="{BB962C8B-B14F-4D97-AF65-F5344CB8AC3E}">
        <p14:creationId xmlns:p14="http://schemas.microsoft.com/office/powerpoint/2010/main" val="2007577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066794"/>
          </a:xfrm>
        </p:spPr>
        <p:txBody>
          <a:bodyPr/>
          <a:lstStyle/>
          <a:p>
            <a:r>
              <a:rPr lang="en-US" sz="1100" dirty="0"/>
              <a:t>Here, you see two examples of how storage options could be configured for EC2 instances.</a:t>
            </a:r>
          </a:p>
          <a:p>
            <a:endParaRPr lang="en-US" sz="1100" dirty="0"/>
          </a:p>
          <a:p>
            <a:r>
              <a:rPr lang="en-US" sz="1100" dirty="0"/>
              <a:t>The</a:t>
            </a:r>
            <a:r>
              <a:rPr lang="en-US" sz="1100" b="1" dirty="0"/>
              <a:t> Instance 1 </a:t>
            </a:r>
            <a:r>
              <a:rPr lang="en-US" sz="1100" dirty="0"/>
              <a:t>example shows that the root volume—which contains the OS and possibly other data—is stored on Amazon EBS. This instance also has two attached volumes. One volume is a 500-GB Amazon EBS storage volume, and the other volume is an Instance Store volume. </a:t>
            </a:r>
            <a:r>
              <a:rPr lang="en-US" sz="1100" b="1" dirty="0"/>
              <a:t>If this instance was stopped and then started again</a:t>
            </a:r>
            <a:r>
              <a:rPr lang="en-US" sz="1100" dirty="0"/>
              <a:t>, the OS would survive and any data that was stored on either the 20-GB Amazon EBS volume or the 500-GB Amazon EBS volume would remain intact. However, any data that was stored on Ephemeral volume 1 would be permanently lost. </a:t>
            </a:r>
            <a:r>
              <a:rPr lang="en-US" sz="1100" b="0" i="0" kern="1200" dirty="0">
                <a:solidFill>
                  <a:schemeClr val="tx1"/>
                </a:solidFill>
                <a:effectLst/>
                <a:latin typeface="+mn-lt"/>
                <a:ea typeface="+mn-ea"/>
                <a:cs typeface="+mn-cs"/>
              </a:rPr>
              <a:t>Instance Store works well for temporarily storing information that changes frequently, such as buffers, caches, scratch data, and other temporary content.</a:t>
            </a:r>
            <a:endParaRPr lang="en-US" sz="1100" dirty="0"/>
          </a:p>
          <a:p>
            <a:endParaRPr lang="en-US" sz="1100" dirty="0"/>
          </a:p>
          <a:p>
            <a:r>
              <a:rPr lang="en-US" sz="1100" dirty="0"/>
              <a:t>The</a:t>
            </a:r>
            <a:r>
              <a:rPr lang="en-US" sz="1100" b="1" dirty="0"/>
              <a:t> Instance 2 </a:t>
            </a:r>
            <a:r>
              <a:rPr lang="en-US" sz="1100" dirty="0"/>
              <a:t>example shows that the root volume is on an instance store (Ephemeral volume 2). </a:t>
            </a:r>
            <a:r>
              <a:rPr lang="en-US" sz="1100" b="1" dirty="0"/>
              <a:t>An instance with an Instance Store root volume cannot be stopped by an Amazon EC2 API call.</a:t>
            </a:r>
            <a:r>
              <a:rPr lang="en-US" sz="1100" b="1" baseline="0" dirty="0"/>
              <a:t> I</a:t>
            </a:r>
            <a:r>
              <a:rPr lang="en-US" sz="1100" b="1" dirty="0"/>
              <a:t>t can only be terminated. </a:t>
            </a:r>
            <a:r>
              <a:rPr lang="en-US" sz="1100" dirty="0"/>
              <a:t>However, it could be stopped from within the instance's OS (for example, by issuing a shutdown command)—or it could stop because of OS or disk failure—which</a:t>
            </a:r>
            <a:r>
              <a:rPr lang="en-US" sz="1100" baseline="0" dirty="0"/>
              <a:t> </a:t>
            </a:r>
            <a:r>
              <a:rPr lang="en-US" sz="1100" dirty="0"/>
              <a:t>would cause the</a:t>
            </a:r>
            <a:r>
              <a:rPr lang="en-US" sz="1100" baseline="0" dirty="0"/>
              <a:t> instance</a:t>
            </a:r>
            <a:r>
              <a:rPr lang="en-US" sz="1100" dirty="0"/>
              <a:t> to be terminated. If the instance was terminated,</a:t>
            </a:r>
            <a:r>
              <a:rPr lang="en-US" sz="1100" b="0" dirty="0"/>
              <a:t> </a:t>
            </a:r>
            <a:r>
              <a:rPr lang="en-US" sz="1100" dirty="0"/>
              <a:t>all the data that was stored on Ephemeral volume 2 would be lost, including the OS. You would not be able to start the instance again. Therefore, do not rely on Instance Store for valuable, long-term data. Instead, use more durable data storage, such as Amazon EBS, Amazon EFS, or Amazon S3. </a:t>
            </a:r>
          </a:p>
          <a:p>
            <a:endParaRPr lang="en-US" sz="1100" dirty="0"/>
          </a:p>
          <a:p>
            <a:r>
              <a:rPr lang="en-US" sz="1100" dirty="0"/>
              <a:t>If </a:t>
            </a:r>
            <a:r>
              <a:rPr lang="en-US" sz="1100" b="0" i="0" kern="1200" dirty="0">
                <a:solidFill>
                  <a:schemeClr val="tx1"/>
                </a:solidFill>
                <a:effectLst/>
                <a:latin typeface="+mn-lt"/>
                <a:ea typeface="+mn-ea"/>
                <a:cs typeface="+mn-cs"/>
              </a:rPr>
              <a:t>an instance </a:t>
            </a:r>
            <a:r>
              <a:rPr lang="en-US" sz="1100" b="0" i="1" kern="1200" dirty="0">
                <a:solidFill>
                  <a:schemeClr val="tx1"/>
                </a:solidFill>
                <a:effectLst/>
                <a:latin typeface="+mn-lt"/>
                <a:ea typeface="+mn-ea"/>
                <a:cs typeface="+mn-cs"/>
              </a:rPr>
              <a:t>reboots</a:t>
            </a:r>
            <a:r>
              <a:rPr lang="en-US" sz="1100" b="0" i="0" kern="1200" dirty="0">
                <a:solidFill>
                  <a:schemeClr val="tx1"/>
                </a:solidFill>
                <a:effectLst/>
                <a:latin typeface="+mn-lt"/>
                <a:ea typeface="+mn-ea"/>
                <a:cs typeface="+mn-cs"/>
              </a:rPr>
              <a:t> (intentionally or unintentionally), data on the instance store root volume does persist. </a:t>
            </a:r>
          </a:p>
        </p:txBody>
      </p:sp>
    </p:spTree>
    <p:extLst>
      <p:ext uri="{BB962C8B-B14F-4D97-AF65-F5344CB8AC3E}">
        <p14:creationId xmlns:p14="http://schemas.microsoft.com/office/powerpoint/2010/main" val="2217324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 tag is a label that you assign to an AWS resource. Each tag consists of a </a:t>
            </a:r>
            <a:r>
              <a:rPr lang="en-US" sz="1100" i="1" dirty="0"/>
              <a:t>key</a:t>
            </a:r>
            <a:r>
              <a:rPr lang="en-US" sz="1100" dirty="0"/>
              <a:t> and an optional </a:t>
            </a:r>
            <a:r>
              <a:rPr lang="en-US" sz="1100" i="1" dirty="0"/>
              <a:t>value</a:t>
            </a:r>
            <a:r>
              <a:rPr lang="en-US" sz="1100" dirty="0"/>
              <a:t>, both of which you define. Tags enable you to categorize AWS resources,</a:t>
            </a:r>
            <a:r>
              <a:rPr lang="en-US" sz="1100" baseline="0" dirty="0"/>
              <a:t> </a:t>
            </a:r>
            <a:r>
              <a:rPr lang="en-US" sz="1100" dirty="0"/>
              <a:t>such as EC2 instances, in different ways. For example, you might tag instances by purpose, owner, or environment. </a:t>
            </a:r>
          </a:p>
          <a:p>
            <a:endParaRPr lang="en-US" sz="1100"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Tagging is how you can attach metadata to an EC2 instance. </a:t>
            </a:r>
          </a:p>
          <a:p>
            <a:endParaRPr lang="en-US" sz="1100"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Tag keys and tag values are case-sensitive. For example, a commonly used tag for EC2 instances is</a:t>
            </a:r>
            <a:r>
              <a:rPr lang="en-US" sz="1100" baseline="0" dirty="0"/>
              <a:t> </a:t>
            </a:r>
            <a:r>
              <a:rPr lang="en-US" sz="1100" dirty="0"/>
              <a:t>a tag key that is called </a:t>
            </a:r>
            <a:r>
              <a:rPr lang="en-US" sz="1100" i="1" dirty="0"/>
              <a:t>Name</a:t>
            </a:r>
            <a:r>
              <a:rPr lang="en-US" sz="1100" dirty="0"/>
              <a:t> and a tag value that describes the instance, such as </a:t>
            </a:r>
            <a:r>
              <a:rPr lang="en-US" sz="1100" i="1" dirty="0"/>
              <a:t>My Web Server</a:t>
            </a:r>
            <a:r>
              <a:rPr lang="en-US" sz="1100" dirty="0"/>
              <a:t>. The </a:t>
            </a:r>
            <a:r>
              <a:rPr lang="en-US" sz="1100" i="1" dirty="0"/>
              <a:t>Name</a:t>
            </a:r>
            <a:r>
              <a:rPr lang="en-US" sz="1100" dirty="0"/>
              <a:t> tag is exposed by default in the Amazon EC2 console </a:t>
            </a:r>
            <a:r>
              <a:rPr lang="en-US" sz="1100" b="1" dirty="0"/>
              <a:t>Instances</a:t>
            </a:r>
            <a:r>
              <a:rPr lang="en-US" sz="1100" dirty="0"/>
              <a:t> page. However, if you create a key that is called </a:t>
            </a:r>
            <a:r>
              <a:rPr lang="en-US" sz="1100" i="1" dirty="0"/>
              <a:t>name</a:t>
            </a:r>
            <a:r>
              <a:rPr lang="en-US" sz="1100" dirty="0"/>
              <a:t> (with lower-case </a:t>
            </a:r>
            <a:r>
              <a:rPr lang="en-US" sz="1100" i="1" dirty="0"/>
              <a:t>n</a:t>
            </a:r>
            <a:r>
              <a:rPr lang="en-US" sz="1100" dirty="0"/>
              <a:t>), it will not appear in the </a:t>
            </a:r>
            <a:r>
              <a:rPr lang="en-US" sz="1100" b="1" dirty="0"/>
              <a:t>Name</a:t>
            </a:r>
            <a:r>
              <a:rPr lang="en-US" sz="1100" dirty="0"/>
              <a:t> column for the list of instances (though it will still appear in the instance details panel in the </a:t>
            </a:r>
            <a:r>
              <a:rPr lang="en-US" sz="1100" b="1" i="0" dirty="0"/>
              <a:t>Tags</a:t>
            </a:r>
            <a:r>
              <a:rPr lang="en-US" sz="1100" dirty="0"/>
              <a:t> tab).</a:t>
            </a:r>
            <a:endParaRPr lang="en-US" sz="1100" dirty="0">
              <a:hlinkClick r:id="rId3"/>
            </a:endParaRPr>
          </a:p>
          <a:p>
            <a:endParaRPr lang="en-US" sz="1100"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It is a best practice to develop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4"/>
              </a:rPr>
              <a:t>tagging strategies</a:t>
            </a:r>
            <a:r>
              <a:rPr lang="en-US" sz="1100" dirty="0"/>
              <a:t>. Using a consistent set of tag keys makes it easier for you to manage your resources. You can also search and filter the resources based on the tags that you add.</a:t>
            </a:r>
          </a:p>
          <a:p>
            <a:endParaRPr lang="en-US" sz="1100" dirty="0"/>
          </a:p>
        </p:txBody>
      </p:sp>
    </p:spTree>
    <p:extLst>
      <p:ext uri="{BB962C8B-B14F-4D97-AF65-F5344CB8AC3E}">
        <p14:creationId xmlns:p14="http://schemas.microsoft.com/office/powerpoint/2010/main" val="1484034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810762"/>
          </a:xfrm>
        </p:spPr>
        <p:txBody>
          <a:bodyPr/>
          <a:lstStyle/>
          <a:p>
            <a:r>
              <a:rPr lang="en-US" sz="1100" b="0" i="0" kern="1200" dirty="0">
                <a:solidFill>
                  <a:schemeClr val="tx1"/>
                </a:solidFill>
                <a:effectLst/>
                <a:latin typeface="+mn-lt"/>
                <a:ea typeface="+mn-ea"/>
                <a:cs typeface="+mn-cs"/>
              </a:rPr>
              <a:t>A </a:t>
            </a:r>
            <a:r>
              <a:rPr lang="en-US" sz="1100" b="1" kern="1200" dirty="0">
                <a:solidFill>
                  <a:schemeClr val="tx1"/>
                </a:solidFill>
                <a:effectLst/>
                <a:latin typeface="+mn-lt"/>
                <a:ea typeface="+mn-ea"/>
                <a:cs typeface="+mn-cs"/>
              </a:rPr>
              <a:t>security group </a:t>
            </a:r>
            <a:r>
              <a:rPr lang="en-US" sz="1100" b="0" i="0" kern="1200" dirty="0">
                <a:solidFill>
                  <a:schemeClr val="tx1"/>
                </a:solidFill>
                <a:effectLst/>
                <a:latin typeface="+mn-lt"/>
                <a:ea typeface="+mn-ea"/>
                <a:cs typeface="+mn-cs"/>
              </a:rPr>
              <a:t>acts as a virtual firewall that controls network traffic for one or more instances. When you launch an instance, you can specify one or more security groups; otherwise, the default security group is used. </a:t>
            </a:r>
          </a:p>
          <a:p>
            <a:endParaRPr lang="en-US" sz="1100" dirty="0"/>
          </a:p>
          <a:p>
            <a:r>
              <a:rPr lang="en-US" sz="1100" b="0" i="0" kern="1200" dirty="0">
                <a:solidFill>
                  <a:schemeClr val="tx1"/>
                </a:solidFill>
                <a:effectLst/>
                <a:latin typeface="+mn-lt"/>
                <a:ea typeface="+mn-ea"/>
                <a:cs typeface="+mn-cs"/>
              </a:rPr>
              <a:t>You can add </a:t>
            </a:r>
            <a:r>
              <a:rPr lang="en-US" sz="1100" b="1" i="0" kern="1200" dirty="0">
                <a:solidFill>
                  <a:schemeClr val="tx1"/>
                </a:solidFill>
                <a:effectLst/>
                <a:latin typeface="+mn-lt"/>
                <a:ea typeface="+mn-ea"/>
                <a:cs typeface="+mn-cs"/>
              </a:rPr>
              <a:t>rules</a:t>
            </a:r>
            <a:r>
              <a:rPr lang="en-US" sz="1100" b="0" i="0" kern="1200" dirty="0">
                <a:solidFill>
                  <a:schemeClr val="tx1"/>
                </a:solidFill>
                <a:effectLst/>
                <a:latin typeface="+mn-lt"/>
                <a:ea typeface="+mn-ea"/>
                <a:cs typeface="+mn-cs"/>
              </a:rPr>
              <a:t> to each security group</a:t>
            </a:r>
            <a:r>
              <a:rPr lang="en-US" sz="1100" dirty="0"/>
              <a:t>. R</a:t>
            </a:r>
            <a:r>
              <a:rPr lang="en-US" sz="1100" b="0" i="0" kern="1200" dirty="0">
                <a:solidFill>
                  <a:schemeClr val="tx1"/>
                </a:solidFill>
                <a:effectLst/>
                <a:latin typeface="+mn-lt"/>
                <a:ea typeface="+mn-ea"/>
                <a:cs typeface="+mn-cs"/>
              </a:rPr>
              <a:t>ules allow traffic to or from its associated instances. You can modify the rules for a security group at any time, and the new rules will be automatically applied to all instances that are associated with the security group. When AWS decides whether to allow traffic to reach an instance, all the rules from all the security groups that are associated with the instance are evaluated. When you launch an instance in a virtual private cloud (VPC), you must either create a new security group or use one that already exists in that VPC. After you launch an instance, you can change its security groups. </a:t>
            </a:r>
          </a:p>
          <a:p>
            <a:endParaRPr lang="en-US" sz="1100" b="0" i="0" kern="1200" dirty="0">
              <a:solidFill>
                <a:schemeClr val="tx1"/>
              </a:solidFill>
              <a:effectLst/>
              <a:latin typeface="+mn-lt"/>
              <a:ea typeface="+mn-ea"/>
              <a:cs typeface="+mn-cs"/>
            </a:endParaRPr>
          </a:p>
          <a:p>
            <a:r>
              <a:rPr lang="en-US" sz="1100" dirty="0"/>
              <a:t>When you </a:t>
            </a:r>
            <a:r>
              <a:rPr lang="en-US" sz="1100" b="1" dirty="0"/>
              <a:t>define a rule</a:t>
            </a:r>
            <a:r>
              <a:rPr lang="en-US" sz="1100" dirty="0"/>
              <a:t>, you can specify the allowable source of the network communication (inbound rules) or destination (outbound rules). The </a:t>
            </a:r>
            <a:r>
              <a:rPr lang="en-US" sz="1100" b="1" dirty="0"/>
              <a:t>source</a:t>
            </a:r>
            <a:r>
              <a:rPr lang="en-US" sz="1100" dirty="0"/>
              <a:t> can be an IP address, an IP address range, another security group, a gateway VPC endpoint, or anywhere</a:t>
            </a:r>
            <a:r>
              <a:rPr lang="en-US" sz="1100" baseline="0" dirty="0"/>
              <a:t> (which</a:t>
            </a:r>
            <a:r>
              <a:rPr lang="en-US" sz="1100" dirty="0"/>
              <a:t> means</a:t>
            </a:r>
            <a:r>
              <a:rPr lang="en-US" sz="1100" baseline="0" dirty="0"/>
              <a:t> that</a:t>
            </a:r>
            <a:r>
              <a:rPr lang="en-US" sz="1100" dirty="0"/>
              <a:t> all sources will be allowed). By default, a </a:t>
            </a:r>
            <a:r>
              <a:rPr lang="en-US" sz="1100" b="1" dirty="0"/>
              <a:t>security group</a:t>
            </a:r>
            <a:r>
              <a:rPr lang="en-US" sz="1100" dirty="0"/>
              <a:t> includes an </a:t>
            </a:r>
            <a:r>
              <a:rPr lang="en-US" sz="1100" b="1" dirty="0"/>
              <a:t>outbound rule</a:t>
            </a:r>
            <a:r>
              <a:rPr lang="en-US" sz="1100" dirty="0"/>
              <a:t> that allows all </a:t>
            </a:r>
            <a:r>
              <a:rPr lang="en-US" sz="1100" b="1" dirty="0"/>
              <a:t>outbound</a:t>
            </a:r>
            <a:r>
              <a:rPr lang="en-US" sz="1100" dirty="0"/>
              <a:t> traffic. You can remove the </a:t>
            </a:r>
            <a:r>
              <a:rPr lang="en-US" sz="1100" b="1" dirty="0"/>
              <a:t>rule</a:t>
            </a:r>
            <a:r>
              <a:rPr lang="en-US" sz="1100" dirty="0"/>
              <a:t> and add </a:t>
            </a:r>
            <a:r>
              <a:rPr lang="en-US" sz="1100" b="1" dirty="0"/>
              <a:t>outbound rules</a:t>
            </a:r>
            <a:r>
              <a:rPr lang="en-US" sz="1100" dirty="0"/>
              <a:t> that only allow specific </a:t>
            </a:r>
            <a:r>
              <a:rPr lang="en-US" sz="1100" b="1" dirty="0"/>
              <a:t>outbound</a:t>
            </a:r>
            <a:r>
              <a:rPr lang="en-US" sz="1100" dirty="0"/>
              <a:t> traffic. If your </a:t>
            </a:r>
            <a:r>
              <a:rPr lang="en-US" sz="1100" b="1" dirty="0"/>
              <a:t>security group</a:t>
            </a:r>
            <a:r>
              <a:rPr lang="en-US" sz="1100" dirty="0"/>
              <a:t> has no </a:t>
            </a:r>
            <a:r>
              <a:rPr lang="en-US" sz="1100" b="1" dirty="0"/>
              <a:t>outbound rules</a:t>
            </a:r>
            <a:r>
              <a:rPr lang="en-US" sz="1100" dirty="0"/>
              <a:t>, no </a:t>
            </a:r>
            <a:r>
              <a:rPr lang="en-US" sz="1100" b="1" dirty="0"/>
              <a:t>outbound</a:t>
            </a:r>
            <a:r>
              <a:rPr lang="en-US" sz="1100" dirty="0"/>
              <a:t> traffic that originates from your instance is allowed.</a:t>
            </a:r>
          </a:p>
          <a:p>
            <a:endParaRPr lang="en-US" sz="1100" b="0" i="0" kern="1200" dirty="0">
              <a:solidFill>
                <a:schemeClr val="tx1"/>
              </a:solidFill>
              <a:effectLst/>
              <a:latin typeface="+mn-lt"/>
              <a:ea typeface="+mn-ea"/>
              <a:cs typeface="+mn-cs"/>
            </a:endParaRPr>
          </a:p>
          <a:p>
            <a:r>
              <a:rPr lang="en-US" sz="1100" b="1" i="0" kern="1200" dirty="0">
                <a:solidFill>
                  <a:schemeClr val="tx1"/>
                </a:solidFill>
                <a:effectLst/>
                <a:latin typeface="+mn-lt"/>
                <a:ea typeface="+mn-ea"/>
                <a:cs typeface="+mn-cs"/>
              </a:rPr>
              <a:t>In the example rule</a:t>
            </a:r>
            <a:r>
              <a:rPr lang="en-US" sz="1100" b="0" i="0" kern="1200" dirty="0">
                <a:solidFill>
                  <a:schemeClr val="tx1"/>
                </a:solidFill>
                <a:effectLst/>
                <a:latin typeface="+mn-lt"/>
                <a:ea typeface="+mn-ea"/>
                <a:cs typeface="+mn-cs"/>
              </a:rPr>
              <a:t>, the rule allows Secure Shell (SSH) traffic over Transmission Control Protocol (TCP) port 22</a:t>
            </a:r>
            <a:r>
              <a:rPr lang="en-US" sz="1100" b="0" i="0" kern="1200" baseline="0" dirty="0">
                <a:solidFill>
                  <a:schemeClr val="tx1"/>
                </a:solidFill>
                <a:effectLst/>
                <a:latin typeface="+mn-lt"/>
                <a:ea typeface="+mn-ea"/>
                <a:cs typeface="+mn-cs"/>
              </a:rPr>
              <a:t> if the </a:t>
            </a:r>
            <a:r>
              <a:rPr lang="en-US" sz="1100" b="0" i="0" kern="1200" dirty="0">
                <a:solidFill>
                  <a:schemeClr val="tx1"/>
                </a:solidFill>
                <a:effectLst/>
                <a:latin typeface="+mn-lt"/>
                <a:ea typeface="+mn-ea"/>
                <a:cs typeface="+mn-cs"/>
              </a:rPr>
              <a:t>source of the request is </a:t>
            </a:r>
            <a:r>
              <a:rPr lang="en-US" sz="1100" b="0" i="1" kern="1200" dirty="0">
                <a:solidFill>
                  <a:schemeClr val="tx1"/>
                </a:solidFill>
                <a:effectLst/>
                <a:latin typeface="+mn-lt"/>
                <a:ea typeface="+mn-ea"/>
                <a:cs typeface="+mn-cs"/>
              </a:rPr>
              <a:t>My IP</a:t>
            </a:r>
            <a:r>
              <a:rPr lang="en-US" sz="1100" b="0" i="0" kern="1200" dirty="0">
                <a:solidFill>
                  <a:schemeClr val="tx1"/>
                </a:solidFill>
                <a:effectLst/>
                <a:latin typeface="+mn-lt"/>
                <a:ea typeface="+mn-ea"/>
                <a:cs typeface="+mn-cs"/>
              </a:rPr>
              <a:t>. The </a:t>
            </a:r>
            <a:r>
              <a:rPr lang="en-US" sz="1100" b="0" i="1" kern="1200" dirty="0">
                <a:solidFill>
                  <a:schemeClr val="tx1"/>
                </a:solidFill>
                <a:effectLst/>
                <a:latin typeface="+mn-lt"/>
                <a:ea typeface="+mn-ea"/>
                <a:cs typeface="+mn-cs"/>
              </a:rPr>
              <a:t>My IP </a:t>
            </a:r>
            <a:r>
              <a:rPr lang="en-US" sz="1100" b="0" i="0" kern="1200" dirty="0">
                <a:solidFill>
                  <a:schemeClr val="tx1"/>
                </a:solidFill>
                <a:effectLst/>
                <a:latin typeface="+mn-lt"/>
                <a:ea typeface="+mn-ea"/>
                <a:cs typeface="+mn-cs"/>
              </a:rPr>
              <a:t>IP address is calculated by determining what IP address you are currently connected to the AWS Cloud from when you define the rule. </a:t>
            </a:r>
          </a:p>
          <a:p>
            <a:endParaRPr lang="en-US" sz="1100" dirty="0"/>
          </a:p>
          <a:p>
            <a:r>
              <a:rPr lang="en-US" sz="1100" dirty="0"/>
              <a:t>Network access control lists (network ACLs) can also be used are firewalls to protect subnets in a VPC.</a:t>
            </a:r>
            <a:endParaRPr lang="en-US" sz="1100" b="0" i="0" kern="1200" dirty="0">
              <a:solidFill>
                <a:schemeClr val="tx1"/>
              </a:solidFill>
              <a:effectLst/>
              <a:latin typeface="+mn-lt"/>
              <a:ea typeface="+mn-ea"/>
              <a:cs typeface="+mn-cs"/>
            </a:endParaRPr>
          </a:p>
          <a:p>
            <a:endParaRPr lang="en-US" sz="1100" b="0" i="0" kern="1200" dirty="0">
              <a:solidFill>
                <a:schemeClr val="tx1"/>
              </a:solidFill>
              <a:effectLst/>
              <a:latin typeface="+mn-lt"/>
              <a:ea typeface="+mn-ea"/>
              <a:cs typeface="+mn-cs"/>
            </a:endParaRPr>
          </a:p>
          <a:p>
            <a:endParaRPr lang="en-US" sz="1100" b="0" i="0" kern="1200" dirty="0">
              <a:solidFill>
                <a:schemeClr val="tx1"/>
              </a:solidFill>
              <a:effectLst/>
              <a:latin typeface="+mn-lt"/>
              <a:ea typeface="+mn-ea"/>
              <a:cs typeface="+mn-cs"/>
            </a:endParaRPr>
          </a:p>
          <a:p>
            <a:endParaRPr lang="en-US" sz="1100" dirty="0"/>
          </a:p>
        </p:txBody>
      </p:sp>
    </p:spTree>
    <p:extLst>
      <p:ext uri="{BB962C8B-B14F-4D97-AF65-F5344CB8AC3E}">
        <p14:creationId xmlns:p14="http://schemas.microsoft.com/office/powerpoint/2010/main" val="3969685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81578"/>
          </a:xfrm>
        </p:spPr>
        <p:txBody>
          <a:bodyPr/>
          <a:lstStyle/>
          <a:p>
            <a:r>
              <a:rPr lang="en-US" sz="1100" dirty="0"/>
              <a:t>After you specify all the required configurations to launch an EC2 instance, and after you customize any optional EC2 launch wizard configuration settings, you are presented with a </a:t>
            </a:r>
            <a:r>
              <a:rPr lang="en-US" sz="1100" b="1" dirty="0"/>
              <a:t>Review Instance Launch </a:t>
            </a:r>
            <a:r>
              <a:rPr lang="en-US" sz="1100" dirty="0"/>
              <a:t>window. If you then choose </a:t>
            </a:r>
            <a:r>
              <a:rPr lang="en-US" sz="1100" b="1" dirty="0"/>
              <a:t>Launch</a:t>
            </a:r>
            <a:r>
              <a:rPr lang="en-US" sz="1100" dirty="0"/>
              <a:t>, a dialog asks you to choose an existing key pair, proceed without a key pair, or create a new key pair before you can choose </a:t>
            </a:r>
            <a:r>
              <a:rPr lang="en-US" sz="1100" b="1" dirty="0"/>
              <a:t>Launch Instances </a:t>
            </a:r>
            <a:r>
              <a:rPr lang="en-US" sz="1100" b="0" dirty="0"/>
              <a:t>and</a:t>
            </a:r>
            <a:r>
              <a:rPr lang="en-US" sz="1100" dirty="0"/>
              <a:t> create the EC2 instance.</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Amazon EC2 uses public–key cryptography to encrypt and decrypt login information. The technology uses a</a:t>
            </a:r>
            <a:r>
              <a:rPr lang="en-US" sz="1100" b="1" i="0" kern="1200" dirty="0">
                <a:solidFill>
                  <a:schemeClr val="tx1"/>
                </a:solidFill>
                <a:effectLst/>
                <a:ea typeface="+mn-ea"/>
                <a:cs typeface="+mn-cs"/>
              </a:rPr>
              <a:t> public key</a:t>
            </a:r>
            <a:r>
              <a:rPr lang="en-US" sz="1100" b="0" i="0" kern="1200" dirty="0">
                <a:solidFill>
                  <a:schemeClr val="tx1"/>
                </a:solidFill>
                <a:effectLst/>
                <a:ea typeface="+mn-ea"/>
                <a:cs typeface="+mn-cs"/>
              </a:rPr>
              <a:t> to encrypt a piece of data, and then the recipient uses the private key to decrypt the data. The public and private keys are known as a </a:t>
            </a:r>
            <a:r>
              <a:rPr lang="en-US" sz="1100" b="1" kern="1200" dirty="0">
                <a:solidFill>
                  <a:schemeClr val="tx1"/>
                </a:solidFill>
                <a:effectLst/>
                <a:ea typeface="+mn-ea"/>
                <a:cs typeface="+mn-cs"/>
              </a:rPr>
              <a:t>key pair</a:t>
            </a:r>
            <a:r>
              <a:rPr lang="en-US" sz="1100" b="0" i="0" kern="1200" dirty="0">
                <a:solidFill>
                  <a:schemeClr val="tx1"/>
                </a:solidFill>
                <a:effectLst/>
                <a:ea typeface="+mn-ea"/>
                <a:cs typeface="+mn-cs"/>
              </a:rPr>
              <a:t>. Public-key cryptography enables you to securely access your instances by using a private key instead of a password.</a:t>
            </a:r>
          </a:p>
          <a:p>
            <a:endParaRPr lang="en-US" sz="1100" dirty="0"/>
          </a:p>
          <a:p>
            <a:r>
              <a:rPr lang="en-US" sz="1100" dirty="0"/>
              <a:t>When you launch an instance, you specify a key pair. You can specify an existing key pair or a new key pair that you create at launch. If you create a new key pair, download it and save it in a safe location. This opportunity is the only chance you get to save the private key file. </a:t>
            </a:r>
            <a:endParaRPr lang="en-US" sz="1100" b="0" i="0" kern="1200" dirty="0">
              <a:solidFill>
                <a:schemeClr val="tx1"/>
              </a:solidFill>
              <a:effectLst/>
              <a:ea typeface="+mn-ea"/>
              <a:cs typeface="+mn-cs"/>
            </a:endParaRPr>
          </a:p>
          <a:p>
            <a:endParaRPr lang="en-US" sz="1100" b="0" i="0" kern="1200" dirty="0">
              <a:solidFill>
                <a:schemeClr val="tx1"/>
              </a:solidFill>
              <a:effectLst/>
              <a:ea typeface="+mn-ea"/>
              <a:cs typeface="+mn-cs"/>
            </a:endParaRPr>
          </a:p>
          <a:p>
            <a:r>
              <a:rPr lang="en-US" sz="1100" dirty="0"/>
              <a:t>To connect </a:t>
            </a:r>
            <a:r>
              <a:rPr lang="en-US" sz="1100" i="1" dirty="0"/>
              <a:t>to</a:t>
            </a:r>
            <a:r>
              <a:rPr lang="en-US" sz="1100" dirty="0"/>
              <a:t> a </a:t>
            </a:r>
            <a:r>
              <a:rPr lang="en-US" sz="1100" b="1" dirty="0"/>
              <a:t>Windows</a:t>
            </a:r>
            <a:r>
              <a:rPr lang="en-US" sz="1100" dirty="0"/>
              <a:t> instance, use the private key to obtain the administrator password,</a:t>
            </a:r>
            <a:r>
              <a:rPr lang="en-US" sz="1100" baseline="0" dirty="0"/>
              <a:t> </a:t>
            </a:r>
            <a:r>
              <a:rPr lang="en-US" sz="1100" dirty="0"/>
              <a:t>and then log in to the EC2 instance's Windows Desktop by</a:t>
            </a:r>
            <a:r>
              <a:rPr lang="en-US" sz="1100" baseline="0" dirty="0"/>
              <a:t> </a:t>
            </a:r>
            <a:r>
              <a:rPr lang="en-US" sz="1100" dirty="0"/>
              <a:t>using Remote</a:t>
            </a:r>
            <a:r>
              <a:rPr lang="en-US" sz="1100" baseline="0" dirty="0"/>
              <a:t> Desktop Protocol (</a:t>
            </a:r>
            <a:r>
              <a:rPr lang="en-US" sz="1100" dirty="0"/>
              <a:t>RDP). To establish an SSH connection </a:t>
            </a:r>
            <a:r>
              <a:rPr lang="en-US" sz="1100" i="1" dirty="0"/>
              <a:t>from</a:t>
            </a:r>
            <a:r>
              <a:rPr lang="en-US" sz="1100" dirty="0"/>
              <a:t> a Windows machine to an Amazon EC2 instance, you can use a tool such as PuTTY, which will require the same private key.</a:t>
            </a:r>
          </a:p>
          <a:p>
            <a:endParaRPr lang="en-US" sz="1100" dirty="0"/>
          </a:p>
          <a:p>
            <a:r>
              <a:rPr lang="en-US" sz="1100" b="0" i="0" kern="1200" dirty="0">
                <a:solidFill>
                  <a:schemeClr val="tx1"/>
                </a:solidFill>
                <a:effectLst/>
                <a:ea typeface="+mn-ea"/>
                <a:cs typeface="+mn-cs"/>
              </a:rPr>
              <a:t>With </a:t>
            </a:r>
            <a:r>
              <a:rPr lang="en-US" sz="1100" b="1" i="0" kern="1200" dirty="0">
                <a:solidFill>
                  <a:schemeClr val="tx1"/>
                </a:solidFill>
                <a:effectLst/>
                <a:ea typeface="+mn-ea"/>
                <a:cs typeface="+mn-cs"/>
              </a:rPr>
              <a:t>Linux</a:t>
            </a:r>
            <a:r>
              <a:rPr lang="en-US" sz="1100" b="0" i="0" kern="1200" dirty="0">
                <a:solidFill>
                  <a:schemeClr val="tx1"/>
                </a:solidFill>
                <a:effectLst/>
                <a:ea typeface="+mn-ea"/>
                <a:cs typeface="+mn-cs"/>
              </a:rPr>
              <a:t> instances, at boot time, the </a:t>
            </a:r>
            <a:r>
              <a:rPr lang="en-US" sz="1100" b="1" i="0" kern="1200" dirty="0">
                <a:solidFill>
                  <a:schemeClr val="tx1"/>
                </a:solidFill>
                <a:effectLst/>
                <a:ea typeface="+mn-ea"/>
                <a:cs typeface="+mn-cs"/>
              </a:rPr>
              <a:t>public key</a:t>
            </a:r>
            <a:r>
              <a:rPr lang="en-US" sz="1100" b="0" i="0" kern="1200" dirty="0">
                <a:solidFill>
                  <a:schemeClr val="tx1"/>
                </a:solidFill>
                <a:effectLst/>
                <a:ea typeface="+mn-ea"/>
                <a:cs typeface="+mn-cs"/>
              </a:rPr>
              <a:t> content is placed on the instance. </a:t>
            </a:r>
            <a:r>
              <a:rPr lang="en-US" sz="1100" dirty="0"/>
              <a:t>A</a:t>
            </a:r>
            <a:r>
              <a:rPr lang="en-US" sz="1100" b="0" i="0" kern="1200" dirty="0">
                <a:solidFill>
                  <a:schemeClr val="tx1"/>
                </a:solidFill>
                <a:effectLst/>
                <a:ea typeface="+mn-ea"/>
                <a:cs typeface="+mn-cs"/>
              </a:rPr>
              <a:t>n entry is created in within </a:t>
            </a:r>
            <a:r>
              <a:rPr lang="en-US" sz="1100" b="0" i="0" kern="1200" dirty="0">
                <a:solidFill>
                  <a:schemeClr val="tx1"/>
                </a:solidFill>
                <a:effectLst/>
                <a:latin typeface="Lucida Console" panose="020B0609040504020204" pitchFamily="49" charset="0"/>
              </a:rPr>
              <a:t>~/.ssh/authorized_keys</a:t>
            </a:r>
            <a:r>
              <a:rPr lang="en-US" sz="1100" b="0" i="0" kern="1200" dirty="0">
                <a:solidFill>
                  <a:schemeClr val="tx1"/>
                </a:solidFill>
                <a:effectLst/>
                <a:ea typeface="+mn-ea"/>
                <a:cs typeface="+mn-cs"/>
              </a:rPr>
              <a:t>. To log in to your Linux instance (for example, by using SSH), you must provide the </a:t>
            </a:r>
            <a:r>
              <a:rPr lang="en-US" sz="1100" b="1" i="0" kern="1200" dirty="0">
                <a:solidFill>
                  <a:schemeClr val="tx1"/>
                </a:solidFill>
                <a:effectLst/>
                <a:ea typeface="+mn-ea"/>
                <a:cs typeface="+mn-cs"/>
              </a:rPr>
              <a:t>private key </a:t>
            </a:r>
            <a:r>
              <a:rPr lang="en-US" sz="1100" b="0" i="0" kern="1200" dirty="0">
                <a:solidFill>
                  <a:schemeClr val="tx1"/>
                </a:solidFill>
                <a:effectLst/>
                <a:ea typeface="+mn-ea"/>
                <a:cs typeface="+mn-cs"/>
              </a:rPr>
              <a:t>when you establish the connection. </a:t>
            </a:r>
          </a:p>
          <a:p>
            <a:endParaRPr lang="en-US" sz="1100" dirty="0"/>
          </a:p>
        </p:txBody>
      </p:sp>
    </p:spTree>
    <p:extLst>
      <p:ext uri="{BB962C8B-B14F-4D97-AF65-F5344CB8AC3E}">
        <p14:creationId xmlns:p14="http://schemas.microsoft.com/office/powerpoint/2010/main" val="245680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After you choose </a:t>
            </a:r>
            <a:r>
              <a:rPr lang="en-US" sz="1100" b="1" dirty="0"/>
              <a:t>Launch Instances </a:t>
            </a:r>
            <a:r>
              <a:rPr lang="en-US" sz="1100" dirty="0"/>
              <a:t>and then choose </a:t>
            </a:r>
            <a:r>
              <a:rPr lang="en-US" sz="1100" b="1" dirty="0"/>
              <a:t>View Instances,</a:t>
            </a:r>
            <a:r>
              <a:rPr lang="en-US" sz="1100" dirty="0"/>
              <a:t> you will be presented with a screen that looks similar to the example. </a:t>
            </a:r>
          </a:p>
          <a:p>
            <a:endParaRPr lang="en-US" sz="1100" dirty="0"/>
          </a:p>
          <a:p>
            <a:r>
              <a:rPr lang="en-US" sz="1100" dirty="0"/>
              <a:t>Many of the settings that you specified during launch are visible in the </a:t>
            </a:r>
            <a:r>
              <a:rPr lang="en-US" sz="1100" b="1" i="0" dirty="0"/>
              <a:t>Description</a:t>
            </a:r>
            <a:r>
              <a:rPr lang="en-US" sz="1100" dirty="0"/>
              <a:t> panel. </a:t>
            </a:r>
          </a:p>
          <a:p>
            <a:endParaRPr lang="en-US" sz="1100" dirty="0"/>
          </a:p>
          <a:p>
            <a:r>
              <a:rPr lang="en-US" sz="1100" dirty="0"/>
              <a:t>Information about the available</a:t>
            </a:r>
            <a:r>
              <a:rPr lang="en-US" sz="1100" baseline="0" dirty="0"/>
              <a:t> </a:t>
            </a:r>
            <a:r>
              <a:rPr lang="en-US" sz="1100" dirty="0"/>
              <a:t>instance includes IP address and DNS address information, the instance type, the unique instance ID that was assigned to the instance, the AMI ID of</a:t>
            </a:r>
            <a:r>
              <a:rPr lang="en-US" sz="1100" baseline="0" dirty="0"/>
              <a:t> the AMI that you used to launch the instance</a:t>
            </a:r>
            <a:r>
              <a:rPr lang="en-US" sz="1100" dirty="0"/>
              <a:t>, the VPC ID, the subnet ID, and more. </a:t>
            </a:r>
          </a:p>
          <a:p>
            <a:endParaRPr lang="en-US" sz="1100" dirty="0"/>
          </a:p>
          <a:p>
            <a:r>
              <a:rPr lang="en-US" sz="1100" dirty="0"/>
              <a:t>Many of these details provide hyperlinks that you can choose to learn more information about the resources that are relevant to the EC2 instance you launched.</a:t>
            </a:r>
          </a:p>
        </p:txBody>
      </p:sp>
    </p:spTree>
    <p:extLst>
      <p:ext uri="{BB962C8B-B14F-4D97-AF65-F5344CB8AC3E}">
        <p14:creationId xmlns:p14="http://schemas.microsoft.com/office/powerpoint/2010/main" val="2363006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38778"/>
          </a:xfrm>
        </p:spPr>
        <p:txBody>
          <a:bodyPr/>
          <a:lstStyle/>
          <a:p>
            <a:r>
              <a:rPr lang="en-US" sz="1100" dirty="0"/>
              <a:t>You can also launch EC2 instances programmatically, either by using the AWS Command Line Interface (AWS CLI) or one of the AWS software development kits (SDKs).</a:t>
            </a:r>
          </a:p>
          <a:p>
            <a:endParaRPr lang="en-US" sz="1100" dirty="0"/>
          </a:p>
          <a:p>
            <a:r>
              <a:rPr lang="en-US" sz="1100" dirty="0"/>
              <a:t>In the example AWS CLI command, you see a single command that specifies the minimal information that is needed to launch an instance. The command includes the following information:</a:t>
            </a:r>
          </a:p>
          <a:p>
            <a:pPr marL="171450" indent="-171450">
              <a:buFont typeface="Arial" panose="020B0604020202020204" pitchFamily="34" charset="0"/>
              <a:buChar char="•"/>
            </a:pPr>
            <a:r>
              <a:rPr lang="en-US" sz="1100" dirty="0">
                <a:latin typeface="Lucida Console" panose="020B0609040504020204" pitchFamily="49" charset="0"/>
              </a:rPr>
              <a:t>aws</a:t>
            </a:r>
            <a:r>
              <a:rPr lang="en-US" sz="1100" dirty="0"/>
              <a:t> – Specifies an invocation</a:t>
            </a:r>
            <a:r>
              <a:rPr lang="en-US" sz="1100" baseline="0" dirty="0"/>
              <a:t> of</a:t>
            </a:r>
            <a:r>
              <a:rPr lang="en-US" sz="1100" dirty="0"/>
              <a:t> the </a:t>
            </a:r>
            <a:r>
              <a:rPr lang="en-US" sz="1100" i="1" dirty="0"/>
              <a:t>aws</a:t>
            </a:r>
            <a:r>
              <a:rPr lang="en-US" sz="1100" dirty="0"/>
              <a:t> command line utility.</a:t>
            </a:r>
          </a:p>
          <a:p>
            <a:pPr marL="171450" indent="-171450">
              <a:buFont typeface="Arial" panose="020B0604020202020204" pitchFamily="34" charset="0"/>
              <a:buChar char="•"/>
            </a:pPr>
            <a:r>
              <a:rPr lang="en-US" sz="1100" dirty="0">
                <a:latin typeface="Lucida Console" panose="020B0609040504020204" pitchFamily="49" charset="0"/>
              </a:rPr>
              <a:t>ec2</a:t>
            </a:r>
            <a:r>
              <a:rPr lang="en-US" sz="1100" dirty="0"/>
              <a:t> – Specifies an invocation</a:t>
            </a:r>
            <a:r>
              <a:rPr lang="en-US" sz="1100" baseline="0" dirty="0"/>
              <a:t> of</a:t>
            </a:r>
            <a:r>
              <a:rPr lang="en-US" sz="1100" dirty="0"/>
              <a:t> the </a:t>
            </a:r>
            <a:r>
              <a:rPr lang="en-US" sz="1100" i="1" dirty="0"/>
              <a:t>ec2</a:t>
            </a:r>
            <a:r>
              <a:rPr lang="en-US" sz="1100" dirty="0"/>
              <a:t> service command.</a:t>
            </a:r>
          </a:p>
          <a:p>
            <a:pPr marL="171450" indent="-171450">
              <a:buFont typeface="Arial" panose="020B0604020202020204" pitchFamily="34" charset="0"/>
              <a:buChar char="•"/>
            </a:pPr>
            <a:r>
              <a:rPr lang="en-US" sz="1100" dirty="0">
                <a:latin typeface="Lucida Console" panose="020B0609040504020204" pitchFamily="49" charset="0"/>
              </a:rPr>
              <a:t>run-instances</a:t>
            </a:r>
            <a:r>
              <a:rPr lang="en-US" sz="1100" dirty="0"/>
              <a:t> –</a:t>
            </a:r>
            <a:r>
              <a:rPr lang="en-US" sz="1100" baseline="0" dirty="0"/>
              <a:t> I</a:t>
            </a:r>
            <a:r>
              <a:rPr lang="en-US" sz="1100" dirty="0"/>
              <a:t>s the subcommand that is being invoked.</a:t>
            </a:r>
            <a:endParaRPr lang="en-US" sz="1100" b="0" i="0" kern="1200" dirty="0">
              <a:solidFill>
                <a:schemeClr val="tx1"/>
              </a:solidFill>
              <a:effectLst/>
              <a:ea typeface="+mn-ea"/>
              <a:cs typeface="+mn-cs"/>
            </a:endParaRPr>
          </a:p>
          <a:p>
            <a:pPr marL="171450" indent="-171450">
              <a:buFont typeface="Arial" panose="020B0604020202020204" pitchFamily="34" charset="0"/>
              <a:buChar char="•"/>
            </a:pPr>
            <a:endParaRPr lang="en-US" sz="1100" b="0" i="0" kern="1200" dirty="0">
              <a:solidFill>
                <a:schemeClr val="tx1"/>
              </a:solidFill>
              <a:effectLst/>
              <a:ea typeface="+mn-ea"/>
              <a:cs typeface="+mn-cs"/>
            </a:endParaRPr>
          </a:p>
          <a:p>
            <a:pPr marL="0" indent="0">
              <a:buFont typeface="Arial" panose="020B0604020202020204" pitchFamily="34" charset="0"/>
              <a:buNone/>
            </a:pPr>
            <a:r>
              <a:rPr lang="en-US" sz="1100" b="0" i="0" kern="1200" dirty="0">
                <a:solidFill>
                  <a:schemeClr val="tx1"/>
                </a:solidFill>
                <a:effectLst/>
                <a:ea typeface="+mn-ea"/>
                <a:cs typeface="+mn-cs"/>
              </a:rPr>
              <a:t>The rest of the command specifies several parameters, including:</a:t>
            </a:r>
            <a:endParaRPr lang="en-US" sz="1100" dirty="0"/>
          </a:p>
          <a:p>
            <a:pPr marL="171450" indent="-171450">
              <a:buFont typeface="Arial" panose="020B0604020202020204" pitchFamily="34" charset="0"/>
              <a:buChar char="•"/>
            </a:pPr>
            <a:r>
              <a:rPr lang="en-US" sz="1100" dirty="0">
                <a:latin typeface="Lucida Console" panose="020B0609040504020204" pitchFamily="49" charset="0"/>
              </a:rPr>
              <a:t>image-id</a:t>
            </a:r>
            <a:r>
              <a:rPr lang="en-US" sz="1100" dirty="0"/>
              <a:t> – This parameter is followed by an AMI ID. All AMIs have a unique AMI ID.</a:t>
            </a:r>
          </a:p>
          <a:p>
            <a:pPr marL="171450" indent="-171450">
              <a:buFont typeface="Arial" panose="020B0604020202020204" pitchFamily="34" charset="0"/>
              <a:buChar char="•"/>
            </a:pPr>
            <a:r>
              <a:rPr lang="en-US" sz="1100" dirty="0">
                <a:latin typeface="Lucida Console" panose="020B0609040504020204" pitchFamily="49" charset="0"/>
              </a:rPr>
              <a:t>count</a:t>
            </a:r>
            <a:r>
              <a:rPr lang="en-US" sz="1100" dirty="0"/>
              <a:t> – You can specify more than one. </a:t>
            </a:r>
          </a:p>
          <a:p>
            <a:pPr marL="171450" indent="-171450">
              <a:buFont typeface="Arial" panose="020B0604020202020204" pitchFamily="34" charset="0"/>
              <a:buChar char="•"/>
            </a:pPr>
            <a:r>
              <a:rPr lang="en-US" sz="1100" dirty="0">
                <a:latin typeface="Lucida Console" panose="020B0609040504020204" pitchFamily="49" charset="0"/>
              </a:rPr>
              <a:t>instance-type</a:t>
            </a:r>
            <a:r>
              <a:rPr lang="en-US" sz="1100" dirty="0"/>
              <a:t> – You</a:t>
            </a:r>
            <a:r>
              <a:rPr lang="en-US" sz="1100" baseline="0" dirty="0"/>
              <a:t> can s</a:t>
            </a:r>
            <a:r>
              <a:rPr lang="en-US" sz="1100" dirty="0"/>
              <a:t>pecify the instance type to create (for example) a c3.large</a:t>
            </a:r>
            <a:r>
              <a:rPr lang="en-US" sz="1100" baseline="0" dirty="0"/>
              <a:t> instance</a:t>
            </a:r>
            <a:endParaRPr lang="en-US" sz="1100" dirty="0"/>
          </a:p>
          <a:p>
            <a:pPr marL="171450" indent="-171450">
              <a:buFont typeface="Arial" panose="020B0604020202020204" pitchFamily="34" charset="0"/>
              <a:buChar char="•"/>
            </a:pPr>
            <a:r>
              <a:rPr lang="en-US" sz="1100" dirty="0">
                <a:latin typeface="Lucida Console" panose="020B0609040504020204" pitchFamily="49" charset="0"/>
              </a:rPr>
              <a:t>key-name</a:t>
            </a:r>
            <a:r>
              <a:rPr lang="en-US" sz="1100" dirty="0"/>
              <a:t> – In the example, assume that </a:t>
            </a:r>
            <a:r>
              <a:rPr lang="en-US" sz="1100" i="1" dirty="0"/>
              <a:t>MyKeyPair</a:t>
            </a:r>
            <a:r>
              <a:rPr lang="en-US" sz="1100" dirty="0"/>
              <a:t> already exists.</a:t>
            </a:r>
          </a:p>
          <a:p>
            <a:pPr marL="171450" indent="-171450">
              <a:buFont typeface="Arial" panose="020B0604020202020204" pitchFamily="34" charset="0"/>
              <a:buChar char="•"/>
            </a:pPr>
            <a:r>
              <a:rPr lang="en-US" sz="1100" dirty="0">
                <a:latin typeface="Lucida Console" panose="020B0609040504020204" pitchFamily="49" charset="0"/>
              </a:rPr>
              <a:t>security-groups</a:t>
            </a:r>
            <a:r>
              <a:rPr lang="en-US" sz="1100" dirty="0"/>
              <a:t> - In this example, assume that </a:t>
            </a:r>
            <a:r>
              <a:rPr lang="en-US" sz="1100" i="1" dirty="0"/>
              <a:t>MySecurityGroup</a:t>
            </a:r>
            <a:r>
              <a:rPr lang="en-US" sz="1100" dirty="0"/>
              <a:t> already exists.</a:t>
            </a:r>
          </a:p>
          <a:p>
            <a:pPr marL="171450" indent="-171450">
              <a:buFont typeface="Arial" panose="020B0604020202020204" pitchFamily="34" charset="0"/>
              <a:buChar char="•"/>
            </a:pPr>
            <a:r>
              <a:rPr lang="en-US" sz="1100" dirty="0">
                <a:latin typeface="Lucida Console" panose="020B0609040504020204" pitchFamily="49" charset="0"/>
                <a:ea typeface="Amazon Ember Light" panose="020B0403020204020204" pitchFamily="34" charset="0"/>
                <a:cs typeface="Amazon Ember Light" panose="020B0403020204020204" pitchFamily="34" charset="0"/>
              </a:rPr>
              <a:t>region</a:t>
            </a:r>
            <a:r>
              <a:rPr lang="en-US" sz="1100" dirty="0">
                <a:ea typeface="Amazon Ember Light" panose="020B0403020204020204" pitchFamily="34" charset="0"/>
                <a:cs typeface="Amazon Ember Light" panose="020B0403020204020204" pitchFamily="34" charset="0"/>
              </a:rPr>
              <a:t> - AMIs exist in an AWS Region, so you must specify the Region where the AWS CLI will find the AMI and launch the EC2 instance.</a:t>
            </a:r>
          </a:p>
          <a:p>
            <a:pPr marL="171450" indent="-171450">
              <a:buFont typeface="Arial" panose="020B0604020202020204" pitchFamily="34" charset="0"/>
              <a:buChar char="•"/>
            </a:pPr>
            <a:endParaRPr lang="en-US" sz="1100" dirty="0">
              <a:ea typeface="Amazon Ember Light" panose="020B0403020204020204" pitchFamily="34" charset="0"/>
              <a:cs typeface="Amazon Ember Light" panose="020B0403020204020204" pitchFamily="34" charset="0"/>
            </a:endParaRPr>
          </a:p>
          <a:p>
            <a:pPr marL="0" indent="0">
              <a:buFont typeface="Arial" panose="020B0604020202020204" pitchFamily="34" charset="0"/>
              <a:buNone/>
            </a:pPr>
            <a:r>
              <a:rPr lang="en-US" sz="1100" dirty="0">
                <a:ea typeface="Amazon Ember Light" panose="020B0403020204020204" pitchFamily="34" charset="0"/>
                <a:cs typeface="Amazon Ember Light" panose="020B0403020204020204" pitchFamily="34" charset="0"/>
              </a:rPr>
              <a:t>The command should successfully create an EC2 instance if:</a:t>
            </a:r>
          </a:p>
          <a:p>
            <a:pPr marL="171450" indent="-171450">
              <a:buFont typeface="Arial" panose="020B0604020202020204" pitchFamily="34" charset="0"/>
              <a:buChar char="•"/>
            </a:pPr>
            <a:r>
              <a:rPr lang="en-US" sz="1100" dirty="0">
                <a:ea typeface="Amazon Ember Light" panose="020B0403020204020204" pitchFamily="34" charset="0"/>
                <a:cs typeface="Amazon Ember Light" panose="020B0403020204020204" pitchFamily="34" charset="0"/>
              </a:rPr>
              <a:t>The</a:t>
            </a:r>
            <a:r>
              <a:rPr lang="en-US" sz="1100" baseline="0" dirty="0">
                <a:ea typeface="Amazon Ember Light" panose="020B0403020204020204" pitchFamily="34" charset="0"/>
                <a:cs typeface="Amazon Ember Light" panose="020B0403020204020204" pitchFamily="34" charset="0"/>
              </a:rPr>
              <a:t> </a:t>
            </a:r>
            <a:r>
              <a:rPr lang="en-US" sz="1100" dirty="0">
                <a:ea typeface="Amazon Ember Light" panose="020B0403020204020204" pitchFamily="34" charset="0"/>
                <a:cs typeface="Amazon Ember Light" panose="020B0403020204020204" pitchFamily="34" charset="0"/>
              </a:rPr>
              <a:t>command is properly formed</a:t>
            </a:r>
          </a:p>
          <a:p>
            <a:pPr marL="171450" indent="-171450">
              <a:buFont typeface="Arial" panose="020B0604020202020204" pitchFamily="34" charset="0"/>
              <a:buChar char="•"/>
            </a:pPr>
            <a:r>
              <a:rPr lang="en-US" sz="1100" dirty="0">
                <a:ea typeface="Amazon Ember Light" panose="020B0403020204020204" pitchFamily="34" charset="0"/>
                <a:cs typeface="Amazon Ember Light" panose="020B0403020204020204" pitchFamily="34" charset="0"/>
              </a:rPr>
              <a:t>The resources that the</a:t>
            </a:r>
            <a:r>
              <a:rPr lang="en-US" sz="1100" baseline="0" dirty="0">
                <a:ea typeface="Amazon Ember Light" panose="020B0403020204020204" pitchFamily="34" charset="0"/>
                <a:cs typeface="Amazon Ember Light" panose="020B0403020204020204" pitchFamily="34" charset="0"/>
              </a:rPr>
              <a:t> command</a:t>
            </a:r>
            <a:r>
              <a:rPr lang="en-US" sz="1100" dirty="0">
                <a:ea typeface="Amazon Ember Light" panose="020B0403020204020204" pitchFamily="34" charset="0"/>
                <a:cs typeface="Amazon Ember Light" panose="020B0403020204020204" pitchFamily="34" charset="0"/>
              </a:rPr>
              <a:t> needs already exist</a:t>
            </a:r>
          </a:p>
          <a:p>
            <a:pPr marL="171450" indent="-171450">
              <a:buFont typeface="Arial" panose="020B0604020202020204" pitchFamily="34" charset="0"/>
              <a:buChar char="•"/>
            </a:pPr>
            <a:r>
              <a:rPr lang="en-US" sz="1100" dirty="0">
                <a:ea typeface="Amazon Ember Light" panose="020B0403020204020204" pitchFamily="34" charset="0"/>
                <a:cs typeface="Amazon Ember Light" panose="020B0403020204020204" pitchFamily="34" charset="0"/>
              </a:rPr>
              <a:t>You have sufficient permissions to run the command</a:t>
            </a:r>
          </a:p>
          <a:p>
            <a:pPr marL="171450" indent="-171450">
              <a:buFont typeface="Arial" panose="020B0604020202020204" pitchFamily="34" charset="0"/>
              <a:buChar char="•"/>
            </a:pPr>
            <a:r>
              <a:rPr lang="en-US" sz="1100" dirty="0">
                <a:ea typeface="Amazon Ember Light" panose="020B0403020204020204" pitchFamily="34" charset="0"/>
                <a:cs typeface="Amazon Ember Light" panose="020B0403020204020204" pitchFamily="34" charset="0"/>
              </a:rPr>
              <a:t>You have sufficient capacity in the AWS account</a:t>
            </a:r>
          </a:p>
          <a:p>
            <a:pPr marL="0" indent="0">
              <a:buFont typeface="Arial" panose="020B0604020202020204" pitchFamily="34" charset="0"/>
              <a:buNone/>
            </a:pPr>
            <a:r>
              <a:rPr lang="en-US" sz="1100" dirty="0">
                <a:ea typeface="Amazon Ember Light" panose="020B0403020204020204" pitchFamily="34" charset="0"/>
                <a:cs typeface="Amazon Ember Light" panose="020B0403020204020204" pitchFamily="34" charset="0"/>
              </a:rPr>
              <a:t>If the command is successful, the API responds to the command with the instance ID and other relevant data for your application to use in subsequent API requests.</a:t>
            </a:r>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842963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1" y="4398265"/>
            <a:ext cx="5486400" cy="3602735"/>
          </a:xfrm>
        </p:spPr>
        <p:txBody>
          <a:bodyPr/>
          <a:lstStyle/>
          <a:p>
            <a:pPr>
              <a:spcAft>
                <a:spcPts val="600"/>
              </a:spcAft>
            </a:pPr>
            <a:r>
              <a:rPr lang="en-US" sz="1100" dirty="0"/>
              <a:t>Here, you see the lifecycle of an instance. The arrows show </a:t>
            </a:r>
            <a:r>
              <a:rPr lang="en-US" sz="1100" b="1" dirty="0"/>
              <a:t>actions</a:t>
            </a:r>
            <a:r>
              <a:rPr lang="en-US" sz="1100" dirty="0"/>
              <a:t> that you can take and the boxes show the </a:t>
            </a:r>
            <a:r>
              <a:rPr lang="en-US" sz="1100" b="1" dirty="0"/>
              <a:t>state</a:t>
            </a:r>
            <a:r>
              <a:rPr lang="en-US" sz="1100" dirty="0"/>
              <a:t> the instance will enter after that action. An instance can be in one of the following states:</a:t>
            </a:r>
          </a:p>
          <a:p>
            <a:pPr marL="171450" indent="-171450">
              <a:spcAft>
                <a:spcPts val="600"/>
              </a:spcAft>
              <a:buFont typeface="Arial" panose="020B0604020202020204" pitchFamily="34" charset="0"/>
              <a:buChar char="•"/>
            </a:pPr>
            <a:r>
              <a:rPr lang="en-US" sz="1100" b="1" dirty="0"/>
              <a:t>Pending</a:t>
            </a:r>
            <a:r>
              <a:rPr lang="en-US" sz="1100" b="0" baseline="0" dirty="0"/>
              <a:t> – </a:t>
            </a:r>
            <a:r>
              <a:rPr lang="en-US" sz="1100" dirty="0"/>
              <a:t>When an instance is first launched from an AMI, or when you start a stopped instance, it enters the </a:t>
            </a:r>
            <a:r>
              <a:rPr lang="en-US" sz="1100" i="1" dirty="0"/>
              <a:t>pending</a:t>
            </a:r>
            <a:r>
              <a:rPr lang="en-US" sz="1100" dirty="0"/>
              <a:t> state when the instance is booted and deployed to a host computer. The instance type that you specified at launch determines the hardware of the host computer for your instance.</a:t>
            </a:r>
          </a:p>
          <a:p>
            <a:pPr marL="171450" indent="-171450">
              <a:spcAft>
                <a:spcPts val="600"/>
              </a:spcAft>
              <a:buFont typeface="Arial" panose="020B0604020202020204" pitchFamily="34" charset="0"/>
              <a:buChar char="•"/>
            </a:pPr>
            <a:r>
              <a:rPr lang="en-US" sz="1100" b="1" dirty="0"/>
              <a:t>Running</a:t>
            </a:r>
            <a:r>
              <a:rPr lang="en-US" sz="1100" b="0" baseline="0" dirty="0"/>
              <a:t> – </a:t>
            </a:r>
            <a:r>
              <a:rPr lang="en-US" sz="1100" dirty="0"/>
              <a:t>When</a:t>
            </a:r>
            <a:r>
              <a:rPr lang="en-US" sz="1100" baseline="0" dirty="0"/>
              <a:t> </a:t>
            </a:r>
            <a:r>
              <a:rPr lang="en-US" sz="1100" dirty="0"/>
              <a:t>the instance is fully booted and ready, it exits the </a:t>
            </a:r>
            <a:r>
              <a:rPr lang="en-US" sz="1100" i="1" dirty="0"/>
              <a:t>pending</a:t>
            </a:r>
            <a:r>
              <a:rPr lang="en-US" sz="1100" dirty="0"/>
              <a:t> state and enters the </a:t>
            </a:r>
            <a:r>
              <a:rPr lang="en-US" sz="1100" i="1" dirty="0"/>
              <a:t>running</a:t>
            </a:r>
            <a:r>
              <a:rPr lang="en-US" sz="1100" dirty="0"/>
              <a:t> state. You can connect over the internet to your running instance. </a:t>
            </a:r>
          </a:p>
          <a:p>
            <a:pPr marL="171450" marR="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dirty="0"/>
              <a:t>Rebooting</a:t>
            </a:r>
            <a:r>
              <a:rPr lang="en-US" sz="1100" b="0" baseline="0" dirty="0"/>
              <a:t> –</a:t>
            </a:r>
            <a:r>
              <a:rPr lang="en-US" sz="1100" dirty="0"/>
              <a:t> AWS recommends you reboot an instance by using the Amazon EC2 console, AWS CLI, or AWS SDKs instead of invoking a reboot from within the guest operating system (OS). A rebooted instance stays on the same physical host, maintains the same public DNS name and public IP address, and if it has </a:t>
            </a:r>
            <a:r>
              <a:rPr lang="en-US" sz="1100" b="1" dirty="0"/>
              <a:t>instance store </a:t>
            </a:r>
            <a:r>
              <a:rPr lang="en-US" sz="1100" dirty="0"/>
              <a:t>volumes, it retains the data on those volumes.</a:t>
            </a:r>
          </a:p>
          <a:p>
            <a:pPr marL="171450" marR="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dirty="0"/>
              <a:t>Shutting down</a:t>
            </a:r>
            <a:r>
              <a:rPr lang="en-US" sz="1100" b="0" baseline="0" dirty="0"/>
              <a:t> –</a:t>
            </a:r>
            <a:r>
              <a:rPr lang="en-US" sz="1100" dirty="0"/>
              <a:t> This state is an intermediary state between </a:t>
            </a:r>
            <a:r>
              <a:rPr lang="en-US" sz="1100" i="1" dirty="0"/>
              <a:t>running</a:t>
            </a:r>
            <a:r>
              <a:rPr lang="en-US" sz="1100" dirty="0"/>
              <a:t> and </a:t>
            </a:r>
            <a:r>
              <a:rPr lang="en-US" sz="1100" i="1" dirty="0"/>
              <a:t>terminated</a:t>
            </a:r>
            <a:r>
              <a:rPr lang="en-US" sz="1100" dirty="0"/>
              <a:t>. </a:t>
            </a:r>
          </a:p>
          <a:p>
            <a:pPr marL="171450" marR="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dirty="0"/>
              <a:t>Terminated</a:t>
            </a:r>
            <a:r>
              <a:rPr lang="en-US" sz="1100" b="0" baseline="0" dirty="0"/>
              <a:t> –</a:t>
            </a:r>
            <a:r>
              <a:rPr lang="en-US" sz="1100" dirty="0"/>
              <a:t> A terminated instance remains visible in the Amazon EC2 console for a while before the virtual machine is deleted. However, you</a:t>
            </a:r>
            <a:r>
              <a:rPr lang="en-US" sz="1100" baseline="0" dirty="0"/>
              <a:t> can’t</a:t>
            </a:r>
            <a:r>
              <a:rPr lang="en-US" sz="1100" dirty="0"/>
              <a:t> connect to or recover a terminated instance. </a:t>
            </a:r>
          </a:p>
          <a:p>
            <a:pPr marL="171450" indent="-171450">
              <a:spcAft>
                <a:spcPts val="600"/>
              </a:spcAft>
              <a:buFont typeface="Arial" panose="020B0604020202020204" pitchFamily="34" charset="0"/>
              <a:buChar char="•"/>
            </a:pPr>
            <a:r>
              <a:rPr lang="en-US" sz="1100" b="1" dirty="0"/>
              <a:t>Stopping</a:t>
            </a:r>
            <a:r>
              <a:rPr lang="en-US" sz="1100" b="0" baseline="0" dirty="0"/>
              <a:t> – Instances that are backed by Amazon</a:t>
            </a:r>
            <a:r>
              <a:rPr lang="en-US" sz="1100" dirty="0"/>
              <a:t> EBS can be stopped. They enter the </a:t>
            </a:r>
            <a:r>
              <a:rPr lang="en-US" sz="1100" i="1" dirty="0"/>
              <a:t>stopping</a:t>
            </a:r>
            <a:r>
              <a:rPr lang="en-US" sz="1100" dirty="0"/>
              <a:t> state before they attain the fully </a:t>
            </a:r>
            <a:r>
              <a:rPr lang="en-US" sz="1100" i="1" dirty="0"/>
              <a:t>stopped</a:t>
            </a:r>
            <a:r>
              <a:rPr lang="en-US" sz="1100" dirty="0"/>
              <a:t> state.</a:t>
            </a:r>
          </a:p>
          <a:p>
            <a:pPr marL="171450" indent="-171450" defTabSz="457200">
              <a:spcAft>
                <a:spcPts val="600"/>
              </a:spcAft>
              <a:buFont typeface="Arial" panose="020B0604020202020204" pitchFamily="34" charset="0"/>
              <a:buChar char="•"/>
              <a:defRPr/>
            </a:pPr>
            <a:r>
              <a:rPr lang="en-US" sz="1100" b="1" dirty="0"/>
              <a:t>Stopped</a:t>
            </a:r>
            <a:r>
              <a:rPr lang="en-US" sz="1100" b="0" baseline="0" dirty="0"/>
              <a:t> –</a:t>
            </a:r>
            <a:r>
              <a:rPr lang="en-US" sz="1100" dirty="0"/>
              <a:t> A </a:t>
            </a:r>
            <a:r>
              <a:rPr lang="en-US" sz="1100" i="1" dirty="0"/>
              <a:t>stopped</a:t>
            </a:r>
            <a:r>
              <a:rPr lang="en-US" sz="1100" dirty="0"/>
              <a:t> instance will not incur the same cost as a </a:t>
            </a:r>
            <a:r>
              <a:rPr lang="en-US" sz="1100" i="1" dirty="0"/>
              <a:t>running</a:t>
            </a:r>
            <a:r>
              <a:rPr lang="en-US" sz="1100" dirty="0"/>
              <a:t> instance. Starting a </a:t>
            </a:r>
            <a:r>
              <a:rPr lang="en-US" sz="1100" i="1" dirty="0"/>
              <a:t>stopped</a:t>
            </a:r>
            <a:r>
              <a:rPr lang="en-US" sz="1100" dirty="0"/>
              <a:t> instance puts it back into the </a:t>
            </a:r>
            <a:r>
              <a:rPr lang="en-US" sz="1100" i="1" dirty="0"/>
              <a:t>pending</a:t>
            </a:r>
            <a:r>
              <a:rPr lang="en-US" sz="1100" dirty="0"/>
              <a:t> state, which moves the instance to a new host machine. </a:t>
            </a:r>
          </a:p>
        </p:txBody>
      </p:sp>
    </p:spTree>
    <p:extLst>
      <p:ext uri="{BB962C8B-B14F-4D97-AF65-F5344CB8AC3E}">
        <p14:creationId xmlns:p14="http://schemas.microsoft.com/office/powerpoint/2010/main" val="1943890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399"/>
            <a:ext cx="5486400" cy="4337613"/>
          </a:xfrm>
        </p:spPr>
        <p:txBody>
          <a:bodyPr/>
          <a:lstStyle/>
          <a:p>
            <a:r>
              <a:rPr lang="en-US" sz="1100" dirty="0"/>
              <a:t>Some instances that are backed by Amazon EBS support </a:t>
            </a:r>
            <a:r>
              <a:rPr lang="en-US" sz="1100" b="1" dirty="0"/>
              <a:t>hibernation. </a:t>
            </a:r>
            <a:r>
              <a:rPr lang="en-US" sz="1100" dirty="0"/>
              <a:t>When you hibernate an instance, the guest OS saves the contents from the instance memory (RAM) to your Amazon EBS root volume. When you restart the instance, the root volume is restored to its previous state, the RAM contents are reloaded, and the processes that were previously running on the instance are resumed. </a:t>
            </a:r>
          </a:p>
          <a:p>
            <a:endParaRPr lang="en-US" sz="1100" dirty="0"/>
          </a:p>
          <a:p>
            <a:r>
              <a:rPr lang="en-US" sz="1100" dirty="0"/>
              <a:t>Only certain Linux AMIs that are backed by Amazon EBS and other certain instance types support hibernation. Hibernation also requires that you encrypt the root EBS volume. In addition, you must enable hibernation when the instance is first launched. You cannot enable hibernation on an existing instance that did not originally have hibernation enabled. </a:t>
            </a:r>
          </a:p>
          <a:p>
            <a:endParaRPr lang="en-US" sz="1100" dirty="0"/>
          </a:p>
          <a:p>
            <a:r>
              <a:rPr lang="en-US" sz="1100" dirty="0"/>
              <a:t>For further details about prerequisites and cost, see the </a:t>
            </a:r>
            <a:r>
              <a:rPr lang="en-US" sz="1100" dirty="0">
                <a:hlinkClick r:id="rId3"/>
              </a:rPr>
              <a:t>Hibernate Your Linux Instance</a:t>
            </a:r>
            <a:r>
              <a:rPr lang="en-US" sz="1100" dirty="0"/>
              <a:t> AWS documentation page.</a:t>
            </a:r>
          </a:p>
        </p:txBody>
      </p:sp>
    </p:spTree>
    <p:extLst>
      <p:ext uri="{BB962C8B-B14F-4D97-AF65-F5344CB8AC3E}">
        <p14:creationId xmlns:p14="http://schemas.microsoft.com/office/powerpoint/2010/main" val="3941597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A </a:t>
            </a:r>
            <a:r>
              <a:rPr lang="en-US" sz="1100" b="1" i="0" kern="1200" dirty="0">
                <a:solidFill>
                  <a:schemeClr val="tx1"/>
                </a:solidFill>
                <a:effectLst/>
                <a:latin typeface="+mn-lt"/>
                <a:ea typeface="+mn-ea"/>
                <a:cs typeface="+mn-cs"/>
              </a:rPr>
              <a:t>public IP address </a:t>
            </a:r>
            <a:r>
              <a:rPr lang="en-US" sz="1100" b="0" i="0" kern="1200" dirty="0">
                <a:solidFill>
                  <a:schemeClr val="tx1"/>
                </a:solidFill>
                <a:effectLst/>
                <a:latin typeface="+mn-lt"/>
                <a:ea typeface="+mn-ea"/>
                <a:cs typeface="+mn-cs"/>
              </a:rPr>
              <a:t>is an IPv4 address that is reachable from the internet. Each instance that receives a public IP address is also given an external DNS hostname</a:t>
            </a:r>
            <a:r>
              <a:rPr lang="en-US" sz="1100" dirty="0"/>
              <a:t>. F</a:t>
            </a:r>
            <a:r>
              <a:rPr lang="en-US" sz="1100" b="0" i="0" kern="1200" dirty="0">
                <a:solidFill>
                  <a:schemeClr val="tx1"/>
                </a:solidFill>
                <a:effectLst/>
                <a:latin typeface="+mn-lt"/>
                <a:ea typeface="+mn-ea"/>
                <a:cs typeface="+mn-cs"/>
              </a:rPr>
              <a:t>or example, if the public IP address assigned to the instance is </a:t>
            </a:r>
            <a:r>
              <a:rPr lang="en-US" sz="1100" b="0" i="1" kern="1200" dirty="0">
                <a:solidFill>
                  <a:schemeClr val="tx1"/>
                </a:solidFill>
                <a:effectLst/>
                <a:latin typeface="Lucida Console" panose="020B0609040504020204" pitchFamily="49" charset="0"/>
              </a:rPr>
              <a:t>203.0.113.25</a:t>
            </a:r>
            <a:r>
              <a:rPr lang="en-US" sz="1100" b="0" i="0" kern="1200" dirty="0">
                <a:solidFill>
                  <a:schemeClr val="tx1"/>
                </a:solidFill>
                <a:effectLst/>
                <a:latin typeface="+mn-lt"/>
                <a:ea typeface="+mn-ea"/>
                <a:cs typeface="+mn-cs"/>
              </a:rPr>
              <a:t>, then the external DNS hostname might be</a:t>
            </a:r>
            <a:r>
              <a:rPr lang="en-US" sz="1100" b="0" i="0" kern="1200" dirty="0">
                <a:solidFill>
                  <a:schemeClr val="tx1"/>
                </a:solidFill>
                <a:effectLst/>
                <a:latin typeface="Lucida Console" panose="020B0609040504020204" pitchFamily="49" charset="0"/>
              </a:rPr>
              <a:t> </a:t>
            </a:r>
            <a:r>
              <a:rPr lang="en-US" sz="1100" i="1" dirty="0">
                <a:latin typeface="Lucida Console" panose="020B0609040504020204" pitchFamily="49" charset="0"/>
              </a:rPr>
              <a:t>ec2-203-0-113-25.compute-1.amazonaws.com</a:t>
            </a:r>
            <a:r>
              <a:rPr lang="en-US" sz="1100" b="0" i="0" kern="1200" dirty="0">
                <a:solidFill>
                  <a:schemeClr val="tx1"/>
                </a:solidFill>
                <a:effectLst/>
                <a:latin typeface="+mn-lt"/>
                <a:ea typeface="+mn-ea"/>
                <a:cs typeface="+mn-cs"/>
              </a:rPr>
              <a:t>. </a:t>
            </a:r>
          </a:p>
          <a:p>
            <a:endParaRPr lang="en-US" sz="1100" b="0" i="0" kern="1200" dirty="0">
              <a:solidFill>
                <a:schemeClr val="tx1"/>
              </a:solidFill>
              <a:effectLst/>
              <a:latin typeface="+mn-lt"/>
              <a:ea typeface="+mn-ea"/>
              <a:cs typeface="+mn-cs"/>
            </a:endParaRPr>
          </a:p>
          <a:p>
            <a:r>
              <a:rPr lang="en-US" sz="1100" dirty="0"/>
              <a:t>If you specify that a </a:t>
            </a:r>
            <a:r>
              <a:rPr lang="en-US" sz="1100" b="0" i="0" kern="1200" dirty="0">
                <a:solidFill>
                  <a:schemeClr val="tx1"/>
                </a:solidFill>
                <a:effectLst/>
                <a:latin typeface="+mn-lt"/>
                <a:ea typeface="+mn-ea"/>
                <a:cs typeface="+mn-cs"/>
              </a:rPr>
              <a:t>public IP address should be assigned to your instance, it is assigned from the AWS pool of public IPv4 addresses. The public IP address is not associated with your AWS account. When a public IP address is disassociated from your instance, it is released back into the public IPv4 address pool, and you will not be able to specify that you want to reuse it. AWS releases your instance's public IP address when the instance is stopped or terminated. Your stopped instance receives a new public IP address when it is restarted.</a:t>
            </a:r>
          </a:p>
          <a:p>
            <a:endParaRPr lang="en-US" sz="1100" dirty="0"/>
          </a:p>
          <a:p>
            <a:r>
              <a:rPr lang="en-US" sz="1100" b="0" i="0" kern="1200" dirty="0">
                <a:solidFill>
                  <a:schemeClr val="tx1"/>
                </a:solidFill>
                <a:effectLst/>
                <a:latin typeface="+mn-lt"/>
                <a:ea typeface="+mn-ea"/>
                <a:cs typeface="+mn-cs"/>
              </a:rPr>
              <a:t>If you require a persistent public IP address, you might want to associate an </a:t>
            </a:r>
            <a:r>
              <a:rPr lang="en-US" sz="1100" b="1" i="0" kern="1200" dirty="0">
                <a:solidFill>
                  <a:schemeClr val="tx1"/>
                </a:solidFill>
                <a:effectLst/>
                <a:latin typeface="+mn-lt"/>
                <a:ea typeface="+mn-ea"/>
                <a:cs typeface="+mn-cs"/>
              </a:rPr>
              <a:t>Elastic IP address </a:t>
            </a:r>
            <a:r>
              <a:rPr lang="en-US" sz="1100" b="0" i="0" kern="1200" dirty="0">
                <a:solidFill>
                  <a:schemeClr val="tx1"/>
                </a:solidFill>
                <a:effectLst/>
                <a:latin typeface="+mn-lt"/>
                <a:ea typeface="+mn-ea"/>
                <a:cs typeface="+mn-cs"/>
              </a:rPr>
              <a:t>with the instance. To associate an </a:t>
            </a:r>
            <a:r>
              <a:rPr lang="en-US" sz="1100" dirty="0"/>
              <a:t>Elastic IP address, you must first allocate a new Elastic IP address in the Region where the instance exists. After the</a:t>
            </a:r>
            <a:r>
              <a:rPr lang="en-US" sz="1100" baseline="0" dirty="0"/>
              <a:t> Elastic IP address</a:t>
            </a:r>
            <a:r>
              <a:rPr lang="en-US" sz="1100" dirty="0"/>
              <a:t> is allocated, you can associate the Elastic IP address with an EC2 instance. </a:t>
            </a:r>
          </a:p>
          <a:p>
            <a:endParaRPr lang="en-US" sz="1100" b="0" i="0" kern="1200" dirty="0">
              <a:solidFill>
                <a:schemeClr val="tx1"/>
              </a:solidFill>
              <a:effectLst/>
              <a:latin typeface="+mn-lt"/>
              <a:ea typeface="+mn-ea"/>
              <a:cs typeface="+mn-cs"/>
            </a:endParaRPr>
          </a:p>
          <a:p>
            <a:r>
              <a:rPr lang="en-US" sz="1100" dirty="0"/>
              <a:t>By default, all AWS accounts are limited to five (5) Elastic IP addresses per Region because public (IPv4) internet addresses are a scarce public resource. However, this is a soft limit, and you can request a limit increase (which might be approved).</a:t>
            </a:r>
            <a:endParaRPr lang="en-US" sz="1100" b="0" i="0" kern="1200" dirty="0">
              <a:solidFill>
                <a:schemeClr val="tx1"/>
              </a:solidFill>
              <a:effectLst/>
              <a:latin typeface="+mn-lt"/>
              <a:ea typeface="+mn-ea"/>
              <a:cs typeface="+mn-cs"/>
            </a:endParaRPr>
          </a:p>
          <a:p>
            <a:endParaRPr lang="en-US"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255366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sz="1100" dirty="0"/>
              <a:t>Instance metadata is data about your instance. You can view it while you are connected to the instance. To access it in a browser, go to the</a:t>
            </a:r>
            <a:r>
              <a:rPr lang="en-US" sz="1100" baseline="0" dirty="0"/>
              <a:t> following URL: </a:t>
            </a:r>
            <a:r>
              <a:rPr lang="en-US" sz="1100" b="0" dirty="0">
                <a:latin typeface="Lucida Console" panose="020B0609040504020204" pitchFamily="49" charset="0"/>
              </a:rPr>
              <a:t>http://169.254.169.254/latest/meta-data/</a:t>
            </a:r>
            <a:r>
              <a:rPr lang="en-US" sz="1100" b="0" dirty="0"/>
              <a:t>. </a:t>
            </a:r>
            <a:r>
              <a:rPr lang="en-US" sz="1100" dirty="0"/>
              <a:t>The data can also be read programmatically, such as from a terminal window that</a:t>
            </a:r>
            <a:r>
              <a:rPr lang="en-US" sz="1100" baseline="0" dirty="0"/>
              <a:t> has </a:t>
            </a:r>
            <a:r>
              <a:rPr lang="en-US" sz="1100" dirty="0"/>
              <a:t>the cURL utility.</a:t>
            </a:r>
            <a:r>
              <a:rPr lang="en-US" sz="1100" baseline="0" dirty="0"/>
              <a:t> In the terminal window,</a:t>
            </a:r>
            <a:r>
              <a:rPr lang="en-US" sz="1100" dirty="0"/>
              <a:t> run </a:t>
            </a:r>
            <a:r>
              <a:rPr lang="en-US" sz="1100" b="1" dirty="0">
                <a:latin typeface="Lucida Console" panose="020B0609040504020204" pitchFamily="49" charset="0"/>
              </a:rPr>
              <a:t>curl http://169.254.169.254/latest/meta-data/</a:t>
            </a:r>
            <a:r>
              <a:rPr lang="en-US" sz="1100" dirty="0"/>
              <a:t> to retrieve it. The IP address </a:t>
            </a:r>
            <a:r>
              <a:rPr lang="en-US" sz="1100" i="1" dirty="0">
                <a:latin typeface="Lucida Console" panose="020B0609040504020204" pitchFamily="49" charset="0"/>
              </a:rPr>
              <a:t>169.254.169.254</a:t>
            </a:r>
            <a:r>
              <a:rPr lang="en-US" sz="1100" dirty="0"/>
              <a:t> is a link-local address and it is valid only from the instance. </a:t>
            </a:r>
          </a:p>
          <a:p>
            <a:pPr>
              <a:spcAft>
                <a:spcPts val="600"/>
              </a:spcAft>
            </a:pPr>
            <a:r>
              <a:rPr lang="en-US" sz="1100" dirty="0"/>
              <a:t>Instance metadata provides much of the same information about the running instance that you can find in the AWS Management Console. For example, you can discover the public IP address, private IP address, public hostname, instance ID, security groups, Region, Availability Zone, and more. </a:t>
            </a:r>
          </a:p>
          <a:p>
            <a:pPr>
              <a:spcAft>
                <a:spcPts val="600"/>
              </a:spcAft>
            </a:pPr>
            <a:r>
              <a:rPr lang="en-US" sz="1100" dirty="0"/>
              <a:t>Any user data that is specified at instance launch can also be accessed at the following URL: </a:t>
            </a:r>
            <a:r>
              <a:rPr lang="en-US" sz="1100" dirty="0">
                <a:latin typeface="Lucida Console" panose="020B0609040504020204" pitchFamily="49" charset="0"/>
              </a:rPr>
              <a:t>http://169.254.169.254/latest/</a:t>
            </a:r>
            <a:r>
              <a:rPr lang="en-US" sz="1100" b="1" dirty="0">
                <a:latin typeface="Lucida Console" panose="020B0609040504020204" pitchFamily="49" charset="0"/>
              </a:rPr>
              <a:t>user-data</a:t>
            </a:r>
            <a:r>
              <a:rPr lang="en-US" sz="1100" dirty="0"/>
              <a:t>.</a:t>
            </a:r>
          </a:p>
          <a:p>
            <a:pPr>
              <a:spcAft>
                <a:spcPts val="600"/>
              </a:spcAft>
            </a:pPr>
            <a:r>
              <a:rPr lang="en-US" sz="1100" dirty="0"/>
              <a:t>EC2 instance metadata can be used to configure or manage a running instance. For example,</a:t>
            </a:r>
            <a:r>
              <a:rPr lang="en-US" sz="1100" baseline="0" dirty="0"/>
              <a:t> you can </a:t>
            </a:r>
            <a:r>
              <a:rPr lang="en-US" sz="1100" dirty="0"/>
              <a:t>author a configuration script that accesses the metadata information and uses it to configure applications or OS settings.</a:t>
            </a:r>
          </a:p>
        </p:txBody>
      </p:sp>
    </p:spTree>
    <p:extLst>
      <p:ext uri="{BB962C8B-B14F-4D97-AF65-F5344CB8AC3E}">
        <p14:creationId xmlns:p14="http://schemas.microsoft.com/office/powerpoint/2010/main" val="11271679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You can monitor your instances by using Amazon CloudWatch, which collects and processes raw data from Amazon EC2 into readable, near-real-time metrics. These statistics are recorded for a period of 15 months, so you can access historical information and gain a better perspective on how your web application or service is performing.</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By default, Amazon EC2 provides </a:t>
            </a:r>
            <a:r>
              <a:rPr lang="en-US" sz="1100" b="1" i="0" kern="1200" dirty="0">
                <a:solidFill>
                  <a:schemeClr val="tx1"/>
                </a:solidFill>
                <a:effectLst/>
                <a:latin typeface="+mn-lt"/>
                <a:ea typeface="+mn-ea"/>
                <a:cs typeface="+mn-cs"/>
              </a:rPr>
              <a:t>basic monitoring</a:t>
            </a:r>
            <a:r>
              <a:rPr lang="en-US" sz="1100" b="0" i="0" kern="1200" dirty="0">
                <a:solidFill>
                  <a:schemeClr val="tx1"/>
                </a:solidFill>
                <a:effectLst/>
                <a:latin typeface="+mn-lt"/>
                <a:ea typeface="+mn-ea"/>
                <a:cs typeface="+mn-cs"/>
              </a:rPr>
              <a:t>,</a:t>
            </a:r>
            <a:r>
              <a:rPr lang="en-US" sz="1100" b="1"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which sends metric data to CloudWatch in 5-minute periods. To send metric data for your instance to CloudWatch in 1-minute periods, you can enable</a:t>
            </a:r>
            <a:r>
              <a:rPr lang="en-US" sz="1100" b="1" i="0" kern="1200" dirty="0">
                <a:solidFill>
                  <a:schemeClr val="tx1"/>
                </a:solidFill>
                <a:effectLst/>
                <a:latin typeface="+mn-lt"/>
                <a:ea typeface="+mn-ea"/>
                <a:cs typeface="+mn-cs"/>
              </a:rPr>
              <a:t> detailed monitoring</a:t>
            </a:r>
            <a:r>
              <a:rPr lang="en-US" sz="1100" b="0" i="0" kern="1200" dirty="0">
                <a:solidFill>
                  <a:schemeClr val="tx1"/>
                </a:solidFill>
                <a:effectLst/>
                <a:latin typeface="+mn-lt"/>
                <a:ea typeface="+mn-ea"/>
                <a:cs typeface="+mn-cs"/>
              </a:rPr>
              <a:t> on the instance. For more information, see </a:t>
            </a:r>
            <a:r>
              <a:rPr lang="en-US" sz="1100" b="0" i="0" u="none" strike="noStrike" kern="1200" dirty="0">
                <a:solidFill>
                  <a:schemeClr val="tx1"/>
                </a:solidFill>
                <a:effectLst/>
                <a:latin typeface="+mn-lt"/>
                <a:ea typeface="+mn-ea"/>
                <a:cs typeface="+mn-cs"/>
                <a:hlinkClick r:id="rId3"/>
              </a:rPr>
              <a:t>Enable or Disable Detailed Monitoring for Your Instances</a:t>
            </a:r>
            <a:r>
              <a:rPr lang="en-US" sz="1100" b="0" i="0" kern="1200" dirty="0">
                <a:solidFill>
                  <a:schemeClr val="tx1"/>
                </a:solidFill>
                <a:effectLst/>
                <a:latin typeface="+mn-lt"/>
                <a:ea typeface="+mn-ea"/>
                <a:cs typeface="+mn-cs"/>
              </a:rPr>
              <a:t>.</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The Amazon EC2 console displays a series of graphs based on the raw data from Amazon CloudWatch. Depending on your needs, you might prefer to get data for your instances from Amazon CloudWatch instead of through the graphs in the console. By default, Amazon CloudWatch does not provide RAM metrics for EC2 instances, thoug</a:t>
            </a:r>
            <a:r>
              <a:rPr lang="en-US" sz="1100" dirty="0"/>
              <a:t>h that is an option that you can configure if you want to CloudWatch to collect that data.</a:t>
            </a:r>
            <a:endParaRPr lang="en-US"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354780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p>
            <a:pPr marL="171450" indent="-171450">
              <a:buFont typeface="Arial" panose="020B0604020202020204" pitchFamily="34" charset="0"/>
              <a:buChar char="•"/>
            </a:pPr>
            <a:r>
              <a:rPr lang="en-US" sz="1100" b="0" dirty="0">
                <a:solidFill>
                  <a:schemeClr val="tx1"/>
                </a:solidFill>
              </a:rPr>
              <a:t>Amazon EC2 enables you to run Windows and Linux virtual machines in the cloud.</a:t>
            </a:r>
          </a:p>
          <a:p>
            <a:pPr marL="171450" indent="-171450">
              <a:buFont typeface="Arial" panose="020B0604020202020204" pitchFamily="34" charset="0"/>
              <a:buChar char="•"/>
            </a:pPr>
            <a:r>
              <a:rPr lang="en-US" sz="1100" b="0" dirty="0">
                <a:solidFill>
                  <a:schemeClr val="tx1"/>
                </a:solidFill>
              </a:rPr>
              <a:t>You launch EC2 instances from an AMI template into a VPC in your account.</a:t>
            </a:r>
          </a:p>
          <a:p>
            <a:pPr marL="171450" indent="-171450">
              <a:buFont typeface="Arial" panose="020B0604020202020204" pitchFamily="34" charset="0"/>
              <a:buChar char="•"/>
            </a:pPr>
            <a:r>
              <a:rPr lang="en-US" sz="1100" b="0" dirty="0">
                <a:solidFill>
                  <a:schemeClr val="tx1"/>
                </a:solidFill>
              </a:rPr>
              <a:t>You can choose from many instance types. Each instance type offers different combinations of CPU, RAM, storage, and networking capabilities.</a:t>
            </a:r>
          </a:p>
          <a:p>
            <a:pPr marL="171450" indent="-171450">
              <a:buFont typeface="Arial" panose="020B0604020202020204" pitchFamily="34" charset="0"/>
              <a:buChar char="•"/>
            </a:pPr>
            <a:r>
              <a:rPr lang="en-US" sz="1100" b="0" dirty="0">
                <a:solidFill>
                  <a:schemeClr val="tx1"/>
                </a:solidFill>
              </a:rPr>
              <a:t>You can configure security groups to control access to instances (specify allowed ports and source).</a:t>
            </a:r>
          </a:p>
          <a:p>
            <a:pPr marL="171450" indent="-171450">
              <a:buFont typeface="Arial" panose="020B0604020202020204" pitchFamily="34" charset="0"/>
              <a:buChar char="•"/>
            </a:pPr>
            <a:r>
              <a:rPr lang="en-US" sz="1100" b="0" dirty="0">
                <a:solidFill>
                  <a:schemeClr val="tx1"/>
                </a:solidFill>
              </a:rPr>
              <a:t>User data enables you to specify a script to run the first time that an instance launches. </a:t>
            </a:r>
          </a:p>
          <a:p>
            <a:pPr marL="171450" indent="-171450">
              <a:buFont typeface="Arial" panose="020B0604020202020204" pitchFamily="34" charset="0"/>
              <a:buChar char="•"/>
            </a:pPr>
            <a:r>
              <a:rPr lang="en-US" sz="1100" b="0" dirty="0">
                <a:solidFill>
                  <a:schemeClr val="tx1"/>
                </a:solidFill>
              </a:rPr>
              <a:t>Only instances that are backed by Amazon EBS can be stopped. </a:t>
            </a:r>
          </a:p>
          <a:p>
            <a:pPr marL="171450" indent="-171450">
              <a:buFont typeface="Arial" panose="020B0604020202020204" pitchFamily="34" charset="0"/>
              <a:buChar char="•"/>
            </a:pPr>
            <a:r>
              <a:rPr lang="en-US" sz="1100" b="0" dirty="0">
                <a:solidFill>
                  <a:schemeClr val="tx1"/>
                </a:solidFill>
              </a:rPr>
              <a:t>You can use Amazon CloudWatch to capture and review metrics on EC2 instances.</a:t>
            </a:r>
          </a:p>
        </p:txBody>
      </p:sp>
    </p:spTree>
    <p:extLst>
      <p:ext uri="{BB962C8B-B14F-4D97-AF65-F5344CB8AC3E}">
        <p14:creationId xmlns:p14="http://schemas.microsoft.com/office/powerpoint/2010/main" val="1934031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Now, take a moment to watch the </a:t>
            </a:r>
            <a:r>
              <a:rPr lang="en-US" sz="1100" dirty="0">
                <a:ea typeface="Amazon Ember Light" panose="020B0403020204020204" pitchFamily="34" charset="0"/>
                <a:cs typeface="Amazon Ember Light" panose="020B0403020204020204" pitchFamily="34" charset="0"/>
                <a:hlinkClick r:id="rId3"/>
              </a:rPr>
              <a:t>EC2 Demo</a:t>
            </a:r>
            <a:r>
              <a:rPr lang="en-US" sz="1100" dirty="0"/>
              <a:t>. The recording runs just over 3 minutes and reinforces some of the concepts that were discussed in this section of the module.</a:t>
            </a:r>
          </a:p>
          <a:p>
            <a:endParaRPr lang="en-US" sz="1100" dirty="0"/>
          </a:p>
          <a:p>
            <a:r>
              <a:rPr lang="en-US" sz="1100" dirty="0"/>
              <a:t>The demonstration shows:</a:t>
            </a:r>
          </a:p>
          <a:p>
            <a:pPr marL="171450" indent="-171450">
              <a:buFont typeface="Arial" panose="020B0604020202020204" pitchFamily="34" charset="0"/>
              <a:buChar char="•"/>
            </a:pPr>
            <a:r>
              <a:rPr lang="en-US" sz="1100" dirty="0"/>
              <a:t>How to use the AWS Management Console to launch an Amazon EC2 instance</a:t>
            </a:r>
            <a:r>
              <a:rPr lang="en-US" sz="1100" baseline="0" dirty="0"/>
              <a:t> (</a:t>
            </a:r>
            <a:r>
              <a:rPr lang="en-US" sz="1100" dirty="0"/>
              <a:t>with all the default instance settings accepted). </a:t>
            </a:r>
          </a:p>
          <a:p>
            <a:pPr marL="171450" indent="-171450">
              <a:buFont typeface="Arial" panose="020B0604020202020204" pitchFamily="34" charset="0"/>
              <a:buChar char="•"/>
            </a:pPr>
            <a:r>
              <a:rPr lang="en-US" sz="1100" dirty="0"/>
              <a:t>How to connect to the Windows instance</a:t>
            </a:r>
            <a:r>
              <a:rPr lang="en-US" sz="1100" baseline="0" dirty="0"/>
              <a:t> by</a:t>
            </a:r>
            <a:r>
              <a:rPr lang="en-US" sz="1100" dirty="0"/>
              <a:t> using a Remote Desktop client and the key pair that was identified during instance launch to decrypt the Windows password for login. </a:t>
            </a:r>
          </a:p>
          <a:p>
            <a:pPr marL="171450" indent="-171450">
              <a:buFont typeface="Arial" panose="020B0604020202020204" pitchFamily="34" charset="0"/>
              <a:buChar char="•"/>
            </a:pPr>
            <a:r>
              <a:rPr lang="en-US" sz="1100" dirty="0"/>
              <a:t>How to terminate the instance after it is no longer needed.</a:t>
            </a:r>
          </a:p>
        </p:txBody>
      </p:sp>
    </p:spTree>
    <p:extLst>
      <p:ext uri="{BB962C8B-B14F-4D97-AF65-F5344CB8AC3E}">
        <p14:creationId xmlns:p14="http://schemas.microsoft.com/office/powerpoint/2010/main" val="16346685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Lab 3: Introduction to Amazon EC2. This lab provides hands-on practice with launching, resizing, managing, and monitoring an Amazon EC2 instance.</a:t>
            </a:r>
          </a:p>
        </p:txBody>
      </p:sp>
    </p:spTree>
    <p:extLst>
      <p:ext uri="{BB962C8B-B14F-4D97-AF65-F5344CB8AC3E}">
        <p14:creationId xmlns:p14="http://schemas.microsoft.com/office/powerpoint/2010/main" val="15026773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Introducing Lab 3: Introduction to Amazon EC2. </a:t>
            </a:r>
          </a:p>
          <a:p>
            <a:endParaRPr lang="en-US" sz="1100" dirty="0"/>
          </a:p>
          <a:p>
            <a:r>
              <a:rPr lang="en-US" sz="1100" dirty="0"/>
              <a:t>In this lab, you will launch and configure a virtual machine that runs on Amazon EC2. </a:t>
            </a:r>
          </a:p>
          <a:p>
            <a:endParaRPr lang="en-US" sz="1100" dirty="0"/>
          </a:p>
          <a:p>
            <a:r>
              <a:rPr lang="en-US" sz="1100" dirty="0"/>
              <a:t> </a:t>
            </a:r>
          </a:p>
          <a:p>
            <a:endParaRPr lang="en-US" sz="1100" dirty="0"/>
          </a:p>
        </p:txBody>
      </p:sp>
    </p:spTree>
    <p:extLst>
      <p:ext uri="{BB962C8B-B14F-4D97-AF65-F5344CB8AC3E}">
        <p14:creationId xmlns:p14="http://schemas.microsoft.com/office/powerpoint/2010/main" val="7816885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100" dirty="0"/>
              <a:t>In this hands-on lab, you will:</a:t>
            </a:r>
            <a:endParaRPr lang="en-US" sz="1100" dirty="0">
              <a:latin typeface="+mn-lt"/>
            </a:endParaRPr>
          </a:p>
          <a:p>
            <a:pPr marL="171450" indent="-171450">
              <a:lnSpc>
                <a:spcPct val="150000"/>
              </a:lnSpc>
              <a:buFont typeface="Arial" panose="020B0604020202020204" pitchFamily="34" charset="0"/>
              <a:buChar char="•"/>
            </a:pPr>
            <a:r>
              <a:rPr lang="en-US" sz="1100" dirty="0">
                <a:latin typeface="+mn-lt"/>
              </a:rPr>
              <a:t>Launch Your Amazon EC2 Instance</a:t>
            </a:r>
          </a:p>
          <a:p>
            <a:pPr marL="171450" indent="-171450">
              <a:lnSpc>
                <a:spcPct val="150000"/>
              </a:lnSpc>
              <a:buFont typeface="Arial" panose="020B0604020202020204" pitchFamily="34" charset="0"/>
              <a:buChar char="•"/>
            </a:pPr>
            <a:r>
              <a:rPr lang="en-US" sz="1100" dirty="0">
                <a:latin typeface="+mn-lt"/>
              </a:rPr>
              <a:t>Monitor Your Instance</a:t>
            </a:r>
          </a:p>
          <a:p>
            <a:pPr marL="171450" indent="-171450">
              <a:lnSpc>
                <a:spcPct val="150000"/>
              </a:lnSpc>
              <a:buFont typeface="Arial" panose="020B0604020202020204" pitchFamily="34" charset="0"/>
              <a:buChar char="•"/>
            </a:pPr>
            <a:r>
              <a:rPr lang="en-US" sz="1100" dirty="0">
                <a:latin typeface="+mn-lt"/>
              </a:rPr>
              <a:t>Update Your Security Group and Access the Web Server</a:t>
            </a:r>
          </a:p>
          <a:p>
            <a:pPr marL="171450" indent="-171450">
              <a:lnSpc>
                <a:spcPct val="150000"/>
              </a:lnSpc>
              <a:buFont typeface="Arial" panose="020B0604020202020204" pitchFamily="34" charset="0"/>
              <a:buChar char="•"/>
            </a:pPr>
            <a:r>
              <a:rPr lang="en-US" sz="1100" dirty="0">
                <a:latin typeface="+mn-lt"/>
              </a:rPr>
              <a:t>Resize Your Instance:</a:t>
            </a:r>
            <a:r>
              <a:rPr lang="en-US" sz="1100" baseline="0" dirty="0">
                <a:latin typeface="+mn-lt"/>
              </a:rPr>
              <a:t> </a:t>
            </a:r>
            <a:r>
              <a:rPr lang="en-US" sz="1100" dirty="0">
                <a:latin typeface="+mn-lt"/>
              </a:rPr>
              <a:t>Instance Type and EBS Volume</a:t>
            </a:r>
          </a:p>
          <a:p>
            <a:pPr marL="171450" indent="-171450">
              <a:lnSpc>
                <a:spcPct val="150000"/>
              </a:lnSpc>
              <a:buFont typeface="Arial" panose="020B0604020202020204" pitchFamily="34" charset="0"/>
              <a:buChar char="•"/>
            </a:pPr>
            <a:r>
              <a:rPr lang="en-US" sz="1100" dirty="0">
                <a:latin typeface="+mn-lt"/>
              </a:rPr>
              <a:t>Explore EC2 Limits</a:t>
            </a:r>
          </a:p>
          <a:p>
            <a:pPr marL="171450" indent="-171450">
              <a:lnSpc>
                <a:spcPct val="150000"/>
              </a:lnSpc>
              <a:buFont typeface="Arial" panose="020B0604020202020204" pitchFamily="34" charset="0"/>
              <a:buChar char="•"/>
            </a:pPr>
            <a:r>
              <a:rPr lang="en-US" sz="1100" dirty="0">
                <a:latin typeface="+mn-lt"/>
              </a:rPr>
              <a:t>Test Termination Protection</a:t>
            </a:r>
            <a:endParaRPr lang="en-US" sz="1100" dirty="0"/>
          </a:p>
        </p:txBody>
      </p:sp>
    </p:spTree>
    <p:extLst>
      <p:ext uri="{BB962C8B-B14F-4D97-AF65-F5344CB8AC3E}">
        <p14:creationId xmlns:p14="http://schemas.microsoft.com/office/powerpoint/2010/main" val="3603781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100" dirty="0"/>
              <a:t>By the end of the lab, you will have:</a:t>
            </a:r>
          </a:p>
          <a:p>
            <a:pPr marL="0" indent="0">
              <a:buNone/>
            </a:pPr>
            <a:endParaRPr lang="en-US" sz="1100" dirty="0"/>
          </a:p>
          <a:p>
            <a:pPr marL="228600" indent="-228600">
              <a:buFont typeface="+mj-lt"/>
              <a:buAutoNum type="arabicPeriod"/>
            </a:pPr>
            <a:r>
              <a:rPr lang="en-US" sz="1100" dirty="0"/>
              <a:t>Launched an instance that</a:t>
            </a:r>
            <a:r>
              <a:rPr lang="en-US" sz="1100" baseline="0" dirty="0"/>
              <a:t> is </a:t>
            </a:r>
            <a:r>
              <a:rPr lang="en-US" sz="1100" dirty="0"/>
              <a:t>configured as a web server</a:t>
            </a:r>
          </a:p>
          <a:p>
            <a:pPr marL="228600" indent="-228600">
              <a:buFont typeface="+mj-lt"/>
              <a:buAutoNum type="arabicPeriod"/>
            </a:pPr>
            <a:endParaRPr lang="en-US" sz="1100" dirty="0"/>
          </a:p>
          <a:p>
            <a:pPr marL="228600" indent="-228600">
              <a:buFont typeface="+mj-lt"/>
              <a:buAutoNum type="arabicPeriod"/>
            </a:pPr>
            <a:r>
              <a:rPr lang="en-US" sz="1100" dirty="0"/>
              <a:t>Viewed the instance system log</a:t>
            </a:r>
          </a:p>
          <a:p>
            <a:pPr marL="228600" indent="-228600">
              <a:buFont typeface="+mj-lt"/>
              <a:buAutoNum type="arabicPeriod"/>
            </a:pPr>
            <a:endParaRPr lang="en-US" sz="1100" dirty="0"/>
          </a:p>
          <a:p>
            <a:pPr marL="228600" indent="-228600">
              <a:buFont typeface="+mj-lt"/>
              <a:buAutoNum type="arabicPeriod"/>
            </a:pPr>
            <a:r>
              <a:rPr lang="en-US" sz="1100" dirty="0"/>
              <a:t>Reconfigured a security group</a:t>
            </a:r>
          </a:p>
          <a:p>
            <a:pPr marL="228600" indent="-228600">
              <a:buFont typeface="+mj-lt"/>
              <a:buAutoNum type="arabicPeriod"/>
            </a:pPr>
            <a:endParaRPr lang="en-US" sz="1100" dirty="0"/>
          </a:p>
          <a:p>
            <a:pPr marL="228600" indent="-228600">
              <a:buFont typeface="+mj-lt"/>
              <a:buAutoNum type="arabicPeriod"/>
            </a:pPr>
            <a:r>
              <a:rPr lang="en-US" sz="1100" dirty="0"/>
              <a:t>Modified the instance type and root volume size</a:t>
            </a:r>
          </a:p>
        </p:txBody>
      </p:sp>
    </p:spTree>
    <p:extLst>
      <p:ext uri="{BB962C8B-B14F-4D97-AF65-F5344CB8AC3E}">
        <p14:creationId xmlns:p14="http://schemas.microsoft.com/office/powerpoint/2010/main" val="33245946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 is now time to start the lab.</a:t>
            </a:r>
          </a:p>
        </p:txBody>
      </p:sp>
    </p:spTree>
    <p:extLst>
      <p:ext uri="{BB962C8B-B14F-4D97-AF65-F5344CB8AC3E}">
        <p14:creationId xmlns:p14="http://schemas.microsoft.com/office/powerpoint/2010/main" val="5437402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The instructor will lead a conversation about the key takeaways from the lab after you have completed it. </a:t>
            </a:r>
          </a:p>
        </p:txBody>
      </p:sp>
    </p:spTree>
    <p:extLst>
      <p:ext uri="{BB962C8B-B14F-4D97-AF65-F5344CB8AC3E}">
        <p14:creationId xmlns:p14="http://schemas.microsoft.com/office/powerpoint/2010/main" val="7861028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In this educator-led activity, you will discuss the advantages and disadvantages of using Amazon EC2 versus</a:t>
            </a:r>
            <a:r>
              <a:rPr lang="en-US" sz="1100" baseline="0" dirty="0"/>
              <a:t> </a:t>
            </a:r>
            <a:r>
              <a:rPr lang="en-US" sz="1100" dirty="0"/>
              <a:t>using a managed service like</a:t>
            </a:r>
            <a:r>
              <a:rPr lang="en-US" sz="1100" baseline="0" dirty="0"/>
              <a:t> Amazon Relational Database Service (</a:t>
            </a:r>
            <a:r>
              <a:rPr lang="en-US" sz="1100" dirty="0"/>
              <a:t>Amazon RDS).</a:t>
            </a:r>
          </a:p>
        </p:txBody>
      </p:sp>
    </p:spTree>
    <p:extLst>
      <p:ext uri="{BB962C8B-B14F-4D97-AF65-F5344CB8AC3E}">
        <p14:creationId xmlns:p14="http://schemas.microsoft.com/office/powerpoint/2010/main" val="20912233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The objective of this activity is to demonstrate that you understand the differences between building a deployment that uses Amazon EC2 and using a fully managed service, such as Amazon RDS, to deploy your solution. At the end of this activity, you should be prepared to discuss the advantages and disadvantages of deploying Microsoft SQL Server on Amazon EC2 versus deploying it on Amazon RDS.</a:t>
            </a:r>
          </a:p>
          <a:p>
            <a:endParaRPr lang="en-US" sz="1100" dirty="0"/>
          </a:p>
          <a:p>
            <a:r>
              <a:rPr lang="en-US" sz="1100" dirty="0"/>
              <a:t>The educator will ask you to:</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1. Watch an 8-minute </a:t>
            </a:r>
            <a:r>
              <a:rPr lang="en-US" sz="1100" dirty="0">
                <a:ea typeface="Amazon Ember Light" panose="020B0403020204020204" pitchFamily="34" charset="0"/>
                <a:cs typeface="Amazon Ember Light" panose="020B0403020204020204" pitchFamily="34" charset="0"/>
                <a:hlinkClick r:id="rId3"/>
              </a:rPr>
              <a:t>video</a:t>
            </a:r>
            <a:r>
              <a:rPr lang="en-US" sz="1100" dirty="0"/>
              <a:t> that explains the benefits of deploying Microsoft SQL Server on Amazon EC2</a:t>
            </a:r>
            <a:r>
              <a:rPr lang="en-US" sz="1100" baseline="0" dirty="0"/>
              <a:t> by</a:t>
            </a:r>
            <a:r>
              <a:rPr lang="en-US" sz="1100" dirty="0"/>
              <a:t> using the </a:t>
            </a:r>
            <a:r>
              <a:rPr lang="en-US" sz="1100" dirty="0">
                <a:ea typeface="Amazon Ember Light" panose="020B0403020204020204" pitchFamily="34" charset="0"/>
                <a:cs typeface="Amazon Ember Light" panose="020B0403020204020204" pitchFamily="34" charset="0"/>
                <a:hlinkClick r:id="rId4"/>
              </a:rPr>
              <a:t>AWS Quick Start – SQL Server Reference Architecture</a:t>
            </a:r>
            <a:r>
              <a:rPr lang="en-US" sz="1100" dirty="0">
                <a:ea typeface="Amazon Ember Light" panose="020B0403020204020204" pitchFamily="34" charset="0"/>
                <a:cs typeface="Amazon Ember Light" panose="020B0403020204020204" pitchFamily="34" charset="0"/>
              </a:rPr>
              <a:t> deployment. You are encouraged to take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lvl="0"/>
            <a:r>
              <a:rPr lang="en-US" sz="1100" dirty="0"/>
              <a:t>2. Read a </a:t>
            </a:r>
            <a:r>
              <a:rPr lang="en-US" sz="1100" dirty="0">
                <a:ea typeface="Amazon Ember Light" panose="020B0403020204020204" pitchFamily="34" charset="0"/>
                <a:cs typeface="Amazon Ember Light" panose="020B0403020204020204" pitchFamily="34" charset="0"/>
                <a:hlinkClick r:id="rId5"/>
              </a:rPr>
              <a:t>blog post</a:t>
            </a:r>
            <a:r>
              <a:rPr lang="en-US" sz="1100" dirty="0"/>
              <a:t> about the benefits of running Microsoft SQL Server on Amazon RDS. </a:t>
            </a:r>
            <a:r>
              <a:rPr lang="en-US" sz="1100" dirty="0">
                <a:ea typeface="Amazon Ember Light" panose="020B0403020204020204" pitchFamily="34" charset="0"/>
                <a:cs typeface="Amazon Ember Light" panose="020B0403020204020204" pitchFamily="34" charset="0"/>
              </a:rPr>
              <a:t>You are again encouraged to take notes.</a:t>
            </a:r>
          </a:p>
          <a:p>
            <a:pPr lvl="0"/>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3. Participate in the class conversation about the questions posed on the next slide.</a:t>
            </a:r>
          </a:p>
        </p:txBody>
      </p:sp>
    </p:spTree>
    <p:extLst>
      <p:ext uri="{BB962C8B-B14F-4D97-AF65-F5344CB8AC3E}">
        <p14:creationId xmlns:p14="http://schemas.microsoft.com/office/powerpoint/2010/main" val="1517865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93642"/>
          </a:xfrm>
        </p:spPr>
        <p:txBody>
          <a:bodyPr/>
          <a:lstStyle/>
          <a:p>
            <a:r>
              <a:rPr lang="en-US" sz="1100" dirty="0"/>
              <a:t>The educator will lead the class in a conversation as each question is revealed. Then, the educator will display the written suggested responses and you can discuss these points further.</a:t>
            </a:r>
          </a:p>
          <a:p>
            <a:r>
              <a:rPr lang="en-US" sz="1100" dirty="0"/>
              <a:t> </a:t>
            </a:r>
          </a:p>
          <a:p>
            <a:r>
              <a:rPr lang="en-US" sz="1100" dirty="0"/>
              <a:t>Regarding </a:t>
            </a:r>
            <a:r>
              <a:rPr lang="en-US" sz="1100" b="1" dirty="0"/>
              <a:t>question 5</a:t>
            </a:r>
            <a:r>
              <a:rPr lang="en-US" sz="1100" dirty="0"/>
              <a:t>, the answer was based on the information that is listed on the AWS Pricing pages as of October, 2019.</a:t>
            </a:r>
            <a:r>
              <a:rPr lang="en-US" sz="1100" baseline="0" dirty="0"/>
              <a:t> </a:t>
            </a:r>
          </a:p>
          <a:p>
            <a:pPr marL="171450" indent="-171450">
              <a:buFont typeface="Arial" panose="020B0604020202020204" pitchFamily="34" charset="0"/>
              <a:buChar char="•"/>
            </a:pPr>
            <a:r>
              <a:rPr lang="en-US" sz="1100" baseline="0" dirty="0"/>
              <a:t>F</a:t>
            </a:r>
            <a:r>
              <a:rPr lang="en-US" sz="1100" dirty="0"/>
              <a:t>or </a:t>
            </a:r>
            <a:r>
              <a:rPr lang="en-US" sz="1100" b="1" dirty="0"/>
              <a:t>Amazon RDS</a:t>
            </a:r>
            <a:r>
              <a:rPr lang="en-US" sz="1100" dirty="0"/>
              <a:t>, you pay $0.977 per hour if you run Microsoft SQL Server based on these parameters:</a:t>
            </a:r>
          </a:p>
          <a:p>
            <a:pPr marL="628650" lvl="1" indent="-171450">
              <a:buFont typeface="Arial" panose="020B0604020202020204" pitchFamily="34" charset="0"/>
              <a:buChar char="•"/>
            </a:pPr>
            <a:r>
              <a:rPr lang="en-US" sz="1100" dirty="0"/>
              <a:t>Instance</a:t>
            </a:r>
            <a:r>
              <a:rPr lang="en-US" sz="1100" baseline="0" dirty="0"/>
              <a:t> – </a:t>
            </a:r>
            <a:r>
              <a:rPr lang="en-US" sz="1100" dirty="0"/>
              <a:t>Standard (Single-AZ) instance</a:t>
            </a:r>
          </a:p>
          <a:p>
            <a:pPr marL="628650" lvl="1" indent="-171450">
              <a:buFont typeface="Arial" panose="020B0604020202020204" pitchFamily="34" charset="0"/>
              <a:buChar char="•"/>
            </a:pPr>
            <a:r>
              <a:rPr lang="en-US" sz="1100" dirty="0"/>
              <a:t>Instance size</a:t>
            </a:r>
            <a:r>
              <a:rPr lang="en-US" sz="1100" baseline="0" dirty="0"/>
              <a:t> – </a:t>
            </a:r>
            <a:r>
              <a:rPr lang="en-US" sz="1100" dirty="0"/>
              <a:t>db.m5.large</a:t>
            </a:r>
          </a:p>
          <a:p>
            <a:pPr marL="628650" lvl="1" indent="-171450">
              <a:buFont typeface="Arial" panose="020B0604020202020204" pitchFamily="34" charset="0"/>
              <a:buChar char="•"/>
            </a:pPr>
            <a:r>
              <a:rPr lang="en-US" sz="1100" dirty="0"/>
              <a:t>Region</a:t>
            </a:r>
            <a:r>
              <a:rPr lang="en-US" sz="1100" baseline="0" dirty="0"/>
              <a:t> – </a:t>
            </a:r>
            <a:r>
              <a:rPr lang="en-US" sz="1100" dirty="0"/>
              <a:t>US East (Ohio)</a:t>
            </a:r>
          </a:p>
          <a:p>
            <a:pPr marL="628650" lvl="1" indent="-171450">
              <a:buFont typeface="Arial" panose="020B0604020202020204" pitchFamily="34" charset="0"/>
              <a:buChar char="•"/>
            </a:pPr>
            <a:r>
              <a:rPr lang="en-US" sz="1100" dirty="0"/>
              <a:t>Pricing</a:t>
            </a:r>
            <a:r>
              <a:rPr lang="en-US" sz="1100" baseline="0" dirty="0"/>
              <a:t> – On-Demand Instance</a:t>
            </a:r>
            <a:endParaRPr lang="en-US" sz="1100" dirty="0"/>
          </a:p>
          <a:p>
            <a:pPr marL="171450" indent="-171450">
              <a:buFont typeface="Arial" panose="020B0604020202020204" pitchFamily="34" charset="0"/>
              <a:buChar char="•"/>
            </a:pPr>
            <a:r>
              <a:rPr lang="en-US" sz="1100" dirty="0"/>
              <a:t>For </a:t>
            </a:r>
            <a:r>
              <a:rPr lang="en-US" sz="1100" b="1" dirty="0"/>
              <a:t>Amazon EC2</a:t>
            </a:r>
            <a:r>
              <a:rPr lang="en-US" sz="1100" dirty="0"/>
              <a:t>, you</a:t>
            </a:r>
            <a:r>
              <a:rPr lang="en-US" sz="1100" baseline="0" dirty="0"/>
              <a:t> pay</a:t>
            </a:r>
            <a:r>
              <a:rPr lang="en-US" sz="1100" dirty="0"/>
              <a:t> $0.668 per hour if you run Microsoft SQL Server based on these parameters:</a:t>
            </a:r>
          </a:p>
          <a:p>
            <a:pPr marL="628650" lvl="1" indent="-171450">
              <a:buFont typeface="Arial" panose="020B0604020202020204" pitchFamily="34" charset="0"/>
              <a:buChar char="•"/>
            </a:pPr>
            <a:r>
              <a:rPr lang="en-US" sz="1100" dirty="0"/>
              <a:t>Instance</a:t>
            </a:r>
            <a:r>
              <a:rPr lang="en-US" sz="1100" baseline="0" dirty="0"/>
              <a:t> – </a:t>
            </a:r>
            <a:r>
              <a:rPr lang="en-US" sz="1100" dirty="0"/>
              <a:t>Windows instance</a:t>
            </a:r>
          </a:p>
          <a:p>
            <a:pPr marL="628650" lvl="1" indent="-171450">
              <a:buFont typeface="Arial" panose="020B0604020202020204" pitchFamily="34" charset="0"/>
              <a:buChar char="•"/>
            </a:pPr>
            <a:r>
              <a:rPr lang="en-US" sz="1100" dirty="0"/>
              <a:t>Instance</a:t>
            </a:r>
            <a:r>
              <a:rPr lang="en-US" sz="1100" baseline="0" dirty="0"/>
              <a:t> </a:t>
            </a:r>
            <a:r>
              <a:rPr lang="en-US" sz="1100" dirty="0"/>
              <a:t>size</a:t>
            </a:r>
            <a:r>
              <a:rPr lang="en-US" sz="1100" baseline="0" dirty="0"/>
              <a:t> –</a:t>
            </a:r>
            <a:r>
              <a:rPr lang="en-US" sz="1100" dirty="0"/>
              <a:t> m5.large</a:t>
            </a:r>
          </a:p>
          <a:p>
            <a:pPr marL="628650" lvl="1" indent="-171450">
              <a:buFont typeface="Arial" panose="020B0604020202020204" pitchFamily="34" charset="0"/>
              <a:buChar char="•"/>
            </a:pPr>
            <a:r>
              <a:rPr lang="en-US" sz="1100" dirty="0"/>
              <a:t>Region</a:t>
            </a:r>
            <a:r>
              <a:rPr lang="en-US" sz="1100" baseline="0" dirty="0"/>
              <a:t> – U</a:t>
            </a:r>
            <a:r>
              <a:rPr lang="en-US" sz="1100" dirty="0"/>
              <a:t>S East (Ohio)</a:t>
            </a:r>
          </a:p>
          <a:p>
            <a:pPr marL="628650" lvl="1" indent="-171450">
              <a:buFont typeface="Arial" panose="020B0604020202020204" pitchFamily="34" charset="0"/>
              <a:buChar char="•"/>
            </a:pPr>
            <a:r>
              <a:rPr lang="en-US" sz="1100" dirty="0"/>
              <a:t>Pricing</a:t>
            </a:r>
            <a:r>
              <a:rPr lang="en-US" sz="1100" baseline="0" dirty="0"/>
              <a:t> – </a:t>
            </a:r>
            <a:r>
              <a:rPr lang="en-US" sz="1100" dirty="0"/>
              <a:t>On-Demand Instance </a:t>
            </a:r>
          </a:p>
          <a:p>
            <a:pPr marL="0" indent="0">
              <a:buFont typeface="Arial" panose="020B0604020202020204" pitchFamily="34" charset="0"/>
              <a:buNone/>
            </a:pPr>
            <a:endParaRPr lang="en-US" sz="1100" b="0" i="0" kern="1200" dirty="0">
              <a:solidFill>
                <a:schemeClr val="tx1"/>
              </a:solidFill>
              <a:effectLst/>
              <a:latin typeface="+mn-lt"/>
              <a:ea typeface="+mn-ea"/>
              <a:cs typeface="+mn-cs"/>
            </a:endParaRPr>
          </a:p>
          <a:p>
            <a:pPr marL="0" indent="0">
              <a:buFont typeface="Arial" panose="020B0604020202020204" pitchFamily="34" charset="0"/>
              <a:buNone/>
            </a:pPr>
            <a:r>
              <a:rPr lang="en-US" sz="1100" b="0" i="0" kern="1200" dirty="0">
                <a:solidFill>
                  <a:schemeClr val="tx1"/>
                </a:solidFill>
                <a:effectLst/>
                <a:latin typeface="+mn-lt"/>
                <a:ea typeface="+mn-ea"/>
                <a:cs typeface="+mn-cs"/>
              </a:rPr>
              <a:t>As you consider cost, do not forget to include the cost of labor. For example, keep in mind that with a standard Single-AZ</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Amazon RDS deployment—which is the basis of the example price reference—automated backups are provided.  With Amazon RDS, if a DB instance component failed</a:t>
            </a:r>
            <a:r>
              <a:rPr lang="en-US" sz="1100" b="0" i="0" kern="1200" baseline="0" dirty="0">
                <a:solidFill>
                  <a:schemeClr val="tx1"/>
                </a:solidFill>
                <a:effectLst/>
                <a:latin typeface="+mn-lt"/>
                <a:ea typeface="+mn-ea"/>
                <a:cs typeface="+mn-cs"/>
              </a:rPr>
              <a:t> and</a:t>
            </a:r>
            <a:r>
              <a:rPr lang="en-US" sz="1100" b="0" i="0" kern="1200" dirty="0">
                <a:solidFill>
                  <a:schemeClr val="tx1"/>
                </a:solidFill>
                <a:effectLst/>
                <a:latin typeface="+mn-lt"/>
                <a:ea typeface="+mn-ea"/>
                <a:cs typeface="+mn-cs"/>
              </a:rPr>
              <a:t> a user-initiated restore operation is required, you would</a:t>
            </a:r>
            <a:r>
              <a:rPr lang="en-US" sz="1100" b="0" i="0" kern="1200" baseline="0" dirty="0">
                <a:solidFill>
                  <a:schemeClr val="tx1"/>
                </a:solidFill>
                <a:effectLst/>
                <a:latin typeface="+mn-lt"/>
                <a:ea typeface="+mn-ea"/>
                <a:cs typeface="+mn-cs"/>
              </a:rPr>
              <a:t> have</a:t>
            </a:r>
            <a:r>
              <a:rPr lang="en-US" sz="1100" b="0" i="0" kern="1200" dirty="0">
                <a:solidFill>
                  <a:schemeClr val="tx1"/>
                </a:solidFill>
                <a:effectLst/>
                <a:latin typeface="+mn-lt"/>
                <a:ea typeface="+mn-ea"/>
                <a:cs typeface="+mn-cs"/>
              </a:rPr>
              <a:t> a restorable backup that you could use. If you run the database on Amazon</a:t>
            </a:r>
            <a:r>
              <a:rPr lang="en-US" sz="1100" b="0" i="0" kern="1200" baseline="0" dirty="0">
                <a:solidFill>
                  <a:schemeClr val="tx1"/>
                </a:solidFill>
                <a:effectLst/>
                <a:latin typeface="+mn-lt"/>
                <a:ea typeface="+mn-ea"/>
                <a:cs typeface="+mn-cs"/>
              </a:rPr>
              <a:t> EC2, y</a:t>
            </a:r>
            <a:r>
              <a:rPr lang="en-US" sz="1100" b="0" i="0" kern="1200" dirty="0">
                <a:solidFill>
                  <a:schemeClr val="tx1"/>
                </a:solidFill>
                <a:effectLst/>
                <a:latin typeface="+mn-lt"/>
                <a:ea typeface="+mn-ea"/>
                <a:cs typeface="+mn-cs"/>
              </a:rPr>
              <a:t>ou could configure an equally robust backup procedure for Microsoft SQL Server.</a:t>
            </a:r>
            <a:r>
              <a:rPr lang="en-US" sz="1100" b="0" i="0" kern="1200" baseline="0" dirty="0">
                <a:solidFill>
                  <a:schemeClr val="tx1"/>
                </a:solidFill>
                <a:effectLst/>
                <a:latin typeface="+mn-lt"/>
                <a:ea typeface="+mn-ea"/>
                <a:cs typeface="+mn-cs"/>
              </a:rPr>
              <a:t> However,</a:t>
            </a:r>
            <a:r>
              <a:rPr lang="en-US" sz="1100" b="0" i="0" kern="1200" dirty="0">
                <a:solidFill>
                  <a:schemeClr val="tx1"/>
                </a:solidFill>
                <a:effectLst/>
                <a:latin typeface="+mn-lt"/>
                <a:ea typeface="+mn-ea"/>
                <a:cs typeface="+mn-cs"/>
              </a:rPr>
              <a:t> it would take</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time, knowledge, and technical skill to build the solution. You would also need to pre-configure the solution </a:t>
            </a:r>
            <a:r>
              <a:rPr lang="en-US" sz="1100" b="0" i="1" kern="1200" dirty="0">
                <a:solidFill>
                  <a:schemeClr val="tx1"/>
                </a:solidFill>
                <a:effectLst/>
                <a:latin typeface="+mn-lt"/>
                <a:ea typeface="+mn-ea"/>
                <a:cs typeface="+mn-cs"/>
              </a:rPr>
              <a:t>before</a:t>
            </a:r>
            <a:r>
              <a:rPr lang="en-US" sz="1100" b="0" i="0" kern="1200" dirty="0">
                <a:solidFill>
                  <a:schemeClr val="tx1"/>
                </a:solidFill>
                <a:effectLst/>
                <a:latin typeface="+mn-lt"/>
                <a:ea typeface="+mn-ea"/>
                <a:cs typeface="+mn-cs"/>
              </a:rPr>
              <a:t> you encounter the situation where you need</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it. For these reasons, when you consider the needs of your deployments holistically,</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you might find that using Amazon RDS is less expensive than using Amazon EC2. However, if you have skilled database administrators on staff—and you also have very specific deployment requirements that make it preferable for you to have total control over all aspects of the deployment—you could use Amazon </a:t>
            </a:r>
            <a:r>
              <a:rPr lang="en-US" sz="1100" dirty="0"/>
              <a:t>EC2. In this case, you might find Amazon</a:t>
            </a:r>
            <a:r>
              <a:rPr lang="en-US" sz="1100" baseline="0" dirty="0"/>
              <a:t> EC2 </a:t>
            </a:r>
            <a:r>
              <a:rPr lang="en-US" sz="1100" dirty="0"/>
              <a:t>to be the more cost-effective solution. </a:t>
            </a:r>
          </a:p>
        </p:txBody>
      </p:sp>
    </p:spTree>
    <p:extLst>
      <p:ext uri="{BB962C8B-B14F-4D97-AF65-F5344CB8AC3E}">
        <p14:creationId xmlns:p14="http://schemas.microsoft.com/office/powerpoint/2010/main" val="40290696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Introducing</a:t>
            </a:r>
            <a:r>
              <a:rPr lang="en-US" sz="1100" dirty="0"/>
              <a:t> Section 3</a:t>
            </a:r>
            <a:r>
              <a:rPr lang="en-US" sz="1050" dirty="0">
                <a:cs typeface="Arial"/>
              </a:rPr>
              <a:t>: Amazon EC2 c</a:t>
            </a:r>
            <a:r>
              <a:rPr lang="en-US" sz="1050" dirty="0"/>
              <a:t>ost optimization.</a:t>
            </a:r>
          </a:p>
          <a:p>
            <a:endParaRPr lang="en-US" sz="1100" dirty="0"/>
          </a:p>
        </p:txBody>
      </p:sp>
    </p:spTree>
    <p:extLst>
      <p:ext uri="{BB962C8B-B14F-4D97-AF65-F5344CB8AC3E}">
        <p14:creationId xmlns:p14="http://schemas.microsoft.com/office/powerpoint/2010/main" val="21117793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161538"/>
          </a:xfrm>
        </p:spPr>
        <p:txBody>
          <a:bodyPr/>
          <a:lstStyle/>
          <a:p>
            <a:pPr defTabSz="457200">
              <a:spcAft>
                <a:spcPts val="600"/>
              </a:spcAft>
              <a:defRPr/>
            </a:pPr>
            <a:r>
              <a:rPr lang="en-US" sz="1100" dirty="0"/>
              <a:t>Amazon offers different pricing models to choose from when you want to run EC2 instances. </a:t>
            </a:r>
            <a:endParaRPr lang="en-US" sz="1100" b="0" dirty="0"/>
          </a:p>
          <a:p>
            <a:pPr defTabSz="457200">
              <a:spcAft>
                <a:spcPts val="600"/>
              </a:spcAft>
              <a:defRPr/>
            </a:pPr>
            <a:r>
              <a:rPr lang="en-US" sz="1100" b="1" dirty="0"/>
              <a:t>Per second billing</a:t>
            </a:r>
            <a:r>
              <a:rPr lang="en-US" sz="1100" dirty="0"/>
              <a:t> is only available for On-Demand Instances, Reserved Instances, and Spot Instances that run Amazon Linux or Ubuntu.</a:t>
            </a:r>
          </a:p>
          <a:p>
            <a:pPr marL="0" marR="0" indent="0" algn="l" defTabSz="457200" rtl="0" eaLnBrk="1" fontAlgn="auto" latinLnBrk="0" hangingPunct="1">
              <a:lnSpc>
                <a:spcPct val="100000"/>
              </a:lnSpc>
              <a:spcAft>
                <a:spcPts val="600"/>
              </a:spcAft>
              <a:buClrTx/>
              <a:buSzTx/>
              <a:buFontTx/>
              <a:buNone/>
              <a:tabLst/>
              <a:defRPr/>
            </a:pPr>
            <a:r>
              <a:rPr lang="en-US" sz="1100" b="1" dirty="0"/>
              <a:t>On-Demand </a:t>
            </a:r>
            <a:r>
              <a:rPr lang="en-US" sz="1100" dirty="0"/>
              <a:t>Instances are eligible for the </a:t>
            </a:r>
            <a:r>
              <a:rPr lang="en-US" sz="1100" dirty="0">
                <a:hlinkClick r:id="rId3"/>
              </a:rPr>
              <a:t>AWS Free Tier</a:t>
            </a:r>
            <a:r>
              <a:rPr lang="en-US" sz="1100" dirty="0"/>
              <a:t>. They have the lowest upfront cost and the most flexibility. There are no upfront commitments or long-term contracts. It is a good choice for applications with short-term, spiky, or unpredictable workloads. </a:t>
            </a: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100" b="1" dirty="0"/>
              <a:t>Dedicated Hosts</a:t>
            </a:r>
            <a:r>
              <a:rPr lang="en-US" sz="1100" dirty="0"/>
              <a:t> are physical servers with instance capacity that is dedicated to your use. </a:t>
            </a:r>
            <a:r>
              <a:rPr lang="en-US" sz="1100" b="0" dirty="0"/>
              <a:t>They</a:t>
            </a:r>
            <a:r>
              <a:rPr lang="en-US" sz="1100" dirty="0"/>
              <a:t> enable you to use your existing per-socket, per-core, or per-VM software licenses, such as for Microsoft Windows or Microsoft SQL Server. </a:t>
            </a:r>
          </a:p>
          <a:p>
            <a:pPr>
              <a:spcAft>
                <a:spcPts val="600"/>
              </a:spcAft>
            </a:pPr>
            <a:r>
              <a:rPr lang="en-US" sz="1100" b="1" dirty="0"/>
              <a:t>Dedicated Instances </a:t>
            </a:r>
            <a:r>
              <a:rPr lang="en-US" sz="1100" dirty="0"/>
              <a:t>are instances that run in a virtual private cloud (VPC) on hardware that’s dedicated to a single customer. They are physically isolated at the host hardware level from instances that belong to other AWS accounts. </a:t>
            </a:r>
          </a:p>
          <a:p>
            <a:pPr>
              <a:spcAft>
                <a:spcPts val="600"/>
              </a:spcAft>
            </a:pPr>
            <a:r>
              <a:rPr lang="en-US" sz="1100" b="1" dirty="0"/>
              <a:t>Reserved Instance </a:t>
            </a:r>
            <a:r>
              <a:rPr lang="en-US" sz="1100" dirty="0"/>
              <a:t>enable you to reserve computing capacity for 1-year or 3-year term with lower hourly running costs. The discounted usage price is fixed for as long as you own the Reserved Instance. If you expect consistent, heavy</a:t>
            </a:r>
            <a:r>
              <a:rPr lang="en-US" sz="1100" baseline="0" dirty="0"/>
              <a:t> </a:t>
            </a:r>
            <a:r>
              <a:rPr lang="en-US" sz="1100" dirty="0"/>
              <a:t>use, they can provide substantial savings compared to On-Demand Instances.</a:t>
            </a:r>
          </a:p>
          <a:p>
            <a:pPr>
              <a:spcAft>
                <a:spcPts val="600"/>
              </a:spcAft>
            </a:pPr>
            <a:r>
              <a:rPr lang="en-US" sz="1100" b="1" dirty="0"/>
              <a:t>Scheduled Reserved Instances</a:t>
            </a:r>
            <a:r>
              <a:rPr lang="en-US" sz="1100" dirty="0"/>
              <a:t> enable you to purchase capacity reservations that recur on a daily, weekly, or monthly basis, with a specified duration, for a 1-year term. You pay for the time that the instances are scheduled, even if you do not use them. </a:t>
            </a:r>
          </a:p>
          <a:p>
            <a:pPr>
              <a:spcAft>
                <a:spcPts val="600"/>
              </a:spcAft>
            </a:pPr>
            <a:r>
              <a:rPr lang="en-US" sz="1100" b="1" dirty="0"/>
              <a:t>Spot Instances </a:t>
            </a:r>
            <a:r>
              <a:rPr lang="en-US" sz="1100" dirty="0"/>
              <a:t>enable you to bid on unused EC2 instances, which can lower your costs. The hourly price for a Spot Instance fluctuates depending on supply and demand. Your Spot Instance runs whenever your bid exceeds the current market price.</a:t>
            </a:r>
            <a:endParaRPr lang="en-US" sz="1100" b="0" i="0" kern="1200" dirty="0">
              <a:solidFill>
                <a:schemeClr val="tx1"/>
              </a:solidFill>
              <a:effectLst/>
              <a:latin typeface="+mn-lt"/>
              <a:ea typeface="+mn-ea"/>
              <a:cs typeface="+mn-cs"/>
            </a:endParaRPr>
          </a:p>
          <a:p>
            <a:endParaRPr lang="en-US" sz="1100" b="0" i="0" kern="1200" dirty="0">
              <a:solidFill>
                <a:schemeClr val="tx1"/>
              </a:solidFill>
              <a:effectLst/>
              <a:latin typeface="+mn-lt"/>
              <a:ea typeface="+mn-ea"/>
              <a:cs typeface="+mn-cs"/>
            </a:endParaRPr>
          </a:p>
          <a:p>
            <a:endParaRPr lang="en-US" sz="1100" dirty="0"/>
          </a:p>
        </p:txBody>
      </p:sp>
    </p:spTree>
    <p:extLst>
      <p:ext uri="{BB962C8B-B14F-4D97-AF65-F5344CB8AC3E}">
        <p14:creationId xmlns:p14="http://schemas.microsoft.com/office/powerpoint/2010/main" val="2476718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Each Amazon EC2 pricing model provides a different set of benefits.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On-Demand Instances </a:t>
            </a:r>
            <a:r>
              <a:rPr lang="en-US" sz="1100" dirty="0"/>
              <a:t>offer the most flexibility, with no long-term contract and low rates. </a:t>
            </a:r>
            <a:endParaRPr lang="en-US" sz="11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kern="1200" dirty="0">
                <a:solidFill>
                  <a:schemeClr val="tx1"/>
                </a:solidFill>
                <a:effectLst/>
                <a:latin typeface="+mn-lt"/>
                <a:ea typeface="+mn-ea"/>
                <a:cs typeface="+mn-cs"/>
              </a:rPr>
              <a:t>Spot Instances</a:t>
            </a:r>
            <a:r>
              <a:rPr lang="en-US" sz="1100" b="0" i="0" kern="1200" dirty="0">
                <a:solidFill>
                  <a:schemeClr val="tx1"/>
                </a:solidFill>
                <a:effectLst/>
                <a:latin typeface="+mn-lt"/>
                <a:ea typeface="+mn-ea"/>
                <a:cs typeface="+mn-cs"/>
              </a:rPr>
              <a:t> provide large scale at a significantly discounted price.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lvl="0">
              <a:defRPr/>
            </a:pPr>
            <a:r>
              <a:rPr lang="en-US" sz="1100" b="1" dirty="0"/>
              <a:t>Reserved Instances</a:t>
            </a:r>
            <a:r>
              <a:rPr lang="en-US" sz="1100" dirty="0"/>
              <a:t> are a good choice if </a:t>
            </a:r>
            <a:r>
              <a:rPr lang="en-US" sz="1100" b="0" i="0" kern="1200" dirty="0">
                <a:solidFill>
                  <a:schemeClr val="tx1"/>
                </a:solidFill>
                <a:effectLst/>
                <a:latin typeface="+mn-lt"/>
                <a:ea typeface="+mn-ea"/>
                <a:cs typeface="+mn-cs"/>
              </a:rPr>
              <a:t>you have predictable or steady-state compute needs (for example, an instance that you know you want to keep running most or all of the time for months or years).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kern="1200" dirty="0">
                <a:solidFill>
                  <a:schemeClr val="tx1"/>
                </a:solidFill>
                <a:effectLst/>
                <a:latin typeface="+mn-lt"/>
                <a:ea typeface="+mn-ea"/>
                <a:cs typeface="+mn-cs"/>
              </a:rPr>
              <a:t>Dedicated Hosts</a:t>
            </a:r>
            <a:r>
              <a:rPr lang="en-US" sz="1100" b="0" i="0" kern="1200" dirty="0">
                <a:solidFill>
                  <a:schemeClr val="tx1"/>
                </a:solidFill>
                <a:effectLst/>
                <a:latin typeface="+mn-lt"/>
                <a:ea typeface="+mn-ea"/>
                <a:cs typeface="+mn-cs"/>
              </a:rPr>
              <a:t> are a good choice when you have licensing restrictions for the software you want to run on Amazon EC2,</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or when you have specific compliance or regulatory requirements that preclude you from using the other deployment options.</a:t>
            </a:r>
            <a:endParaRPr lang="en-US" altLang="en-US" sz="1100" dirty="0">
              <a:solidFill>
                <a:srgbClr val="323232"/>
              </a:solidFill>
            </a:endParaRPr>
          </a:p>
          <a:p>
            <a:r>
              <a:rPr lang="en-US" sz="1100" dirty="0"/>
              <a:t> </a:t>
            </a:r>
          </a:p>
        </p:txBody>
      </p:sp>
    </p:spTree>
    <p:extLst>
      <p:ext uri="{BB962C8B-B14F-4D97-AF65-F5344CB8AC3E}">
        <p14:creationId xmlns:p14="http://schemas.microsoft.com/office/powerpoint/2010/main" val="9489573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847338"/>
          </a:xfrm>
        </p:spPr>
        <p:txBody>
          <a:bodyPr wrap="square" tIns="91440" bIns="0"/>
          <a:lstStyle/>
          <a:p>
            <a:pPr>
              <a:defRPr/>
            </a:pPr>
            <a:r>
              <a:rPr lang="en-US" sz="1100" dirty="0"/>
              <a:t>Here is a review of some use cases for the various pricing options. </a:t>
            </a:r>
          </a:p>
          <a:p>
            <a:pPr>
              <a:defRPr/>
            </a:pPr>
            <a:endParaRPr lang="en-US" sz="1100" dirty="0"/>
          </a:p>
          <a:p>
            <a:pPr>
              <a:spcAft>
                <a:spcPts val="1200"/>
              </a:spcAft>
              <a:defRPr/>
            </a:pPr>
            <a:r>
              <a:rPr lang="en-US" sz="1100" b="1" dirty="0"/>
              <a:t>On-Demand Instance</a:t>
            </a:r>
            <a:r>
              <a:rPr lang="en-US" sz="1100" dirty="0"/>
              <a:t> pricing works well for spiky workloads or if you only need to test or run an application for a short</a:t>
            </a:r>
            <a:r>
              <a:rPr lang="en-US" sz="1100" baseline="0" dirty="0"/>
              <a:t> </a:t>
            </a:r>
            <a:r>
              <a:rPr lang="en-US" sz="1100" dirty="0"/>
              <a:t>time</a:t>
            </a:r>
            <a:r>
              <a:rPr lang="en-US" sz="1100" baseline="0" dirty="0"/>
              <a:t> (f</a:t>
            </a:r>
            <a:r>
              <a:rPr lang="en-US" sz="1100" dirty="0"/>
              <a:t>or example, during application development or testing). Sometimes, your workloads are unpredictable, and On-Demand Instances are a good choice for these cases.</a:t>
            </a:r>
          </a:p>
          <a:p>
            <a:pPr>
              <a:defRPr/>
            </a:pPr>
            <a:endParaRPr lang="en-US" sz="1100" b="1" dirty="0"/>
          </a:p>
          <a:p>
            <a:pPr>
              <a:defRPr/>
            </a:pPr>
            <a:r>
              <a:rPr lang="en-US" sz="1100" b="1" dirty="0"/>
              <a:t>Spot Instances </a:t>
            </a:r>
            <a:r>
              <a:rPr lang="en-US" sz="1100" dirty="0"/>
              <a:t>are a good choice if your applications can tolerate interruption with a 2-minute warning notification. </a:t>
            </a:r>
            <a:r>
              <a:rPr lang="en-US" sz="1100" b="0" i="0" kern="1200" dirty="0">
                <a:solidFill>
                  <a:schemeClr val="tx1"/>
                </a:solidFill>
                <a:effectLst/>
                <a:ea typeface="+mn-ea"/>
                <a:cs typeface="+mn-cs"/>
              </a:rPr>
              <a:t>By default, instances are terminated, but you can configure them to stop or hibernate instead. Common use cases include fault-tolerant applications such as web servers, API backends</a:t>
            </a:r>
            <a:r>
              <a:rPr lang="en-US" sz="1100" dirty="0"/>
              <a:t>, and big data processing. Workloads that constantly save data to persistent storage (such as Amazon S3) are also good candidates.</a:t>
            </a:r>
            <a:endParaRPr lang="en-US" sz="1100" b="0" i="0" kern="1200" dirty="0">
              <a:solidFill>
                <a:schemeClr val="tx1"/>
              </a:solidFill>
              <a:effectLst/>
              <a:ea typeface="+mn-ea"/>
              <a:cs typeface="+mn-cs"/>
            </a:endParaRPr>
          </a:p>
          <a:p>
            <a:pPr>
              <a:defRPr/>
            </a:pPr>
            <a:endParaRPr lang="en-US" sz="1100" b="0" i="0" kern="1200" dirty="0">
              <a:solidFill>
                <a:schemeClr val="tx1"/>
              </a:solidFill>
              <a:effectLst/>
              <a:ea typeface="+mn-ea"/>
              <a:cs typeface="+mn-cs"/>
            </a:endParaRPr>
          </a:p>
          <a:p>
            <a:pPr>
              <a:defRPr/>
            </a:pPr>
            <a:r>
              <a:rPr lang="en-US" sz="1100" b="1" kern="1200" dirty="0">
                <a:solidFill>
                  <a:schemeClr val="tx1"/>
                </a:solidFill>
                <a:effectLst/>
                <a:ea typeface="+mn-ea"/>
                <a:cs typeface="+mn-cs"/>
              </a:rPr>
              <a:t>Reserved Instances </a:t>
            </a:r>
            <a:r>
              <a:rPr lang="en-US" sz="1100" dirty="0"/>
              <a:t>are a good choice </a:t>
            </a:r>
            <a:r>
              <a:rPr lang="en-US" sz="1100" kern="1200" dirty="0">
                <a:solidFill>
                  <a:schemeClr val="tx1"/>
                </a:solidFill>
                <a:effectLst/>
                <a:ea typeface="+mn-ea"/>
                <a:cs typeface="+mn-cs"/>
              </a:rPr>
              <a:t>when you have long-term workloads with predictable usage patterns, such as servers that you know you will want to run in a consistent way over many months.</a:t>
            </a:r>
            <a:endParaRPr lang="en-US" sz="1100" kern="1200" dirty="0">
              <a:solidFill>
                <a:srgbClr val="323232"/>
              </a:solidFill>
              <a:effectLst/>
              <a:cs typeface="+mn-cs"/>
            </a:endParaRPr>
          </a:p>
          <a:p>
            <a:pPr>
              <a:defRPr/>
            </a:pPr>
            <a:endParaRPr lang="en-US" sz="1100" b="1" dirty="0">
              <a:solidFill>
                <a:srgbClr val="323232"/>
              </a:solidFill>
              <a:ea typeface="ＭＳ Ｐゴシック" charset="0"/>
            </a:endParaRPr>
          </a:p>
          <a:p>
            <a:pPr>
              <a:defRPr/>
            </a:pPr>
            <a:r>
              <a:rPr lang="en-US" sz="1100" b="1" dirty="0">
                <a:solidFill>
                  <a:srgbClr val="323232"/>
                </a:solidFill>
                <a:ea typeface="ＭＳ Ｐゴシック" charset="0"/>
              </a:rPr>
              <a:t>Dedicated Hosts </a:t>
            </a:r>
            <a:r>
              <a:rPr lang="en-US" sz="1100" dirty="0"/>
              <a:t>are a good choice when you have existing per-socket, per-core, or per-VM</a:t>
            </a:r>
            <a:r>
              <a:rPr lang="en-US" sz="1100" baseline="0" dirty="0"/>
              <a:t> </a:t>
            </a:r>
            <a:r>
              <a:rPr lang="en-US" sz="1100" dirty="0"/>
              <a:t>software licenses, or when you must address specific corporate compliance and regulatory requirements. </a:t>
            </a:r>
          </a:p>
        </p:txBody>
      </p:sp>
    </p:spTree>
    <p:extLst>
      <p:ext uri="{BB962C8B-B14F-4D97-AF65-F5344CB8AC3E}">
        <p14:creationId xmlns:p14="http://schemas.microsoft.com/office/powerpoint/2010/main" val="32848661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To optimize costs, you must consider four consistent, powerful drivers: </a:t>
            </a:r>
          </a:p>
          <a:p>
            <a:endParaRPr lang="en-US" sz="11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100" b="1" kern="1200" dirty="0">
                <a:solidFill>
                  <a:schemeClr val="tx1"/>
                </a:solidFill>
                <a:effectLst/>
                <a:latin typeface="+mn-lt"/>
                <a:ea typeface="+mn-ea"/>
                <a:cs typeface="+mn-cs"/>
              </a:rPr>
              <a:t>Right-size</a:t>
            </a:r>
            <a:r>
              <a:rPr lang="en-US" sz="1100" kern="1200" dirty="0">
                <a:solidFill>
                  <a:schemeClr val="tx1"/>
                </a:solidFill>
                <a:effectLst/>
                <a:latin typeface="+mn-lt"/>
                <a:ea typeface="+mn-ea"/>
                <a:cs typeface="+mn-cs"/>
              </a:rPr>
              <a:t> –</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Choose</a:t>
            </a:r>
            <a:r>
              <a:rPr lang="en-US" sz="1100" kern="1200" baseline="0" dirty="0">
                <a:solidFill>
                  <a:schemeClr val="tx1"/>
                </a:solidFill>
                <a:effectLst/>
                <a:latin typeface="+mn-lt"/>
                <a:ea typeface="+mn-ea"/>
                <a:cs typeface="+mn-cs"/>
              </a:rPr>
              <a:t> the right balance of i</a:t>
            </a:r>
            <a:r>
              <a:rPr lang="en-US" sz="1100" kern="1200" dirty="0">
                <a:solidFill>
                  <a:schemeClr val="tx1"/>
                </a:solidFill>
                <a:effectLst/>
                <a:latin typeface="+mn-lt"/>
                <a:ea typeface="+mn-ea"/>
                <a:cs typeface="+mn-cs"/>
              </a:rPr>
              <a:t>nstance types. Notice when servers can be either sized down or turned off, and still meet your performance requirements.</a:t>
            </a: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mn-lt"/>
                <a:ea typeface="+mn-ea"/>
                <a:cs typeface="+mn-cs"/>
              </a:rPr>
              <a:t>Increase elasticity</a:t>
            </a:r>
            <a:r>
              <a:rPr lang="en-US" sz="1100" kern="1200" dirty="0">
                <a:solidFill>
                  <a:schemeClr val="tx1"/>
                </a:solidFill>
                <a:effectLst/>
                <a:latin typeface="+mn-lt"/>
                <a:ea typeface="+mn-ea"/>
                <a:cs typeface="+mn-cs"/>
              </a:rPr>
              <a:t> – Design your deployments to reduce the amount of server capacity that is idle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by implementing deployments that are elastic, such as deployments that use automatic</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scaling to handle peak loads.</a:t>
            </a:r>
            <a:br>
              <a:rPr lang="en-US" sz="1100" kern="1200" dirty="0">
                <a:solidFill>
                  <a:schemeClr val="tx1"/>
                </a:solidFill>
                <a:effectLst/>
                <a:latin typeface="+mn-lt"/>
                <a:ea typeface="+mn-ea"/>
                <a:cs typeface="+mn-cs"/>
              </a:rPr>
            </a:b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mn-lt"/>
                <a:ea typeface="+mn-ea"/>
                <a:cs typeface="+mn-cs"/>
              </a:rPr>
              <a:t>Optimal pricing model </a:t>
            </a:r>
            <a:r>
              <a:rPr lang="en-US" sz="1100" kern="1200" dirty="0">
                <a:solidFill>
                  <a:schemeClr val="tx1"/>
                </a:solidFill>
                <a:effectLst/>
                <a:latin typeface="+mn-lt"/>
                <a:ea typeface="+mn-ea"/>
                <a:cs typeface="+mn-cs"/>
              </a:rPr>
              <a:t>– Recognize the available pricing options. Analyze your usage patterns so that you can run EC2 instances with the right mix of pricing options.</a:t>
            </a:r>
            <a:br>
              <a:rPr lang="en-US" sz="1100" kern="1200" dirty="0">
                <a:solidFill>
                  <a:schemeClr val="tx1"/>
                </a:solidFill>
                <a:effectLst/>
                <a:latin typeface="+mn-lt"/>
                <a:ea typeface="+mn-ea"/>
                <a:cs typeface="+mn-cs"/>
              </a:rPr>
            </a:b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mn-lt"/>
                <a:ea typeface="+mn-ea"/>
                <a:cs typeface="+mn-cs"/>
              </a:rPr>
              <a:t>Optimize storage choices </a:t>
            </a:r>
            <a:r>
              <a:rPr lang="en-US" sz="1100" kern="1200" dirty="0">
                <a:solidFill>
                  <a:schemeClr val="tx1"/>
                </a:solidFill>
                <a:effectLst/>
                <a:latin typeface="+mn-lt"/>
                <a:ea typeface="+mn-ea"/>
                <a:cs typeface="+mn-cs"/>
              </a:rPr>
              <a:t>– Analyze the storage requirements of your deployments. Reduce unused storage overhead when possible, and choose less expensive storage options if they can still meet your requirements for storage performance.</a:t>
            </a:r>
            <a:endParaRPr lang="en-US" sz="1100" b="1"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3845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First, consider right-sizing. AWS offers approximately 60 instance types and sizes. The wide choice of options enables customers to select the instance that best fits their workload. It can be difficult to know where to start and what </a:t>
            </a:r>
            <a:r>
              <a:rPr lang="en-US" sz="1100" dirty="0"/>
              <a:t>instance choice will prove to be the </a:t>
            </a:r>
            <a:r>
              <a:rPr lang="en-US" sz="1100" kern="1200" dirty="0">
                <a:solidFill>
                  <a:schemeClr val="tx1"/>
                </a:solidFill>
                <a:effectLst/>
                <a:latin typeface="+mn-lt"/>
                <a:ea typeface="+mn-ea"/>
                <a:cs typeface="+mn-cs"/>
              </a:rPr>
              <a:t>best, from both a technical perspective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and a cost perspective. </a:t>
            </a:r>
            <a:r>
              <a:rPr lang="en-US" sz="1100" b="1" kern="1200" dirty="0">
                <a:solidFill>
                  <a:schemeClr val="tx1"/>
                </a:solidFill>
                <a:effectLst/>
                <a:latin typeface="+mn-lt"/>
                <a:ea typeface="+mn-ea"/>
                <a:cs typeface="+mn-cs"/>
              </a:rPr>
              <a:t>Right-sizing</a:t>
            </a:r>
            <a:r>
              <a:rPr lang="en-US" sz="1100" kern="1200" dirty="0">
                <a:solidFill>
                  <a:schemeClr val="tx1"/>
                </a:solidFill>
                <a:effectLst/>
                <a:latin typeface="+mn-lt"/>
                <a:ea typeface="+mn-ea"/>
                <a:cs typeface="+mn-cs"/>
              </a:rPr>
              <a:t> is the process of reviewing deployed resources and looking for opportunities to downsize when possible. </a:t>
            </a:r>
          </a:p>
          <a:p>
            <a:pPr marL="0" lvl="0" indent="0">
              <a:buFont typeface="Arial" panose="020B0604020202020204" pitchFamily="34" charset="0"/>
              <a:buNone/>
            </a:pPr>
            <a:endParaRPr lang="en-US" sz="1100" kern="1200" dirty="0">
              <a:effectLst/>
              <a:latin typeface="+mn-lt"/>
              <a:ea typeface="+mn-ea"/>
              <a:cs typeface="+mn-cs"/>
            </a:endParaRPr>
          </a:p>
          <a:p>
            <a:pPr marL="0" lvl="0" indent="0">
              <a:buFont typeface="Arial" panose="020B0604020202020204" pitchFamily="34" charset="0"/>
              <a:buNone/>
            </a:pPr>
            <a:r>
              <a:rPr lang="en-US" sz="1100" b="1" kern="1200" dirty="0">
                <a:effectLst/>
                <a:latin typeface="+mn-lt"/>
                <a:ea typeface="+mn-ea"/>
                <a:cs typeface="+mn-cs"/>
              </a:rPr>
              <a:t>To right-size:</a:t>
            </a:r>
          </a:p>
          <a:p>
            <a:pPr marL="0" lvl="0" indent="0">
              <a:buFont typeface="Arial" panose="020B0604020202020204" pitchFamily="34" charset="0"/>
              <a:buNone/>
            </a:pPr>
            <a:endParaRPr lang="en-US" sz="1100" b="1" kern="1200" dirty="0">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effectLst/>
                <a:latin typeface="+mn-lt"/>
                <a:ea typeface="+mn-ea"/>
                <a:cs typeface="+mn-cs"/>
              </a:rPr>
              <a:t>Select</a:t>
            </a:r>
            <a:r>
              <a:rPr lang="en-US" sz="1100" kern="1200" dirty="0">
                <a:effectLst/>
                <a:latin typeface="+mn-lt"/>
                <a:ea typeface="+mn-ea"/>
                <a:cs typeface="+mn-cs"/>
              </a:rPr>
              <a:t> the cheapest instance available that still meets your performance requirements. </a:t>
            </a: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effectLst/>
                <a:latin typeface="+mn-lt"/>
                <a:ea typeface="+mn-ea"/>
                <a:cs typeface="+mn-cs"/>
              </a:rPr>
              <a:t>Review</a:t>
            </a:r>
            <a:r>
              <a:rPr lang="en-US" sz="1100" kern="1200" dirty="0">
                <a:effectLst/>
                <a:latin typeface="+mn-lt"/>
                <a:ea typeface="+mn-ea"/>
                <a:cs typeface="+mn-cs"/>
              </a:rPr>
              <a:t> CPU, RAM, storage, and network utilization to identify instances that could be downsized. Y</a:t>
            </a:r>
            <a:r>
              <a:rPr lang="en-US" sz="1100" kern="1200" dirty="0">
                <a:solidFill>
                  <a:schemeClr val="tx1"/>
                </a:solidFill>
                <a:effectLst/>
                <a:latin typeface="+mn-lt"/>
                <a:ea typeface="+mn-ea"/>
                <a:cs typeface="+mn-cs"/>
              </a:rPr>
              <a:t>ou might want to provision a variety of instance types and sizes in a test environment,</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and then test your application on those different test deployments to identify which instances offer the best performance-to-cost ratio. For right-sizing, use </a:t>
            </a:r>
            <a:r>
              <a:rPr lang="en-US" sz="1100" dirty="0"/>
              <a:t>techniques such as </a:t>
            </a:r>
            <a:r>
              <a:rPr lang="en-US" sz="1100" kern="1200" dirty="0">
                <a:solidFill>
                  <a:schemeClr val="tx1"/>
                </a:solidFill>
                <a:effectLst/>
                <a:latin typeface="+mn-lt"/>
                <a:ea typeface="+mn-ea"/>
                <a:cs typeface="+mn-cs"/>
              </a:rPr>
              <a:t>load testing to your advantage.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kern="1200" dirty="0">
              <a:effectLst/>
              <a:latin typeface="+mn-lt"/>
              <a:ea typeface="+mn-ea"/>
              <a:cs typeface="+mn-cs"/>
            </a:endParaRPr>
          </a:p>
          <a:p>
            <a:pPr marL="171450" lvl="0" indent="-171450">
              <a:buFont typeface="Arial" panose="020B0604020202020204" pitchFamily="34" charset="0"/>
              <a:buChar char="•"/>
            </a:pPr>
            <a:r>
              <a:rPr lang="en-US" sz="1100" b="1" kern="1200" dirty="0">
                <a:effectLst/>
                <a:latin typeface="+mn-lt"/>
                <a:ea typeface="+mn-ea"/>
                <a:cs typeface="+mn-cs"/>
              </a:rPr>
              <a:t>Use</a:t>
            </a:r>
            <a:r>
              <a:rPr lang="en-US" sz="1100" kern="1200" dirty="0">
                <a:effectLst/>
                <a:latin typeface="+mn-lt"/>
                <a:ea typeface="+mn-ea"/>
                <a:cs typeface="+mn-cs"/>
              </a:rPr>
              <a:t> Amazon CloudWatch metrics and set up custom metrics. A metric represents a time-ordered set of values that are published to CloudWatch</a:t>
            </a:r>
            <a:r>
              <a:rPr lang="en-US" sz="1100" kern="1200" baseline="0" dirty="0">
                <a:effectLst/>
                <a:latin typeface="+mn-lt"/>
                <a:ea typeface="+mn-ea"/>
                <a:cs typeface="+mn-cs"/>
              </a:rPr>
              <a:t> (for </a:t>
            </a:r>
            <a:r>
              <a:rPr lang="en-US" sz="1100" kern="1200" dirty="0">
                <a:effectLst/>
                <a:latin typeface="+mn-lt"/>
                <a:ea typeface="+mn-ea"/>
                <a:cs typeface="+mn-cs"/>
              </a:rPr>
              <a:t>example, the CPU usage of a particular EC2 instance). Data points can come from any application or business activity for which you collect data. </a:t>
            </a:r>
            <a:endParaRPr lang="en-US" sz="1100" dirty="0"/>
          </a:p>
          <a:p>
            <a:endParaRPr lang="en-US" sz="1100" b="1" dirty="0"/>
          </a:p>
        </p:txBody>
      </p:sp>
    </p:spTree>
    <p:extLst>
      <p:ext uri="{BB962C8B-B14F-4D97-AF65-F5344CB8AC3E}">
        <p14:creationId xmlns:p14="http://schemas.microsoft.com/office/powerpoint/2010/main" val="3834866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One form of </a:t>
            </a:r>
            <a:r>
              <a:rPr lang="en-US" sz="1100" b="1" kern="1200" dirty="0">
                <a:solidFill>
                  <a:schemeClr val="tx1"/>
                </a:solidFill>
                <a:effectLst/>
                <a:latin typeface="+mn-lt"/>
                <a:ea typeface="+mn-ea"/>
                <a:cs typeface="+mn-cs"/>
              </a:rPr>
              <a:t>elasticity</a:t>
            </a:r>
            <a:r>
              <a:rPr lang="en-US" sz="1100" kern="1200" dirty="0">
                <a:solidFill>
                  <a:schemeClr val="tx1"/>
                </a:solidFill>
                <a:effectLst/>
                <a:latin typeface="+mn-lt"/>
                <a:ea typeface="+mn-ea"/>
                <a:cs typeface="+mn-cs"/>
              </a:rPr>
              <a:t> is to</a:t>
            </a:r>
            <a:r>
              <a:rPr lang="en-US" sz="1100" kern="1200" baseline="0" dirty="0">
                <a:solidFill>
                  <a:schemeClr val="tx1"/>
                </a:solidFill>
                <a:effectLst/>
                <a:latin typeface="+mn-lt"/>
                <a:ea typeface="+mn-ea"/>
                <a:cs typeface="+mn-cs"/>
              </a:rPr>
              <a:t> </a:t>
            </a:r>
            <a:r>
              <a:rPr lang="en-US" sz="1100" dirty="0"/>
              <a:t>create, start, or </a:t>
            </a:r>
            <a:r>
              <a:rPr lang="en-US" sz="1100" kern="1200" dirty="0">
                <a:solidFill>
                  <a:schemeClr val="tx1"/>
                </a:solidFill>
                <a:effectLst/>
                <a:latin typeface="+mn-lt"/>
                <a:ea typeface="+mn-ea"/>
                <a:cs typeface="+mn-cs"/>
              </a:rPr>
              <a:t>use EC2 instances when they are needed, but then to turn them off when they are not in use. </a:t>
            </a:r>
            <a:r>
              <a:rPr lang="en-US" sz="1100" dirty="0"/>
              <a:t>Elasticity</a:t>
            </a:r>
            <a:r>
              <a:rPr lang="en-US" sz="1100" kern="1200" dirty="0">
                <a:solidFill>
                  <a:schemeClr val="tx1"/>
                </a:solidFill>
                <a:effectLst/>
                <a:latin typeface="+mn-lt"/>
                <a:ea typeface="+mn-ea"/>
                <a:cs typeface="+mn-cs"/>
              </a:rPr>
              <a:t> is one of the central tenets of the cloud, but customers often go through a learning process to operationalize elasticity to drive cost savings. </a:t>
            </a:r>
          </a:p>
          <a:p>
            <a:r>
              <a:rPr lang="en-US" sz="1100" kern="1200" dirty="0">
                <a:solidFill>
                  <a:schemeClr val="tx1"/>
                </a:solidFill>
                <a:effectLst/>
                <a:latin typeface="+mn-lt"/>
                <a:ea typeface="+mn-ea"/>
                <a:cs typeface="+mn-cs"/>
              </a:rPr>
              <a:t> </a:t>
            </a:r>
          </a:p>
          <a:p>
            <a:pPr lvl="0"/>
            <a:r>
              <a:rPr lang="en-US" sz="1100" kern="1200" dirty="0">
                <a:solidFill>
                  <a:schemeClr val="tx1"/>
                </a:solidFill>
                <a:effectLst/>
                <a:latin typeface="+mn-lt"/>
                <a:ea typeface="+mn-ea"/>
                <a:cs typeface="+mn-cs"/>
              </a:rPr>
              <a:t>The easiest way for large customers to embrace elasticity is to look for resources that look like good candidates for stopping or hibernating, such as non-production environments,</a:t>
            </a:r>
            <a:r>
              <a:rPr lang="en-US" sz="1100" kern="1200" baseline="0" dirty="0">
                <a:solidFill>
                  <a:schemeClr val="tx1"/>
                </a:solidFill>
                <a:effectLst/>
                <a:latin typeface="+mn-lt"/>
                <a:ea typeface="+mn-ea"/>
                <a:cs typeface="+mn-cs"/>
              </a:rPr>
              <a:t> development workloads, or </a:t>
            </a:r>
            <a:r>
              <a:rPr lang="en-US" sz="1100" kern="1200" dirty="0">
                <a:solidFill>
                  <a:schemeClr val="tx1"/>
                </a:solidFill>
                <a:effectLst/>
                <a:latin typeface="+mn-lt"/>
                <a:ea typeface="+mn-ea"/>
                <a:cs typeface="+mn-cs"/>
              </a:rPr>
              <a:t>test workloads. For example, if you run development</a:t>
            </a:r>
            <a:r>
              <a:rPr lang="en-US" sz="1100" kern="1200" baseline="0" dirty="0">
                <a:solidFill>
                  <a:schemeClr val="tx1"/>
                </a:solidFill>
                <a:effectLst/>
                <a:latin typeface="+mn-lt"/>
                <a:ea typeface="+mn-ea"/>
                <a:cs typeface="+mn-cs"/>
              </a:rPr>
              <a:t> or </a:t>
            </a:r>
            <a:r>
              <a:rPr lang="en-US" sz="1100" kern="1200" dirty="0">
                <a:solidFill>
                  <a:schemeClr val="tx1"/>
                </a:solidFill>
                <a:effectLst/>
                <a:latin typeface="+mn-lt"/>
                <a:ea typeface="+mn-ea"/>
                <a:cs typeface="+mn-cs"/>
              </a:rPr>
              <a:t>test workloads in a single time zone, you can easily turn off those instances outside of business hours</a:t>
            </a:r>
            <a:r>
              <a:rPr lang="en-US" sz="1100" b="1" kern="120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and thus reduce runtime costs by perhaps </a:t>
            </a:r>
            <a:r>
              <a:rPr lang="en-US" sz="1100" dirty="0"/>
              <a:t>65</a:t>
            </a:r>
            <a:r>
              <a:rPr lang="en-US" sz="1100" kern="1200" baseline="0" dirty="0">
                <a:solidFill>
                  <a:schemeClr val="tx1"/>
                </a:solidFill>
                <a:effectLst/>
                <a:latin typeface="+mn-lt"/>
                <a:ea typeface="+mn-ea"/>
                <a:cs typeface="+mn-cs"/>
              </a:rPr>
              <a:t> percent</a:t>
            </a:r>
            <a:r>
              <a:rPr lang="en-US" sz="1100" kern="1200" dirty="0">
                <a:solidFill>
                  <a:schemeClr val="tx1"/>
                </a:solidFill>
                <a:effectLst/>
                <a:latin typeface="+mn-lt"/>
                <a:ea typeface="+mn-ea"/>
                <a:cs typeface="+mn-cs"/>
              </a:rPr>
              <a:t>. </a:t>
            </a:r>
            <a:r>
              <a:rPr lang="en-US" sz="1100" dirty="0"/>
              <a:t>The concept is similar to why </a:t>
            </a:r>
            <a:r>
              <a:rPr lang="en-US" sz="1100" kern="1200" dirty="0">
                <a:solidFill>
                  <a:schemeClr val="tx1"/>
                </a:solidFill>
                <a:effectLst/>
                <a:latin typeface="+mn-lt"/>
                <a:ea typeface="+mn-ea"/>
                <a:cs typeface="+mn-cs"/>
              </a:rPr>
              <a:t>there is a light switch next to the door, and why most offices encourage employees </a:t>
            </a:r>
            <a:r>
              <a:rPr lang="en-US" sz="1100" i="1" kern="1200" dirty="0">
                <a:solidFill>
                  <a:schemeClr val="tx1"/>
                </a:solidFill>
                <a:effectLst/>
                <a:latin typeface="+mn-lt"/>
                <a:ea typeface="+mn-ea"/>
                <a:cs typeface="+mn-cs"/>
              </a:rPr>
              <a:t>to turn off the lights on their way out of the office each night. </a:t>
            </a:r>
          </a:p>
          <a:p>
            <a:pPr lvl="0"/>
            <a:endParaRPr lang="en-US" sz="1100" i="1" kern="1200" dirty="0">
              <a:solidFill>
                <a:schemeClr val="tx1"/>
              </a:solidFill>
              <a:effectLst/>
              <a:latin typeface="+mn-lt"/>
              <a:ea typeface="+mn-ea"/>
              <a:cs typeface="+mn-cs"/>
            </a:endParaRPr>
          </a:p>
          <a:p>
            <a:pPr lvl="0"/>
            <a:r>
              <a:rPr lang="en-US" sz="1100" kern="1200" dirty="0">
                <a:solidFill>
                  <a:schemeClr val="tx1"/>
                </a:solidFill>
                <a:effectLst/>
                <a:latin typeface="+mn-lt"/>
                <a:ea typeface="+mn-ea"/>
                <a:cs typeface="+mn-cs"/>
              </a:rPr>
              <a:t>For production workloads, configuring more precise and granular automatic scaling policies </a:t>
            </a:r>
            <a:r>
              <a:rPr lang="en-US" sz="1100" dirty="0"/>
              <a:t>can </a:t>
            </a:r>
            <a:r>
              <a:rPr lang="en-US" sz="1100" kern="1200" dirty="0">
                <a:solidFill>
                  <a:schemeClr val="tx1"/>
                </a:solidFill>
                <a:effectLst/>
                <a:latin typeface="+mn-lt"/>
                <a:ea typeface="+mn-ea"/>
                <a:cs typeface="+mn-cs"/>
              </a:rPr>
              <a:t>help you take advantage of horizontal scaling to meet peak capacity needs and to not pay for peak capacity all the time. </a:t>
            </a:r>
          </a:p>
          <a:p>
            <a:r>
              <a:rPr lang="en-US" sz="1100" kern="1200" dirty="0">
                <a:solidFill>
                  <a:schemeClr val="tx1"/>
                </a:solidFill>
                <a:effectLst/>
                <a:latin typeface="+mn-lt"/>
                <a:ea typeface="+mn-ea"/>
                <a:cs typeface="+mn-cs"/>
              </a:rPr>
              <a:t> </a:t>
            </a:r>
          </a:p>
          <a:p>
            <a:r>
              <a:rPr lang="en-US" sz="1100" dirty="0"/>
              <a:t>As a rule of thumb, </a:t>
            </a:r>
            <a:r>
              <a:rPr lang="en-US" sz="1100" i="1" dirty="0"/>
              <a:t>y</a:t>
            </a:r>
            <a:r>
              <a:rPr lang="en-US" sz="1100" dirty="0"/>
              <a:t>ou should target 20–30</a:t>
            </a:r>
            <a:r>
              <a:rPr lang="en-US" sz="1100" baseline="0" dirty="0"/>
              <a:t> percent</a:t>
            </a:r>
            <a:r>
              <a:rPr lang="en-US" sz="1100" dirty="0"/>
              <a:t> of your Amazon EC2 instances to run as On-Demand Instances or Spot Instances, and you should also actively</a:t>
            </a:r>
            <a:r>
              <a:rPr lang="en-US" sz="1100" baseline="0" dirty="0"/>
              <a:t> look for ways</a:t>
            </a:r>
            <a:r>
              <a:rPr lang="en-US" sz="1100" dirty="0"/>
              <a:t> to maximize elasticity.</a:t>
            </a:r>
            <a:endParaRPr lang="en-US" sz="1100" i="1" dirty="0">
              <a:solidFill>
                <a:srgbClr val="323232"/>
              </a:solidFill>
            </a:endParaRPr>
          </a:p>
          <a:p>
            <a:pPr marL="0" lvl="0" indent="0">
              <a:buFont typeface="Arial" panose="020B0604020202020204" pitchFamily="34" charset="0"/>
              <a:buNone/>
            </a:pPr>
            <a:endParaRPr lang="en-US" sz="1100" i="1" dirty="0"/>
          </a:p>
        </p:txBody>
      </p:sp>
    </p:spTree>
    <p:extLst>
      <p:ext uri="{BB962C8B-B14F-4D97-AF65-F5344CB8AC3E}">
        <p14:creationId xmlns:p14="http://schemas.microsoft.com/office/powerpoint/2010/main" val="29194575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altLang="en-US" sz="1100" dirty="0">
                <a:solidFill>
                  <a:srgbClr val="323232"/>
                </a:solidFill>
              </a:rPr>
              <a:t>AWS provides a number of pricing models for Amazon EC2 to help customers save money. The models available were discussed in detail earlier in this module. Customers can combine multiple purchase types to optimize pricing based on their current and forecast capacity needs. </a:t>
            </a:r>
          </a:p>
          <a:p>
            <a:pPr marL="0" lvl="0" indent="0">
              <a:buFont typeface="Arial" panose="020B0604020202020204" pitchFamily="34" charset="0"/>
              <a:buNone/>
            </a:pPr>
            <a:endParaRPr lang="en-US" altLang="en-US" sz="1100" b="0" i="0" kern="1200" dirty="0">
              <a:solidFill>
                <a:srgbClr val="323232"/>
              </a:solidFill>
              <a:effectLst/>
              <a:latin typeface="+mn-lt"/>
              <a:ea typeface="+mn-ea"/>
              <a:cs typeface="+mn-cs"/>
            </a:endParaRPr>
          </a:p>
          <a:p>
            <a:pPr marL="0" lvl="0" indent="0">
              <a:buFont typeface="Arial" panose="020B0604020202020204" pitchFamily="34" charset="0"/>
              <a:buNone/>
            </a:pPr>
            <a:r>
              <a:rPr lang="en-US" altLang="en-US" sz="1100" b="0" i="0" kern="1200" dirty="0">
                <a:solidFill>
                  <a:srgbClr val="323232"/>
                </a:solidFill>
                <a:effectLst/>
                <a:latin typeface="+mn-lt"/>
                <a:ea typeface="+mn-ea"/>
                <a:cs typeface="+mn-cs"/>
              </a:rPr>
              <a:t>Customers are also encouraged to consider their application architecture. For example, do</a:t>
            </a:r>
            <a:r>
              <a:rPr lang="en-US" altLang="en-US" sz="1100" dirty="0">
                <a:solidFill>
                  <a:srgbClr val="323232"/>
                </a:solidFill>
              </a:rPr>
              <a:t>es the functionality provided by your application need to run on an EC2 virtual machine? Perhaps by making use of the AWS Lambda service instead, you could significantly decrease your costs. </a:t>
            </a:r>
          </a:p>
          <a:p>
            <a:pPr marL="0" lvl="0" indent="0">
              <a:buFont typeface="Arial" panose="020B0604020202020204" pitchFamily="34" charset="0"/>
              <a:buNone/>
            </a:pPr>
            <a:endParaRPr lang="en-US" altLang="en-US" sz="1100" dirty="0">
              <a:solidFill>
                <a:srgbClr val="323232"/>
              </a:solidFill>
            </a:endParaRPr>
          </a:p>
          <a:p>
            <a:pPr marL="0" lvl="0" indent="0">
              <a:buFont typeface="Arial" panose="020B0604020202020204" pitchFamily="34" charset="0"/>
              <a:buNone/>
            </a:pPr>
            <a:r>
              <a:rPr lang="en-US" altLang="en-US" sz="1100" dirty="0">
                <a:solidFill>
                  <a:srgbClr val="323232"/>
                </a:solidFill>
              </a:rPr>
              <a:t>AWS Lambda is discussed later in this module.</a:t>
            </a:r>
            <a:endParaRPr lang="en-US" altLang="en-US" sz="11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100" i="1" dirty="0">
              <a:solidFill>
                <a:srgbClr val="323232"/>
              </a:solidFill>
            </a:endParaRPr>
          </a:p>
          <a:p>
            <a:pPr>
              <a:spcAft>
                <a:spcPts val="1200"/>
              </a:spcAft>
              <a:defRPr/>
            </a:pPr>
            <a:endParaRPr lang="en-US" sz="1100" dirty="0"/>
          </a:p>
          <a:p>
            <a:pPr marL="171450" indent="-171450">
              <a:spcAft>
                <a:spcPts val="1200"/>
              </a:spcAft>
              <a:buFont typeface="Arial" panose="020B0604020202020204" pitchFamily="34" charset="0"/>
              <a:buChar char="•"/>
              <a:defRPr/>
            </a:pPr>
            <a:endParaRPr lang="en-US" altLang="en-US" sz="1100" dirty="0"/>
          </a:p>
          <a:p>
            <a:pPr eaLnBrk="0" fontAlgn="base" hangingPunct="0">
              <a:spcBef>
                <a:spcPct val="0"/>
              </a:spcBef>
              <a:spcAft>
                <a:spcPct val="0"/>
              </a:spcAft>
              <a:defRPr/>
            </a:pPr>
            <a:endParaRPr lang="en-US" altLang="en-US" sz="1100" dirty="0">
              <a:solidFill>
                <a:srgbClr val="323232"/>
              </a:solidFill>
            </a:endParaRPr>
          </a:p>
          <a:p>
            <a:pPr marL="0" lvl="0" indent="0">
              <a:buFont typeface="Arial" panose="020B0604020202020204" pitchFamily="34" charset="0"/>
              <a:buNone/>
            </a:pPr>
            <a:endParaRPr lang="en-US" sz="1100" i="1" dirty="0">
              <a:solidFill>
                <a:srgbClr val="323232"/>
              </a:solidFill>
            </a:endParaRPr>
          </a:p>
          <a:p>
            <a:pPr marL="0" lvl="0" indent="0">
              <a:buFont typeface="Arial" panose="020B0604020202020204" pitchFamily="34" charset="0"/>
              <a:buNone/>
            </a:pPr>
            <a:endParaRPr lang="en-US" sz="1100" i="1" dirty="0"/>
          </a:p>
        </p:txBody>
      </p:sp>
    </p:spTree>
    <p:extLst>
      <p:ext uri="{BB962C8B-B14F-4D97-AF65-F5344CB8AC3E}">
        <p14:creationId xmlns:p14="http://schemas.microsoft.com/office/powerpoint/2010/main" val="24622831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021074"/>
          </a:xfrm>
        </p:spPr>
        <p:txBody>
          <a:bodyPr/>
          <a:lstStyle/>
          <a:p>
            <a:pPr marL="0" lvl="0" indent="0">
              <a:buFont typeface="Arial" panose="020B0604020202020204" pitchFamily="34" charset="0"/>
              <a:buNone/>
            </a:pPr>
            <a:r>
              <a:rPr lang="en-US" sz="1100" dirty="0">
                <a:solidFill>
                  <a:srgbClr val="323232"/>
                </a:solidFill>
              </a:rPr>
              <a:t>Customers can also reduce storage costs. When you launch EC2 instances, different instance types offer different storage options. It is a best practice to try to reduce costs while also maintaining storage performance and availability. </a:t>
            </a: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r>
              <a:rPr lang="en-US" sz="1100" dirty="0">
                <a:solidFill>
                  <a:srgbClr val="323232"/>
                </a:solidFill>
              </a:rPr>
              <a:t>One way you can accomplish this is by </a:t>
            </a:r>
            <a:r>
              <a:rPr lang="en-US" sz="1100" b="1" dirty="0">
                <a:solidFill>
                  <a:srgbClr val="323232"/>
                </a:solidFill>
              </a:rPr>
              <a:t>resizing EBS volumes</a:t>
            </a:r>
            <a:r>
              <a:rPr lang="en-US" sz="1100" dirty="0">
                <a:solidFill>
                  <a:srgbClr val="323232"/>
                </a:solidFill>
              </a:rPr>
              <a:t>. For example, if you originally provisioned a 500-GB volume for an EC2 instance that will only need a maximum of 20 GB of storage space, you can reduce the size of the volume and save on costs.</a:t>
            </a: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r>
              <a:rPr lang="en-US" sz="1100" dirty="0">
                <a:solidFill>
                  <a:srgbClr val="323232"/>
                </a:solidFill>
              </a:rPr>
              <a:t>There are also a variety of </a:t>
            </a:r>
            <a:r>
              <a:rPr lang="en-US" sz="1100" b="1" dirty="0">
                <a:solidFill>
                  <a:srgbClr val="323232"/>
                </a:solidFill>
              </a:rPr>
              <a:t>EBS volume types</a:t>
            </a:r>
            <a:r>
              <a:rPr lang="en-US" sz="1100" dirty="0">
                <a:solidFill>
                  <a:srgbClr val="323232"/>
                </a:solidFill>
              </a:rPr>
              <a:t>. Choose the least expensive type that still meets your performance requirements. For example, Amazon EBS Throughput Optimized HDD (st1) storage typically costs half as much as the default General Purpose SSD (gp2) storage option. If an st1 drive will meet the needs of your workload, take advantage of the cost savings.</a:t>
            </a: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r>
              <a:rPr lang="en-US" sz="1100" dirty="0">
                <a:solidFill>
                  <a:srgbClr val="323232"/>
                </a:solidFill>
              </a:rPr>
              <a:t>Customers often use </a:t>
            </a:r>
            <a:r>
              <a:rPr lang="en-US" sz="1100" b="1" dirty="0">
                <a:solidFill>
                  <a:srgbClr val="323232"/>
                </a:solidFill>
              </a:rPr>
              <a:t>EBS</a:t>
            </a:r>
            <a:r>
              <a:rPr lang="en-US" sz="1100" dirty="0">
                <a:solidFill>
                  <a:srgbClr val="323232"/>
                </a:solidFill>
              </a:rPr>
              <a:t> </a:t>
            </a:r>
            <a:r>
              <a:rPr lang="en-US" sz="1100" b="1" dirty="0">
                <a:solidFill>
                  <a:srgbClr val="323232"/>
                </a:solidFill>
              </a:rPr>
              <a:t>snapshots</a:t>
            </a:r>
            <a:r>
              <a:rPr lang="en-US" sz="1100" dirty="0">
                <a:solidFill>
                  <a:srgbClr val="323232"/>
                </a:solidFill>
              </a:rPr>
              <a:t> to create data backups. However, some customers forget to delete snapshots that are no longer needed. Delete these unneeded snapshots to save on costs.</a:t>
            </a: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r>
              <a:rPr lang="en-US" sz="1100" dirty="0">
                <a:solidFill>
                  <a:srgbClr val="323232"/>
                </a:solidFill>
              </a:rPr>
              <a:t>Finally, try to identify the most </a:t>
            </a:r>
            <a:r>
              <a:rPr lang="en-US" sz="1100" b="1" dirty="0">
                <a:solidFill>
                  <a:srgbClr val="323232"/>
                </a:solidFill>
              </a:rPr>
              <a:t>appropriate destination for specific types of data</a:t>
            </a:r>
            <a:r>
              <a:rPr lang="en-US" sz="1100" dirty="0">
                <a:solidFill>
                  <a:srgbClr val="323232"/>
                </a:solidFill>
              </a:rPr>
              <a:t>. Does your application need the data it uses to reside on Amazon EBS? Would the application run equally as well if it used Amazon S3 for storage instead? Configuring data lifecycle policies can also reduce costs. For example,</a:t>
            </a:r>
            <a:r>
              <a:rPr lang="en-US" sz="1100" baseline="0" dirty="0">
                <a:solidFill>
                  <a:srgbClr val="323232"/>
                </a:solidFill>
              </a:rPr>
              <a:t> you might </a:t>
            </a:r>
            <a:r>
              <a:rPr lang="en-US" sz="1100" dirty="0">
                <a:solidFill>
                  <a:srgbClr val="323232"/>
                </a:solidFill>
              </a:rPr>
              <a:t>automate the migration of older infrequently accessed data to cheaper storage locations, such as Amazon Simple</a:t>
            </a:r>
            <a:r>
              <a:rPr lang="en-US" sz="1100" baseline="0" dirty="0">
                <a:solidFill>
                  <a:srgbClr val="323232"/>
                </a:solidFill>
              </a:rPr>
              <a:t> Storage Service</a:t>
            </a:r>
            <a:r>
              <a:rPr lang="en-US" sz="1100" dirty="0">
                <a:solidFill>
                  <a:srgbClr val="323232"/>
                </a:solidFill>
              </a:rPr>
              <a:t> Glacier.</a:t>
            </a: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endParaRPr lang="en-US" sz="1100" dirty="0">
              <a:solidFill>
                <a:srgbClr val="323232"/>
              </a:solidFill>
            </a:endParaRPr>
          </a:p>
          <a:p>
            <a:pPr marL="0" lvl="0" indent="0">
              <a:buFont typeface="Arial" panose="020B0604020202020204" pitchFamily="34" charset="0"/>
              <a:buNone/>
            </a:pPr>
            <a:endParaRPr lang="en-US" sz="1100" i="1" dirty="0"/>
          </a:p>
        </p:txBody>
      </p:sp>
    </p:spTree>
    <p:extLst>
      <p:ext uri="{BB962C8B-B14F-4D97-AF65-F5344CB8AC3E}">
        <p14:creationId xmlns:p14="http://schemas.microsoft.com/office/powerpoint/2010/main" val="21496941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If it is done correctly, cost optimization is not a one-time process that a customer completes. Instead, </a:t>
            </a:r>
            <a:r>
              <a:rPr lang="en-US" sz="1100" dirty="0"/>
              <a:t>by routinely </a:t>
            </a:r>
            <a:r>
              <a:rPr lang="en-US" sz="1100" kern="1200" dirty="0">
                <a:solidFill>
                  <a:schemeClr val="tx1"/>
                </a:solidFill>
                <a:effectLst/>
                <a:latin typeface="+mn-lt"/>
                <a:ea typeface="+mn-ea"/>
                <a:cs typeface="+mn-cs"/>
              </a:rPr>
              <a:t>measuring and analyzing your systems, you can continually improve and adjust your costs.</a:t>
            </a:r>
          </a:p>
          <a:p>
            <a:endParaRPr lang="en-US" sz="1100" kern="1200" dirty="0">
              <a:solidFill>
                <a:schemeClr val="tx1"/>
              </a:solidFill>
              <a:effectLst/>
              <a:latin typeface="+mn-lt"/>
              <a:ea typeface="+mn-ea"/>
              <a:cs typeface="+mn-cs"/>
            </a:endParaRPr>
          </a:p>
          <a:p>
            <a:r>
              <a:rPr lang="en-US" sz="1100" b="1" dirty="0"/>
              <a:t>Tagging</a:t>
            </a:r>
            <a:r>
              <a:rPr lang="en-US" sz="1100" dirty="0"/>
              <a:t> helps provide information about </a:t>
            </a:r>
            <a:r>
              <a:rPr lang="en-US" sz="1100" i="1" dirty="0"/>
              <a:t>what resources</a:t>
            </a:r>
            <a:r>
              <a:rPr lang="en-US" sz="1100" dirty="0"/>
              <a:t> are being used </a:t>
            </a:r>
            <a:r>
              <a:rPr lang="en-US" sz="1100" i="1" dirty="0"/>
              <a:t>by whom</a:t>
            </a:r>
            <a:r>
              <a:rPr lang="en-US" sz="1100" dirty="0"/>
              <a:t> and </a:t>
            </a:r>
            <a:r>
              <a:rPr lang="en-US" sz="1100" i="1" dirty="0"/>
              <a:t>for what purpose</a:t>
            </a:r>
            <a:r>
              <a:rPr lang="en-US" sz="1100" dirty="0"/>
              <a:t>. You can activate cost</a:t>
            </a:r>
            <a:r>
              <a:rPr lang="en-US" sz="1100" baseline="0" dirty="0"/>
              <a:t> allocation</a:t>
            </a:r>
            <a:r>
              <a:rPr lang="en-US" sz="1100" dirty="0"/>
              <a:t> tags in the Billing and Cost Management console, and AWS can generate a cost allocation report with usage and costs grouped by your active tags. Apply tags that represent business categories (such as cost centers, application names, or owners) to organize your costs across multiple services.</a:t>
            </a:r>
          </a:p>
          <a:p>
            <a:endParaRPr lang="en-US" sz="1100" dirty="0"/>
          </a:p>
          <a:p>
            <a:r>
              <a:rPr lang="en-US" sz="1100" b="1" dirty="0"/>
              <a:t>Encourage teams to architect for cost</a:t>
            </a:r>
            <a:r>
              <a:rPr lang="en-US" sz="1100" dirty="0"/>
              <a:t>. AWS Cost Explorer is a free tool that you can use to view graphs of your costs. You can use Cost Explorer to see patterns in how much you spend on AWS resources over time, identify areas that need further inquiry, and see trends that you can use to understand your costs.</a:t>
            </a:r>
          </a:p>
          <a:p>
            <a:pPr lvl="0"/>
            <a:endParaRPr lang="en-US" sz="1100" kern="1200" dirty="0">
              <a:solidFill>
                <a:schemeClr val="tx1"/>
              </a:solidFill>
              <a:effectLst/>
              <a:latin typeface="+mn-lt"/>
              <a:ea typeface="+mn-ea"/>
              <a:cs typeface="+mn-cs"/>
            </a:endParaRPr>
          </a:p>
          <a:p>
            <a:pPr lvl="0"/>
            <a:r>
              <a:rPr lang="en-US" sz="1100" kern="1200" dirty="0">
                <a:solidFill>
                  <a:schemeClr val="tx1"/>
                </a:solidFill>
                <a:effectLst/>
                <a:latin typeface="+mn-lt"/>
                <a:ea typeface="+mn-ea"/>
                <a:cs typeface="+mn-cs"/>
              </a:rPr>
              <a:t>Use AWS services such as </a:t>
            </a:r>
            <a:r>
              <a:rPr lang="en-US" sz="1100" b="1" dirty="0"/>
              <a:t>AWS Trusted Advisor</a:t>
            </a:r>
            <a:r>
              <a:rPr lang="en-US" sz="1100" b="0" dirty="0"/>
              <a:t>,</a:t>
            </a:r>
            <a:r>
              <a:rPr lang="en-US" sz="1100" dirty="0"/>
              <a:t> which</a:t>
            </a:r>
            <a:r>
              <a:rPr lang="en-US" sz="1100" b="1" dirty="0"/>
              <a:t> </a:t>
            </a:r>
            <a:r>
              <a:rPr lang="en-US" sz="1100" dirty="0"/>
              <a:t>provides real-time guidance to help you provision resources that follow AWS best practices. </a:t>
            </a:r>
          </a:p>
          <a:p>
            <a:pPr lvl="0"/>
            <a:endParaRPr lang="en-US" sz="1100" dirty="0"/>
          </a:p>
          <a:p>
            <a:pPr lvl="0"/>
            <a:r>
              <a:rPr lang="en-US" sz="1100" dirty="0"/>
              <a:t>Cost-optimization efforts are typically more successful when the responsibility</a:t>
            </a:r>
            <a:r>
              <a:rPr lang="en-US" sz="1100" baseline="0" dirty="0"/>
              <a:t> for cost</a:t>
            </a:r>
            <a:r>
              <a:rPr lang="en-US" sz="1100" dirty="0"/>
              <a:t> optimization is assigned to an individual or to a team. </a:t>
            </a: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564186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p>
            <a:pPr marL="171450" indent="-171450">
              <a:buFont typeface="Arial" panose="020B0604020202020204" pitchFamily="34" charset="0"/>
              <a:buChar char="•"/>
              <a:defRPr/>
            </a:pPr>
            <a:r>
              <a:rPr lang="en-US" sz="1100" b="1" dirty="0">
                <a:solidFill>
                  <a:srgbClr val="000000"/>
                </a:solidFill>
                <a:latin typeface="+mn-lt"/>
                <a:ea typeface="Amazon Ember" panose="02000000000000000000" pitchFamily="2" charset="0"/>
                <a:cs typeface="Amazon Ember Light" panose="020B0403020204020204" pitchFamily="34" charset="0"/>
              </a:rPr>
              <a:t>Amazon EC2 pricing models</a:t>
            </a:r>
            <a:r>
              <a:rPr lang="en-US" sz="1100" dirty="0">
                <a:solidFill>
                  <a:srgbClr val="000000"/>
                </a:solidFill>
                <a:latin typeface="+mn-lt"/>
                <a:ea typeface="Amazon Ember" panose="02000000000000000000" pitchFamily="2" charset="0"/>
                <a:cs typeface="Amazon Ember Light" panose="020B0403020204020204" pitchFamily="34" charset="0"/>
              </a:rPr>
              <a:t> include On-Demand Instances, Reserved Instances, Spot Instances, Dedicated Instances, and Dedicated Hosts</a:t>
            </a:r>
            <a:r>
              <a:rPr lang="en-US" sz="1100" dirty="0">
                <a:solidFill>
                  <a:srgbClr val="000000"/>
                </a:solidFill>
                <a:ea typeface="Amazon Ember" panose="02000000000000000000" pitchFamily="2" charset="0"/>
                <a:cs typeface="Amazon Ember Light" panose="020B0403020204020204" pitchFamily="34" charset="0"/>
              </a:rPr>
              <a:t>. </a:t>
            </a:r>
            <a:r>
              <a:rPr lang="en-US" sz="1100" dirty="0"/>
              <a:t>Per second billing is available for On-Demand Instances, Reserved Instances, and Spot Instances that use only Amazon Linux and Ubuntu. </a:t>
            </a: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rgbClr val="000000"/>
                </a:solidFill>
                <a:latin typeface="+mn-lt"/>
                <a:ea typeface="Amazon Ember" panose="02000000000000000000" pitchFamily="2" charset="0"/>
                <a:cs typeface="Amazon Ember Light" panose="020B0403020204020204" pitchFamily="34" charset="0"/>
              </a:rPr>
              <a:t>Spot Instances </a:t>
            </a:r>
            <a:r>
              <a:rPr lang="en-US" sz="1100" dirty="0">
                <a:solidFill>
                  <a:srgbClr val="000000"/>
                </a:solidFill>
                <a:latin typeface="+mn-lt"/>
                <a:ea typeface="Amazon Ember" panose="02000000000000000000" pitchFamily="2" charset="0"/>
                <a:cs typeface="Amazon Ember Light" panose="020B0403020204020204" pitchFamily="34" charset="0"/>
              </a:rPr>
              <a:t>can be interrupted with a 2-minute notification. However,</a:t>
            </a:r>
            <a:r>
              <a:rPr lang="en-US" sz="1100" baseline="0" dirty="0">
                <a:solidFill>
                  <a:srgbClr val="000000"/>
                </a:solidFill>
                <a:latin typeface="+mn-lt"/>
                <a:ea typeface="Amazon Ember" panose="02000000000000000000" pitchFamily="2" charset="0"/>
                <a:cs typeface="Amazon Ember Light" panose="020B0403020204020204" pitchFamily="34" charset="0"/>
              </a:rPr>
              <a:t> they can offer significant </a:t>
            </a:r>
            <a:r>
              <a:rPr lang="en-US" sz="1100" dirty="0">
                <a:solidFill>
                  <a:srgbClr val="000000"/>
                </a:solidFill>
                <a:latin typeface="+mn-lt"/>
                <a:ea typeface="Amazon Ember" panose="02000000000000000000" pitchFamily="2" charset="0"/>
                <a:cs typeface="Amazon Ember Light" panose="020B0403020204020204" pitchFamily="34" charset="0"/>
              </a:rPr>
              <a:t>cost savings over On-Demand Instances.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mn-lt"/>
                <a:ea typeface="Amazon Ember" panose="02000000000000000000" pitchFamily="2" charset="0"/>
                <a:cs typeface="Amazon Ember Light" panose="020B0403020204020204" pitchFamily="34" charset="0"/>
              </a:rPr>
              <a:t>The </a:t>
            </a:r>
            <a:r>
              <a:rPr lang="en-US" sz="1100" b="1" dirty="0">
                <a:solidFill>
                  <a:srgbClr val="000000"/>
                </a:solidFill>
                <a:latin typeface="+mn-lt"/>
                <a:ea typeface="Amazon Ember" panose="02000000000000000000" pitchFamily="2" charset="0"/>
                <a:cs typeface="Amazon Ember Light" panose="020B0403020204020204" pitchFamily="34" charset="0"/>
              </a:rPr>
              <a:t>four pillars of cost optimization </a:t>
            </a:r>
            <a:r>
              <a:rPr lang="en-US" sz="1100" dirty="0">
                <a:solidFill>
                  <a:srgbClr val="000000"/>
                </a:solidFill>
                <a:latin typeface="+mn-lt"/>
                <a:ea typeface="Amazon Ember" panose="02000000000000000000" pitchFamily="2" charset="0"/>
                <a:cs typeface="Amazon Ember Light" panose="020B0403020204020204" pitchFamily="34" charset="0"/>
              </a:rPr>
              <a:t>are</a:t>
            </a:r>
            <a:r>
              <a:rPr lang="en-US" sz="1100" baseline="0" dirty="0">
                <a:solidFill>
                  <a:srgbClr val="000000"/>
                </a:solidFill>
                <a:latin typeface="+mn-lt"/>
                <a:ea typeface="Amazon Ember" panose="02000000000000000000" pitchFamily="2" charset="0"/>
                <a:cs typeface="Amazon Ember Light" panose="020B0403020204020204" pitchFamily="34" charset="0"/>
              </a:rPr>
              <a:t> – </a:t>
            </a:r>
            <a:endParaRPr lang="en-US" sz="1100" dirty="0">
              <a:solidFill>
                <a:srgbClr val="000000"/>
              </a:solidFill>
              <a:latin typeface="+mn-lt"/>
              <a:ea typeface="Amazon Ember" panose="02000000000000000000" pitchFamily="2" charset="0"/>
              <a:cs typeface="Amazon Ember Light" panose="020B0403020204020204" pitchFamily="34" charset="0"/>
            </a:endParaRPr>
          </a:p>
          <a:p>
            <a:pPr marL="628650" lvl="1" indent="-171450">
              <a:buFont typeface="Arial" panose="020B0604020202020204" pitchFamily="34" charset="0"/>
              <a:buChar char="•"/>
              <a:defRPr/>
            </a:pPr>
            <a:r>
              <a:rPr lang="en-US" sz="1100" dirty="0">
                <a:solidFill>
                  <a:srgbClr val="000000"/>
                </a:solidFill>
                <a:latin typeface="+mn-lt"/>
                <a:ea typeface="Amazon Ember" panose="02000000000000000000" pitchFamily="2" charset="0"/>
                <a:cs typeface="Amazon Ember Light" panose="020B0403020204020204" pitchFamily="34" charset="0"/>
              </a:rPr>
              <a:t>Right size</a:t>
            </a:r>
          </a:p>
          <a:p>
            <a:pPr marL="628650" lvl="1" indent="-171450">
              <a:buFont typeface="Arial" panose="020B0604020202020204" pitchFamily="34" charset="0"/>
              <a:buChar char="•"/>
              <a:defRPr/>
            </a:pPr>
            <a:r>
              <a:rPr lang="en-US" sz="1100" dirty="0">
                <a:solidFill>
                  <a:srgbClr val="000000"/>
                </a:solidFill>
                <a:latin typeface="+mn-lt"/>
                <a:ea typeface="Amazon Ember" panose="02000000000000000000" pitchFamily="2" charset="0"/>
                <a:cs typeface="Amazon Ember Light" panose="020B0403020204020204" pitchFamily="34" charset="0"/>
              </a:rPr>
              <a:t>Increase elasticity</a:t>
            </a:r>
          </a:p>
          <a:p>
            <a:pPr marL="628650" lvl="1" indent="-171450">
              <a:buFont typeface="Arial" panose="020B0604020202020204" pitchFamily="34" charset="0"/>
              <a:buChar char="•"/>
              <a:defRPr/>
            </a:pPr>
            <a:r>
              <a:rPr lang="en-US" sz="1100" dirty="0">
                <a:solidFill>
                  <a:srgbClr val="000000"/>
                </a:solidFill>
                <a:latin typeface="+mn-lt"/>
                <a:ea typeface="Amazon Ember" panose="02000000000000000000" pitchFamily="2" charset="0"/>
                <a:cs typeface="Amazon Ember Light" panose="020B0403020204020204" pitchFamily="34" charset="0"/>
              </a:rPr>
              <a:t>Optimal pricing model</a:t>
            </a:r>
          </a:p>
          <a:p>
            <a:pPr marL="628650" lvl="1" indent="-171450">
              <a:buFont typeface="Arial" panose="020B0604020202020204" pitchFamily="34" charset="0"/>
              <a:buChar char="•"/>
              <a:defRPr/>
            </a:pPr>
            <a:r>
              <a:rPr lang="en-US" sz="1100" dirty="0">
                <a:solidFill>
                  <a:srgbClr val="000000"/>
                </a:solidFill>
                <a:latin typeface="+mn-lt"/>
                <a:ea typeface="Amazon Ember" panose="02000000000000000000" pitchFamily="2" charset="0"/>
                <a:cs typeface="Amazon Ember Light" panose="020B0403020204020204" pitchFamily="34" charset="0"/>
              </a:rPr>
              <a:t>Optimize storage choices</a:t>
            </a:r>
          </a:p>
        </p:txBody>
      </p:sp>
    </p:spTree>
    <p:extLst>
      <p:ext uri="{BB962C8B-B14F-4D97-AF65-F5344CB8AC3E}">
        <p14:creationId xmlns:p14="http://schemas.microsoft.com/office/powerpoint/2010/main" val="28736209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Thank you for completing this module.</a:t>
            </a:r>
          </a:p>
        </p:txBody>
      </p:sp>
    </p:spTree>
    <p:extLst>
      <p:ext uri="{BB962C8B-B14F-4D97-AF65-F5344CB8AC3E}">
        <p14:creationId xmlns:p14="http://schemas.microsoft.com/office/powerpoint/2010/main" val="26446795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 uri="{C183D7F6-B498-43B3-948B-1728B52AA6E4}">
                <adec:decorative xmlns:adec="http://schemas.microsoft.com/office/drawing/2017/decorative" val="1"/>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6552EEA6-13B7-F947-9C14-50FE8967965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99B9B80A-7CBE-8F4D-B2B0-66F7C285B4D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a:t>
            </a:fld>
            <a:endParaRPr lang="en-US" dirty="0"/>
          </a:p>
        </p:txBody>
      </p:sp>
      <p:sp>
        <p:nvSpPr>
          <p:cNvPr id="7" name="Footer Placeholder 4">
            <a:extLst>
              <a:ext uri="{FF2B5EF4-FFF2-40B4-BE49-F238E27FC236}">
                <a16:creationId xmlns:a16="http://schemas.microsoft.com/office/drawing/2014/main" id="{BE8EE179-7D32-EC44-9957-395A214B62C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sp>
        <p:nvSpPr>
          <p:cNvPr id="14" name="Footer Placeholder 4">
            <a:extLst>
              <a:ext uri="{FF2B5EF4-FFF2-40B4-BE49-F238E27FC236}">
                <a16:creationId xmlns:a16="http://schemas.microsoft.com/office/drawing/2014/main" id="{075ED423-869B-CA42-83F6-A40BF01C3EB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21" name="Footer Placeholder 4">
            <a:extLst>
              <a:ext uri="{FF2B5EF4-FFF2-40B4-BE49-F238E27FC236}">
                <a16:creationId xmlns:a16="http://schemas.microsoft.com/office/drawing/2014/main" id="{FBF3F200-BB4F-664F-876E-B587463197E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FE4A4D56-E7FB-BE4E-A7A1-0A8FD181905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89352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8DBCFF47-80C8-FA4F-9A18-B92FA7DC4DF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36991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91A5F71C-941B-424B-B0F4-B91497513EB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26982" y="6089839"/>
            <a:ext cx="1772656"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25"/>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61" r:id="rId9"/>
    <p:sldLayoutId id="2147483653" r:id="rId10"/>
    <p:sldLayoutId id="2147483671" r:id="rId11"/>
    <p:sldLayoutId id="2147483657" r:id="rId12"/>
    <p:sldLayoutId id="2147483658" r:id="rId13"/>
    <p:sldLayoutId id="2147483659" r:id="rId14"/>
    <p:sldLayoutId id="2147483678" r:id="rId15"/>
    <p:sldLayoutId id="2147483679" r:id="rId16"/>
    <p:sldLayoutId id="2147483680" r:id="rId17"/>
    <p:sldLayoutId id="2147483668" r:id="rId18"/>
    <p:sldLayoutId id="2147483672" r:id="rId19"/>
    <p:sldLayoutId id="2147483665" r:id="rId20"/>
    <p:sldLayoutId id="2147483677" r:id="rId21"/>
    <p:sldLayoutId id="2147483669" r:id="rId22"/>
    <p:sldLayoutId id="2147483660" r:id="rId23"/>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notesSlide" Target="../notesSlides/notesSlide5.xml"/><Relationship Id="rId21" Type="http://schemas.openxmlformats.org/officeDocument/2006/relationships/image" Target="../media/image25.sv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svg"/><Relationship Id="rId2" Type="http://schemas.openxmlformats.org/officeDocument/2006/relationships/slideLayout" Target="../slideLayouts/slideLayout18.xml"/><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svg"/><Relationship Id="rId1" Type="http://schemas.openxmlformats.org/officeDocument/2006/relationships/tags" Target="../tags/tag30.xml"/><Relationship Id="rId6" Type="http://schemas.openxmlformats.org/officeDocument/2006/relationships/image" Target="../media/image10.png"/><Relationship Id="rId11" Type="http://schemas.openxmlformats.org/officeDocument/2006/relationships/image" Target="../media/image15.svg"/><Relationship Id="rId24" Type="http://schemas.openxmlformats.org/officeDocument/2006/relationships/image" Target="../media/image28.png"/><Relationship Id="rId5" Type="http://schemas.openxmlformats.org/officeDocument/2006/relationships/image" Target="../media/image9.svg"/><Relationship Id="rId15" Type="http://schemas.openxmlformats.org/officeDocument/2006/relationships/image" Target="../media/image19.svg"/><Relationship Id="rId23" Type="http://schemas.openxmlformats.org/officeDocument/2006/relationships/image" Target="../media/image27.sv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sv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svg"/><Relationship Id="rId30" Type="http://schemas.openxmlformats.org/officeDocument/2006/relationships/customXml" Target="../ink/ink1.xml"/></Relationships>
</file>

<file path=ppt/slides/_rels/slide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notesSlide" Target="../notesSlides/notesSlide7.xml"/><Relationship Id="rId7" Type="http://schemas.openxmlformats.org/officeDocument/2006/relationships/image" Target="../media/image39.jpg"/><Relationship Id="rId2" Type="http://schemas.openxmlformats.org/officeDocument/2006/relationships/slideLayout" Target="../slideLayouts/slideLayout18.xml"/><Relationship Id="rId1" Type="http://schemas.openxmlformats.org/officeDocument/2006/relationships/tags" Target="../tags/tag32.xml"/><Relationship Id="rId6" Type="http://schemas.openxmlformats.org/officeDocument/2006/relationships/image" Target="../media/image38.jp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3.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9.xml"/><Relationship Id="rId7" Type="http://schemas.openxmlformats.org/officeDocument/2006/relationships/customXml" Target="../ink/ink3.xml"/><Relationship Id="rId2" Type="http://schemas.openxmlformats.org/officeDocument/2006/relationships/slideLayout" Target="../slideLayouts/slideLayout5.xml"/><Relationship Id="rId1" Type="http://schemas.openxmlformats.org/officeDocument/2006/relationships/tags" Target="../tags/tag34.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10.xml"/><Relationship Id="rId7" Type="http://schemas.openxmlformats.org/officeDocument/2006/relationships/image" Target="../media/image46.svg"/><Relationship Id="rId2" Type="http://schemas.openxmlformats.org/officeDocument/2006/relationships/slideLayout" Target="../slideLayouts/slideLayout6.xml"/><Relationship Id="rId1" Type="http://schemas.openxmlformats.org/officeDocument/2006/relationships/tags" Target="../tags/tag35.xml"/><Relationship Id="rId6" Type="http://schemas.openxmlformats.org/officeDocument/2006/relationships/image" Target="../media/image45.png"/><Relationship Id="rId5" Type="http://schemas.openxmlformats.org/officeDocument/2006/relationships/image" Target="../media/image44.svg"/><Relationship Id="rId10" Type="http://schemas.openxmlformats.org/officeDocument/2006/relationships/image" Target="../media/image54.png"/><Relationship Id="rId4" Type="http://schemas.openxmlformats.org/officeDocument/2006/relationships/image" Target="../media/image43.png"/><Relationship Id="rId9" Type="http://schemas.openxmlformats.org/officeDocument/2006/relationships/customXml" Target="../ink/ink4.xml"/></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4.svg"/><Relationship Id="rId3" Type="http://schemas.openxmlformats.org/officeDocument/2006/relationships/notesSlide" Target="../notesSlides/notesSlide11.xml"/><Relationship Id="rId7" Type="http://schemas.openxmlformats.org/officeDocument/2006/relationships/image" Target="../media/image52.svg"/><Relationship Id="rId12" Type="http://schemas.openxmlformats.org/officeDocument/2006/relationships/image" Target="../media/image53.png"/><Relationship Id="rId2" Type="http://schemas.openxmlformats.org/officeDocument/2006/relationships/slideLayout" Target="../slideLayouts/slideLayout5.xml"/><Relationship Id="rId1" Type="http://schemas.openxmlformats.org/officeDocument/2006/relationships/tags" Target="../tags/tag36.xml"/><Relationship Id="rId6" Type="http://schemas.openxmlformats.org/officeDocument/2006/relationships/image" Target="../media/image51.png"/><Relationship Id="rId11" Type="http://schemas.openxmlformats.org/officeDocument/2006/relationships/image" Target="../media/image46.svg"/><Relationship Id="rId5" Type="http://schemas.openxmlformats.org/officeDocument/2006/relationships/image" Target="../media/image50.svg"/><Relationship Id="rId15" Type="http://schemas.openxmlformats.org/officeDocument/2006/relationships/image" Target="../media/image61.png"/><Relationship Id="rId10" Type="http://schemas.openxmlformats.org/officeDocument/2006/relationships/image" Target="../media/image45.png"/><Relationship Id="rId4" Type="http://schemas.openxmlformats.org/officeDocument/2006/relationships/image" Target="../media/image49.png"/><Relationship Id="rId9" Type="http://schemas.openxmlformats.org/officeDocument/2006/relationships/image" Target="../media/image44.svg"/><Relationship Id="rId1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58.svg"/><Relationship Id="rId2" Type="http://schemas.openxmlformats.org/officeDocument/2006/relationships/slideLayout" Target="../slideLayouts/slideLayout6.xml"/><Relationship Id="rId1" Type="http://schemas.openxmlformats.org/officeDocument/2006/relationships/tags" Target="../tags/tag37.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8.xml"/><Relationship Id="rId5" Type="http://schemas.openxmlformats.org/officeDocument/2006/relationships/image" Target="../media/image66.png"/><Relationship Id="rId4" Type="http://schemas.openxmlformats.org/officeDocument/2006/relationships/customXml" Target="../ink/ink6.xml"/></Relationships>
</file>

<file path=ppt/slides/_rels/slide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notesSlide" Target="../notesSlides/notesSlide14.xml"/><Relationship Id="rId7" Type="http://schemas.openxmlformats.org/officeDocument/2006/relationships/image" Target="../media/image63.png"/><Relationship Id="rId2" Type="http://schemas.openxmlformats.org/officeDocument/2006/relationships/slideLayout" Target="../slideLayouts/slideLayout18.xml"/><Relationship Id="rId1" Type="http://schemas.openxmlformats.org/officeDocument/2006/relationships/tags" Target="../tags/tag39.xml"/><Relationship Id="rId6" Type="http://schemas.openxmlformats.org/officeDocument/2006/relationships/image" Target="../media/image62.png"/><Relationship Id="rId5" Type="http://schemas.openxmlformats.org/officeDocument/2006/relationships/image" Target="../media/image60.png"/><Relationship Id="rId10" Type="http://schemas.openxmlformats.org/officeDocument/2006/relationships/image" Target="../media/image71.png"/><Relationship Id="rId4" Type="http://schemas.openxmlformats.org/officeDocument/2006/relationships/image" Target="../media/image59.png"/><Relationship Id="rId9" Type="http://schemas.openxmlformats.org/officeDocument/2006/relationships/customXml" Target="../ink/ink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40.xml"/><Relationship Id="rId5" Type="http://schemas.openxmlformats.org/officeDocument/2006/relationships/hyperlink" Target="https://docs.aws.amazon.com/AWSEC2/latest/UserGuide/instance-types.html#instance-networking-storage" TargetMode="External"/><Relationship Id="rId4" Type="http://schemas.openxmlformats.org/officeDocument/2006/relationships/hyperlink" Target="https://aws.amazon.com/ec2/instance-types/"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73.svg"/><Relationship Id="rId3" Type="http://schemas.openxmlformats.org/officeDocument/2006/relationships/notesSlide" Target="../notesSlides/notesSlide16.xml"/><Relationship Id="rId7" Type="http://schemas.openxmlformats.org/officeDocument/2006/relationships/image" Target="../media/image68.svg"/><Relationship Id="rId12" Type="http://schemas.openxmlformats.org/officeDocument/2006/relationships/image" Target="../media/image72.png"/><Relationship Id="rId2" Type="http://schemas.openxmlformats.org/officeDocument/2006/relationships/slideLayout" Target="../slideLayouts/slideLayout6.xml"/><Relationship Id="rId1" Type="http://schemas.openxmlformats.org/officeDocument/2006/relationships/tags" Target="../tags/tag41.xml"/><Relationship Id="rId6" Type="http://schemas.openxmlformats.org/officeDocument/2006/relationships/image" Target="../media/image67.png"/><Relationship Id="rId11" Type="http://schemas.openxmlformats.org/officeDocument/2006/relationships/image" Target="../media/image70.svg"/><Relationship Id="rId5" Type="http://schemas.openxmlformats.org/officeDocument/2006/relationships/image" Target="../media/image65.svg"/><Relationship Id="rId15" Type="http://schemas.openxmlformats.org/officeDocument/2006/relationships/image" Target="../media/image54.svg"/><Relationship Id="rId10"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46.svg"/><Relationship Id="rId14" Type="http://schemas.openxmlformats.org/officeDocument/2006/relationships/image" Target="../media/image53.png"/></Relationships>
</file>

<file path=ppt/slides/_rels/slide1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notesSlide" Target="../notesSlides/notesSlide17.xml"/><Relationship Id="rId7" Type="http://schemas.openxmlformats.org/officeDocument/2006/relationships/image" Target="../media/image46.svg"/><Relationship Id="rId2" Type="http://schemas.openxmlformats.org/officeDocument/2006/relationships/slideLayout" Target="../slideLayouts/slideLayout6.xml"/><Relationship Id="rId1" Type="http://schemas.openxmlformats.org/officeDocument/2006/relationships/tags" Target="../tags/tag42.xml"/><Relationship Id="rId6" Type="http://schemas.openxmlformats.org/officeDocument/2006/relationships/image" Target="../media/image45.png"/><Relationship Id="rId5" Type="http://schemas.openxmlformats.org/officeDocument/2006/relationships/image" Target="../media/image75.svg"/><Relationship Id="rId4" Type="http://schemas.openxmlformats.org/officeDocument/2006/relationships/image" Target="../media/image74.png"/><Relationship Id="rId9" Type="http://schemas.openxmlformats.org/officeDocument/2006/relationships/image" Target="../media/image77.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46.svg"/><Relationship Id="rId2" Type="http://schemas.openxmlformats.org/officeDocument/2006/relationships/slideLayout" Target="../slideLayouts/slideLayout6.xml"/><Relationship Id="rId1" Type="http://schemas.openxmlformats.org/officeDocument/2006/relationships/tags" Target="../tags/tag43.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81.svg"/><Relationship Id="rId2" Type="http://schemas.openxmlformats.org/officeDocument/2006/relationships/slideLayout" Target="../slideLayouts/slideLayout6.xml"/><Relationship Id="rId1" Type="http://schemas.openxmlformats.org/officeDocument/2006/relationships/tags" Target="../tags/tag44.xml"/><Relationship Id="rId6" Type="http://schemas.openxmlformats.org/officeDocument/2006/relationships/image" Target="../media/image80.png"/><Relationship Id="rId5" Type="http://schemas.openxmlformats.org/officeDocument/2006/relationships/image" Target="../media/image79.svg"/><Relationship Id="rId4"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svg"/><Relationship Id="rId3" Type="http://schemas.openxmlformats.org/officeDocument/2006/relationships/notesSlide" Target="../notesSlides/notesSlide21.xml"/><Relationship Id="rId7" Type="http://schemas.openxmlformats.org/officeDocument/2006/relationships/image" Target="../media/image83.svg"/><Relationship Id="rId12" Type="http://schemas.openxmlformats.org/officeDocument/2006/relationships/image" Target="../media/image88.png"/><Relationship Id="rId2" Type="http://schemas.openxmlformats.org/officeDocument/2006/relationships/slideLayout" Target="../slideLayouts/slideLayout6.xml"/><Relationship Id="rId1" Type="http://schemas.openxmlformats.org/officeDocument/2006/relationships/tags" Target="../tags/tag46.xml"/><Relationship Id="rId6" Type="http://schemas.openxmlformats.org/officeDocument/2006/relationships/image" Target="../media/image82.png"/><Relationship Id="rId11" Type="http://schemas.openxmlformats.org/officeDocument/2006/relationships/image" Target="../media/image87.svg"/><Relationship Id="rId5" Type="http://schemas.openxmlformats.org/officeDocument/2006/relationships/image" Target="../media/image46.svg"/><Relationship Id="rId10" Type="http://schemas.openxmlformats.org/officeDocument/2006/relationships/image" Target="../media/image86.png"/><Relationship Id="rId4" Type="http://schemas.openxmlformats.org/officeDocument/2006/relationships/image" Target="../media/image45.png"/><Relationship Id="rId9" Type="http://schemas.openxmlformats.org/officeDocument/2006/relationships/image" Target="../media/image85.sv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47.xml"/><Relationship Id="rId4" Type="http://schemas.openxmlformats.org/officeDocument/2006/relationships/image" Target="../media/image9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9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95.svg"/><Relationship Id="rId2" Type="http://schemas.openxmlformats.org/officeDocument/2006/relationships/slideLayout" Target="../slideLayouts/slideLayout6.xml"/><Relationship Id="rId1" Type="http://schemas.openxmlformats.org/officeDocument/2006/relationships/tags" Target="../tags/tag49.xml"/><Relationship Id="rId6" Type="http://schemas.openxmlformats.org/officeDocument/2006/relationships/image" Target="../media/image94.png"/><Relationship Id="rId5" Type="http://schemas.openxmlformats.org/officeDocument/2006/relationships/image" Target="../media/image93.svg"/><Relationship Id="rId4" Type="http://schemas.openxmlformats.org/officeDocument/2006/relationships/image" Target="../media/image9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50.xml"/><Relationship Id="rId4" Type="http://schemas.openxmlformats.org/officeDocument/2006/relationships/image" Target="../media/image9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1.xml"/><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hyperlink" Target="https://docs.aws.amazon.com/cli/latest/reference/ec2/run-instances.html"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87.svg"/><Relationship Id="rId2" Type="http://schemas.openxmlformats.org/officeDocument/2006/relationships/slideLayout" Target="../slideLayouts/slideLayout5.xml"/><Relationship Id="rId1" Type="http://schemas.openxmlformats.org/officeDocument/2006/relationships/tags" Target="../tags/tag52.xml"/><Relationship Id="rId6" Type="http://schemas.openxmlformats.org/officeDocument/2006/relationships/image" Target="../media/image86.png"/><Relationship Id="rId5" Type="http://schemas.openxmlformats.org/officeDocument/2006/relationships/image" Target="../media/image44.sv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53.xml"/><Relationship Id="rId4" Type="http://schemas.openxmlformats.org/officeDocument/2006/relationships/image" Target="../media/image99.tif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54.xml"/><Relationship Id="rId5" Type="http://schemas.openxmlformats.org/officeDocument/2006/relationships/image" Target="../media/image101.svg"/><Relationship Id="rId4" Type="http://schemas.openxmlformats.org/officeDocument/2006/relationships/image" Target="../media/image10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32.xml.rels><?xml version="1.0" encoding="UTF-8" standalone="yes"?>
<Relationships xmlns="http://schemas.openxmlformats.org/package/2006/relationships"><Relationship Id="rId8" Type="http://schemas.openxmlformats.org/officeDocument/2006/relationships/image" Target="../media/image106.svg"/><Relationship Id="rId3" Type="http://schemas.openxmlformats.org/officeDocument/2006/relationships/notesSlide" Target="../notesSlides/notesSlide31.xml"/><Relationship Id="rId7" Type="http://schemas.openxmlformats.org/officeDocument/2006/relationships/image" Target="../media/image105.png"/><Relationship Id="rId2" Type="http://schemas.openxmlformats.org/officeDocument/2006/relationships/slideLayout" Target="../slideLayouts/slideLayout6.xml"/><Relationship Id="rId1" Type="http://schemas.openxmlformats.org/officeDocument/2006/relationships/tags" Target="../tags/tag56.xml"/><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57.xml"/><Relationship Id="rId4" Type="http://schemas.openxmlformats.org/officeDocument/2006/relationships/image" Target="../media/image107.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58.xml"/><Relationship Id="rId5" Type="http://schemas.openxmlformats.org/officeDocument/2006/relationships/image" Target="../media/image108.png"/><Relationship Id="rId4" Type="http://schemas.openxmlformats.org/officeDocument/2006/relationships/hyperlink" Target="https://aws-tc-largeobjects.s3-us-west-2.amazonaws.com/ILT-TF-100-ACFNDS-20-EN/Module_6_EC2+v2.0.mp4"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109.jpeg"/></Relationships>
</file>

<file path=ppt/slides/_rels/slide3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4.svg"/><Relationship Id="rId3" Type="http://schemas.openxmlformats.org/officeDocument/2006/relationships/notesSlide" Target="../notesSlides/notesSlide35.xml"/><Relationship Id="rId7" Type="http://schemas.openxmlformats.org/officeDocument/2006/relationships/image" Target="../media/image68.svg"/><Relationship Id="rId12" Type="http://schemas.openxmlformats.org/officeDocument/2006/relationships/image" Target="../media/image53.png"/><Relationship Id="rId2" Type="http://schemas.openxmlformats.org/officeDocument/2006/relationships/slideLayout" Target="../slideLayouts/slideLayout5.xml"/><Relationship Id="rId1" Type="http://schemas.openxmlformats.org/officeDocument/2006/relationships/tags" Target="../tags/tag60.xml"/><Relationship Id="rId6" Type="http://schemas.openxmlformats.org/officeDocument/2006/relationships/image" Target="../media/image67.png"/><Relationship Id="rId11" Type="http://schemas.openxmlformats.org/officeDocument/2006/relationships/image" Target="../media/image70.svg"/><Relationship Id="rId5" Type="http://schemas.openxmlformats.org/officeDocument/2006/relationships/image" Target="../media/image65.svg"/><Relationship Id="rId10"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46.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38.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44.svg"/><Relationship Id="rId3" Type="http://schemas.openxmlformats.org/officeDocument/2006/relationships/notesSlide" Target="../notesSlides/notesSlide37.xml"/><Relationship Id="rId7" Type="http://schemas.openxmlformats.org/officeDocument/2006/relationships/image" Target="../media/image46.svg"/><Relationship Id="rId12" Type="http://schemas.openxmlformats.org/officeDocument/2006/relationships/image" Target="../media/image43.png"/><Relationship Id="rId2" Type="http://schemas.openxmlformats.org/officeDocument/2006/relationships/slideLayout" Target="../slideLayouts/slideLayout6.xml"/><Relationship Id="rId1" Type="http://schemas.openxmlformats.org/officeDocument/2006/relationships/tags" Target="../tags/tag62.xml"/><Relationship Id="rId6" Type="http://schemas.openxmlformats.org/officeDocument/2006/relationships/image" Target="../media/image45.png"/><Relationship Id="rId11" Type="http://schemas.openxmlformats.org/officeDocument/2006/relationships/image" Target="../media/image89.svg"/><Relationship Id="rId5" Type="http://schemas.openxmlformats.org/officeDocument/2006/relationships/image" Target="../media/image9.svg"/><Relationship Id="rId15" Type="http://schemas.openxmlformats.org/officeDocument/2006/relationships/image" Target="../media/image68.svg"/><Relationship Id="rId10" Type="http://schemas.openxmlformats.org/officeDocument/2006/relationships/image" Target="../media/image88.png"/><Relationship Id="rId4" Type="http://schemas.openxmlformats.org/officeDocument/2006/relationships/image" Target="../media/image8.png"/><Relationship Id="rId9" Type="http://schemas.openxmlformats.org/officeDocument/2006/relationships/image" Target="../media/image87.svg"/><Relationship Id="rId14" Type="http://schemas.openxmlformats.org/officeDocument/2006/relationships/image" Target="../media/image6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0.xml"/><Relationship Id="rId1" Type="http://schemas.openxmlformats.org/officeDocument/2006/relationships/tags" Target="../tags/tag63.xml"/><Relationship Id="rId5" Type="http://schemas.openxmlformats.org/officeDocument/2006/relationships/image" Target="../media/image111.png"/><Relationship Id="rId4" Type="http://schemas.openxmlformats.org/officeDocument/2006/relationships/image" Target="../media/image110.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64.xml"/><Relationship Id="rId4" Type="http://schemas.openxmlformats.org/officeDocument/2006/relationships/image" Target="../media/image112.tif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65.xml"/><Relationship Id="rId4" Type="http://schemas.openxmlformats.org/officeDocument/2006/relationships/image" Target="../media/image113.png"/></Relationships>
</file>

<file path=ppt/slides/_rels/slide4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65.svg"/><Relationship Id="rId3" Type="http://schemas.openxmlformats.org/officeDocument/2006/relationships/notesSlide" Target="../notesSlides/notesSlide41.xml"/><Relationship Id="rId7" Type="http://schemas.openxmlformats.org/officeDocument/2006/relationships/image" Target="../media/image115.png"/><Relationship Id="rId12" Type="http://schemas.openxmlformats.org/officeDocument/2006/relationships/image" Target="../media/image64.png"/><Relationship Id="rId17" Type="http://schemas.openxmlformats.org/officeDocument/2006/relationships/image" Target="../media/image89.svg"/><Relationship Id="rId2" Type="http://schemas.openxmlformats.org/officeDocument/2006/relationships/slideLayout" Target="../slideLayouts/slideLayout18.xml"/><Relationship Id="rId16" Type="http://schemas.openxmlformats.org/officeDocument/2006/relationships/image" Target="../media/image88.png"/><Relationship Id="rId1" Type="http://schemas.openxmlformats.org/officeDocument/2006/relationships/tags" Target="../tags/tag66.xml"/><Relationship Id="rId6" Type="http://schemas.openxmlformats.org/officeDocument/2006/relationships/hyperlink" Target="https://aws.amazon.com/quickstart/architecture/sql/" TargetMode="External"/><Relationship Id="rId11" Type="http://schemas.openxmlformats.org/officeDocument/2006/relationships/image" Target="../media/image117.svg"/><Relationship Id="rId5" Type="http://schemas.openxmlformats.org/officeDocument/2006/relationships/image" Target="../media/image114.png"/><Relationship Id="rId15" Type="http://schemas.openxmlformats.org/officeDocument/2006/relationships/image" Target="../media/image119.svg"/><Relationship Id="rId10" Type="http://schemas.openxmlformats.org/officeDocument/2006/relationships/image" Target="../media/image116.png"/><Relationship Id="rId4" Type="http://schemas.openxmlformats.org/officeDocument/2006/relationships/hyperlink" Target="https://www.youtube.com/watch?v=UYy-UeQ29jo&amp;did=ta_card&amp;trk=ta_card" TargetMode="External"/><Relationship Id="rId9" Type="http://schemas.openxmlformats.org/officeDocument/2006/relationships/image" Target="../media/image9.svg"/><Relationship Id="rId14" Type="http://schemas.openxmlformats.org/officeDocument/2006/relationships/image" Target="../media/image11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6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69.xml"/><Relationship Id="rId4" Type="http://schemas.openxmlformats.org/officeDocument/2006/relationships/hyperlink" Target="https://aws.amazon.com/free/" TargetMode="Externa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123.png"/><Relationship Id="rId2" Type="http://schemas.openxmlformats.org/officeDocument/2006/relationships/slideLayout" Target="../slideLayouts/slideLayout5.xml"/><Relationship Id="rId1" Type="http://schemas.openxmlformats.org/officeDocument/2006/relationships/tags" Target="../tags/tag70.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123.png"/><Relationship Id="rId2" Type="http://schemas.openxmlformats.org/officeDocument/2006/relationships/slideLayout" Target="../slideLayouts/slideLayout5.xml"/><Relationship Id="rId1" Type="http://schemas.openxmlformats.org/officeDocument/2006/relationships/tags" Target="../tags/tag71.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48.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notesSlide" Target="../notesSlides/notesSlide47.xml"/><Relationship Id="rId7" Type="http://schemas.openxmlformats.org/officeDocument/2006/relationships/image" Target="../media/image127.png"/><Relationship Id="rId2" Type="http://schemas.openxmlformats.org/officeDocument/2006/relationships/slideLayout" Target="../slideLayouts/slideLayout5.xml"/><Relationship Id="rId1" Type="http://schemas.openxmlformats.org/officeDocument/2006/relationships/tags" Target="../tags/tag7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73.xml"/><Relationship Id="rId4" Type="http://schemas.openxmlformats.org/officeDocument/2006/relationships/image" Target="../media/image12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74.xml"/><Relationship Id="rId4" Type="http://schemas.openxmlformats.org/officeDocument/2006/relationships/image" Target="../media/image12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75.xml"/><Relationship Id="rId4" Type="http://schemas.openxmlformats.org/officeDocument/2006/relationships/image" Target="../media/image127.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76.xml"/><Relationship Id="rId4" Type="http://schemas.openxmlformats.org/officeDocument/2006/relationships/image" Target="../media/image128.png"/></Relationships>
</file>

<file path=ppt/slides/_rels/slide53.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notesSlide" Target="../notesSlides/notesSlide52.xml"/><Relationship Id="rId7" Type="http://schemas.openxmlformats.org/officeDocument/2006/relationships/image" Target="../media/image132.svg"/><Relationship Id="rId2" Type="http://schemas.openxmlformats.org/officeDocument/2006/relationships/slideLayout" Target="../slideLayouts/slideLayout5.xml"/><Relationship Id="rId1" Type="http://schemas.openxmlformats.org/officeDocument/2006/relationships/tags" Target="../tags/tag77.xml"/><Relationship Id="rId6" Type="http://schemas.openxmlformats.org/officeDocument/2006/relationships/image" Target="../media/image131.png"/><Relationship Id="rId11" Type="http://schemas.openxmlformats.org/officeDocument/2006/relationships/image" Target="../media/image136.svg"/><Relationship Id="rId5" Type="http://schemas.openxmlformats.org/officeDocument/2006/relationships/image" Target="../media/image130.sv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sv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ags" Target="../tags/tag78.xml"/><Relationship Id="rId4" Type="http://schemas.openxmlformats.org/officeDocument/2006/relationships/image" Target="../media/image107.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3.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5400" dirty="0"/>
              <a:t>Module 6: Compute</a:t>
            </a:r>
          </a:p>
        </p:txBody>
      </p:sp>
      <p:sp>
        <p:nvSpPr>
          <p:cNvPr id="2" name="Text Placeholder 1">
            <a:extLst>
              <a:ext uri="{FF2B5EF4-FFF2-40B4-BE49-F238E27FC236}">
                <a16:creationId xmlns:a16="http://schemas.microsoft.com/office/drawing/2014/main" id="{9D88EA70-1A6F-3D46-88BA-3D72648154E8}"/>
              </a:ext>
            </a:extLst>
          </p:cNvPr>
          <p:cNvSpPr>
            <a:spLocks noGrp="1"/>
          </p:cNvSpPr>
          <p:nvPr>
            <p:ph type="body" sz="quarter" idx="10"/>
          </p:nvPr>
        </p:nvSpPr>
        <p:spPr/>
        <p:txBody>
          <a:bodyPr/>
          <a:lstStyle/>
          <a:p>
            <a:r>
              <a:rPr lang="en-US" dirty="0"/>
              <a:t>AWS Academy Cloud Foundations</a:t>
            </a:r>
          </a:p>
        </p:txBody>
      </p:sp>
      <p:sp>
        <p:nvSpPr>
          <p:cNvPr id="3" name="TextBox 2">
            <a:extLst>
              <a:ext uri="{FF2B5EF4-FFF2-40B4-BE49-F238E27FC236}">
                <a16:creationId xmlns:a16="http://schemas.microsoft.com/office/drawing/2014/main" id="{2BF71BF0-65C0-7B4D-A453-0F18B854B995}"/>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bg1"/>
                </a:solidFill>
                <a:latin typeface="Amazon Ember Light" charset="0"/>
                <a:ea typeface="Amazon Ember Light" charset="0"/>
                <a:cs typeface="Amazon Ember Light" charset="0"/>
              </a:rPr>
              <a:t>© 2019, Amazon Web Services, Inc. or its Affiliates. All rights reserved.</a:t>
            </a:r>
          </a:p>
        </p:txBody>
      </p:sp>
    </p:spTree>
    <p:custDataLst>
      <p:tags r:id="rId1"/>
    </p:custDataLst>
    <p:extLst>
      <p:ext uri="{BB962C8B-B14F-4D97-AF65-F5344CB8AC3E}">
        <p14:creationId xmlns:p14="http://schemas.microsoft.com/office/powerpoint/2010/main" val="422895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Module overview</a:t>
            </a:r>
          </a:p>
        </p:txBody>
      </p:sp>
      <p:sp>
        <p:nvSpPr>
          <p:cNvPr id="5" name="Content Placeholder 4"/>
          <p:cNvSpPr>
            <a:spLocks noGrp="1"/>
          </p:cNvSpPr>
          <p:nvPr>
            <p:ph idx="1"/>
          </p:nvPr>
        </p:nvSpPr>
        <p:spPr/>
        <p:txBody>
          <a:bodyPr/>
          <a:lstStyle/>
          <a:p>
            <a:pPr marL="0" indent="0">
              <a:buNone/>
            </a:pPr>
            <a:r>
              <a:rPr lang="en-US" b="1" dirty="0">
                <a:latin typeface="+mn-lt"/>
              </a:rPr>
              <a:t>Topics</a:t>
            </a:r>
          </a:p>
          <a:p>
            <a:r>
              <a:rPr lang="en-US" sz="2000" dirty="0">
                <a:latin typeface="+mn-lt"/>
              </a:rPr>
              <a:t>Compute services overview</a:t>
            </a:r>
          </a:p>
          <a:p>
            <a:r>
              <a:rPr lang="en-US" sz="2000" dirty="0">
                <a:latin typeface="+mn-lt"/>
              </a:rPr>
              <a:t>Amazon EC2</a:t>
            </a:r>
          </a:p>
          <a:p>
            <a:r>
              <a:rPr lang="en-US" sz="2000" dirty="0">
                <a:latin typeface="+mn-lt"/>
              </a:rPr>
              <a:t>Amazon EC2 cost optimization</a:t>
            </a:r>
          </a:p>
          <a:p>
            <a:pPr marL="0" indent="0">
              <a:buNone/>
            </a:pPr>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13"/>
          </p:nvPr>
        </p:nvSpPr>
        <p:spPr/>
        <p:txBody>
          <a:bodyPr/>
          <a:lstStyle/>
          <a:p>
            <a:pPr marL="0" indent="0">
              <a:buNone/>
            </a:pPr>
            <a:r>
              <a:rPr lang="en-US" b="1" dirty="0">
                <a:latin typeface="+mn-lt"/>
              </a:rPr>
              <a:t>Activities</a:t>
            </a:r>
          </a:p>
          <a:p>
            <a:r>
              <a:rPr lang="en-US" sz="2000" dirty="0">
                <a:latin typeface="+mn-lt"/>
              </a:rPr>
              <a:t>Amazon EC2 versus Managed Service</a:t>
            </a:r>
          </a:p>
          <a:p>
            <a:endParaRPr lang="en-US" sz="1800" dirty="0"/>
          </a:p>
          <a:p>
            <a:pPr marL="0" indent="0">
              <a:buNone/>
            </a:pPr>
            <a:r>
              <a:rPr lang="en-US" b="1" dirty="0">
                <a:latin typeface="+mn-lt"/>
              </a:rPr>
              <a:t>Lab</a:t>
            </a:r>
          </a:p>
          <a:p>
            <a:r>
              <a:rPr lang="en-US" sz="2000" dirty="0"/>
              <a:t>Introduction to Amazon EC2</a:t>
            </a:r>
          </a:p>
          <a:p>
            <a:endParaRPr lang="en-US" dirty="0">
              <a:latin typeface="+mn-lt"/>
            </a:endParaRPr>
          </a:p>
        </p:txBody>
      </p:sp>
      <p:grpSp>
        <p:nvGrpSpPr>
          <p:cNvPr id="7" name="Group 6" descr="knowledge check">
            <a:extLst>
              <a:ext uri="{FF2B5EF4-FFF2-40B4-BE49-F238E27FC236}">
                <a16:creationId xmlns:a16="http://schemas.microsoft.com/office/drawing/2014/main" id="{5A386CF2-48DE-3E4F-B27A-6F6B12236D70}"/>
              </a:ext>
            </a:extLst>
          </p:cNvPr>
          <p:cNvGrpSpPr/>
          <p:nvPr/>
        </p:nvGrpSpPr>
        <p:grpSpPr>
          <a:xfrm>
            <a:off x="6268346" y="5787481"/>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
        <p:nvSpPr>
          <p:cNvPr id="3" name="Footer Placeholder 2">
            <a:extLst>
              <a:ext uri="{FF2B5EF4-FFF2-40B4-BE49-F238E27FC236}">
                <a16:creationId xmlns:a16="http://schemas.microsoft.com/office/drawing/2014/main" id="{5BC9F520-52CE-EC45-9983-670F119868B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a:t>
            </a:fld>
            <a:endParaRPr lang="en-US" dirty="0"/>
          </a:p>
        </p:txBody>
      </p:sp>
    </p:spTree>
    <p:custDataLst>
      <p:tags r:id="rId1"/>
    </p:custDataLst>
    <p:extLst>
      <p:ext uri="{BB962C8B-B14F-4D97-AF65-F5344CB8AC3E}">
        <p14:creationId xmlns:p14="http://schemas.microsoft.com/office/powerpoint/2010/main" val="2418746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5" name="Slide Number Placeholder 4">
            <a:extLst>
              <a:ext uri="{FF2B5EF4-FFF2-40B4-BE49-F238E27FC236}">
                <a16:creationId xmlns:a16="http://schemas.microsoft.com/office/drawing/2014/main" id="{E13664B5-EEB6-E049-B72C-49A93FBD477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a:t>
            </a:fld>
            <a:endParaRPr lang="en-US" dirty="0"/>
          </a:p>
        </p:txBody>
      </p:sp>
      <p:sp>
        <p:nvSpPr>
          <p:cNvPr id="3" name="Footer Placeholder 2">
            <a:extLst>
              <a:ext uri="{FF2B5EF4-FFF2-40B4-BE49-F238E27FC236}">
                <a16:creationId xmlns:a16="http://schemas.microsoft.com/office/drawing/2014/main" id="{6946B7C9-428E-944F-B49F-049A0D3B1B0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1" name="Content Placeholder 10">
            <a:extLst>
              <a:ext uri="{FF2B5EF4-FFF2-40B4-BE49-F238E27FC236}">
                <a16:creationId xmlns:a16="http://schemas.microsoft.com/office/drawing/2014/main" id="{0884D7AC-B780-0E43-A312-CABF2E15BCA8}"/>
              </a:ext>
            </a:extLst>
          </p:cNvPr>
          <p:cNvSpPr>
            <a:spLocks noGrp="1"/>
          </p:cNvSpPr>
          <p:nvPr>
            <p:ph idx="1"/>
          </p:nvPr>
        </p:nvSpPr>
        <p:spPr/>
        <p:txBody>
          <a:bodyPr/>
          <a:lstStyle/>
          <a:p>
            <a:pPr marL="0" indent="0">
              <a:buNone/>
            </a:pPr>
            <a:r>
              <a:rPr lang="en-US" sz="3200" dirty="0"/>
              <a:t>After completing this module, you should be able to:</a:t>
            </a:r>
          </a:p>
          <a:p>
            <a:r>
              <a:rPr lang="en-US" sz="2400" dirty="0"/>
              <a:t>Demonstrate why to use Amazon Elastic Compute Cloud (Amazon EC2)</a:t>
            </a:r>
          </a:p>
          <a:p>
            <a:r>
              <a:rPr lang="en-US" sz="2400" dirty="0"/>
              <a:t>Identify the functionality in the EC2 console</a:t>
            </a:r>
          </a:p>
          <a:p>
            <a:r>
              <a:rPr lang="en-US" sz="2400" dirty="0"/>
              <a:t>Perform basic functions in Amazon EC2 to build a virtual computing environment</a:t>
            </a:r>
          </a:p>
          <a:p>
            <a:r>
              <a:rPr lang="en-US" sz="2400" dirty="0"/>
              <a:t>Identify Amazon EC2 cost optimization elements</a:t>
            </a:r>
          </a:p>
        </p:txBody>
      </p:sp>
    </p:spTree>
    <p:custDataLst>
      <p:tags r:id="rId1"/>
    </p:custDataLst>
    <p:extLst>
      <p:ext uri="{BB962C8B-B14F-4D97-AF65-F5344CB8AC3E}">
        <p14:creationId xmlns:p14="http://schemas.microsoft.com/office/powerpoint/2010/main" val="3667429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Section 1: Compute services overview</a:t>
            </a:r>
          </a:p>
        </p:txBody>
      </p:sp>
      <p:sp>
        <p:nvSpPr>
          <p:cNvPr id="5" name="Text Placeholder 4">
            <a:extLst>
              <a:ext uri="{FF2B5EF4-FFF2-40B4-BE49-F238E27FC236}">
                <a16:creationId xmlns:a16="http://schemas.microsoft.com/office/drawing/2014/main" id="{4FBBA754-ABC9-A548-8F1D-26144BA87DE9}"/>
              </a:ext>
            </a:extLst>
          </p:cNvPr>
          <p:cNvSpPr>
            <a:spLocks noGrp="1"/>
          </p:cNvSpPr>
          <p:nvPr>
            <p:ph type="body" sz="quarter" idx="10"/>
          </p:nvPr>
        </p:nvSpPr>
        <p:spPr/>
        <p:txBody>
          <a:bodyPr>
            <a:normAutofit/>
          </a:bodyPr>
          <a:lstStyle/>
          <a:p>
            <a:r>
              <a:rPr lang="en-US" dirty="0"/>
              <a:t>Module 6: Compute</a:t>
            </a:r>
          </a:p>
        </p:txBody>
      </p:sp>
      <p:sp>
        <p:nvSpPr>
          <p:cNvPr id="3" name="Footer Placeholder 2">
            <a:extLst>
              <a:ext uri="{FF2B5EF4-FFF2-40B4-BE49-F238E27FC236}">
                <a16:creationId xmlns:a16="http://schemas.microsoft.com/office/drawing/2014/main" id="{246619C5-0CCA-0D4E-816A-B1DA80B19C2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60095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9D8A06-614E-3349-AB18-CC8E0BC91E99}"/>
              </a:ext>
            </a:extLst>
          </p:cNvPr>
          <p:cNvSpPr>
            <a:spLocks noGrp="1"/>
          </p:cNvSpPr>
          <p:nvPr>
            <p:ph type="title"/>
          </p:nvPr>
        </p:nvSpPr>
        <p:spPr/>
        <p:txBody>
          <a:bodyPr/>
          <a:lstStyle/>
          <a:p>
            <a:r>
              <a:rPr lang="en-US" dirty="0"/>
              <a:t>AWS compute services</a:t>
            </a:r>
          </a:p>
        </p:txBody>
      </p:sp>
      <p:sp>
        <p:nvSpPr>
          <p:cNvPr id="4" name="Footer Placeholder 3">
            <a:extLst>
              <a:ext uri="{FF2B5EF4-FFF2-40B4-BE49-F238E27FC236}">
                <a16:creationId xmlns:a16="http://schemas.microsoft.com/office/drawing/2014/main" id="{38874B2C-88C1-844E-863A-0C2BAABD9F8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9" name="TextBox 58">
            <a:extLst>
              <a:ext uri="{FF2B5EF4-FFF2-40B4-BE49-F238E27FC236}">
                <a16:creationId xmlns:a16="http://schemas.microsoft.com/office/drawing/2014/main" id="{0EFB2D9A-8651-EE4F-9E53-1176EEB065E7}"/>
              </a:ext>
            </a:extLst>
          </p:cNvPr>
          <p:cNvSpPr txBox="1"/>
          <p:nvPr/>
        </p:nvSpPr>
        <p:spPr>
          <a:xfrm>
            <a:off x="535583" y="1402660"/>
            <a:ext cx="11198900" cy="369332"/>
          </a:xfrm>
          <a:prstGeom prst="rect">
            <a:avLst/>
          </a:prstGeom>
          <a:noFill/>
        </p:spPr>
        <p:txBody>
          <a:bodyPr wrap="none" rtlCol="0">
            <a:spAutoFit/>
          </a:bodyPr>
          <a:lstStyle/>
          <a:p>
            <a:r>
              <a:rPr lang="en-US"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Amazon Web Services (AWS) offers many compute services. This module will discuss the highlighted services.</a:t>
            </a:r>
          </a:p>
        </p:txBody>
      </p:sp>
      <p:grpSp>
        <p:nvGrpSpPr>
          <p:cNvPr id="2" name="Group 1" descr="Graphic showing icons for Amazon EC2, EC2 Auto Scaling, Amazon ECR, Amazon ECS, VMware Cloud on AWS, Elastic Beanstalk, AWS Lambda, EKS, Lightsail, AWS Batch, AWS Fargate, and AWS Serverless Application Repository. Only EC2, ECR, ECS, Beanstalk, Lambda, and EKS are highlighted">
            <a:extLst>
              <a:ext uri="{FF2B5EF4-FFF2-40B4-BE49-F238E27FC236}">
                <a16:creationId xmlns:a16="http://schemas.microsoft.com/office/drawing/2014/main" id="{0F118C69-978A-D04D-833F-DE9A8840346C}"/>
              </a:ext>
            </a:extLst>
          </p:cNvPr>
          <p:cNvGrpSpPr/>
          <p:nvPr/>
        </p:nvGrpSpPr>
        <p:grpSpPr>
          <a:xfrm>
            <a:off x="582792" y="2029218"/>
            <a:ext cx="10728975" cy="4327133"/>
            <a:chOff x="582792" y="2029218"/>
            <a:chExt cx="10728975" cy="4327133"/>
          </a:xfrm>
        </p:grpSpPr>
        <p:grpSp>
          <p:nvGrpSpPr>
            <p:cNvPr id="51" name="Group 50" descr="Graphic showing icons for Amazon EC2, EC2 Auto Scaling, Amazon ECR, Amazon ECS, VMware Cloud on AWS, Elastic Beanstalk, AWS Lambda, EKS, Lightsail, AWS Batch, AWS Fargate, and AWS Serverless Application Repository. Only EC2, ECR, ECS, Beanstalk, Lambda, and EKS are highlighted">
              <a:extLst>
                <a:ext uri="{FF2B5EF4-FFF2-40B4-BE49-F238E27FC236}">
                  <a16:creationId xmlns:a16="http://schemas.microsoft.com/office/drawing/2014/main" id="{94F9BA11-4C0E-D44D-ABAD-24DCE9844D89}"/>
                </a:ext>
              </a:extLst>
            </p:cNvPr>
            <p:cNvGrpSpPr/>
            <p:nvPr/>
          </p:nvGrpSpPr>
          <p:grpSpPr>
            <a:xfrm>
              <a:off x="686444" y="2128651"/>
              <a:ext cx="10625323" cy="4214517"/>
              <a:chOff x="686444" y="1554480"/>
              <a:chExt cx="10625323" cy="4214517"/>
            </a:xfrm>
          </p:grpSpPr>
          <p:sp>
            <p:nvSpPr>
              <p:cNvPr id="6" name="TextBox 5">
                <a:extLst>
                  <a:ext uri="{FF2B5EF4-FFF2-40B4-BE49-F238E27FC236}">
                    <a16:creationId xmlns:a16="http://schemas.microsoft.com/office/drawing/2014/main" id="{72D66D5F-4782-9146-8A34-18C660241CD8}"/>
                  </a:ext>
                </a:extLst>
              </p:cNvPr>
              <p:cNvSpPr txBox="1"/>
              <p:nvPr/>
            </p:nvSpPr>
            <p:spPr>
              <a:xfrm>
                <a:off x="686444" y="2138996"/>
                <a:ext cx="1513305" cy="307777"/>
              </a:xfrm>
              <a:prstGeom prst="rect">
                <a:avLst/>
              </a:prstGeom>
              <a:noFill/>
            </p:spPr>
            <p:txBody>
              <a:bodyPr wrap="square" rtlCol="0">
                <a:spAutoFit/>
              </a:bodyPr>
              <a:lstStyle/>
              <a:p>
                <a:pPr algn="ctr"/>
                <a:r>
                  <a:rPr lang="en-US" sz="1400" dirty="0"/>
                  <a:t>Amazon EC2</a:t>
                </a:r>
              </a:p>
            </p:txBody>
          </p:sp>
          <p:pic>
            <p:nvPicPr>
              <p:cNvPr id="7" name="Graphic 6">
                <a:extLst>
                  <a:ext uri="{FF2B5EF4-FFF2-40B4-BE49-F238E27FC236}">
                    <a16:creationId xmlns:a16="http://schemas.microsoft.com/office/drawing/2014/main" id="{87A13CC5-7F13-D64F-8AAD-A09290A3DA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8720" y="1554480"/>
                <a:ext cx="548640" cy="548640"/>
              </a:xfrm>
              <a:prstGeom prst="rect">
                <a:avLst/>
              </a:prstGeom>
            </p:spPr>
          </p:pic>
          <p:sp>
            <p:nvSpPr>
              <p:cNvPr id="8" name="TextBox 7">
                <a:extLst>
                  <a:ext uri="{FF2B5EF4-FFF2-40B4-BE49-F238E27FC236}">
                    <a16:creationId xmlns:a16="http://schemas.microsoft.com/office/drawing/2014/main" id="{DF238146-89AD-484E-A639-D73BB5F904C3}"/>
                  </a:ext>
                </a:extLst>
              </p:cNvPr>
              <p:cNvSpPr txBox="1"/>
              <p:nvPr/>
            </p:nvSpPr>
            <p:spPr>
              <a:xfrm>
                <a:off x="2939533" y="2128363"/>
                <a:ext cx="1513305" cy="523220"/>
              </a:xfrm>
              <a:prstGeom prst="rect">
                <a:avLst/>
              </a:prstGeom>
              <a:noFill/>
            </p:spPr>
            <p:txBody>
              <a:bodyPr wrap="square" rtlCol="0">
                <a:spAutoFit/>
              </a:bodyPr>
              <a:lstStyle/>
              <a:p>
                <a:pPr algn="ctr"/>
                <a:r>
                  <a:rPr lang="en-US" sz="1400" dirty="0"/>
                  <a:t>Amazon EC2 </a:t>
                </a:r>
                <a:br>
                  <a:rPr lang="en-US" sz="1400" dirty="0"/>
                </a:br>
                <a:r>
                  <a:rPr lang="en-US" sz="1400" dirty="0"/>
                  <a:t>Auto Scaling</a:t>
                </a:r>
              </a:p>
            </p:txBody>
          </p:sp>
          <p:pic>
            <p:nvPicPr>
              <p:cNvPr id="9" name="Graphic 8">
                <a:extLst>
                  <a:ext uri="{FF2B5EF4-FFF2-40B4-BE49-F238E27FC236}">
                    <a16:creationId xmlns:a16="http://schemas.microsoft.com/office/drawing/2014/main" id="{9328246D-B5EB-5249-8DB0-0F584AB01F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52277" y="1554480"/>
                <a:ext cx="548640" cy="548640"/>
              </a:xfrm>
              <a:prstGeom prst="rect">
                <a:avLst/>
              </a:prstGeom>
            </p:spPr>
          </p:pic>
          <p:sp>
            <p:nvSpPr>
              <p:cNvPr id="10" name="TextBox 9">
                <a:extLst>
                  <a:ext uri="{FF2B5EF4-FFF2-40B4-BE49-F238E27FC236}">
                    <a16:creationId xmlns:a16="http://schemas.microsoft.com/office/drawing/2014/main" id="{A7AEC25B-0F30-524C-84DB-21CD5A61F1EC}"/>
                  </a:ext>
                </a:extLst>
              </p:cNvPr>
              <p:cNvSpPr txBox="1"/>
              <p:nvPr/>
            </p:nvSpPr>
            <p:spPr>
              <a:xfrm>
                <a:off x="5101214" y="2138996"/>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Container Registry (Amazon ECR)</a:t>
                </a:r>
              </a:p>
            </p:txBody>
          </p:sp>
          <p:pic>
            <p:nvPicPr>
              <p:cNvPr id="11" name="Graphic 10">
                <a:extLst>
                  <a:ext uri="{FF2B5EF4-FFF2-40B4-BE49-F238E27FC236}">
                    <a16:creationId xmlns:a16="http://schemas.microsoft.com/office/drawing/2014/main" id="{31D7C8FB-6C21-2E4E-8D57-68F7869A6A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15834" y="1554480"/>
                <a:ext cx="548640" cy="548640"/>
              </a:xfrm>
              <a:prstGeom prst="rect">
                <a:avLst/>
              </a:prstGeom>
            </p:spPr>
          </p:pic>
          <p:sp>
            <p:nvSpPr>
              <p:cNvPr id="12" name="TextBox 11">
                <a:extLst>
                  <a:ext uri="{FF2B5EF4-FFF2-40B4-BE49-F238E27FC236}">
                    <a16:creationId xmlns:a16="http://schemas.microsoft.com/office/drawing/2014/main" id="{0E5FE206-129D-0345-B2D5-8C50352EF3EA}"/>
                  </a:ext>
                </a:extLst>
              </p:cNvPr>
              <p:cNvSpPr txBox="1"/>
              <p:nvPr/>
            </p:nvSpPr>
            <p:spPr>
              <a:xfrm>
                <a:off x="7369509" y="2138996"/>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Container Service (Amazon ECS)</a:t>
                </a:r>
              </a:p>
            </p:txBody>
          </p:sp>
          <p:pic>
            <p:nvPicPr>
              <p:cNvPr id="13" name="Graphic 12">
                <a:extLst>
                  <a:ext uri="{FF2B5EF4-FFF2-40B4-BE49-F238E27FC236}">
                    <a16:creationId xmlns:a16="http://schemas.microsoft.com/office/drawing/2014/main" id="{BF03DA95-CDEF-1740-9272-BAAE71A3833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79391" y="1554480"/>
                <a:ext cx="548640" cy="548640"/>
              </a:xfrm>
              <a:prstGeom prst="rect">
                <a:avLst/>
              </a:prstGeom>
            </p:spPr>
          </p:pic>
          <p:sp>
            <p:nvSpPr>
              <p:cNvPr id="14" name="TextBox 13">
                <a:extLst>
                  <a:ext uri="{FF2B5EF4-FFF2-40B4-BE49-F238E27FC236}">
                    <a16:creationId xmlns:a16="http://schemas.microsoft.com/office/drawing/2014/main" id="{1CE55A78-C680-7548-9D3F-46F35E614E55}"/>
                  </a:ext>
                </a:extLst>
              </p:cNvPr>
              <p:cNvSpPr txBox="1"/>
              <p:nvPr/>
            </p:nvSpPr>
            <p:spPr>
              <a:xfrm>
                <a:off x="810828" y="3701235"/>
                <a:ext cx="1300855" cy="523220"/>
              </a:xfrm>
              <a:prstGeom prst="rect">
                <a:avLst/>
              </a:prstGeom>
              <a:noFill/>
            </p:spPr>
            <p:txBody>
              <a:bodyPr wrap="square" rtlCol="0">
                <a:spAutoFit/>
              </a:bodyPr>
              <a:lstStyle/>
              <a:p>
                <a:pPr algn="ctr"/>
                <a:r>
                  <a:rPr lang="en-US" sz="1400" dirty="0"/>
                  <a:t>AWS Elastic </a:t>
                </a:r>
                <a:br>
                  <a:rPr lang="en-US" sz="1400" dirty="0"/>
                </a:br>
                <a:r>
                  <a:rPr lang="en-US" sz="1400" dirty="0"/>
                  <a:t>Beanstalk</a:t>
                </a:r>
              </a:p>
            </p:txBody>
          </p:sp>
          <p:pic>
            <p:nvPicPr>
              <p:cNvPr id="15" name="Graphic 14">
                <a:extLst>
                  <a:ext uri="{FF2B5EF4-FFF2-40B4-BE49-F238E27FC236}">
                    <a16:creationId xmlns:a16="http://schemas.microsoft.com/office/drawing/2014/main" id="{29197B51-7241-5B48-8AF7-5991752DBE5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88720" y="3108960"/>
                <a:ext cx="548640" cy="548640"/>
              </a:xfrm>
              <a:prstGeom prst="rect">
                <a:avLst/>
              </a:prstGeom>
            </p:spPr>
          </p:pic>
          <p:sp>
            <p:nvSpPr>
              <p:cNvPr id="17" name="TextBox 16">
                <a:extLst>
                  <a:ext uri="{FF2B5EF4-FFF2-40B4-BE49-F238E27FC236}">
                    <a16:creationId xmlns:a16="http://schemas.microsoft.com/office/drawing/2014/main" id="{8206C955-7D21-AC48-9F31-DEA19C5E348B}"/>
                  </a:ext>
                </a:extLst>
              </p:cNvPr>
              <p:cNvSpPr txBox="1"/>
              <p:nvPr/>
            </p:nvSpPr>
            <p:spPr>
              <a:xfrm>
                <a:off x="2957929" y="3690603"/>
                <a:ext cx="1528359" cy="307777"/>
              </a:xfrm>
              <a:prstGeom prst="rect">
                <a:avLst/>
              </a:prstGeom>
              <a:noFill/>
            </p:spPr>
            <p:txBody>
              <a:bodyPr wrap="square" rtlCol="0">
                <a:spAutoFit/>
              </a:bodyPr>
              <a:lstStyle/>
              <a:p>
                <a:pPr algn="ctr"/>
                <a:r>
                  <a:rPr lang="en-US" sz="1400" dirty="0"/>
                  <a:t>AWS Lambda</a:t>
                </a:r>
              </a:p>
            </p:txBody>
          </p:sp>
          <p:pic>
            <p:nvPicPr>
              <p:cNvPr id="18" name="Graphic 17">
                <a:extLst>
                  <a:ext uri="{FF2B5EF4-FFF2-40B4-BE49-F238E27FC236}">
                    <a16:creationId xmlns:a16="http://schemas.microsoft.com/office/drawing/2014/main" id="{ACAFCDFB-3602-F743-A3DD-EDCBD9BA9BD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456432" y="3108960"/>
                <a:ext cx="548640" cy="548640"/>
              </a:xfrm>
              <a:prstGeom prst="rect">
                <a:avLst/>
              </a:prstGeom>
            </p:spPr>
          </p:pic>
          <p:sp>
            <p:nvSpPr>
              <p:cNvPr id="19" name="TextBox 18">
                <a:extLst>
                  <a:ext uri="{FF2B5EF4-FFF2-40B4-BE49-F238E27FC236}">
                    <a16:creationId xmlns:a16="http://schemas.microsoft.com/office/drawing/2014/main" id="{BDDBBBDF-DBB5-834F-9359-9AFD15CE007E}"/>
                  </a:ext>
                </a:extLst>
              </p:cNvPr>
              <p:cNvSpPr txBox="1"/>
              <p:nvPr/>
            </p:nvSpPr>
            <p:spPr>
              <a:xfrm>
                <a:off x="7451096" y="3689052"/>
                <a:ext cx="1612946" cy="307777"/>
              </a:xfrm>
              <a:prstGeom prst="rect">
                <a:avLst/>
              </a:prstGeom>
              <a:noFill/>
            </p:spPr>
            <p:txBody>
              <a:bodyPr wrap="square" rtlCol="0">
                <a:spAutoFit/>
              </a:bodyPr>
              <a:lstStyle/>
              <a:p>
                <a:pPr algn="ctr"/>
                <a:r>
                  <a:rPr lang="en-US" sz="1400" dirty="0"/>
                  <a:t>Amazon Lightsail</a:t>
                </a:r>
              </a:p>
            </p:txBody>
          </p:sp>
          <p:pic>
            <p:nvPicPr>
              <p:cNvPr id="20" name="Graphic 19">
                <a:extLst>
                  <a:ext uri="{FF2B5EF4-FFF2-40B4-BE49-F238E27FC236}">
                    <a16:creationId xmlns:a16="http://schemas.microsoft.com/office/drawing/2014/main" id="{93C43FC5-8594-F241-9708-D75374BBC76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982712" y="3108960"/>
                <a:ext cx="548640" cy="548640"/>
              </a:xfrm>
              <a:prstGeom prst="rect">
                <a:avLst/>
              </a:prstGeom>
            </p:spPr>
          </p:pic>
          <p:sp>
            <p:nvSpPr>
              <p:cNvPr id="16" name="TextBox 15">
                <a:extLst>
                  <a:ext uri="{FF2B5EF4-FFF2-40B4-BE49-F238E27FC236}">
                    <a16:creationId xmlns:a16="http://schemas.microsoft.com/office/drawing/2014/main" id="{CCED8D87-6FF0-2141-9B3A-A1DBBB3E052F}"/>
                  </a:ext>
                </a:extLst>
              </p:cNvPr>
              <p:cNvSpPr txBox="1"/>
              <p:nvPr/>
            </p:nvSpPr>
            <p:spPr>
              <a:xfrm>
                <a:off x="5099191" y="3682050"/>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Kubernetes Service (Amazon EKS)</a:t>
                </a:r>
                <a:endParaRPr lang="en-US" sz="1100" dirty="0"/>
              </a:p>
            </p:txBody>
          </p:sp>
          <p:pic>
            <p:nvPicPr>
              <p:cNvPr id="21" name="Graphic 20">
                <a:extLst>
                  <a:ext uri="{FF2B5EF4-FFF2-40B4-BE49-F238E27FC236}">
                    <a16:creationId xmlns:a16="http://schemas.microsoft.com/office/drawing/2014/main" id="{52E8D2AF-9C85-5A43-9783-6945D1A846E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715000" y="3108960"/>
                <a:ext cx="548640" cy="548640"/>
              </a:xfrm>
              <a:prstGeom prst="rect">
                <a:avLst/>
              </a:prstGeom>
            </p:spPr>
          </p:pic>
          <p:sp>
            <p:nvSpPr>
              <p:cNvPr id="22" name="TextBox 21">
                <a:extLst>
                  <a:ext uri="{FF2B5EF4-FFF2-40B4-BE49-F238E27FC236}">
                    <a16:creationId xmlns:a16="http://schemas.microsoft.com/office/drawing/2014/main" id="{9FB51A2E-96B3-7948-8D97-EB082266018E}"/>
                  </a:ext>
                </a:extLst>
              </p:cNvPr>
              <p:cNvSpPr txBox="1"/>
              <p:nvPr/>
            </p:nvSpPr>
            <p:spPr>
              <a:xfrm>
                <a:off x="2968563" y="5246551"/>
                <a:ext cx="1528359" cy="307777"/>
              </a:xfrm>
              <a:prstGeom prst="rect">
                <a:avLst/>
              </a:prstGeom>
              <a:noFill/>
            </p:spPr>
            <p:txBody>
              <a:bodyPr wrap="square" rtlCol="0">
                <a:spAutoFit/>
              </a:bodyPr>
              <a:lstStyle/>
              <a:p>
                <a:pPr algn="ctr"/>
                <a:r>
                  <a:rPr lang="en-US" sz="1400" dirty="0"/>
                  <a:t>AWS Fargate</a:t>
                </a:r>
              </a:p>
            </p:txBody>
          </p:sp>
          <p:pic>
            <p:nvPicPr>
              <p:cNvPr id="24" name="Graphic 23">
                <a:extLst>
                  <a:ext uri="{FF2B5EF4-FFF2-40B4-BE49-F238E27FC236}">
                    <a16:creationId xmlns:a16="http://schemas.microsoft.com/office/drawing/2014/main" id="{834F0846-5796-BC4A-A105-189605116EE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456432" y="4663440"/>
                <a:ext cx="548640" cy="548640"/>
              </a:xfrm>
              <a:prstGeom prst="rect">
                <a:avLst/>
              </a:prstGeom>
            </p:spPr>
          </p:pic>
          <p:sp>
            <p:nvSpPr>
              <p:cNvPr id="23" name="TextBox 22">
                <a:extLst>
                  <a:ext uri="{FF2B5EF4-FFF2-40B4-BE49-F238E27FC236}">
                    <a16:creationId xmlns:a16="http://schemas.microsoft.com/office/drawing/2014/main" id="{677BA250-C599-FC4B-BCDD-6926FED9BE58}"/>
                  </a:ext>
                </a:extLst>
              </p:cNvPr>
              <p:cNvSpPr txBox="1"/>
              <p:nvPr/>
            </p:nvSpPr>
            <p:spPr>
              <a:xfrm>
                <a:off x="5293431" y="5246549"/>
                <a:ext cx="1421567" cy="307777"/>
              </a:xfrm>
              <a:prstGeom prst="rect">
                <a:avLst/>
              </a:prstGeom>
              <a:noFill/>
            </p:spPr>
            <p:txBody>
              <a:bodyPr wrap="square" rtlCol="0">
                <a:spAutoFit/>
              </a:bodyPr>
              <a:lstStyle/>
              <a:p>
                <a:pPr algn="ctr"/>
                <a:r>
                  <a:rPr lang="en-US" sz="1400" dirty="0"/>
                  <a:t>AWS Outposts</a:t>
                </a:r>
              </a:p>
            </p:txBody>
          </p:sp>
          <p:pic>
            <p:nvPicPr>
              <p:cNvPr id="25" name="Graphic 24">
                <a:extLst>
                  <a:ext uri="{FF2B5EF4-FFF2-40B4-BE49-F238E27FC236}">
                    <a16:creationId xmlns:a16="http://schemas.microsoft.com/office/drawing/2014/main" id="{5F162E13-FF78-A74D-8B37-CC7E02004A2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715000" y="4663440"/>
                <a:ext cx="548640" cy="548640"/>
              </a:xfrm>
              <a:prstGeom prst="rect">
                <a:avLst/>
              </a:prstGeom>
            </p:spPr>
          </p:pic>
          <p:sp>
            <p:nvSpPr>
              <p:cNvPr id="26" name="TextBox 25">
                <a:extLst>
                  <a:ext uri="{FF2B5EF4-FFF2-40B4-BE49-F238E27FC236}">
                    <a16:creationId xmlns:a16="http://schemas.microsoft.com/office/drawing/2014/main" id="{D5A182B3-14B1-1141-BF91-E3B347F8ACC2}"/>
                  </a:ext>
                </a:extLst>
              </p:cNvPr>
              <p:cNvSpPr txBox="1"/>
              <p:nvPr/>
            </p:nvSpPr>
            <p:spPr>
              <a:xfrm>
                <a:off x="9748148" y="3682403"/>
                <a:ext cx="1528359" cy="307777"/>
              </a:xfrm>
              <a:prstGeom prst="rect">
                <a:avLst/>
              </a:prstGeom>
              <a:noFill/>
            </p:spPr>
            <p:txBody>
              <a:bodyPr wrap="square" rtlCol="0">
                <a:spAutoFit/>
              </a:bodyPr>
              <a:lstStyle/>
              <a:p>
                <a:pPr algn="ctr"/>
                <a:r>
                  <a:rPr lang="en-US" sz="1400" dirty="0"/>
                  <a:t>AWS Batch</a:t>
                </a:r>
              </a:p>
            </p:txBody>
          </p:sp>
          <p:pic>
            <p:nvPicPr>
              <p:cNvPr id="27" name="Graphic 26">
                <a:extLst>
                  <a:ext uri="{FF2B5EF4-FFF2-40B4-BE49-F238E27FC236}">
                    <a16:creationId xmlns:a16="http://schemas.microsoft.com/office/drawing/2014/main" id="{EE632768-5976-A24C-A931-EAF8BD068A3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241280" y="3108960"/>
                <a:ext cx="548640" cy="548640"/>
              </a:xfrm>
              <a:prstGeom prst="rect">
                <a:avLst/>
              </a:prstGeom>
            </p:spPr>
          </p:pic>
          <p:sp>
            <p:nvSpPr>
              <p:cNvPr id="28" name="TextBox 27">
                <a:extLst>
                  <a:ext uri="{FF2B5EF4-FFF2-40B4-BE49-F238E27FC236}">
                    <a16:creationId xmlns:a16="http://schemas.microsoft.com/office/drawing/2014/main" id="{77F9D947-D894-4D49-A708-55D33644A22B}"/>
                  </a:ext>
                </a:extLst>
              </p:cNvPr>
              <p:cNvSpPr txBox="1"/>
              <p:nvPr/>
            </p:nvSpPr>
            <p:spPr>
              <a:xfrm>
                <a:off x="7201021" y="5245777"/>
                <a:ext cx="2134356" cy="523220"/>
              </a:xfrm>
              <a:prstGeom prst="rect">
                <a:avLst/>
              </a:prstGeom>
              <a:noFill/>
            </p:spPr>
            <p:txBody>
              <a:bodyPr wrap="square" rtlCol="0">
                <a:spAutoFit/>
              </a:bodyPr>
              <a:lstStyle/>
              <a:p>
                <a:pPr algn="ctr"/>
                <a:r>
                  <a:rPr lang="en-US" sz="1400" dirty="0"/>
                  <a:t>AWS Serverless Application Repository</a:t>
                </a:r>
              </a:p>
            </p:txBody>
          </p:sp>
          <p:pic>
            <p:nvPicPr>
              <p:cNvPr id="29" name="Graphic 28">
                <a:extLst>
                  <a:ext uri="{FF2B5EF4-FFF2-40B4-BE49-F238E27FC236}">
                    <a16:creationId xmlns:a16="http://schemas.microsoft.com/office/drawing/2014/main" id="{0729A681-DAE1-A340-93EB-6AC456367108}"/>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982712" y="4663440"/>
                <a:ext cx="548640" cy="548640"/>
              </a:xfrm>
              <a:prstGeom prst="rect">
                <a:avLst/>
              </a:prstGeom>
            </p:spPr>
          </p:pic>
          <p:sp>
            <p:nvSpPr>
              <p:cNvPr id="30" name="TextBox 29">
                <a:extLst>
                  <a:ext uri="{FF2B5EF4-FFF2-40B4-BE49-F238E27FC236}">
                    <a16:creationId xmlns:a16="http://schemas.microsoft.com/office/drawing/2014/main" id="{84AAE190-6F1F-A94E-8160-365CCEEDE130}"/>
                  </a:ext>
                </a:extLst>
              </p:cNvPr>
              <p:cNvSpPr txBox="1"/>
              <p:nvPr/>
            </p:nvSpPr>
            <p:spPr>
              <a:xfrm>
                <a:off x="9722768" y="2131998"/>
                <a:ext cx="1588999" cy="523220"/>
              </a:xfrm>
              <a:prstGeom prst="rect">
                <a:avLst/>
              </a:prstGeom>
              <a:noFill/>
            </p:spPr>
            <p:txBody>
              <a:bodyPr wrap="square" rtlCol="0">
                <a:spAutoFit/>
              </a:bodyPr>
              <a:lstStyle/>
              <a:p>
                <a:pPr algn="ctr"/>
                <a:r>
                  <a:rPr lang="en-US" sz="1400" dirty="0"/>
                  <a:t>VMware Cloud </a:t>
                </a:r>
                <a:br>
                  <a:rPr lang="en-US" sz="1400" dirty="0"/>
                </a:br>
                <a:r>
                  <a:rPr lang="en-US" sz="1400" dirty="0"/>
                  <a:t>on AWS</a:t>
                </a:r>
              </a:p>
            </p:txBody>
          </p:sp>
          <p:pic>
            <p:nvPicPr>
              <p:cNvPr id="31" name="Graphic 30">
                <a:extLst>
                  <a:ext uri="{FF2B5EF4-FFF2-40B4-BE49-F238E27FC236}">
                    <a16:creationId xmlns:a16="http://schemas.microsoft.com/office/drawing/2014/main" id="{CA4DA72E-E02D-DC44-B3E4-2F2C086EA374}"/>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242948" y="1554480"/>
                <a:ext cx="548640" cy="548640"/>
              </a:xfrm>
              <a:prstGeom prst="rect">
                <a:avLst/>
              </a:prstGeom>
            </p:spPr>
          </p:pic>
        </p:grpSp>
        <p:sp>
          <p:nvSpPr>
            <p:cNvPr id="52" name="Rectangle 51">
              <a:extLst>
                <a:ext uri="{FF2B5EF4-FFF2-40B4-BE49-F238E27FC236}">
                  <a16:creationId xmlns:a16="http://schemas.microsoft.com/office/drawing/2014/main" id="{17DD8291-D0EE-F24B-BD10-6B812FA6FC5D}"/>
                </a:ext>
              </a:extLst>
            </p:cNvPr>
            <p:cNvSpPr/>
            <p:nvPr/>
          </p:nvSpPr>
          <p:spPr>
            <a:xfrm>
              <a:off x="582792" y="2029218"/>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3" name="Rectangle 52">
              <a:extLst>
                <a:ext uri="{FF2B5EF4-FFF2-40B4-BE49-F238E27FC236}">
                  <a16:creationId xmlns:a16="http://schemas.microsoft.com/office/drawing/2014/main" id="{C0F02577-A119-6648-AFB7-7AA194B61EBE}"/>
                </a:ext>
              </a:extLst>
            </p:cNvPr>
            <p:cNvSpPr/>
            <p:nvPr/>
          </p:nvSpPr>
          <p:spPr>
            <a:xfrm>
              <a:off x="583135" y="3603376"/>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4" name="Rectangle 53">
              <a:extLst>
                <a:ext uri="{FF2B5EF4-FFF2-40B4-BE49-F238E27FC236}">
                  <a16:creationId xmlns:a16="http://schemas.microsoft.com/office/drawing/2014/main" id="{C2EEC618-48D5-584C-B1CE-4B54E35F6304}"/>
                </a:ext>
              </a:extLst>
            </p:cNvPr>
            <p:cNvSpPr/>
            <p:nvPr/>
          </p:nvSpPr>
          <p:spPr>
            <a:xfrm>
              <a:off x="5138025" y="2037846"/>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5" name="Rectangle 54">
              <a:extLst>
                <a:ext uri="{FF2B5EF4-FFF2-40B4-BE49-F238E27FC236}">
                  <a16:creationId xmlns:a16="http://schemas.microsoft.com/office/drawing/2014/main" id="{E3913BDF-AF15-8049-AE0D-D075D543E4FE}"/>
                </a:ext>
              </a:extLst>
            </p:cNvPr>
            <p:cNvSpPr/>
            <p:nvPr/>
          </p:nvSpPr>
          <p:spPr>
            <a:xfrm>
              <a:off x="7377491" y="2029218"/>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7" name="Rectangle 56">
              <a:extLst>
                <a:ext uri="{FF2B5EF4-FFF2-40B4-BE49-F238E27FC236}">
                  <a16:creationId xmlns:a16="http://schemas.microsoft.com/office/drawing/2014/main" id="{B7B625DD-DDAC-D04C-AD93-DE2D7211244D}"/>
                </a:ext>
              </a:extLst>
            </p:cNvPr>
            <p:cNvSpPr/>
            <p:nvPr/>
          </p:nvSpPr>
          <p:spPr>
            <a:xfrm>
              <a:off x="5110949" y="3592491"/>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8" name="Rectangle 57">
              <a:extLst>
                <a:ext uri="{FF2B5EF4-FFF2-40B4-BE49-F238E27FC236}">
                  <a16:creationId xmlns:a16="http://schemas.microsoft.com/office/drawing/2014/main" id="{C07672BE-951A-B248-8414-508964CB1A4B}"/>
                </a:ext>
              </a:extLst>
            </p:cNvPr>
            <p:cNvSpPr/>
            <p:nvPr/>
          </p:nvSpPr>
          <p:spPr>
            <a:xfrm>
              <a:off x="2825742" y="3600645"/>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0" name="Rectangle 59">
              <a:extLst>
                <a:ext uri="{FF2B5EF4-FFF2-40B4-BE49-F238E27FC236}">
                  <a16:creationId xmlns:a16="http://schemas.microsoft.com/office/drawing/2014/main" id="{CDE80AC7-04CF-3B43-B01C-5808E2C9D52D}"/>
                </a:ext>
              </a:extLst>
            </p:cNvPr>
            <p:cNvSpPr/>
            <p:nvPr/>
          </p:nvSpPr>
          <p:spPr>
            <a:xfrm>
              <a:off x="2848483" y="5140909"/>
              <a:ext cx="1732377" cy="1215442"/>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grpSp>
      <p:sp>
        <p:nvSpPr>
          <p:cNvPr id="3" name="Slide Number Placeholder 2">
            <a:extLst>
              <a:ext uri="{FF2B5EF4-FFF2-40B4-BE49-F238E27FC236}">
                <a16:creationId xmlns:a16="http://schemas.microsoft.com/office/drawing/2014/main" id="{8B83DFC1-68D9-144E-9AD1-5CBA9B752C3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a:t>
            </a:fld>
            <a:endParaRPr lang="en-US" dirty="0"/>
          </a:p>
        </p:txBody>
      </p:sp>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30C0DE7B-A070-49FF-8F73-493A20F9CF42}"/>
                  </a:ext>
                </a:extLst>
              </p14:cNvPr>
              <p14:cNvContentPartPr/>
              <p14:nvPr/>
            </p14:nvContentPartPr>
            <p14:xfrm>
              <a:off x="1714320" y="3205800"/>
              <a:ext cx="7260480" cy="2991600"/>
            </p14:xfrm>
          </p:contentPart>
        </mc:Choice>
        <mc:Fallback xmlns="">
          <p:pic>
            <p:nvPicPr>
              <p:cNvPr id="32" name="Ink 31">
                <a:extLst>
                  <a:ext uri="{FF2B5EF4-FFF2-40B4-BE49-F238E27FC236}">
                    <a16:creationId xmlns:a16="http://schemas.microsoft.com/office/drawing/2014/main" id="{30C0DE7B-A070-49FF-8F73-493A20F9CF42}"/>
                  </a:ext>
                </a:extLst>
              </p:cNvPr>
              <p:cNvPicPr/>
              <p:nvPr/>
            </p:nvPicPr>
            <p:blipFill>
              <a:blip r:embed="rId31"/>
              <a:stretch>
                <a:fillRect/>
              </a:stretch>
            </p:blipFill>
            <p:spPr>
              <a:xfrm>
                <a:off x="1704960" y="3196440"/>
                <a:ext cx="7279200" cy="3010320"/>
              </a:xfrm>
              <a:prstGeom prst="rect">
                <a:avLst/>
              </a:prstGeom>
            </p:spPr>
          </p:pic>
        </mc:Fallback>
      </mc:AlternateContent>
    </p:spTree>
    <p:custDataLst>
      <p:tags r:id="rId1"/>
    </p:custDataLst>
    <p:extLst>
      <p:ext uri="{BB962C8B-B14F-4D97-AF65-F5344CB8AC3E}">
        <p14:creationId xmlns:p14="http://schemas.microsoft.com/office/powerpoint/2010/main" val="425037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CBBA-28EC-4940-9695-6A05A8F73B7E}"/>
              </a:ext>
            </a:extLst>
          </p:cNvPr>
          <p:cNvSpPr>
            <a:spLocks noGrp="1"/>
          </p:cNvSpPr>
          <p:nvPr>
            <p:ph type="title"/>
          </p:nvPr>
        </p:nvSpPr>
        <p:spPr/>
        <p:txBody>
          <a:bodyPr/>
          <a:lstStyle/>
          <a:p>
            <a:r>
              <a:rPr lang="en-MY" dirty="0"/>
              <a:t>Cloud Computing Model</a:t>
            </a:r>
          </a:p>
        </p:txBody>
      </p:sp>
      <p:sp>
        <p:nvSpPr>
          <p:cNvPr id="4" name="Slide Number Placeholder 3">
            <a:extLst>
              <a:ext uri="{FF2B5EF4-FFF2-40B4-BE49-F238E27FC236}">
                <a16:creationId xmlns:a16="http://schemas.microsoft.com/office/drawing/2014/main" id="{970ADCFD-8E51-4708-AEAD-570E6D7D7E41}"/>
              </a:ext>
            </a:extLst>
          </p:cNvPr>
          <p:cNvSpPr>
            <a:spLocks noGrp="1"/>
          </p:cNvSpPr>
          <p:nvPr>
            <p:ph type="sldNum" sz="quarter" idx="12"/>
          </p:nvPr>
        </p:nvSpPr>
        <p:spPr/>
        <p:txBody>
          <a:bodyPr/>
          <a:lstStyle/>
          <a:p>
            <a:fld id="{B6A95138-A96E-2F42-A959-2EFD44FE4AB7}" type="slidenum">
              <a:rPr lang="en-US" smtClean="0"/>
              <a:t>6</a:t>
            </a:fld>
            <a:endParaRPr lang="en-US" dirty="0"/>
          </a:p>
        </p:txBody>
      </p:sp>
      <p:sp>
        <p:nvSpPr>
          <p:cNvPr id="6" name="Footer Placeholder 5">
            <a:extLst>
              <a:ext uri="{FF2B5EF4-FFF2-40B4-BE49-F238E27FC236}">
                <a16:creationId xmlns:a16="http://schemas.microsoft.com/office/drawing/2014/main" id="{D83723FF-0D7D-48FD-A962-8DF2462A7327}"/>
              </a:ext>
            </a:extLst>
          </p:cNvPr>
          <p:cNvSpPr>
            <a:spLocks noGrp="1"/>
          </p:cNvSpPr>
          <p:nvPr>
            <p:ph type="ftr" sz="quarter" idx="3"/>
          </p:nvPr>
        </p:nvSpPr>
        <p:spPr/>
        <p:txBody>
          <a:bodyPr/>
          <a:lstStyle/>
          <a:p>
            <a:r>
              <a:rPr lang="en-US"/>
              <a:t>© 2019 Amazon Web Services, Inc. or its Affiliates. All rights reserved.</a:t>
            </a:r>
            <a:endParaRPr lang="en-US" dirty="0"/>
          </a:p>
        </p:txBody>
      </p:sp>
      <p:pic>
        <p:nvPicPr>
          <p:cNvPr id="8" name="Picture 7">
            <a:extLst>
              <a:ext uri="{FF2B5EF4-FFF2-40B4-BE49-F238E27FC236}">
                <a16:creationId xmlns:a16="http://schemas.microsoft.com/office/drawing/2014/main" id="{E8D49DD3-648A-4AED-BE30-E6241C7BE971}"/>
              </a:ext>
            </a:extLst>
          </p:cNvPr>
          <p:cNvPicPr>
            <a:picLocks noChangeAspect="1"/>
          </p:cNvPicPr>
          <p:nvPr/>
        </p:nvPicPr>
        <p:blipFill>
          <a:blip r:embed="rId2"/>
          <a:stretch>
            <a:fillRect/>
          </a:stretch>
        </p:blipFill>
        <p:spPr>
          <a:xfrm>
            <a:off x="759307" y="1513923"/>
            <a:ext cx="11432693" cy="4978952"/>
          </a:xfrm>
          <a:prstGeom prst="rect">
            <a:avLst/>
          </a:prstGeom>
        </p:spPr>
      </p:pic>
    </p:spTree>
    <p:extLst>
      <p:ext uri="{BB962C8B-B14F-4D97-AF65-F5344CB8AC3E}">
        <p14:creationId xmlns:p14="http://schemas.microsoft.com/office/powerpoint/2010/main" val="261350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Section 2: Amazon EC2</a:t>
            </a:r>
          </a:p>
        </p:txBody>
      </p:sp>
      <p:sp>
        <p:nvSpPr>
          <p:cNvPr id="5" name="Text Placeholder 4">
            <a:extLst>
              <a:ext uri="{FF2B5EF4-FFF2-40B4-BE49-F238E27FC236}">
                <a16:creationId xmlns:a16="http://schemas.microsoft.com/office/drawing/2014/main" id="{1004BFB4-B3E8-F44C-9B30-3DAE8C87973E}"/>
              </a:ext>
            </a:extLst>
          </p:cNvPr>
          <p:cNvSpPr>
            <a:spLocks noGrp="1"/>
          </p:cNvSpPr>
          <p:nvPr>
            <p:ph type="body" sz="quarter" idx="10"/>
          </p:nvPr>
        </p:nvSpPr>
        <p:spPr/>
        <p:txBody>
          <a:bodyPr>
            <a:normAutofit/>
          </a:bodyPr>
          <a:lstStyle/>
          <a:p>
            <a:r>
              <a:rPr lang="en-US" dirty="0"/>
              <a:t>Module 6: Compute</a:t>
            </a:r>
          </a:p>
        </p:txBody>
      </p:sp>
      <p:sp>
        <p:nvSpPr>
          <p:cNvPr id="3" name="Footer Placeholder 2">
            <a:extLst>
              <a:ext uri="{FF2B5EF4-FFF2-40B4-BE49-F238E27FC236}">
                <a16:creationId xmlns:a16="http://schemas.microsoft.com/office/drawing/2014/main" id="{8E357BED-3D6E-4044-B6C8-835DFAD6AB6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075741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latin typeface="Amazon Ember Light" panose="020B0403020204020204" pitchFamily="34" charset="0"/>
                <a:ea typeface="Amazon Ember Light" panose="020B0403020204020204" pitchFamily="34" charset="0"/>
                <a:cs typeface="Amazon Ember Light" panose="020B0403020204020204" pitchFamily="34" charset="0"/>
              </a:rPr>
              <a:t>Amazon Elastic Compute Cloud (Amazon EC2)</a:t>
            </a:r>
          </a:p>
        </p:txBody>
      </p:sp>
      <p:sp>
        <p:nvSpPr>
          <p:cNvPr id="13" name="Content Placeholder 3">
            <a:extLst>
              <a:ext uri="{C183D7F6-B498-43B3-948B-1728B52AA6E4}">
                <adec:decorative xmlns:adec="http://schemas.microsoft.com/office/drawing/2017/decorative" val="1"/>
              </a:ext>
            </a:extLst>
          </p:cNvPr>
          <p:cNvSpPr>
            <a:spLocks noGrp="1"/>
          </p:cNvSpPr>
          <p:nvPr>
            <p:ph idx="4294967295"/>
          </p:nvPr>
        </p:nvSpPr>
        <p:spPr>
          <a:xfrm>
            <a:off x="5575535" y="2204629"/>
            <a:ext cx="2456841" cy="3815171"/>
          </a:xfrm>
          <a:solidFill>
            <a:schemeClr val="bg1"/>
          </a:solidFill>
          <a:ln w="28575">
            <a:solidFill>
              <a:schemeClr val="tx1"/>
            </a:solidFill>
          </a:ln>
          <a:effectLst>
            <a:outerShdw blurRad="50800" dist="38100" dir="2700000" algn="tl" rotWithShape="0">
              <a:prstClr val="black">
                <a:alpha val="40000"/>
              </a:prstClr>
            </a:outerShdw>
          </a:effectLst>
        </p:spPr>
        <p:txBody>
          <a:bodyPr>
            <a:noAutofit/>
          </a:bodyPr>
          <a:lstStyle/>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Application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Web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Database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Game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Mail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Media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Catalog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File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Computing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Proxy server</a:t>
            </a:r>
          </a:p>
          <a:p>
            <a:pPr marL="342900" indent="-342900">
              <a:lnSpc>
                <a:spcPct val="100000"/>
              </a:lnSpc>
              <a:buClr>
                <a:schemeClr val="accent2">
                  <a:lumMod val="75000"/>
                </a:schemeClr>
              </a:buClr>
              <a:buFont typeface="Wingdings" panose="05000000000000000000" pitchFamily="2" charset="2"/>
              <a:buChar char="ü"/>
            </a:pPr>
            <a:endParaRPr lang="en-US" sz="16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a:lnSpc>
                <a:spcPct val="100000"/>
              </a:lnSpc>
            </a:pPr>
            <a:endParaRPr lang="en-US" sz="1600" b="1" dirty="0"/>
          </a:p>
        </p:txBody>
      </p:sp>
      <p:sp>
        <p:nvSpPr>
          <p:cNvPr id="4" name="TextBox 3"/>
          <p:cNvSpPr txBox="1"/>
          <p:nvPr/>
        </p:nvSpPr>
        <p:spPr>
          <a:xfrm>
            <a:off x="1135415" y="5147881"/>
            <a:ext cx="3363741" cy="627864"/>
          </a:xfrm>
          <a:prstGeom prst="rect">
            <a:avLst/>
          </a:prstGeom>
          <a:noFill/>
        </p:spPr>
        <p:txBody>
          <a:bodyPr wrap="none" lIns="182880" tIns="146304" rIns="182880" bIns="146304" rtlCol="0">
            <a:spAutoFit/>
          </a:bodyPr>
          <a:lstStyle/>
          <a:p>
            <a:pPr>
              <a:lnSpc>
                <a:spcPct val="90000"/>
              </a:lnSpc>
              <a:spcAft>
                <a:spcPts val="1800"/>
              </a:spcAft>
            </a:pPr>
            <a:r>
              <a:rPr lang="en-US" sz="2400" b="1" dirty="0">
                <a:gradFill>
                  <a:gsLst>
                    <a:gs pos="2917">
                      <a:schemeClr val="tx1"/>
                    </a:gs>
                    <a:gs pos="30000">
                      <a:schemeClr val="tx1"/>
                    </a:gs>
                  </a:gsLst>
                  <a:lin ang="5400000" scaled="0"/>
                </a:gradFill>
              </a:rPr>
              <a:t>On-premises servers</a:t>
            </a:r>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8</a:t>
            </a:fld>
            <a:endParaRPr lang="en-US" dirty="0"/>
          </a:p>
        </p:txBody>
      </p:sp>
      <p:sp>
        <p:nvSpPr>
          <p:cNvPr id="3" name="TextBox 2"/>
          <p:cNvSpPr txBox="1"/>
          <p:nvPr/>
        </p:nvSpPr>
        <p:spPr>
          <a:xfrm>
            <a:off x="8603837" y="4328383"/>
            <a:ext cx="3276603" cy="369332"/>
          </a:xfrm>
          <a:prstGeom prst="rect">
            <a:avLst/>
          </a:prstGeom>
          <a:solidFill>
            <a:schemeClr val="bg1"/>
          </a:solidFill>
          <a:ln w="12700">
            <a:noFill/>
          </a:ln>
        </p:spPr>
        <p:txBody>
          <a:bodyPr wrap="none" lIns="18288" tIns="18288" rIns="18288" bIns="18288" rtlCol="0">
            <a:spAutoFit/>
          </a:bodyPr>
          <a:lstStyle/>
          <a:p>
            <a:pPr>
              <a:lnSpc>
                <a:spcPct val="90000"/>
              </a:lnSpc>
              <a:spcAft>
                <a:spcPts val="1800"/>
              </a:spcAft>
            </a:pPr>
            <a:r>
              <a:rPr lang="en-US" sz="2400" b="1" dirty="0">
                <a:gradFill>
                  <a:gsLst>
                    <a:gs pos="2917">
                      <a:schemeClr val="tx1"/>
                    </a:gs>
                    <a:gs pos="30000">
                      <a:schemeClr val="tx1"/>
                    </a:gs>
                  </a:gsLst>
                  <a:lin ang="5400000" scaled="0"/>
                </a:gradFill>
              </a:rPr>
              <a:t> Amazon EC2 instances</a:t>
            </a:r>
          </a:p>
        </p:txBody>
      </p:sp>
      <p:grpSp>
        <p:nvGrpSpPr>
          <p:cNvPr id="8" name="Group 7" descr="graphic shows 16 icons representing EC2 instances inside a box labeled AWS.">
            <a:extLst>
              <a:ext uri="{FF2B5EF4-FFF2-40B4-BE49-F238E27FC236}">
                <a16:creationId xmlns:a16="http://schemas.microsoft.com/office/drawing/2014/main" id="{259F536F-E37D-914F-B822-91BA2B1F812E}"/>
              </a:ext>
            </a:extLst>
          </p:cNvPr>
          <p:cNvGrpSpPr/>
          <p:nvPr/>
        </p:nvGrpSpPr>
        <p:grpSpPr>
          <a:xfrm>
            <a:off x="8953105" y="1743255"/>
            <a:ext cx="2578068" cy="2462172"/>
            <a:chOff x="8953105" y="1743255"/>
            <a:chExt cx="2578068" cy="2462172"/>
          </a:xfrm>
        </p:grpSpPr>
        <p:grpSp>
          <p:nvGrpSpPr>
            <p:cNvPr id="7" name="Group 6"/>
            <p:cNvGrpSpPr/>
            <p:nvPr/>
          </p:nvGrpSpPr>
          <p:grpSpPr>
            <a:xfrm>
              <a:off x="9162380" y="2611905"/>
              <a:ext cx="2155590" cy="434103"/>
              <a:chOff x="9162380" y="2702712"/>
              <a:chExt cx="2155590" cy="434103"/>
            </a:xfrm>
          </p:grpSpPr>
          <p:pic>
            <p:nvPicPr>
              <p:cNvPr id="103"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04"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05"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13"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14" name="Group 113"/>
            <p:cNvGrpSpPr/>
            <p:nvPr/>
          </p:nvGrpSpPr>
          <p:grpSpPr>
            <a:xfrm>
              <a:off x="9162380" y="2113609"/>
              <a:ext cx="2155590" cy="434103"/>
              <a:chOff x="9162380" y="2702712"/>
              <a:chExt cx="2155590" cy="434103"/>
            </a:xfrm>
          </p:grpSpPr>
          <p:pic>
            <p:nvPicPr>
              <p:cNvPr id="115"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16"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17"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18"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19" name="Group 118"/>
            <p:cNvGrpSpPr/>
            <p:nvPr/>
          </p:nvGrpSpPr>
          <p:grpSpPr>
            <a:xfrm>
              <a:off x="9168686" y="3117699"/>
              <a:ext cx="2155590" cy="434103"/>
              <a:chOff x="9162380" y="2702712"/>
              <a:chExt cx="2155590" cy="434103"/>
            </a:xfrm>
          </p:grpSpPr>
          <p:pic>
            <p:nvPicPr>
              <p:cNvPr id="120"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21"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22"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23"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24" name="Group 123"/>
            <p:cNvGrpSpPr/>
            <p:nvPr/>
          </p:nvGrpSpPr>
          <p:grpSpPr>
            <a:xfrm>
              <a:off x="9168686" y="3616227"/>
              <a:ext cx="2155590" cy="434103"/>
              <a:chOff x="9162380" y="2702712"/>
              <a:chExt cx="2155590" cy="434103"/>
            </a:xfrm>
          </p:grpSpPr>
          <p:pic>
            <p:nvPicPr>
              <p:cNvPr id="125"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26"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27"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28" name="Graphic 62">
                <a:extLst>
                  <a:ext uri="{FF2B5EF4-FFF2-40B4-BE49-F238E27FC236}">
                    <a16:creationId xmlns:a16="http://schemas.microsoft.com/office/drawing/2014/main" id="{16D183DF-B36E-BF49-9ED7-1238ADB21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sp>
          <p:nvSpPr>
            <p:cNvPr id="147" name="Rectangle 146">
              <a:extLst>
                <a:ext uri="{FF2B5EF4-FFF2-40B4-BE49-F238E27FC236}">
                  <a16:creationId xmlns:a16="http://schemas.microsoft.com/office/drawing/2014/main" id="{CE7F7081-419C-2E4F-A999-2923C4338FC0}"/>
                </a:ext>
              </a:extLst>
            </p:cNvPr>
            <p:cNvSpPr/>
            <p:nvPr/>
          </p:nvSpPr>
          <p:spPr>
            <a:xfrm>
              <a:off x="8953105" y="1743255"/>
              <a:ext cx="2578068" cy="246217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endParaRPr lang="en-US" sz="1200" dirty="0">
                <a:solidFill>
                  <a:sysClr val="windowText" lastClr="000000"/>
                </a:solidFill>
              </a:endParaRPr>
            </a:p>
          </p:txBody>
        </p:sp>
        <p:pic>
          <p:nvPicPr>
            <p:cNvPr id="148" name="Graphic 11">
              <a:extLst>
                <a:ext uri="{FF2B5EF4-FFF2-40B4-BE49-F238E27FC236}">
                  <a16:creationId xmlns:a16="http://schemas.microsoft.com/office/drawing/2014/main" id="{CE52C9D7-11B0-9E41-AB16-2C9849C3EC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3105" y="1743255"/>
              <a:ext cx="330200" cy="330200"/>
            </a:xfrm>
            <a:prstGeom prst="rect">
              <a:avLst/>
            </a:prstGeom>
          </p:spPr>
        </p:pic>
      </p:grpSp>
      <p:sp>
        <p:nvSpPr>
          <p:cNvPr id="9" name="Rectangle 8">
            <a:extLst>
              <a:ext uri="{FF2B5EF4-FFF2-40B4-BE49-F238E27FC236}">
                <a16:creationId xmlns:a16="http://schemas.microsoft.com/office/drawing/2014/main" id="{7A7AD36A-B05A-477B-9109-72FA575E1F6E}"/>
              </a:ext>
            </a:extLst>
          </p:cNvPr>
          <p:cNvSpPr/>
          <p:nvPr/>
        </p:nvSpPr>
        <p:spPr>
          <a:xfrm>
            <a:off x="5499464" y="1420088"/>
            <a:ext cx="2605148" cy="646331"/>
          </a:xfrm>
          <a:prstGeom prst="rect">
            <a:avLst/>
          </a:prstGeom>
        </p:spPr>
        <p:txBody>
          <a:bodyPr wrap="square">
            <a:spAutoFit/>
          </a:bodyPr>
          <a:lstStyle/>
          <a:p>
            <a:pPr algn="ctr"/>
            <a:r>
              <a:rPr lang="en-US" b="1" dirty="0">
                <a:solidFill>
                  <a:schemeClr val="accent5"/>
                </a:solidFill>
              </a:rPr>
              <a:t>Example uses of Amazon EC2 instances</a:t>
            </a:r>
          </a:p>
        </p:txBody>
      </p:sp>
      <p:pic>
        <p:nvPicPr>
          <p:cNvPr id="12" name="Picture 11">
            <a:extLst>
              <a:ext uri="{FF2B5EF4-FFF2-40B4-BE49-F238E27FC236}">
                <a16:creationId xmlns:a16="http://schemas.microsoft.com/office/drawing/2014/main" id="{90358F62-FE44-004B-B144-7945EFF7B8B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7999" y="2242722"/>
            <a:ext cx="4634330" cy="2600660"/>
          </a:xfrm>
          <a:prstGeom prst="rect">
            <a:avLst/>
          </a:prstGeom>
        </p:spPr>
      </p:pic>
      <p:sp>
        <p:nvSpPr>
          <p:cNvPr id="14" name="TextBox 13">
            <a:extLst>
              <a:ext uri="{FF2B5EF4-FFF2-40B4-BE49-F238E27FC236}">
                <a16:creationId xmlns:a16="http://schemas.microsoft.com/office/drawing/2014/main" id="{BA731F0E-2A26-FA42-A9D7-C46B6A5193CA}"/>
              </a:ext>
            </a:extLst>
          </p:cNvPr>
          <p:cNvSpPr txBox="1"/>
          <p:nvPr/>
        </p:nvSpPr>
        <p:spPr>
          <a:xfrm>
            <a:off x="419100" y="4856586"/>
            <a:ext cx="2060179" cy="246221"/>
          </a:xfrm>
          <a:prstGeom prst="rect">
            <a:avLst/>
          </a:prstGeom>
          <a:noFill/>
        </p:spPr>
        <p:txBody>
          <a:bodyPr wrap="none" rtlCol="0">
            <a:spAutoFit/>
          </a:bodyPr>
          <a:lstStyle/>
          <a:p>
            <a:r>
              <a:rPr lang="en-US" sz="1000" dirty="0">
                <a:solidFill>
                  <a:schemeClr val="bg1">
                    <a:lumMod val="75000"/>
                  </a:schemeClr>
                </a:solidFill>
              </a:rPr>
              <a:t>Photo by Taylor Vick on Unsplash</a:t>
            </a:r>
            <a:endParaRPr lang="en-US" sz="1000" b="1" dirty="0">
              <a:solidFill>
                <a:schemeClr val="bg1">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7" name="Picture 16">
            <a:extLst>
              <a:ext uri="{FF2B5EF4-FFF2-40B4-BE49-F238E27FC236}">
                <a16:creationId xmlns:a16="http://schemas.microsoft.com/office/drawing/2014/main" id="{1B9C07BA-310B-A94C-9714-B4AC80E3DA95}"/>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84332" y="4776661"/>
            <a:ext cx="2269374" cy="1514928"/>
          </a:xfrm>
          <a:prstGeom prst="rect">
            <a:avLst/>
          </a:prstGeom>
        </p:spPr>
      </p:pic>
      <p:sp>
        <p:nvSpPr>
          <p:cNvPr id="18" name="TextBox 17">
            <a:extLst>
              <a:ext uri="{FF2B5EF4-FFF2-40B4-BE49-F238E27FC236}">
                <a16:creationId xmlns:a16="http://schemas.microsoft.com/office/drawing/2014/main" id="{5846D42A-30ED-5242-B6F4-49F4BF74DCCA}"/>
              </a:ext>
            </a:extLst>
          </p:cNvPr>
          <p:cNvSpPr txBox="1"/>
          <p:nvPr/>
        </p:nvSpPr>
        <p:spPr>
          <a:xfrm>
            <a:off x="9153599" y="6289726"/>
            <a:ext cx="2614818" cy="246221"/>
          </a:xfrm>
          <a:prstGeom prst="rect">
            <a:avLst/>
          </a:prstGeom>
          <a:noFill/>
        </p:spPr>
        <p:txBody>
          <a:bodyPr wrap="none" rtlCol="0">
            <a:spAutoFit/>
          </a:bodyPr>
          <a:lstStyle/>
          <a:p>
            <a:r>
              <a:rPr lang="en-US" sz="1000" dirty="0">
                <a:solidFill>
                  <a:schemeClr val="bg1">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Photo by panumas nikhomkhai from Pexels</a:t>
            </a:r>
          </a:p>
        </p:txBody>
      </p:sp>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B76D26E-C81A-4785-A520-3E2848028FFC}"/>
                  </a:ext>
                </a:extLst>
              </p14:cNvPr>
              <p14:cNvContentPartPr/>
              <p14:nvPr/>
            </p14:nvContentPartPr>
            <p14:xfrm>
              <a:off x="7125840" y="2804040"/>
              <a:ext cx="152280" cy="151920"/>
            </p14:xfrm>
          </p:contentPart>
        </mc:Choice>
        <mc:Fallback xmlns="">
          <p:pic>
            <p:nvPicPr>
              <p:cNvPr id="10" name="Ink 9">
                <a:extLst>
                  <a:ext uri="{FF2B5EF4-FFF2-40B4-BE49-F238E27FC236}">
                    <a16:creationId xmlns:a16="http://schemas.microsoft.com/office/drawing/2014/main" id="{AB76D26E-C81A-4785-A520-3E2848028FFC}"/>
                  </a:ext>
                </a:extLst>
              </p:cNvPr>
              <p:cNvPicPr/>
              <p:nvPr/>
            </p:nvPicPr>
            <p:blipFill>
              <a:blip r:embed="rId9"/>
              <a:stretch>
                <a:fillRect/>
              </a:stretch>
            </p:blipFill>
            <p:spPr>
              <a:xfrm>
                <a:off x="7116480" y="2794680"/>
                <a:ext cx="171000" cy="170640"/>
              </a:xfrm>
              <a:prstGeom prst="rect">
                <a:avLst/>
              </a:prstGeom>
            </p:spPr>
          </p:pic>
        </mc:Fallback>
      </mc:AlternateContent>
    </p:spTree>
    <p:custDataLst>
      <p:tags r:id="rId1"/>
    </p:custDataLst>
    <p:extLst>
      <p:ext uri="{BB962C8B-B14F-4D97-AF65-F5344CB8AC3E}">
        <p14:creationId xmlns:p14="http://schemas.microsoft.com/office/powerpoint/2010/main" val="338876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EC2 overview</a:t>
            </a:r>
          </a:p>
        </p:txBody>
      </p:sp>
      <p:sp>
        <p:nvSpPr>
          <p:cNvPr id="3" name="Content Placeholder 2"/>
          <p:cNvSpPr>
            <a:spLocks noGrp="1"/>
          </p:cNvSpPr>
          <p:nvPr>
            <p:ph idx="1"/>
          </p:nvPr>
        </p:nvSpPr>
        <p:spPr>
          <a:xfrm>
            <a:off x="3902208" y="1528175"/>
            <a:ext cx="7870691" cy="4648788"/>
          </a:xfrm>
        </p:spPr>
        <p:txBody>
          <a:bodyPr/>
          <a:lstStyle/>
          <a:p>
            <a:r>
              <a:rPr lang="en-US" b="1" dirty="0">
                <a:solidFill>
                  <a:schemeClr val="accent5"/>
                </a:solidFill>
              </a:rPr>
              <a:t>Amazon Elastic Compute Cloud (Amazon EC2)  </a:t>
            </a:r>
          </a:p>
          <a:p>
            <a:pPr lvl="1"/>
            <a:r>
              <a:rPr lang="en-US" dirty="0"/>
              <a:t>Provides </a:t>
            </a:r>
            <a:r>
              <a:rPr lang="en-US" dirty="0">
                <a:solidFill>
                  <a:schemeClr val="accent6"/>
                </a:solidFill>
              </a:rPr>
              <a:t>virtual machines</a:t>
            </a:r>
            <a:r>
              <a:rPr lang="en-US" dirty="0"/>
              <a:t>—referred to as </a:t>
            </a:r>
            <a:r>
              <a:rPr lang="en-US" dirty="0">
                <a:solidFill>
                  <a:schemeClr val="accent6"/>
                </a:solidFill>
              </a:rPr>
              <a:t>EC2 instances</a:t>
            </a:r>
            <a:r>
              <a:rPr lang="en-US" dirty="0"/>
              <a:t>—in the cloud.</a:t>
            </a:r>
          </a:p>
          <a:p>
            <a:pPr lvl="1"/>
            <a:r>
              <a:rPr lang="en-US" dirty="0"/>
              <a:t>Gives you </a:t>
            </a:r>
            <a:r>
              <a:rPr lang="en-US" i="1" dirty="0"/>
              <a:t>full control </a:t>
            </a:r>
            <a:r>
              <a:rPr lang="en-US" dirty="0"/>
              <a:t>over the guest operating system (Windows or Linux) on each instance.</a:t>
            </a:r>
          </a:p>
          <a:p>
            <a:r>
              <a:rPr lang="en-US" dirty="0"/>
              <a:t>You can launch instances of any size into an Availability Zone anywhere in the world.</a:t>
            </a:r>
          </a:p>
          <a:p>
            <a:pPr lvl="1"/>
            <a:r>
              <a:rPr lang="en-US" dirty="0"/>
              <a:t>Launch instances from </a:t>
            </a:r>
            <a:r>
              <a:rPr lang="en-US" b="1" dirty="0">
                <a:solidFill>
                  <a:schemeClr val="accent5"/>
                </a:solidFill>
              </a:rPr>
              <a:t>Amazon Machine Images (AMIs</a:t>
            </a:r>
            <a:r>
              <a:rPr lang="en-US" dirty="0"/>
              <a:t>).</a:t>
            </a:r>
          </a:p>
          <a:p>
            <a:pPr lvl="1"/>
            <a:r>
              <a:rPr lang="en-US" dirty="0"/>
              <a:t>Launch instances with a few clicks or a line of code, and they are ready in minutes.</a:t>
            </a:r>
            <a:endParaRPr lang="en-US" sz="2800" dirty="0"/>
          </a:p>
          <a:p>
            <a:r>
              <a:rPr lang="en-US" dirty="0"/>
              <a:t>You can control traffic to and from instances.</a:t>
            </a:r>
          </a:p>
        </p:txBody>
      </p:sp>
      <p:sp>
        <p:nvSpPr>
          <p:cNvPr id="5" name="Slide Number Placeholder 4">
            <a:extLst>
              <a:ext uri="{FF2B5EF4-FFF2-40B4-BE49-F238E27FC236}">
                <a16:creationId xmlns:a16="http://schemas.microsoft.com/office/drawing/2014/main" id="{AE6E1873-DD5B-4342-878D-B9C77CC0628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9</a:t>
            </a:fld>
            <a:endParaRPr lang="en-US" dirty="0"/>
          </a:p>
        </p:txBody>
      </p:sp>
      <p:sp>
        <p:nvSpPr>
          <p:cNvPr id="4" name="Footer Placeholder 3">
            <a:extLst>
              <a:ext uri="{FF2B5EF4-FFF2-40B4-BE49-F238E27FC236}">
                <a16:creationId xmlns:a16="http://schemas.microsoft.com/office/drawing/2014/main" id="{EEFBC9E6-716C-5B4A-9AC5-064A95BB8FE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6" name="Group 5">
            <a:extLst>
              <a:ext uri="{FF2B5EF4-FFF2-40B4-BE49-F238E27FC236}">
                <a16:creationId xmlns:a16="http://schemas.microsoft.com/office/drawing/2014/main" id="{3F896863-3C86-634F-9982-88D5287C8343}"/>
              </a:ext>
              <a:ext uri="{C183D7F6-B498-43B3-948B-1728B52AA6E4}">
                <adec:decorative xmlns:adec="http://schemas.microsoft.com/office/drawing/2017/decorative" val="1"/>
              </a:ext>
            </a:extLst>
          </p:cNvPr>
          <p:cNvGrpSpPr/>
          <p:nvPr/>
        </p:nvGrpSpPr>
        <p:grpSpPr>
          <a:xfrm>
            <a:off x="677252" y="1916492"/>
            <a:ext cx="2885749" cy="4045058"/>
            <a:chOff x="677252" y="1916492"/>
            <a:chExt cx="2885749" cy="4045058"/>
          </a:xfrm>
        </p:grpSpPr>
        <p:sp>
          <p:nvSpPr>
            <p:cNvPr id="7" name="Rectangle 6">
              <a:extLst>
                <a:ext uri="{FF2B5EF4-FFF2-40B4-BE49-F238E27FC236}">
                  <a16:creationId xmlns:a16="http://schemas.microsoft.com/office/drawing/2014/main" id="{910C76DA-7886-8B47-AC0B-C0FC351B84DE}"/>
                </a:ext>
              </a:extLst>
            </p:cNvPr>
            <p:cNvSpPr/>
            <p:nvPr/>
          </p:nvSpPr>
          <p:spPr>
            <a:xfrm>
              <a:off x="677252"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807008F-02FC-CA40-B191-A281976044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6972" y="2924499"/>
              <a:ext cx="1094787" cy="1094787"/>
            </a:xfrm>
            <a:prstGeom prst="rect">
              <a:avLst/>
            </a:prstGeom>
          </p:spPr>
        </p:pic>
      </p:grpSp>
      <p:sp>
        <p:nvSpPr>
          <p:cNvPr id="9" name="TextBox 8">
            <a:extLst>
              <a:ext uri="{FF2B5EF4-FFF2-40B4-BE49-F238E27FC236}">
                <a16:creationId xmlns:a16="http://schemas.microsoft.com/office/drawing/2014/main" id="{6C4D0400-C2C5-3249-9924-6D9DAE523DB4}"/>
              </a:ext>
            </a:extLst>
          </p:cNvPr>
          <p:cNvSpPr txBox="1"/>
          <p:nvPr/>
        </p:nvSpPr>
        <p:spPr>
          <a:xfrm>
            <a:off x="1209058" y="4331526"/>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EC2</a:t>
            </a:r>
          </a:p>
        </p:txBody>
      </p:sp>
    </p:spTree>
    <p:custDataLst>
      <p:tags r:id="rId1"/>
    </p:custDataLst>
    <p:extLst>
      <p:ext uri="{BB962C8B-B14F-4D97-AF65-F5344CB8AC3E}">
        <p14:creationId xmlns:p14="http://schemas.microsoft.com/office/powerpoint/2010/main" val="1197069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F5F7FD-9056-CB4A-9B6D-7EAE33D56044}"/>
              </a:ext>
            </a:extLst>
          </p:cNvPr>
          <p:cNvSpPr>
            <a:spLocks noGrp="1"/>
          </p:cNvSpPr>
          <p:nvPr>
            <p:ph type="title"/>
          </p:nvPr>
        </p:nvSpPr>
        <p:spPr/>
        <p:txBody>
          <a:bodyPr/>
          <a:lstStyle/>
          <a:p>
            <a:r>
              <a:rPr lang="en-US" dirty="0"/>
              <a:t>Launching an Amazon EC2 instance</a:t>
            </a:r>
          </a:p>
        </p:txBody>
      </p:sp>
      <p:pic>
        <p:nvPicPr>
          <p:cNvPr id="9" name="Content Placeholder 8" descr="Right pointing backhand index">
            <a:extLst>
              <a:ext uri="{FF2B5EF4-FFF2-40B4-BE49-F238E27FC236}">
                <a16:creationId xmlns:a16="http://schemas.microsoft.com/office/drawing/2014/main" id="{76AAFE43-5903-6844-AD97-13434CBC74AA}"/>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tretch>
            <a:fillRect/>
          </a:stretch>
        </p:blipFill>
        <p:spPr>
          <a:xfrm>
            <a:off x="5638800" y="3395663"/>
            <a:ext cx="914400" cy="914400"/>
          </a:xfrm>
        </p:spPr>
      </p:pic>
      <p:sp>
        <p:nvSpPr>
          <p:cNvPr id="4" name="Slide Number Placeholder 3">
            <a:extLst>
              <a:ext uri="{FF2B5EF4-FFF2-40B4-BE49-F238E27FC236}">
                <a16:creationId xmlns:a16="http://schemas.microsoft.com/office/drawing/2014/main" id="{53C2EFAB-2E0B-B040-BB09-90FF7EAD71A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10</a:t>
            </a:fld>
            <a:endParaRPr lang="en-US" dirty="0"/>
          </a:p>
        </p:txBody>
      </p:sp>
      <p:sp>
        <p:nvSpPr>
          <p:cNvPr id="2" name="Footer Placeholder 1">
            <a:extLst>
              <a:ext uri="{FF2B5EF4-FFF2-40B4-BE49-F238E27FC236}">
                <a16:creationId xmlns:a16="http://schemas.microsoft.com/office/drawing/2014/main" id="{27980DC2-27BF-B541-BC4E-AA04EBF3383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7" name="Picture 6" descr="screenshot of the EC2 console's EC2 Dashboard view.">
            <a:extLst>
              <a:ext uri="{FF2B5EF4-FFF2-40B4-BE49-F238E27FC236}">
                <a16:creationId xmlns:a16="http://schemas.microsoft.com/office/drawing/2014/main" id="{CD565F97-1BF1-0A48-9629-C7BE50CA8F84}"/>
              </a:ext>
            </a:extLst>
          </p:cNvPr>
          <p:cNvPicPr>
            <a:picLocks noChangeAspect="1"/>
          </p:cNvPicPr>
          <p:nvPr/>
        </p:nvPicPr>
        <p:blipFill>
          <a:blip r:embed="rId6"/>
          <a:stretch>
            <a:fillRect/>
          </a:stretch>
        </p:blipFill>
        <p:spPr>
          <a:xfrm>
            <a:off x="5031175" y="1422059"/>
            <a:ext cx="6725592" cy="4730713"/>
          </a:xfrm>
          <a:prstGeom prst="rect">
            <a:avLst/>
          </a:prstGeom>
        </p:spPr>
      </p:pic>
      <p:sp>
        <p:nvSpPr>
          <p:cNvPr id="14" name="TextBox 13">
            <a:extLst>
              <a:ext uri="{FF2B5EF4-FFF2-40B4-BE49-F238E27FC236}">
                <a16:creationId xmlns:a16="http://schemas.microsoft.com/office/drawing/2014/main" id="{9B298C85-D7F8-C84D-A4E8-C47896DBEC87}"/>
              </a:ext>
            </a:extLst>
          </p:cNvPr>
          <p:cNvSpPr txBox="1"/>
          <p:nvPr/>
        </p:nvSpPr>
        <p:spPr>
          <a:xfrm>
            <a:off x="435233" y="1536174"/>
            <a:ext cx="4428605" cy="3785652"/>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This section of the module walks through </a:t>
            </a:r>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nine key decisions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to make when you create an EC2 instance by using the AWS Management Console </a:t>
            </a:r>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Launch Instance Wizard. </a:t>
            </a:r>
          </a:p>
          <a:p>
            <a:endPar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Font typeface="Wingdings" pitchFamily="2" charset="2"/>
              <a:buChar char="Ø"/>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Along the way, essential Amazon EC2 concepts will be explored.</a:t>
            </a:r>
          </a:p>
        </p:txBody>
      </p:sp>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A77338D5-A8F9-4C67-B9EE-7E7386ADB4F9}"/>
                  </a:ext>
                </a:extLst>
              </p14:cNvPr>
              <p14:cNvContentPartPr/>
              <p14:nvPr/>
            </p14:nvContentPartPr>
            <p14:xfrm>
              <a:off x="1669680" y="2295000"/>
              <a:ext cx="2277720" cy="107280"/>
            </p14:xfrm>
          </p:contentPart>
        </mc:Choice>
        <mc:Fallback xmlns="">
          <p:pic>
            <p:nvPicPr>
              <p:cNvPr id="5" name="Ink 4">
                <a:extLst>
                  <a:ext uri="{FF2B5EF4-FFF2-40B4-BE49-F238E27FC236}">
                    <a16:creationId xmlns:a16="http://schemas.microsoft.com/office/drawing/2014/main" id="{A77338D5-A8F9-4C67-B9EE-7E7386ADB4F9}"/>
                  </a:ext>
                </a:extLst>
              </p:cNvPr>
              <p:cNvPicPr/>
              <p:nvPr/>
            </p:nvPicPr>
            <p:blipFill>
              <a:blip r:embed="rId8"/>
              <a:stretch>
                <a:fillRect/>
              </a:stretch>
            </p:blipFill>
            <p:spPr>
              <a:xfrm>
                <a:off x="1660320" y="2285640"/>
                <a:ext cx="2296440" cy="126000"/>
              </a:xfrm>
              <a:prstGeom prst="rect">
                <a:avLst/>
              </a:prstGeom>
            </p:spPr>
          </p:pic>
        </mc:Fallback>
      </mc:AlternateContent>
    </p:spTree>
    <p:custDataLst>
      <p:tags r:id="rId1"/>
    </p:custDataLst>
    <p:extLst>
      <p:ext uri="{BB962C8B-B14F-4D97-AF65-F5344CB8AC3E}">
        <p14:creationId xmlns:p14="http://schemas.microsoft.com/office/powerpoint/2010/main" val="2762885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1. Select an AMI</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11</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875299" y="2444491"/>
            <a:ext cx="8056507" cy="3663992"/>
          </a:xfrm>
        </p:spPr>
        <p:txBody>
          <a:bodyPr/>
          <a:lstStyle/>
          <a:p>
            <a:r>
              <a:rPr lang="en-US" sz="2400" dirty="0"/>
              <a:t>Amazon Machine Image (AMI)</a:t>
            </a:r>
          </a:p>
          <a:p>
            <a:pPr lvl="1"/>
            <a:r>
              <a:rPr lang="en-US" sz="1800" dirty="0"/>
              <a:t>Is a template that is used to create an EC2 instance (which is a </a:t>
            </a:r>
            <a:r>
              <a:rPr lang="en-US" sz="1800" b="1" dirty="0">
                <a:solidFill>
                  <a:schemeClr val="accent5"/>
                </a:solidFill>
              </a:rPr>
              <a:t>virtual machine, or VM,</a:t>
            </a:r>
            <a:r>
              <a:rPr lang="en-US" sz="1800" i="1" dirty="0"/>
              <a:t> </a:t>
            </a:r>
            <a:r>
              <a:rPr lang="en-US" sz="1800" dirty="0"/>
              <a:t>that runs in the AWS Cloud)</a:t>
            </a:r>
          </a:p>
          <a:p>
            <a:pPr lvl="1"/>
            <a:r>
              <a:rPr lang="en-US" sz="1800" dirty="0"/>
              <a:t>Contains a </a:t>
            </a:r>
            <a:r>
              <a:rPr lang="en-US" sz="1800" b="1" dirty="0">
                <a:solidFill>
                  <a:schemeClr val="accent5"/>
                </a:solidFill>
              </a:rPr>
              <a:t>Windows</a:t>
            </a:r>
            <a:r>
              <a:rPr lang="en-US" sz="1800" dirty="0"/>
              <a:t> or </a:t>
            </a:r>
            <a:r>
              <a:rPr lang="en-US" sz="1800" b="1" dirty="0">
                <a:solidFill>
                  <a:schemeClr val="accent5"/>
                </a:solidFill>
              </a:rPr>
              <a:t>Linux</a:t>
            </a:r>
            <a:r>
              <a:rPr lang="en-US" sz="1800" dirty="0"/>
              <a:t> operating system</a:t>
            </a:r>
          </a:p>
          <a:p>
            <a:pPr lvl="1"/>
            <a:r>
              <a:rPr lang="en-US" sz="1800" dirty="0"/>
              <a:t>Often also has some </a:t>
            </a:r>
            <a:r>
              <a:rPr lang="en-US" sz="1800" b="1" dirty="0">
                <a:solidFill>
                  <a:schemeClr val="accent5"/>
                </a:solidFill>
              </a:rPr>
              <a:t>software</a:t>
            </a:r>
            <a:r>
              <a:rPr lang="en-US" sz="1800" dirty="0"/>
              <a:t> pre-installed</a:t>
            </a:r>
          </a:p>
          <a:p>
            <a:r>
              <a:rPr lang="en-US" sz="2400" dirty="0"/>
              <a:t>AMI choices:</a:t>
            </a:r>
            <a:endParaRPr lang="en-US" dirty="0"/>
          </a:p>
          <a:p>
            <a:pPr lvl="1"/>
            <a:r>
              <a:rPr lang="en-US" sz="1800" dirty="0"/>
              <a:t>Quick Start</a:t>
            </a:r>
            <a:r>
              <a:rPr lang="en-US" sz="1800" i="1" dirty="0"/>
              <a:t> – Linux and Windows AMIs that are provided by AWS</a:t>
            </a:r>
          </a:p>
          <a:p>
            <a:pPr lvl="1"/>
            <a:r>
              <a:rPr lang="en-US" sz="1800" dirty="0"/>
              <a:t>My AMIs</a:t>
            </a:r>
            <a:r>
              <a:rPr lang="en-US" sz="1800" i="1" dirty="0"/>
              <a:t> – Any AMIs that you created</a:t>
            </a:r>
          </a:p>
          <a:p>
            <a:pPr lvl="1"/>
            <a:r>
              <a:rPr lang="en-US" sz="1800" dirty="0"/>
              <a:t>AWS Marketplace </a:t>
            </a:r>
            <a:r>
              <a:rPr lang="en-US" sz="1800" i="1" dirty="0"/>
              <a:t>– Pre-configured templates from third parties</a:t>
            </a:r>
          </a:p>
          <a:p>
            <a:pPr lvl="1"/>
            <a:r>
              <a:rPr lang="en-US" sz="1800" dirty="0"/>
              <a:t>Community AMIs </a:t>
            </a:r>
            <a:r>
              <a:rPr lang="en-US" sz="1800" i="1" dirty="0"/>
              <a:t>– AMIs shared by others; use at your own risk</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4" name="Content Placeholder 8">
            <a:extLst>
              <a:ext uri="{FF2B5EF4-FFF2-40B4-BE49-F238E27FC236}">
                <a16:creationId xmlns:a16="http://schemas.microsoft.com/office/drawing/2014/main" id="{4E4A0AB1-DBAF-0D4F-B4D9-2289D2A0AA42}"/>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2">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solidFill>
                  <a:schemeClr val="accent6"/>
                </a:solidFill>
              </a:rPr>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grpSp>
        <p:nvGrpSpPr>
          <p:cNvPr id="26" name="Group 25" descr="graphic shows an icon labeled &quot;AMI&quot; with an arrow labeled &quot;Launch instance&quot; extending to the right and pointing at an icon labeled &quot;Instance.&quot;">
            <a:extLst>
              <a:ext uri="{FF2B5EF4-FFF2-40B4-BE49-F238E27FC236}">
                <a16:creationId xmlns:a16="http://schemas.microsoft.com/office/drawing/2014/main" id="{53513352-16CD-3749-A18F-1D7380CE4329}"/>
              </a:ext>
            </a:extLst>
          </p:cNvPr>
          <p:cNvGrpSpPr/>
          <p:nvPr/>
        </p:nvGrpSpPr>
        <p:grpSpPr>
          <a:xfrm>
            <a:off x="5947576" y="1528176"/>
            <a:ext cx="2774570" cy="802616"/>
            <a:chOff x="5947576" y="1528176"/>
            <a:chExt cx="2774570" cy="802616"/>
          </a:xfrm>
        </p:grpSpPr>
        <p:sp>
          <p:nvSpPr>
            <p:cNvPr id="17" name="TextBox 16">
              <a:extLst>
                <a:ext uri="{FF2B5EF4-FFF2-40B4-BE49-F238E27FC236}">
                  <a16:creationId xmlns:a16="http://schemas.microsoft.com/office/drawing/2014/main" id="{B9D083FA-B91F-2A40-A11E-EB6695FA3F75}"/>
                </a:ext>
              </a:extLst>
            </p:cNvPr>
            <p:cNvSpPr txBox="1"/>
            <p:nvPr/>
          </p:nvSpPr>
          <p:spPr>
            <a:xfrm>
              <a:off x="5947576" y="1974192"/>
              <a:ext cx="1513305" cy="338554"/>
            </a:xfrm>
            <a:prstGeom prst="rect">
              <a:avLst/>
            </a:prstGeom>
            <a:noFill/>
          </p:spPr>
          <p:txBody>
            <a:bodyPr wrap="square" rtlCol="0">
              <a:spAutoFit/>
            </a:bodyPr>
            <a:lstStyle/>
            <a:p>
              <a:pPr algn="ctr"/>
              <a:r>
                <a:rPr lang="en-US" sz="1600" dirty="0"/>
                <a:t>AMI</a:t>
              </a:r>
            </a:p>
          </p:txBody>
        </p:sp>
        <p:pic>
          <p:nvPicPr>
            <p:cNvPr id="15" name="Graphic 14">
              <a:extLst>
                <a:ext uri="{FF2B5EF4-FFF2-40B4-BE49-F238E27FC236}">
                  <a16:creationId xmlns:a16="http://schemas.microsoft.com/office/drawing/2014/main" id="{0F4FF142-EC43-2941-98A8-DE204ABED9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3787" y="1528176"/>
              <a:ext cx="469900" cy="469900"/>
            </a:xfrm>
            <a:prstGeom prst="rect">
              <a:avLst/>
            </a:prstGeom>
          </p:spPr>
        </p:pic>
        <p:pic>
          <p:nvPicPr>
            <p:cNvPr id="16" name="Graphic 15">
              <a:extLst>
                <a:ext uri="{FF2B5EF4-FFF2-40B4-BE49-F238E27FC236}">
                  <a16:creationId xmlns:a16="http://schemas.microsoft.com/office/drawing/2014/main" id="{579BD9B0-9870-634E-9AF3-321AFD07EB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71190" y="1528176"/>
              <a:ext cx="469900" cy="469900"/>
            </a:xfrm>
            <a:prstGeom prst="rect">
              <a:avLst/>
            </a:prstGeom>
          </p:spPr>
        </p:pic>
        <p:sp>
          <p:nvSpPr>
            <p:cNvPr id="18" name="TextBox 17">
              <a:extLst>
                <a:ext uri="{FF2B5EF4-FFF2-40B4-BE49-F238E27FC236}">
                  <a16:creationId xmlns:a16="http://schemas.microsoft.com/office/drawing/2014/main" id="{803A20F2-E654-124F-A9F4-B08A07ED856C}"/>
                </a:ext>
              </a:extLst>
            </p:cNvPr>
            <p:cNvSpPr txBox="1"/>
            <p:nvPr/>
          </p:nvSpPr>
          <p:spPr>
            <a:xfrm>
              <a:off x="7690134" y="1958383"/>
              <a:ext cx="1032012" cy="372409"/>
            </a:xfrm>
            <a:prstGeom prst="rect">
              <a:avLst/>
            </a:prstGeom>
            <a:noFill/>
          </p:spPr>
          <p:txBody>
            <a:bodyPr wrap="square" rtlCol="0">
              <a:noAutofit/>
            </a:bodyPr>
            <a:lstStyle/>
            <a:p>
              <a:pPr algn="ctr"/>
              <a:r>
                <a:rPr lang="en-US" sz="1600" dirty="0"/>
                <a:t>Instance</a:t>
              </a:r>
            </a:p>
          </p:txBody>
        </p:sp>
        <p:cxnSp>
          <p:nvCxnSpPr>
            <p:cNvPr id="20" name="Straight Arrow Connector 19">
              <a:extLst>
                <a:ext uri="{FF2B5EF4-FFF2-40B4-BE49-F238E27FC236}">
                  <a16:creationId xmlns:a16="http://schemas.microsoft.com/office/drawing/2014/main" id="{F4E887FE-2505-764F-A027-D82A073546C7}"/>
                </a:ext>
              </a:extLst>
            </p:cNvPr>
            <p:cNvCxnSpPr>
              <a:stCxn id="15" idx="3"/>
              <a:endCxn id="16" idx="1"/>
            </p:cNvCxnSpPr>
            <p:nvPr/>
          </p:nvCxnSpPr>
          <p:spPr>
            <a:xfrm>
              <a:off x="6953687" y="1763126"/>
              <a:ext cx="1017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E130629-7D89-984B-8D7A-3F48BE03F3FE}"/>
                </a:ext>
              </a:extLst>
            </p:cNvPr>
            <p:cNvSpPr txBox="1"/>
            <p:nvPr/>
          </p:nvSpPr>
          <p:spPr>
            <a:xfrm>
              <a:off x="7049088" y="1528641"/>
              <a:ext cx="837089" cy="523220"/>
            </a:xfrm>
            <a:prstGeom prst="rect">
              <a:avLst/>
            </a:prstGeom>
            <a:noFill/>
          </p:spPr>
          <p:txBody>
            <a:bodyPr wrap="non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Launch</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grpSp>
      <p:pic>
        <p:nvPicPr>
          <p:cNvPr id="25" name="Picture 24">
            <a:extLst>
              <a:ext uri="{FF2B5EF4-FFF2-40B4-BE49-F238E27FC236}">
                <a16:creationId xmlns:a16="http://schemas.microsoft.com/office/drawing/2014/main" id="{B2F1FF32-2057-3D4B-AF09-D30E1EDE65A9}"/>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903145" y="5080858"/>
            <a:ext cx="451934" cy="324214"/>
          </a:xfrm>
          <a:prstGeom prst="rect">
            <a:avLst/>
          </a:prstGeom>
        </p:spPr>
      </p:pic>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AE173C17-E1D1-4C1F-B252-A09E4CC006AF}"/>
                  </a:ext>
                </a:extLst>
              </p14:cNvPr>
              <p14:cNvContentPartPr/>
              <p14:nvPr/>
            </p14:nvContentPartPr>
            <p14:xfrm>
              <a:off x="4929120" y="4750560"/>
              <a:ext cx="1509480" cy="982800"/>
            </p14:xfrm>
          </p:contentPart>
        </mc:Choice>
        <mc:Fallback xmlns="">
          <p:pic>
            <p:nvPicPr>
              <p:cNvPr id="3" name="Ink 2">
                <a:extLst>
                  <a:ext uri="{FF2B5EF4-FFF2-40B4-BE49-F238E27FC236}">
                    <a16:creationId xmlns:a16="http://schemas.microsoft.com/office/drawing/2014/main" id="{AE173C17-E1D1-4C1F-B252-A09E4CC006AF}"/>
                  </a:ext>
                </a:extLst>
              </p:cNvPr>
              <p:cNvPicPr/>
              <p:nvPr/>
            </p:nvPicPr>
            <p:blipFill>
              <a:blip r:embed="rId10"/>
              <a:stretch>
                <a:fillRect/>
              </a:stretch>
            </p:blipFill>
            <p:spPr>
              <a:xfrm>
                <a:off x="4919760" y="4741200"/>
                <a:ext cx="1528200" cy="1001520"/>
              </a:xfrm>
              <a:prstGeom prst="rect">
                <a:avLst/>
              </a:prstGeom>
            </p:spPr>
          </p:pic>
        </mc:Fallback>
      </mc:AlternateContent>
    </p:spTree>
    <p:custDataLst>
      <p:tags r:id="rId1"/>
    </p:custDataLst>
    <p:extLst>
      <p:ext uri="{BB962C8B-B14F-4D97-AF65-F5344CB8AC3E}">
        <p14:creationId xmlns:p14="http://schemas.microsoft.com/office/powerpoint/2010/main" val="731644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C21E-C12C-6D4C-A0F5-0D03AC2FBA36}"/>
              </a:ext>
            </a:extLst>
          </p:cNvPr>
          <p:cNvSpPr>
            <a:spLocks noGrp="1"/>
          </p:cNvSpPr>
          <p:nvPr>
            <p:ph type="title"/>
          </p:nvPr>
        </p:nvSpPr>
        <p:spPr/>
        <p:txBody>
          <a:bodyPr/>
          <a:lstStyle/>
          <a:p>
            <a:r>
              <a:rPr lang="en-US" dirty="0"/>
              <a:t>Creating a new AMI: Example</a:t>
            </a:r>
          </a:p>
        </p:txBody>
      </p:sp>
      <p:pic>
        <p:nvPicPr>
          <p:cNvPr id="9" name="Content Placeholder 8" descr="Laptop">
            <a:extLst>
              <a:ext uri="{FF2B5EF4-FFF2-40B4-BE49-F238E27FC236}">
                <a16:creationId xmlns:a16="http://schemas.microsoft.com/office/drawing/2014/main" id="{1C8E1992-A47C-8344-8054-297DDF6250AB}"/>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tretch>
            <a:fillRect/>
          </a:stretch>
        </p:blipFill>
        <p:spPr>
          <a:xfrm>
            <a:off x="977935" y="3679640"/>
            <a:ext cx="736600" cy="736600"/>
          </a:xfrm>
        </p:spPr>
      </p:pic>
      <p:sp>
        <p:nvSpPr>
          <p:cNvPr id="4" name="Slide Number Placeholder 3">
            <a:extLst>
              <a:ext uri="{FF2B5EF4-FFF2-40B4-BE49-F238E27FC236}">
                <a16:creationId xmlns:a16="http://schemas.microsoft.com/office/drawing/2014/main" id="{35C068FE-9F50-7645-BA24-49D2E5B3FEF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12</a:t>
            </a:fld>
            <a:endParaRPr lang="en-US" dirty="0"/>
          </a:p>
        </p:txBody>
      </p:sp>
      <p:sp>
        <p:nvSpPr>
          <p:cNvPr id="5" name="Footer Placeholder 4">
            <a:extLst>
              <a:ext uri="{FF2B5EF4-FFF2-40B4-BE49-F238E27FC236}">
                <a16:creationId xmlns:a16="http://schemas.microsoft.com/office/drawing/2014/main" id="{A1C471E5-3108-BC43-8BC8-E3A0BCFBA4C7}"/>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26" name="Group 25" descr="diagram shows how you can launch an &quot;unmodified&quot; instance from an AMI, manually or via script update the software on that instance, then capture it as a new AMI. You can also copy an AMI to another region.">
            <a:extLst>
              <a:ext uri="{FF2B5EF4-FFF2-40B4-BE49-F238E27FC236}">
                <a16:creationId xmlns:a16="http://schemas.microsoft.com/office/drawing/2014/main" id="{CFC0A698-A0C6-754F-9E82-7D956CBA40BA}"/>
              </a:ext>
            </a:extLst>
          </p:cNvPr>
          <p:cNvGrpSpPr/>
          <p:nvPr/>
        </p:nvGrpSpPr>
        <p:grpSpPr>
          <a:xfrm>
            <a:off x="315739" y="1269215"/>
            <a:ext cx="11208390" cy="4929880"/>
            <a:chOff x="315739" y="1269215"/>
            <a:chExt cx="11208390" cy="4929880"/>
          </a:xfrm>
        </p:grpSpPr>
        <p:pic>
          <p:nvPicPr>
            <p:cNvPr id="66" name="Graphic 65">
              <a:extLst>
                <a:ext uri="{FF2B5EF4-FFF2-40B4-BE49-F238E27FC236}">
                  <a16:creationId xmlns:a16="http://schemas.microsoft.com/office/drawing/2014/main" id="{A71E226E-DD79-8A42-A367-188EFB772C1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97639" y="1280347"/>
              <a:ext cx="330200" cy="330200"/>
            </a:xfrm>
            <a:prstGeom prst="rect">
              <a:avLst/>
            </a:prstGeom>
          </p:spPr>
        </p:pic>
        <p:grpSp>
          <p:nvGrpSpPr>
            <p:cNvPr id="25" name="Group 24">
              <a:extLst>
                <a:ext uri="{FF2B5EF4-FFF2-40B4-BE49-F238E27FC236}">
                  <a16:creationId xmlns:a16="http://schemas.microsoft.com/office/drawing/2014/main" id="{09E8573B-BE56-6841-B55F-6C9528E52479}"/>
                </a:ext>
              </a:extLst>
            </p:cNvPr>
            <p:cNvGrpSpPr/>
            <p:nvPr/>
          </p:nvGrpSpPr>
          <p:grpSpPr>
            <a:xfrm>
              <a:off x="315739" y="1269215"/>
              <a:ext cx="11208390" cy="4929880"/>
              <a:chOff x="315739" y="1269215"/>
              <a:chExt cx="11208390" cy="4929880"/>
            </a:xfrm>
          </p:grpSpPr>
          <p:sp>
            <p:nvSpPr>
              <p:cNvPr id="12" name="TextBox 11">
                <a:extLst>
                  <a:ext uri="{FF2B5EF4-FFF2-40B4-BE49-F238E27FC236}">
                    <a16:creationId xmlns:a16="http://schemas.microsoft.com/office/drawing/2014/main" id="{9E85C031-3350-3248-AEB4-CFFAA0CF8318}"/>
                  </a:ext>
                </a:extLst>
              </p:cNvPr>
              <p:cNvSpPr txBox="1"/>
              <p:nvPr/>
            </p:nvSpPr>
            <p:spPr>
              <a:xfrm>
                <a:off x="315739" y="4301281"/>
                <a:ext cx="1766964" cy="584775"/>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(Optional) Import</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 virtual machine</a:t>
                </a:r>
              </a:p>
            </p:txBody>
          </p:sp>
          <p:grpSp>
            <p:nvGrpSpPr>
              <p:cNvPr id="24" name="Group 23">
                <a:extLst>
                  <a:ext uri="{FF2B5EF4-FFF2-40B4-BE49-F238E27FC236}">
                    <a16:creationId xmlns:a16="http://schemas.microsoft.com/office/drawing/2014/main" id="{07F44799-D3CD-864D-B694-566A1E18E83A}"/>
                  </a:ext>
                </a:extLst>
              </p:cNvPr>
              <p:cNvGrpSpPr/>
              <p:nvPr/>
            </p:nvGrpSpPr>
            <p:grpSpPr>
              <a:xfrm>
                <a:off x="345117" y="1269215"/>
                <a:ext cx="11179012" cy="4929880"/>
                <a:chOff x="345117" y="1269215"/>
                <a:chExt cx="11179012" cy="4929880"/>
              </a:xfrm>
            </p:grpSpPr>
            <p:grpSp>
              <p:nvGrpSpPr>
                <p:cNvPr id="23" name="Group 22">
                  <a:extLst>
                    <a:ext uri="{FF2B5EF4-FFF2-40B4-BE49-F238E27FC236}">
                      <a16:creationId xmlns:a16="http://schemas.microsoft.com/office/drawing/2014/main" id="{1CDC960C-30FF-3145-BE03-CE2C59AA59A4}"/>
                    </a:ext>
                  </a:extLst>
                </p:cNvPr>
                <p:cNvGrpSpPr/>
                <p:nvPr/>
              </p:nvGrpSpPr>
              <p:grpSpPr>
                <a:xfrm>
                  <a:off x="1714535" y="1269215"/>
                  <a:ext cx="9809594" cy="4929880"/>
                  <a:chOff x="1714535" y="1269215"/>
                  <a:chExt cx="9809594" cy="4929880"/>
                </a:xfrm>
              </p:grpSpPr>
              <p:cxnSp>
                <p:nvCxnSpPr>
                  <p:cNvPr id="11" name="Straight Arrow Connector 10">
                    <a:extLst>
                      <a:ext uri="{FF2B5EF4-FFF2-40B4-BE49-F238E27FC236}">
                        <a16:creationId xmlns:a16="http://schemas.microsoft.com/office/drawing/2014/main" id="{020EBD09-D16C-3E4B-B3ED-A1E97A18F4C7}"/>
                      </a:ext>
                    </a:extLst>
                  </p:cNvPr>
                  <p:cNvCxnSpPr>
                    <a:cxnSpLocks/>
                    <a:stCxn id="9" idx="3"/>
                    <a:endCxn id="6" idx="1"/>
                  </p:cNvCxnSpPr>
                  <p:nvPr/>
                </p:nvCxnSpPr>
                <p:spPr>
                  <a:xfrm>
                    <a:off x="1714535" y="4047940"/>
                    <a:ext cx="148003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37F262F7-9B2B-2B47-BE62-1F3541482729}"/>
                      </a:ext>
                    </a:extLst>
                  </p:cNvPr>
                  <p:cNvGrpSpPr/>
                  <p:nvPr/>
                </p:nvGrpSpPr>
                <p:grpSpPr>
                  <a:xfrm>
                    <a:off x="1829161" y="1269215"/>
                    <a:ext cx="9694968" cy="4929880"/>
                    <a:chOff x="1829161" y="1269215"/>
                    <a:chExt cx="9694968" cy="4929880"/>
                  </a:xfrm>
                </p:grpSpPr>
                <p:sp>
                  <p:nvSpPr>
                    <p:cNvPr id="19" name="TextBox 18">
                      <a:extLst>
                        <a:ext uri="{FF2B5EF4-FFF2-40B4-BE49-F238E27FC236}">
                          <a16:creationId xmlns:a16="http://schemas.microsoft.com/office/drawing/2014/main" id="{7A421FBC-1BF2-0944-8C78-D5D8AB066103}"/>
                        </a:ext>
                      </a:extLst>
                    </p:cNvPr>
                    <p:cNvSpPr txBox="1"/>
                    <p:nvPr/>
                  </p:nvSpPr>
                  <p:spPr>
                    <a:xfrm>
                      <a:off x="1829161" y="2430397"/>
                      <a:ext cx="1377125" cy="830997"/>
                    </a:xfrm>
                    <a:prstGeom prst="rect">
                      <a:avLst/>
                    </a:prstGeom>
                    <a:noFill/>
                  </p:spPr>
                  <p:txBody>
                    <a:bodyPr wrap="square" rtlCol="0">
                      <a:spAutoFit/>
                    </a:bodyPr>
                    <a:lstStyle/>
                    <a:p>
                      <a:pPr algn="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Quick Start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or other</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existing AMI</a:t>
                      </a:r>
                    </a:p>
                  </p:txBody>
                </p:sp>
                <p:grpSp>
                  <p:nvGrpSpPr>
                    <p:cNvPr id="16" name="Group 15">
                      <a:extLst>
                        <a:ext uri="{FF2B5EF4-FFF2-40B4-BE49-F238E27FC236}">
                          <a16:creationId xmlns:a16="http://schemas.microsoft.com/office/drawing/2014/main" id="{E66D16C6-D65A-474A-982E-9915CDD7C652}"/>
                        </a:ext>
                      </a:extLst>
                    </p:cNvPr>
                    <p:cNvGrpSpPr/>
                    <p:nvPr/>
                  </p:nvGrpSpPr>
                  <p:grpSpPr>
                    <a:xfrm>
                      <a:off x="1986513" y="1269215"/>
                      <a:ext cx="9537616" cy="4929880"/>
                      <a:chOff x="1986513" y="1269215"/>
                      <a:chExt cx="9537616" cy="4929880"/>
                    </a:xfrm>
                  </p:grpSpPr>
                  <p:sp>
                    <p:nvSpPr>
                      <p:cNvPr id="67" name="Rectangle 66">
                        <a:extLst>
                          <a:ext uri="{FF2B5EF4-FFF2-40B4-BE49-F238E27FC236}">
                            <a16:creationId xmlns:a16="http://schemas.microsoft.com/office/drawing/2014/main" id="{51D747B1-D5C6-2D46-9ACD-852737814D3F}"/>
                          </a:ext>
                        </a:extLst>
                      </p:cNvPr>
                      <p:cNvSpPr/>
                      <p:nvPr/>
                    </p:nvSpPr>
                    <p:spPr>
                      <a:xfrm>
                        <a:off x="1986513" y="1269215"/>
                        <a:ext cx="9537616" cy="49298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ysClr val="windowText" lastClr="000000"/>
                            </a:solidFill>
                          </a:rPr>
                          <a:t>AWS Cloud</a:t>
                        </a:r>
                      </a:p>
                    </p:txBody>
                  </p:sp>
                  <p:grpSp>
                    <p:nvGrpSpPr>
                      <p:cNvPr id="13" name="Group 12">
                        <a:extLst>
                          <a:ext uri="{FF2B5EF4-FFF2-40B4-BE49-F238E27FC236}">
                            <a16:creationId xmlns:a16="http://schemas.microsoft.com/office/drawing/2014/main" id="{B2C7AEFE-1159-794A-B58F-4732F049202C}"/>
                          </a:ext>
                        </a:extLst>
                      </p:cNvPr>
                      <p:cNvGrpSpPr/>
                      <p:nvPr/>
                    </p:nvGrpSpPr>
                    <p:grpSpPr>
                      <a:xfrm>
                        <a:off x="2935210" y="1691307"/>
                        <a:ext cx="8427555" cy="4401926"/>
                        <a:chOff x="2935210" y="1691307"/>
                        <a:chExt cx="8427555" cy="4401926"/>
                      </a:xfrm>
                    </p:grpSpPr>
                    <p:pic>
                      <p:nvPicPr>
                        <p:cNvPr id="6" name="Graphic 5">
                          <a:extLst>
                            <a:ext uri="{FF2B5EF4-FFF2-40B4-BE49-F238E27FC236}">
                              <a16:creationId xmlns:a16="http://schemas.microsoft.com/office/drawing/2014/main" id="{E6AE7E77-BB91-E340-916B-0EE2446A36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94567" y="3812990"/>
                          <a:ext cx="469900" cy="469900"/>
                        </a:xfrm>
                        <a:prstGeom prst="rect">
                          <a:avLst/>
                        </a:prstGeom>
                      </p:spPr>
                    </p:pic>
                    <p:sp>
                      <p:nvSpPr>
                        <p:cNvPr id="7" name="TextBox 6">
                          <a:extLst>
                            <a:ext uri="{FF2B5EF4-FFF2-40B4-BE49-F238E27FC236}">
                              <a16:creationId xmlns:a16="http://schemas.microsoft.com/office/drawing/2014/main" id="{546CD2BD-3FEF-B643-A3FD-7320952A05C0}"/>
                            </a:ext>
                          </a:extLst>
                        </p:cNvPr>
                        <p:cNvSpPr txBox="1"/>
                        <p:nvPr/>
                      </p:nvSpPr>
                      <p:spPr>
                        <a:xfrm>
                          <a:off x="2935210" y="4282890"/>
                          <a:ext cx="988614" cy="338554"/>
                        </a:xfrm>
                        <a:prstGeom prst="rect">
                          <a:avLst/>
                        </a:prstGeom>
                        <a:noFill/>
                      </p:spPr>
                      <p:txBody>
                        <a:bodyPr wrap="square" rtlCol="0">
                          <a:spAutoFit/>
                        </a:bodyPr>
                        <a:lstStyle/>
                        <a:p>
                          <a:pPr algn="ctr"/>
                          <a:r>
                            <a:rPr lang="en-US" sz="1600" dirty="0"/>
                            <a:t>MyAMI</a:t>
                          </a:r>
                        </a:p>
                      </p:txBody>
                    </p:sp>
                    <p:cxnSp>
                      <p:nvCxnSpPr>
                        <p:cNvPr id="14" name="Straight Arrow Connector 13">
                          <a:extLst>
                            <a:ext uri="{FF2B5EF4-FFF2-40B4-BE49-F238E27FC236}">
                              <a16:creationId xmlns:a16="http://schemas.microsoft.com/office/drawing/2014/main" id="{F7B26E2C-1AC1-2243-8B64-5AE21A16B3BF}"/>
                            </a:ext>
                          </a:extLst>
                        </p:cNvPr>
                        <p:cNvCxnSpPr>
                          <a:cxnSpLocks/>
                          <a:stCxn id="6" idx="3"/>
                          <a:endCxn id="20" idx="1"/>
                        </p:cNvCxnSpPr>
                        <p:nvPr/>
                      </p:nvCxnSpPr>
                      <p:spPr>
                        <a:xfrm flipV="1">
                          <a:off x="3664467" y="3398047"/>
                          <a:ext cx="1862237" cy="649893"/>
                        </a:xfrm>
                        <a:prstGeom prst="bentConnector3">
                          <a:avLst>
                            <a:gd name="adj1" fmla="val 28337"/>
                          </a:avLst>
                        </a:prstGeom>
                        <a:ln w="28575">
                          <a:tailEnd type="triangl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51313C9-D2FD-2D4D-A843-A745AE8B12F1}"/>
                            </a:ext>
                          </a:extLst>
                        </p:cNvPr>
                        <p:cNvSpPr txBox="1"/>
                        <p:nvPr/>
                      </p:nvSpPr>
                      <p:spPr>
                        <a:xfrm>
                          <a:off x="4226552" y="2821751"/>
                          <a:ext cx="1165705" cy="584775"/>
                        </a:xfrm>
                        <a:prstGeom prst="rect">
                          <a:avLst/>
                        </a:prstGeom>
                        <a:noFill/>
                      </p:spPr>
                      <p:txBody>
                        <a:bodyPr wrap="square" rtlCol="0">
                          <a:spAutoFit/>
                        </a:bodyPr>
                        <a:lstStyle/>
                        <a:p>
                          <a:pPr algn="ctr"/>
                          <a:r>
                            <a:rPr lang="en-US" sz="1600" b="1"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Launch</a:t>
                          </a: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 an instance</a:t>
                          </a:r>
                        </a:p>
                      </p:txBody>
                    </p:sp>
                    <p:pic>
                      <p:nvPicPr>
                        <p:cNvPr id="17" name="Graphic 16">
                          <a:extLst>
                            <a:ext uri="{FF2B5EF4-FFF2-40B4-BE49-F238E27FC236}">
                              <a16:creationId xmlns:a16="http://schemas.microsoft.com/office/drawing/2014/main" id="{C0E2041F-B11A-234B-BA3D-D65768812D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94567" y="2583191"/>
                          <a:ext cx="469900" cy="469900"/>
                        </a:xfrm>
                        <a:prstGeom prst="rect">
                          <a:avLst/>
                        </a:prstGeom>
                      </p:spPr>
                    </p:pic>
                    <p:sp>
                      <p:nvSpPr>
                        <p:cNvPr id="18" name="TextBox 17">
                          <a:extLst>
                            <a:ext uri="{FF2B5EF4-FFF2-40B4-BE49-F238E27FC236}">
                              <a16:creationId xmlns:a16="http://schemas.microsoft.com/office/drawing/2014/main" id="{AE2F8747-E903-EC4C-B6B8-B673998B1C4F}"/>
                            </a:ext>
                          </a:extLst>
                        </p:cNvPr>
                        <p:cNvSpPr txBox="1"/>
                        <p:nvPr/>
                      </p:nvSpPr>
                      <p:spPr>
                        <a:xfrm>
                          <a:off x="2935210" y="3059493"/>
                          <a:ext cx="988614" cy="584775"/>
                        </a:xfrm>
                        <a:prstGeom prst="rect">
                          <a:avLst/>
                        </a:prstGeom>
                        <a:noFill/>
                      </p:spPr>
                      <p:txBody>
                        <a:bodyPr wrap="square" rtlCol="0">
                          <a:spAutoFit/>
                        </a:bodyPr>
                        <a:lstStyle/>
                        <a:p>
                          <a:pPr algn="ctr"/>
                          <a:r>
                            <a:rPr lang="en-US" sz="1600" dirty="0"/>
                            <a:t>Starter</a:t>
                          </a:r>
                          <a:br>
                            <a:rPr lang="en-US" sz="1600" dirty="0"/>
                          </a:br>
                          <a:r>
                            <a:rPr lang="en-US" sz="1600" dirty="0"/>
                            <a:t>AMI</a:t>
                          </a:r>
                        </a:p>
                      </p:txBody>
                    </p:sp>
                    <p:pic>
                      <p:nvPicPr>
                        <p:cNvPr id="20" name="Graphic 19">
                          <a:extLst>
                            <a:ext uri="{FF2B5EF4-FFF2-40B4-BE49-F238E27FC236}">
                              <a16:creationId xmlns:a16="http://schemas.microsoft.com/office/drawing/2014/main" id="{B8C5075C-37A6-C24C-8551-71992CEDC0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26704" y="3163097"/>
                          <a:ext cx="469900" cy="469900"/>
                        </a:xfrm>
                        <a:prstGeom prst="rect">
                          <a:avLst/>
                        </a:prstGeom>
                      </p:spPr>
                    </p:pic>
                    <p:cxnSp>
                      <p:nvCxnSpPr>
                        <p:cNvPr id="22" name="Straight Arrow Connector 13">
                          <a:extLst>
                            <a:ext uri="{FF2B5EF4-FFF2-40B4-BE49-F238E27FC236}">
                              <a16:creationId xmlns:a16="http://schemas.microsoft.com/office/drawing/2014/main" id="{1A958301-1A86-5840-9CF9-E9D99C0F9FFE}"/>
                            </a:ext>
                          </a:extLst>
                        </p:cNvPr>
                        <p:cNvCxnSpPr>
                          <a:cxnSpLocks/>
                          <a:stCxn id="17" idx="3"/>
                          <a:endCxn id="20" idx="1"/>
                        </p:cNvCxnSpPr>
                        <p:nvPr/>
                      </p:nvCxnSpPr>
                      <p:spPr>
                        <a:xfrm>
                          <a:off x="3664467" y="2818141"/>
                          <a:ext cx="1862237" cy="579906"/>
                        </a:xfrm>
                        <a:prstGeom prst="bentConnector3">
                          <a:avLst>
                            <a:gd name="adj1" fmla="val 28337"/>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37" name="Graphic 36">
                          <a:extLst>
                            <a:ext uri="{FF2B5EF4-FFF2-40B4-BE49-F238E27FC236}">
                              <a16:creationId xmlns:a16="http://schemas.microsoft.com/office/drawing/2014/main" id="{E9AABAE5-8871-2C48-99DD-55DD8DDFD64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64071" y="3144912"/>
                          <a:ext cx="469900" cy="469900"/>
                        </a:xfrm>
                        <a:prstGeom prst="rect">
                          <a:avLst/>
                        </a:prstGeom>
                      </p:spPr>
                    </p:pic>
                    <p:cxnSp>
                      <p:nvCxnSpPr>
                        <p:cNvPr id="38" name="Straight Arrow Connector 13">
                          <a:extLst>
                            <a:ext uri="{FF2B5EF4-FFF2-40B4-BE49-F238E27FC236}">
                              <a16:creationId xmlns:a16="http://schemas.microsoft.com/office/drawing/2014/main" id="{E6855DF9-DF35-5C40-858D-919D692720DA}"/>
                            </a:ext>
                          </a:extLst>
                        </p:cNvPr>
                        <p:cNvCxnSpPr>
                          <a:cxnSpLocks/>
                          <a:stCxn id="20" idx="3"/>
                        </p:cNvCxnSpPr>
                        <p:nvPr/>
                      </p:nvCxnSpPr>
                      <p:spPr>
                        <a:xfrm flipV="1">
                          <a:off x="5996604" y="3381618"/>
                          <a:ext cx="2367467"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A3E308F-39F9-6D4D-8228-D56FBEF84E84}"/>
                            </a:ext>
                          </a:extLst>
                        </p:cNvPr>
                        <p:cNvSpPr txBox="1"/>
                        <p:nvPr/>
                      </p:nvSpPr>
                      <p:spPr>
                        <a:xfrm>
                          <a:off x="5998332" y="1841087"/>
                          <a:ext cx="2325398" cy="1569660"/>
                        </a:xfrm>
                        <a:prstGeom prst="rect">
                          <a:avLst/>
                        </a:prstGeom>
                        <a:noFill/>
                      </p:spPr>
                      <p:txBody>
                        <a:bodyPr wrap="square" rtlCol="0">
                          <a:spAutoFit/>
                        </a:bodyPr>
                        <a:lstStyle/>
                        <a:p>
                          <a:pPr algn="ct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Connect to the instance and manually modify it </a:t>
                          </a:r>
                          <a:r>
                            <a:rPr lang="en-US" sz="1600" u="sng"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or</a:t>
                          </a: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 run a script that modifies the instance (for example, upgrade installed software)</a:t>
                          </a:r>
                        </a:p>
                      </p:txBody>
                    </p:sp>
                    <p:sp>
                      <p:nvSpPr>
                        <p:cNvPr id="45" name="TextBox 44">
                          <a:extLst>
                            <a:ext uri="{FF2B5EF4-FFF2-40B4-BE49-F238E27FC236}">
                              <a16:creationId xmlns:a16="http://schemas.microsoft.com/office/drawing/2014/main" id="{3CF16551-E1B3-054F-8484-89179D52A74B}"/>
                            </a:ext>
                          </a:extLst>
                        </p:cNvPr>
                        <p:cNvSpPr txBox="1"/>
                        <p:nvPr/>
                      </p:nvSpPr>
                      <p:spPr>
                        <a:xfrm>
                          <a:off x="5153043" y="3612838"/>
                          <a:ext cx="1241030" cy="584775"/>
                        </a:xfrm>
                        <a:prstGeom prst="rect">
                          <a:avLst/>
                        </a:prstGeom>
                        <a:noFill/>
                      </p:spPr>
                      <p:txBody>
                        <a:bodyPr wrap="square" rtlCol="0">
                          <a:spAutoFit/>
                        </a:bodyPr>
                        <a:lstStyle/>
                        <a:p>
                          <a:pPr algn="ctr"/>
                          <a:r>
                            <a:rPr lang="en-US" sz="1600" dirty="0"/>
                            <a:t>Unmodified</a:t>
                          </a:r>
                        </a:p>
                        <a:p>
                          <a:pPr algn="ctr"/>
                          <a:r>
                            <a:rPr lang="en-US" sz="1600" dirty="0"/>
                            <a:t>Instance</a:t>
                          </a:r>
                        </a:p>
                      </p:txBody>
                    </p:sp>
                    <p:sp>
                      <p:nvSpPr>
                        <p:cNvPr id="46" name="TextBox 45">
                          <a:extLst>
                            <a:ext uri="{FF2B5EF4-FFF2-40B4-BE49-F238E27FC236}">
                              <a16:creationId xmlns:a16="http://schemas.microsoft.com/office/drawing/2014/main" id="{F3617422-825F-D34D-B660-F0B5BC25F4A6}"/>
                            </a:ext>
                          </a:extLst>
                        </p:cNvPr>
                        <p:cNvSpPr txBox="1"/>
                        <p:nvPr/>
                      </p:nvSpPr>
                      <p:spPr>
                        <a:xfrm>
                          <a:off x="8104714" y="3577741"/>
                          <a:ext cx="988614" cy="584775"/>
                        </a:xfrm>
                        <a:prstGeom prst="rect">
                          <a:avLst/>
                        </a:prstGeom>
                        <a:noFill/>
                      </p:spPr>
                      <p:txBody>
                        <a:bodyPr wrap="square" rtlCol="0">
                          <a:spAutoFit/>
                        </a:bodyPr>
                        <a:lstStyle/>
                        <a:p>
                          <a:pPr algn="ctr"/>
                          <a:r>
                            <a:rPr lang="en-US" sz="1600" dirty="0"/>
                            <a:t>Modified</a:t>
                          </a:r>
                        </a:p>
                        <a:p>
                          <a:pPr algn="ctr"/>
                          <a:r>
                            <a:rPr lang="en-US" sz="1600" dirty="0"/>
                            <a:t>Instance</a:t>
                          </a:r>
                        </a:p>
                      </p:txBody>
                    </p:sp>
                    <p:pic>
                      <p:nvPicPr>
                        <p:cNvPr id="50" name="Graphic 49">
                          <a:extLst>
                            <a:ext uri="{FF2B5EF4-FFF2-40B4-BE49-F238E27FC236}">
                              <a16:creationId xmlns:a16="http://schemas.microsoft.com/office/drawing/2014/main" id="{8AFE4C3B-5866-C545-B43F-2BD378AF9D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68377" y="3144912"/>
                          <a:ext cx="469900" cy="469900"/>
                        </a:xfrm>
                        <a:prstGeom prst="rect">
                          <a:avLst/>
                        </a:prstGeom>
                      </p:spPr>
                    </p:pic>
                    <p:sp>
                      <p:nvSpPr>
                        <p:cNvPr id="51" name="TextBox 50">
                          <a:extLst>
                            <a:ext uri="{FF2B5EF4-FFF2-40B4-BE49-F238E27FC236}">
                              <a16:creationId xmlns:a16="http://schemas.microsoft.com/office/drawing/2014/main" id="{1307E494-C86F-E740-A679-EE24D341217B}"/>
                            </a:ext>
                          </a:extLst>
                        </p:cNvPr>
                        <p:cNvSpPr txBox="1"/>
                        <p:nvPr/>
                      </p:nvSpPr>
                      <p:spPr>
                        <a:xfrm>
                          <a:off x="10009020" y="3639399"/>
                          <a:ext cx="988614" cy="584775"/>
                        </a:xfrm>
                        <a:prstGeom prst="rect">
                          <a:avLst/>
                        </a:prstGeom>
                        <a:noFill/>
                      </p:spPr>
                      <p:txBody>
                        <a:bodyPr wrap="square" rtlCol="0">
                          <a:spAutoFit/>
                        </a:bodyPr>
                        <a:lstStyle/>
                        <a:p>
                          <a:pPr algn="ctr"/>
                          <a:r>
                            <a:rPr lang="en-US" sz="1600" dirty="0"/>
                            <a:t>New </a:t>
                          </a:r>
                          <a:br>
                            <a:rPr lang="en-US" sz="1600" dirty="0"/>
                          </a:br>
                          <a:r>
                            <a:rPr lang="en-US" sz="1600" dirty="0"/>
                            <a:t>AMI</a:t>
                          </a:r>
                        </a:p>
                      </p:txBody>
                    </p:sp>
                    <p:cxnSp>
                      <p:nvCxnSpPr>
                        <p:cNvPr id="52" name="Straight Arrow Connector 13">
                          <a:extLst>
                            <a:ext uri="{FF2B5EF4-FFF2-40B4-BE49-F238E27FC236}">
                              <a16:creationId xmlns:a16="http://schemas.microsoft.com/office/drawing/2014/main" id="{3376D86C-A3CB-DA48-A834-E77377FF64DC}"/>
                            </a:ext>
                          </a:extLst>
                        </p:cNvPr>
                        <p:cNvCxnSpPr>
                          <a:cxnSpLocks/>
                          <a:endCxn id="50" idx="1"/>
                        </p:cNvCxnSpPr>
                        <p:nvPr/>
                      </p:nvCxnSpPr>
                      <p:spPr>
                        <a:xfrm flipV="1">
                          <a:off x="8818544" y="3379862"/>
                          <a:ext cx="1449833"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E1AADD9-7230-9F49-8E07-6244F6F19C6E}"/>
                            </a:ext>
                          </a:extLst>
                        </p:cNvPr>
                        <p:cNvSpPr txBox="1"/>
                        <p:nvPr/>
                      </p:nvSpPr>
                      <p:spPr>
                        <a:xfrm>
                          <a:off x="8955498" y="2776551"/>
                          <a:ext cx="1191352" cy="584775"/>
                        </a:xfrm>
                        <a:prstGeom prst="rect">
                          <a:avLst/>
                        </a:prstGeom>
                        <a:noFill/>
                      </p:spPr>
                      <p:txBody>
                        <a:bodyPr wrap="none" rtlCol="0">
                          <a:spAutoFit/>
                        </a:bodyPr>
                        <a:lstStyle/>
                        <a:p>
                          <a:pPr algn="ctr"/>
                          <a:r>
                            <a:rPr lang="en-US" sz="1600" b="1"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Capture</a:t>
                          </a: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 as </a:t>
                          </a:r>
                          <a:b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a new AMI</a:t>
                          </a:r>
                        </a:p>
                      </p:txBody>
                    </p:sp>
                    <p:sp>
                      <p:nvSpPr>
                        <p:cNvPr id="55" name="Rectangle 54">
                          <a:extLst>
                            <a:ext uri="{FF2B5EF4-FFF2-40B4-BE49-F238E27FC236}">
                              <a16:creationId xmlns:a16="http://schemas.microsoft.com/office/drawing/2014/main" id="{C95115EA-2A94-3641-86E4-CF917D02A90C}"/>
                            </a:ext>
                          </a:extLst>
                        </p:cNvPr>
                        <p:cNvSpPr/>
                        <p:nvPr/>
                      </p:nvSpPr>
                      <p:spPr>
                        <a:xfrm>
                          <a:off x="2997160" y="1691308"/>
                          <a:ext cx="8365605" cy="2930136"/>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chemeClr val="accent3"/>
                              </a:solidFill>
                            </a:rPr>
                            <a:t>Region A</a:t>
                          </a:r>
                        </a:p>
                      </p:txBody>
                    </p:sp>
                    <p:pic>
                      <p:nvPicPr>
                        <p:cNvPr id="56" name="Graphic 55">
                          <a:extLst>
                            <a:ext uri="{FF2B5EF4-FFF2-40B4-BE49-F238E27FC236}">
                              <a16:creationId xmlns:a16="http://schemas.microsoft.com/office/drawing/2014/main" id="{7A778276-C328-6849-AB28-A7EFF8D903F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97161" y="1691307"/>
                          <a:ext cx="330200" cy="330200"/>
                        </a:xfrm>
                        <a:prstGeom prst="rect">
                          <a:avLst/>
                        </a:prstGeom>
                      </p:spPr>
                    </p:pic>
                    <p:sp>
                      <p:nvSpPr>
                        <p:cNvPr id="57" name="Rectangle 56">
                          <a:extLst>
                            <a:ext uri="{FF2B5EF4-FFF2-40B4-BE49-F238E27FC236}">
                              <a16:creationId xmlns:a16="http://schemas.microsoft.com/office/drawing/2014/main" id="{7F4D006C-3B7F-4844-869D-42BF952CE9BF}"/>
                            </a:ext>
                          </a:extLst>
                        </p:cNvPr>
                        <p:cNvSpPr/>
                        <p:nvPr/>
                      </p:nvSpPr>
                      <p:spPr>
                        <a:xfrm>
                          <a:off x="2997160" y="4819322"/>
                          <a:ext cx="3511217" cy="1273911"/>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chemeClr val="accent3"/>
                              </a:solidFill>
                            </a:rPr>
                            <a:t>Region B</a:t>
                          </a:r>
                        </a:p>
                      </p:txBody>
                    </p:sp>
                    <p:pic>
                      <p:nvPicPr>
                        <p:cNvPr id="58" name="Graphic 57">
                          <a:extLst>
                            <a:ext uri="{FF2B5EF4-FFF2-40B4-BE49-F238E27FC236}">
                              <a16:creationId xmlns:a16="http://schemas.microsoft.com/office/drawing/2014/main" id="{79714A2B-DFDC-434A-87CA-70DDFAFD2EA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97161" y="4819322"/>
                          <a:ext cx="330200" cy="330200"/>
                        </a:xfrm>
                        <a:prstGeom prst="rect">
                          <a:avLst/>
                        </a:prstGeom>
                      </p:spPr>
                    </p:pic>
                    <p:pic>
                      <p:nvPicPr>
                        <p:cNvPr id="59" name="Graphic 58">
                          <a:extLst>
                            <a:ext uri="{FF2B5EF4-FFF2-40B4-BE49-F238E27FC236}">
                              <a16:creationId xmlns:a16="http://schemas.microsoft.com/office/drawing/2014/main" id="{8EC9AC57-91FD-2E44-BB0A-7DC3E0123A7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11903" y="5024449"/>
                          <a:ext cx="469900" cy="469900"/>
                        </a:xfrm>
                        <a:prstGeom prst="rect">
                          <a:avLst/>
                        </a:prstGeom>
                      </p:spPr>
                    </p:pic>
                    <p:sp>
                      <p:nvSpPr>
                        <p:cNvPr id="60" name="TextBox 59">
                          <a:extLst>
                            <a:ext uri="{FF2B5EF4-FFF2-40B4-BE49-F238E27FC236}">
                              <a16:creationId xmlns:a16="http://schemas.microsoft.com/office/drawing/2014/main" id="{5BE6BC40-4095-F649-B10D-93927B358556}"/>
                            </a:ext>
                          </a:extLst>
                        </p:cNvPr>
                        <p:cNvSpPr txBox="1"/>
                        <p:nvPr/>
                      </p:nvSpPr>
                      <p:spPr>
                        <a:xfrm>
                          <a:off x="4552546" y="5508458"/>
                          <a:ext cx="974158" cy="584775"/>
                        </a:xfrm>
                        <a:prstGeom prst="rect">
                          <a:avLst/>
                        </a:prstGeom>
                        <a:noFill/>
                      </p:spPr>
                      <p:txBody>
                        <a:bodyPr wrap="square" rtlCol="0">
                          <a:spAutoFit/>
                        </a:bodyPr>
                        <a:lstStyle/>
                        <a:p>
                          <a:pPr algn="ctr"/>
                          <a:r>
                            <a:rPr lang="en-US" sz="1600" dirty="0"/>
                            <a:t>New </a:t>
                          </a:r>
                          <a:br>
                            <a:rPr lang="en-US" sz="1600" dirty="0"/>
                          </a:br>
                          <a:r>
                            <a:rPr lang="en-US" sz="1600" dirty="0"/>
                            <a:t>AMI</a:t>
                          </a:r>
                        </a:p>
                      </p:txBody>
                    </p:sp>
                    <p:cxnSp>
                      <p:nvCxnSpPr>
                        <p:cNvPr id="61" name="Straight Arrow Connector 13">
                          <a:extLst>
                            <a:ext uri="{FF2B5EF4-FFF2-40B4-BE49-F238E27FC236}">
                              <a16:creationId xmlns:a16="http://schemas.microsoft.com/office/drawing/2014/main" id="{284DF9A9-C7C8-A54E-B8E6-D9032D010158}"/>
                            </a:ext>
                          </a:extLst>
                        </p:cNvPr>
                        <p:cNvCxnSpPr>
                          <a:cxnSpLocks/>
                          <a:stCxn id="50" idx="3"/>
                          <a:endCxn id="59" idx="3"/>
                        </p:cNvCxnSpPr>
                        <p:nvPr/>
                      </p:nvCxnSpPr>
                      <p:spPr>
                        <a:xfrm flipH="1">
                          <a:off x="5281803" y="3379862"/>
                          <a:ext cx="5456474" cy="1879537"/>
                        </a:xfrm>
                        <a:prstGeom prst="bentConnector3">
                          <a:avLst>
                            <a:gd name="adj1" fmla="val -419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5FADE03-1358-7D40-BF57-A8E8C7F73335}"/>
                            </a:ext>
                          </a:extLst>
                        </p:cNvPr>
                        <p:cNvSpPr txBox="1"/>
                        <p:nvPr/>
                      </p:nvSpPr>
                      <p:spPr>
                        <a:xfrm>
                          <a:off x="7066703" y="4934405"/>
                          <a:ext cx="3369832" cy="584775"/>
                        </a:xfrm>
                        <a:prstGeom prst="rect">
                          <a:avLst/>
                        </a:prstGeom>
                        <a:noFill/>
                      </p:spPr>
                      <p:txBody>
                        <a:bodyPr wrap="none" rtlCol="0">
                          <a:spAutoFit/>
                        </a:bodyPr>
                        <a:lstStyle/>
                        <a:p>
                          <a:pPr algn="ctr"/>
                          <a:r>
                            <a:rPr lang="en-US" sz="1600" b="1"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Copy</a:t>
                          </a: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 the AMI to any other Regions </a:t>
                          </a:r>
                          <a:b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solidFill>
                                <a:srgbClr val="2D75E7"/>
                              </a:solidFill>
                              <a:latin typeface="Amazon Ember Light" panose="020B0403020204020204" pitchFamily="34" charset="0"/>
                              <a:ea typeface="Amazon Ember Light" panose="020B0403020204020204" pitchFamily="34" charset="0"/>
                              <a:cs typeface="Amazon Ember Light" panose="020B0403020204020204" pitchFamily="34" charset="0"/>
                            </a:rPr>
                            <a:t>where you want to use it</a:t>
                          </a:r>
                        </a:p>
                      </p:txBody>
                    </p:sp>
                    <p:sp>
                      <p:nvSpPr>
                        <p:cNvPr id="69" name="Oval 68">
                          <a:extLst>
                            <a:ext uri="{FF2B5EF4-FFF2-40B4-BE49-F238E27FC236}">
                              <a16:creationId xmlns:a16="http://schemas.microsoft.com/office/drawing/2014/main" id="{B9EED663-746E-5449-9A6F-3E851AFCB1C5}"/>
                            </a:ext>
                          </a:extLst>
                        </p:cNvPr>
                        <p:cNvSpPr/>
                        <p:nvPr/>
                      </p:nvSpPr>
                      <p:spPr>
                        <a:xfrm>
                          <a:off x="4713976"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0" name="Oval 69">
                          <a:extLst>
                            <a:ext uri="{FF2B5EF4-FFF2-40B4-BE49-F238E27FC236}">
                              <a16:creationId xmlns:a16="http://schemas.microsoft.com/office/drawing/2014/main" id="{A42C9383-7DF3-A947-8283-C4757DD6BABD}"/>
                            </a:ext>
                          </a:extLst>
                        </p:cNvPr>
                        <p:cNvSpPr/>
                        <p:nvPr/>
                      </p:nvSpPr>
                      <p:spPr>
                        <a:xfrm>
                          <a:off x="7004912"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1" name="Oval 70">
                          <a:extLst>
                            <a:ext uri="{FF2B5EF4-FFF2-40B4-BE49-F238E27FC236}">
                              <a16:creationId xmlns:a16="http://schemas.microsoft.com/office/drawing/2014/main" id="{AB3A427B-9515-8E4F-BD5D-2FD3356AAF93}"/>
                            </a:ext>
                          </a:extLst>
                        </p:cNvPr>
                        <p:cNvSpPr/>
                        <p:nvPr/>
                      </p:nvSpPr>
                      <p:spPr>
                        <a:xfrm>
                          <a:off x="9440185"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2" name="Oval 71">
                          <a:extLst>
                            <a:ext uri="{FF2B5EF4-FFF2-40B4-BE49-F238E27FC236}">
                              <a16:creationId xmlns:a16="http://schemas.microsoft.com/office/drawing/2014/main" id="{AC64F6CB-8F0A-7847-B06C-26650879FBDD}"/>
                            </a:ext>
                          </a:extLst>
                        </p:cNvPr>
                        <p:cNvSpPr/>
                        <p:nvPr/>
                      </p:nvSpPr>
                      <p:spPr>
                        <a:xfrm>
                          <a:off x="8459893" y="5443049"/>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grpSp>
              </p:grpSp>
            </p:grpSp>
            <p:sp>
              <p:nvSpPr>
                <p:cNvPr id="73" name="Content Placeholder 8">
                  <a:extLst>
                    <a:ext uri="{FF2B5EF4-FFF2-40B4-BE49-F238E27FC236}">
                      <a16:creationId xmlns:a16="http://schemas.microsoft.com/office/drawing/2014/main" id="{92E33B87-5A51-5A4F-8872-88D125B34368}"/>
                    </a:ext>
                  </a:extLst>
                </p:cNvPr>
                <p:cNvSpPr txBox="1">
                  <a:spLocks/>
                </p:cNvSpPr>
                <p:nvPr/>
              </p:nvSpPr>
              <p:spPr>
                <a:xfrm>
                  <a:off x="345117" y="1528486"/>
                  <a:ext cx="1480032" cy="432397"/>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AMI details</a:t>
                  </a:r>
                  <a:endParaRPr lang="en-US" sz="1800" dirty="0"/>
                </a:p>
              </p:txBody>
            </p:sp>
          </p:grpSp>
        </p:grpSp>
      </p:grpSp>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5186A7FA-10C5-4A8D-B6AA-BEEA3CB253D7}"/>
                  </a:ext>
                </a:extLst>
              </p14:cNvPr>
              <p14:cNvContentPartPr/>
              <p14:nvPr/>
            </p14:nvContentPartPr>
            <p14:xfrm>
              <a:off x="5411520" y="4098600"/>
              <a:ext cx="3402360" cy="1554120"/>
            </p14:xfrm>
          </p:contentPart>
        </mc:Choice>
        <mc:Fallback xmlns="">
          <p:pic>
            <p:nvPicPr>
              <p:cNvPr id="3" name="Ink 2">
                <a:extLst>
                  <a:ext uri="{FF2B5EF4-FFF2-40B4-BE49-F238E27FC236}">
                    <a16:creationId xmlns:a16="http://schemas.microsoft.com/office/drawing/2014/main" id="{5186A7FA-10C5-4A8D-B6AA-BEEA3CB253D7}"/>
                  </a:ext>
                </a:extLst>
              </p:cNvPr>
              <p:cNvPicPr/>
              <p:nvPr/>
            </p:nvPicPr>
            <p:blipFill>
              <a:blip r:embed="rId15"/>
              <a:stretch>
                <a:fillRect/>
              </a:stretch>
            </p:blipFill>
            <p:spPr>
              <a:xfrm>
                <a:off x="5402160" y="4089240"/>
                <a:ext cx="3421080" cy="1572840"/>
              </a:xfrm>
              <a:prstGeom prst="rect">
                <a:avLst/>
              </a:prstGeom>
            </p:spPr>
          </p:pic>
        </mc:Fallback>
      </mc:AlternateContent>
    </p:spTree>
    <p:custDataLst>
      <p:tags r:id="rId1"/>
    </p:custDataLst>
    <p:extLst>
      <p:ext uri="{BB962C8B-B14F-4D97-AF65-F5344CB8AC3E}">
        <p14:creationId xmlns:p14="http://schemas.microsoft.com/office/powerpoint/2010/main" val="357782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2. Select an instance type</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13</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1524228"/>
            <a:ext cx="6479753" cy="4648788"/>
          </a:xfrm>
        </p:spPr>
        <p:txBody>
          <a:bodyPr/>
          <a:lstStyle/>
          <a:p>
            <a:r>
              <a:rPr lang="en-US" sz="2000" dirty="0"/>
              <a:t>Consider your use case</a:t>
            </a:r>
          </a:p>
          <a:p>
            <a:pPr lvl="1"/>
            <a:r>
              <a:rPr lang="en-US" sz="1600" dirty="0"/>
              <a:t>How will the EC2 instance you create be used?</a:t>
            </a:r>
          </a:p>
          <a:p>
            <a:r>
              <a:rPr lang="en-US" sz="2000" dirty="0"/>
              <a:t>The </a:t>
            </a:r>
            <a:r>
              <a:rPr lang="en-US" sz="2000" b="1" dirty="0">
                <a:solidFill>
                  <a:schemeClr val="accent5"/>
                </a:solidFill>
              </a:rPr>
              <a:t>instance type </a:t>
            </a:r>
            <a:r>
              <a:rPr lang="en-US" sz="2000" dirty="0"/>
              <a:t>that you choose determines – </a:t>
            </a:r>
          </a:p>
          <a:p>
            <a:pPr lvl="1"/>
            <a:r>
              <a:rPr lang="en-US" sz="1600" dirty="0">
                <a:solidFill>
                  <a:schemeClr val="accent6"/>
                </a:solidFill>
              </a:rPr>
              <a:t>Memory</a:t>
            </a:r>
            <a:r>
              <a:rPr lang="en-US" sz="1600" dirty="0"/>
              <a:t> (RAM)</a:t>
            </a:r>
          </a:p>
          <a:p>
            <a:pPr lvl="1"/>
            <a:r>
              <a:rPr lang="en-US" sz="1600" dirty="0">
                <a:solidFill>
                  <a:schemeClr val="accent6"/>
                </a:solidFill>
              </a:rPr>
              <a:t>Processing power</a:t>
            </a:r>
            <a:r>
              <a:rPr lang="en-US" sz="1600" dirty="0"/>
              <a:t> (CPU)</a:t>
            </a:r>
          </a:p>
          <a:p>
            <a:pPr lvl="1"/>
            <a:r>
              <a:rPr lang="en-US" sz="1600" dirty="0">
                <a:solidFill>
                  <a:schemeClr val="accent6"/>
                </a:solidFill>
              </a:rPr>
              <a:t>Disk space and disk type</a:t>
            </a:r>
            <a:r>
              <a:rPr lang="en-US" sz="1600" dirty="0"/>
              <a:t> (Storage)</a:t>
            </a:r>
          </a:p>
          <a:p>
            <a:pPr lvl="1"/>
            <a:r>
              <a:rPr lang="en-US" sz="1600" dirty="0">
                <a:solidFill>
                  <a:schemeClr val="accent6"/>
                </a:solidFill>
              </a:rPr>
              <a:t>Network performance</a:t>
            </a:r>
          </a:p>
          <a:p>
            <a:r>
              <a:rPr lang="en-US" sz="2000" dirty="0"/>
              <a:t>Instance type categories – </a:t>
            </a:r>
          </a:p>
          <a:p>
            <a:pPr lvl="1"/>
            <a:r>
              <a:rPr lang="en-US" sz="1600" dirty="0"/>
              <a:t>General purpose</a:t>
            </a:r>
          </a:p>
          <a:p>
            <a:pPr lvl="1"/>
            <a:r>
              <a:rPr lang="en-US" sz="1600" dirty="0"/>
              <a:t>Compute optimized</a:t>
            </a:r>
          </a:p>
          <a:p>
            <a:pPr lvl="1"/>
            <a:r>
              <a:rPr lang="en-US" sz="1600" dirty="0"/>
              <a:t>Memory optimized</a:t>
            </a:r>
          </a:p>
          <a:p>
            <a:pPr lvl="1"/>
            <a:r>
              <a:rPr lang="en-US" sz="1600" dirty="0"/>
              <a:t>Storage optimized</a:t>
            </a:r>
          </a:p>
          <a:p>
            <a:pPr lvl="1"/>
            <a:r>
              <a:rPr lang="en-US" sz="1600" dirty="0"/>
              <a:t>Accelerated computing</a:t>
            </a:r>
          </a:p>
          <a:p>
            <a:r>
              <a:rPr lang="en-US" sz="2000" dirty="0"/>
              <a:t>Instance types offer </a:t>
            </a:r>
            <a:r>
              <a:rPr lang="en-US" sz="2000" i="1" dirty="0"/>
              <a:t>family</a:t>
            </a:r>
            <a:r>
              <a:rPr lang="en-US" sz="2000" dirty="0"/>
              <a:t>, </a:t>
            </a:r>
            <a:r>
              <a:rPr lang="en-US" sz="2000" i="1" dirty="0"/>
              <a:t>generation</a:t>
            </a:r>
            <a:r>
              <a:rPr lang="en-US" sz="2000" dirty="0"/>
              <a:t>, and </a:t>
            </a:r>
            <a:r>
              <a:rPr lang="en-US" sz="2000" i="1" dirty="0"/>
              <a:t>size</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15" name="Graphic 14">
            <a:extLst>
              <a:ext uri="{FF2B5EF4-FFF2-40B4-BE49-F238E27FC236}">
                <a16:creationId xmlns:a16="http://schemas.microsoft.com/office/drawing/2014/main" id="{A1216070-B368-BA4C-A72C-55E738E1877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49655" y="2603810"/>
            <a:ext cx="914400" cy="914400"/>
          </a:xfrm>
          <a:prstGeom prst="rect">
            <a:avLst/>
          </a:prstGeom>
        </p:spPr>
      </p:pic>
      <p:pic>
        <p:nvPicPr>
          <p:cNvPr id="17" name="Graphic 16">
            <a:extLst>
              <a:ext uri="{FF2B5EF4-FFF2-40B4-BE49-F238E27FC236}">
                <a16:creationId xmlns:a16="http://schemas.microsoft.com/office/drawing/2014/main" id="{DEDE0F93-DD0F-B947-9132-039B5E2A3BD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8660" y="2603810"/>
            <a:ext cx="914400" cy="914400"/>
          </a:xfrm>
          <a:prstGeom prst="rect">
            <a:avLst/>
          </a:prstGeom>
        </p:spPr>
      </p:pic>
      <p:sp>
        <p:nvSpPr>
          <p:cNvPr id="18" name="Content Placeholder 8">
            <a:extLst>
              <a:ext uri="{FF2B5EF4-FFF2-40B4-BE49-F238E27FC236}">
                <a16:creationId xmlns:a16="http://schemas.microsoft.com/office/drawing/2014/main" id="{67AD47E3-753C-6141-A00D-32EA26A67572}"/>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solidFill>
                  <a:schemeClr val="accent6"/>
                </a:solidFill>
              </a:rPr>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1291896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EC2 instance type naming and sizes </a:t>
            </a:r>
          </a:p>
        </p:txBody>
      </p:sp>
      <p:sp>
        <p:nvSpPr>
          <p:cNvPr id="3" name="Content Placeholder 2">
            <a:extLst>
              <a:ext uri="{FF2B5EF4-FFF2-40B4-BE49-F238E27FC236}">
                <a16:creationId xmlns:a16="http://schemas.microsoft.com/office/drawing/2014/main" id="{908AB337-B548-BB43-B1A9-C6D782A07A67}"/>
              </a:ext>
            </a:extLst>
          </p:cNvPr>
          <p:cNvSpPr>
            <a:spLocks noGrp="1"/>
          </p:cNvSpPr>
          <p:nvPr>
            <p:ph idx="1"/>
          </p:nvPr>
        </p:nvSpPr>
        <p:spPr>
          <a:xfrm>
            <a:off x="419100" y="2364550"/>
            <a:ext cx="5768789" cy="3917857"/>
          </a:xfrm>
        </p:spPr>
        <p:txBody>
          <a:bodyPr/>
          <a:lstStyle/>
          <a:p>
            <a:pPr marL="0" indent="0">
              <a:buNone/>
            </a:pPr>
            <a:r>
              <a:rPr lang="en-US" dirty="0"/>
              <a:t>Instance type naming</a:t>
            </a:r>
          </a:p>
          <a:p>
            <a:r>
              <a:rPr lang="en-US" sz="2400" dirty="0"/>
              <a:t>Example: </a:t>
            </a:r>
            <a:r>
              <a:rPr lang="en-US" sz="2400" b="1" dirty="0">
                <a:solidFill>
                  <a:schemeClr val="accent5"/>
                </a:solidFill>
              </a:rPr>
              <a:t>t3.large</a:t>
            </a:r>
          </a:p>
          <a:p>
            <a:pPr lvl="1"/>
            <a:r>
              <a:rPr lang="en-US" sz="2000" dirty="0">
                <a:solidFill>
                  <a:schemeClr val="accent6"/>
                </a:solidFill>
              </a:rPr>
              <a:t>T</a:t>
            </a:r>
            <a:r>
              <a:rPr lang="en-US" sz="2000" dirty="0"/>
              <a:t> is the family name</a:t>
            </a:r>
          </a:p>
          <a:p>
            <a:pPr lvl="1"/>
            <a:r>
              <a:rPr lang="en-US" sz="2000" dirty="0">
                <a:solidFill>
                  <a:schemeClr val="accent6"/>
                </a:solidFill>
              </a:rPr>
              <a:t>3</a:t>
            </a:r>
            <a:r>
              <a:rPr lang="en-US" sz="2000" dirty="0"/>
              <a:t> is the generation number</a:t>
            </a:r>
          </a:p>
          <a:p>
            <a:pPr lvl="1"/>
            <a:r>
              <a:rPr lang="en-US" sz="2000" dirty="0">
                <a:solidFill>
                  <a:schemeClr val="accent6"/>
                </a:solidFill>
              </a:rPr>
              <a:t>Large</a:t>
            </a:r>
            <a:r>
              <a:rPr lang="en-US" sz="2000" dirty="0"/>
              <a:t> is the size</a:t>
            </a:r>
          </a:p>
          <a:p>
            <a:endParaRPr lang="en-US" dirty="0"/>
          </a:p>
        </p:txBody>
      </p:sp>
      <p:sp>
        <p:nvSpPr>
          <p:cNvPr id="12" name="Content Placeholder 8">
            <a:extLst>
              <a:ext uri="{FF2B5EF4-FFF2-40B4-BE49-F238E27FC236}">
                <a16:creationId xmlns:a16="http://schemas.microsoft.com/office/drawing/2014/main" id="{911D481B-9D2B-8E4C-B4BB-C6AD54EE6998}"/>
              </a:ext>
              <a:ext uri="{C183D7F6-B498-43B3-948B-1728B52AA6E4}">
                <adec:decorative xmlns:adec="http://schemas.microsoft.com/office/drawing/2017/decorative" val="1"/>
              </a:ext>
            </a:extLst>
          </p:cNvPr>
          <p:cNvSpPr txBox="1">
            <a:spLocks/>
          </p:cNvSpPr>
          <p:nvPr/>
        </p:nvSpPr>
        <p:spPr>
          <a:xfrm>
            <a:off x="345116" y="1528486"/>
            <a:ext cx="2512383" cy="613305"/>
          </a:xfrm>
          <a:prstGeom prst="rect">
            <a:avLst/>
          </a:prstGeom>
          <a:solidFill>
            <a:schemeClr val="bg1">
              <a:lumMod val="9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Instance type details</a:t>
            </a:r>
            <a:endParaRPr lang="en-US" sz="1800" dirty="0"/>
          </a:p>
        </p:txBody>
      </p:sp>
      <p:graphicFrame>
        <p:nvGraphicFramePr>
          <p:cNvPr id="15" name="Table 14" descr="table showing vCPU, memory, and storage details for the t3 family of instance types. t3.nano is the smallest, with 2 vCPU, 0.5GB memory. t3.2xlarge is the largest, with 8 vCPU and 32GB memory. All instance types shown are EBS-only storage type.">
            <a:extLst>
              <a:ext uri="{FF2B5EF4-FFF2-40B4-BE49-F238E27FC236}">
                <a16:creationId xmlns:a16="http://schemas.microsoft.com/office/drawing/2014/main" id="{85D68B97-BD85-BD42-AAF4-5E43C9CC299D}"/>
              </a:ext>
            </a:extLst>
          </p:cNvPr>
          <p:cNvGraphicFramePr>
            <a:graphicFrameLocks noGrp="1"/>
          </p:cNvGraphicFramePr>
          <p:nvPr>
            <p:extLst>
              <p:ext uri="{D42A27DB-BD31-4B8C-83A1-F6EECF244321}">
                <p14:modId xmlns:p14="http://schemas.microsoft.com/office/powerpoint/2010/main" val="1958014830"/>
              </p:ext>
            </p:extLst>
          </p:nvPr>
        </p:nvGraphicFramePr>
        <p:xfrm>
          <a:off x="6007100" y="2006594"/>
          <a:ext cx="5172940" cy="4380466"/>
        </p:xfrm>
        <a:graphic>
          <a:graphicData uri="http://schemas.openxmlformats.org/drawingml/2006/table">
            <a:tbl>
              <a:tblPr firstRow="1"/>
              <a:tblGrid>
                <a:gridCol w="1261790">
                  <a:extLst>
                    <a:ext uri="{9D8B030D-6E8A-4147-A177-3AD203B41FA5}">
                      <a16:colId xmlns:a16="http://schemas.microsoft.com/office/drawing/2014/main" val="128153120"/>
                    </a:ext>
                  </a:extLst>
                </a:gridCol>
                <a:gridCol w="630861">
                  <a:extLst>
                    <a:ext uri="{9D8B030D-6E8A-4147-A177-3AD203B41FA5}">
                      <a16:colId xmlns:a16="http://schemas.microsoft.com/office/drawing/2014/main" val="1961907996"/>
                    </a:ext>
                  </a:extLst>
                </a:gridCol>
                <a:gridCol w="1345436">
                  <a:extLst>
                    <a:ext uri="{9D8B030D-6E8A-4147-A177-3AD203B41FA5}">
                      <a16:colId xmlns:a16="http://schemas.microsoft.com/office/drawing/2014/main" val="2912205042"/>
                    </a:ext>
                  </a:extLst>
                </a:gridCol>
                <a:gridCol w="1934853">
                  <a:extLst>
                    <a:ext uri="{9D8B030D-6E8A-4147-A177-3AD203B41FA5}">
                      <a16:colId xmlns:a16="http://schemas.microsoft.com/office/drawing/2014/main" val="1790498054"/>
                    </a:ext>
                  </a:extLst>
                </a:gridCol>
              </a:tblGrid>
              <a:tr h="509526">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Instance Name</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vCPU</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Memory (GB)</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 Storage</a:t>
                      </a:r>
                    </a:p>
                  </a:txBody>
                  <a:tcPr marL="25487" marR="25487" marT="25487" marB="25487" anchor="ctr">
                    <a:lnL>
                      <a:noFill/>
                    </a:lnL>
                    <a:lnR>
                      <a:noFill/>
                    </a:lnR>
                    <a:lnT>
                      <a:noFill/>
                    </a:lnT>
                    <a:lnB>
                      <a:noFill/>
                    </a:lnB>
                  </a:tcPr>
                </a:tc>
                <a:extLst>
                  <a:ext uri="{0D108BD9-81ED-4DB2-BD59-A6C34878D82A}">
                    <a16:rowId xmlns:a16="http://schemas.microsoft.com/office/drawing/2014/main" val="1364619955"/>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t3.nano</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0.5</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83531971"/>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t3.micro</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142843272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t3.small</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152070516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t3.medium</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745104067"/>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38598996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t3.xlarge</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16</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tcPr>
                </a:tc>
                <a:extLst>
                  <a:ext uri="{0D108BD9-81ED-4DB2-BD59-A6C34878D82A}">
                    <a16:rowId xmlns:a16="http://schemas.microsoft.com/office/drawing/2014/main" val="156383251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t3.2xlarge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32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3730849886"/>
                  </a:ext>
                </a:extLst>
              </a:tr>
            </a:tbl>
          </a:graphicData>
        </a:graphic>
      </p:graphicFrame>
      <p:sp>
        <p:nvSpPr>
          <p:cNvPr id="4" name="TextBox 3">
            <a:extLst>
              <a:ext uri="{FF2B5EF4-FFF2-40B4-BE49-F238E27FC236}">
                <a16:creationId xmlns:a16="http://schemas.microsoft.com/office/drawing/2014/main" id="{7DC627F5-41E0-F94E-BAA4-F82713795B51}"/>
              </a:ext>
            </a:extLst>
          </p:cNvPr>
          <p:cNvSpPr txBox="1"/>
          <p:nvPr/>
        </p:nvSpPr>
        <p:spPr>
          <a:xfrm>
            <a:off x="5900736" y="1511464"/>
            <a:ext cx="3235181" cy="461665"/>
          </a:xfrm>
          <a:prstGeom prst="rect">
            <a:avLst/>
          </a:prstGeom>
          <a:noFill/>
        </p:spPr>
        <p:txBody>
          <a:bodyPr wrap="none" rtlCol="0">
            <a:spAutoFit/>
          </a:bodyPr>
          <a:lstStyle/>
          <a:p>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Example instance sizes</a:t>
            </a:r>
          </a:p>
        </p:txBody>
      </p:sp>
      <p:sp>
        <p:nvSpPr>
          <p:cNvPr id="5" name="Footer Placeholder 4">
            <a:extLst>
              <a:ext uri="{FF2B5EF4-FFF2-40B4-BE49-F238E27FC236}">
                <a16:creationId xmlns:a16="http://schemas.microsoft.com/office/drawing/2014/main" id="{FCB86A46-B660-5D43-A6E1-EFA1584978B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FF2B5EF4-FFF2-40B4-BE49-F238E27FC236}">
                <a16:creationId xmlns:a16="http://schemas.microsoft.com/office/drawing/2014/main" id="{ACA40E56-277C-134B-A3D6-A75A2EACA73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14</a:t>
            </a:fld>
            <a:endParaRPr lang="en-US" dirty="0"/>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510F93A-4733-4090-9AB6-FF8F272C4410}"/>
                  </a:ext>
                </a:extLst>
              </p14:cNvPr>
              <p14:cNvContentPartPr/>
              <p14:nvPr/>
            </p14:nvContentPartPr>
            <p14:xfrm>
              <a:off x="1276920" y="3339720"/>
              <a:ext cx="7367400" cy="973800"/>
            </p14:xfrm>
          </p:contentPart>
        </mc:Choice>
        <mc:Fallback xmlns="">
          <p:pic>
            <p:nvPicPr>
              <p:cNvPr id="7" name="Ink 6">
                <a:extLst>
                  <a:ext uri="{FF2B5EF4-FFF2-40B4-BE49-F238E27FC236}">
                    <a16:creationId xmlns:a16="http://schemas.microsoft.com/office/drawing/2014/main" id="{5510F93A-4733-4090-9AB6-FF8F272C4410}"/>
                  </a:ext>
                </a:extLst>
              </p:cNvPr>
              <p:cNvPicPr/>
              <p:nvPr/>
            </p:nvPicPr>
            <p:blipFill>
              <a:blip r:embed="rId5"/>
              <a:stretch>
                <a:fillRect/>
              </a:stretch>
            </p:blipFill>
            <p:spPr>
              <a:xfrm>
                <a:off x="1267560" y="3330360"/>
                <a:ext cx="7386120" cy="992520"/>
              </a:xfrm>
              <a:prstGeom prst="rect">
                <a:avLst/>
              </a:prstGeom>
            </p:spPr>
          </p:pic>
        </mc:Fallback>
      </mc:AlternateContent>
    </p:spTree>
    <p:custDataLst>
      <p:tags r:id="rId1"/>
    </p:custDataLst>
    <p:extLst>
      <p:ext uri="{BB962C8B-B14F-4D97-AF65-F5344CB8AC3E}">
        <p14:creationId xmlns:p14="http://schemas.microsoft.com/office/powerpoint/2010/main" val="420155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 instance type: Based on use case</a:t>
            </a:r>
          </a:p>
        </p:txBody>
      </p:sp>
      <p:graphicFrame>
        <p:nvGraphicFramePr>
          <p:cNvPr id="18" name="Table 17" descr="chart showing instance types and use cases for each fo the 5 main instance type categories. "/>
          <p:cNvGraphicFramePr>
            <a:graphicFrameLocks noGrp="1"/>
          </p:cNvGraphicFramePr>
          <p:nvPr>
            <p:extLst>
              <p:ext uri="{D42A27DB-BD31-4B8C-83A1-F6EECF244321}">
                <p14:modId xmlns:p14="http://schemas.microsoft.com/office/powerpoint/2010/main" val="59665288"/>
              </p:ext>
            </p:extLst>
          </p:nvPr>
        </p:nvGraphicFramePr>
        <p:xfrm>
          <a:off x="623614" y="1715063"/>
          <a:ext cx="10955994" cy="3961836"/>
        </p:xfrm>
        <a:graphic>
          <a:graphicData uri="http://schemas.openxmlformats.org/drawingml/2006/table">
            <a:tbl>
              <a:tblPr firstRow="1" bandRow="1">
                <a:effectLst/>
                <a:tableStyleId>{5C22544A-7EE6-4342-B048-85BDC9FD1C3A}</a:tableStyleId>
              </a:tblPr>
              <a:tblGrid>
                <a:gridCol w="1825999">
                  <a:extLst>
                    <a:ext uri="{9D8B030D-6E8A-4147-A177-3AD203B41FA5}">
                      <a16:colId xmlns:a16="http://schemas.microsoft.com/office/drawing/2014/main" val="23915117"/>
                    </a:ext>
                  </a:extLst>
                </a:gridCol>
                <a:gridCol w="1825999">
                  <a:extLst>
                    <a:ext uri="{9D8B030D-6E8A-4147-A177-3AD203B41FA5}">
                      <a16:colId xmlns:a16="http://schemas.microsoft.com/office/drawing/2014/main" val="311262121"/>
                    </a:ext>
                  </a:extLst>
                </a:gridCol>
                <a:gridCol w="1825999">
                  <a:extLst>
                    <a:ext uri="{9D8B030D-6E8A-4147-A177-3AD203B41FA5}">
                      <a16:colId xmlns:a16="http://schemas.microsoft.com/office/drawing/2014/main" val="1971920450"/>
                    </a:ext>
                  </a:extLst>
                </a:gridCol>
                <a:gridCol w="1825999">
                  <a:extLst>
                    <a:ext uri="{9D8B030D-6E8A-4147-A177-3AD203B41FA5}">
                      <a16:colId xmlns:a16="http://schemas.microsoft.com/office/drawing/2014/main" val="1206149541"/>
                    </a:ext>
                  </a:extLst>
                </a:gridCol>
                <a:gridCol w="1825999">
                  <a:extLst>
                    <a:ext uri="{9D8B030D-6E8A-4147-A177-3AD203B41FA5}">
                      <a16:colId xmlns:a16="http://schemas.microsoft.com/office/drawing/2014/main" val="1595182195"/>
                    </a:ext>
                  </a:extLst>
                </a:gridCol>
                <a:gridCol w="1825999">
                  <a:extLst>
                    <a:ext uri="{9D8B030D-6E8A-4147-A177-3AD203B41FA5}">
                      <a16:colId xmlns:a16="http://schemas.microsoft.com/office/drawing/2014/main" val="1279303239"/>
                    </a:ext>
                  </a:extLst>
                </a:gridCol>
              </a:tblGrid>
              <a:tr h="1575507">
                <a:tc>
                  <a:txBody>
                    <a:bodyPr/>
                    <a:lstStyle/>
                    <a:p>
                      <a:endParaRPr lang="en-US" dirty="0">
                        <a:solidFill>
                          <a:schemeClr val="tx1"/>
                        </a:solidFill>
                        <a:latin typeface="+mn-lt"/>
                        <a:ea typeface="Amazon Ember Light" panose="020B0403020204020204" pitchFamily="34" charset="0"/>
                        <a:cs typeface="Amazon Ember Light" panose="020B0403020204020204" pitchFamily="34" charset="0"/>
                      </a:endParaRPr>
                    </a:p>
                  </a:txBody>
                  <a:tcPr anchor="ctr">
                    <a:lnL w="381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General</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Purpose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3">
                              <a:lumMod val="75000"/>
                            </a:schemeClr>
                          </a:solidFill>
                          <a:latin typeface="+mn-lt"/>
                          <a:ea typeface="Amazon Ember Light" panose="020B0403020204020204" pitchFamily="34" charset="0"/>
                          <a:cs typeface="Amazon Ember Light" panose="020B0403020204020204" pitchFamily="34" charset="0"/>
                        </a:rPr>
                      </a:br>
                      <a:br>
                        <a:rPr lang="en-US" dirty="0">
                          <a:solidFill>
                            <a:schemeClr val="accent3">
                              <a:lumMod val="75000"/>
                            </a:schemeClr>
                          </a:solidFill>
                          <a:latin typeface="+mn-lt"/>
                          <a:ea typeface="Amazon Ember Light" panose="020B0403020204020204" pitchFamily="34" charset="0"/>
                          <a:cs typeface="Amazon Ember Light" panose="020B0403020204020204" pitchFamily="34" charset="0"/>
                        </a:rPr>
                      </a:br>
                      <a:br>
                        <a:rPr lang="en-US" dirty="0">
                          <a:solidFill>
                            <a:schemeClr val="accent3">
                              <a:lumMod val="75000"/>
                            </a:schemeClr>
                          </a:solidFill>
                          <a:latin typeface="+mn-lt"/>
                          <a:ea typeface="Amazon Ember Light" panose="020B0403020204020204" pitchFamily="34" charset="0"/>
                          <a:cs typeface="Amazon Ember Light" panose="020B0403020204020204" pitchFamily="34" charset="0"/>
                        </a:rPr>
                      </a:br>
                      <a:r>
                        <a:rPr lang="en-US" dirty="0">
                          <a:solidFill>
                            <a:schemeClr val="accent3">
                              <a:lumMod val="75000"/>
                            </a:schemeClr>
                          </a:solidFill>
                          <a:latin typeface="+mn-lt"/>
                          <a:ea typeface="Amazon Ember Light" panose="020B0403020204020204" pitchFamily="34" charset="0"/>
                          <a:cs typeface="Amazon Ember Light" panose="020B0403020204020204" pitchFamily="34" charset="0"/>
                        </a:rPr>
                        <a:t>Compute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6"/>
                          </a:solidFill>
                          <a:latin typeface="+mn-lt"/>
                          <a:ea typeface="Amazon Ember Light" panose="020B0403020204020204" pitchFamily="34" charset="0"/>
                          <a:cs typeface="Amazon Ember Light" panose="020B0403020204020204" pitchFamily="34" charset="0"/>
                        </a:rPr>
                        <a:t>Memory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4">
                              <a:lumMod val="75000"/>
                            </a:schemeClr>
                          </a:solidFill>
                          <a:latin typeface="+mn-lt"/>
                          <a:ea typeface="Amazon Ember Light" panose="020B0403020204020204" pitchFamily="34" charset="0"/>
                          <a:cs typeface="Amazon Ember Light" panose="020B0403020204020204" pitchFamily="34" charset="0"/>
                        </a:rPr>
                        <a:t>Accelerated Computing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5"/>
                          </a:solidFill>
                          <a:latin typeface="+mn-lt"/>
                          <a:ea typeface="Amazon Ember Light" panose="020B0403020204020204" pitchFamily="34" charset="0"/>
                          <a:cs typeface="Amazon Ember Light" panose="020B0403020204020204" pitchFamily="34" charset="0"/>
                        </a:rPr>
                        <a:t>Storage Optimized</a:t>
                      </a:r>
                    </a:p>
                  </a:txBody>
                  <a:tcPr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955339"/>
                  </a:ext>
                </a:extLst>
              </a:tr>
              <a:tr h="1280100">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Instance</a:t>
                      </a:r>
                      <a:r>
                        <a:rPr lang="en-US" b="1" baseline="0" dirty="0">
                          <a:solidFill>
                            <a:schemeClr val="bg1"/>
                          </a:solidFill>
                          <a:latin typeface="+mn-lt"/>
                          <a:ea typeface="Amazon Ember Light" panose="020B0403020204020204" pitchFamily="34" charset="0"/>
                          <a:cs typeface="Amazon Ember Light" panose="020B0403020204020204" pitchFamily="34" charset="0"/>
                        </a:rPr>
                        <a:t> T</a:t>
                      </a:r>
                      <a:r>
                        <a:rPr lang="en-US" b="1" dirty="0">
                          <a:solidFill>
                            <a:schemeClr val="bg1"/>
                          </a:solidFill>
                          <a:latin typeface="+mn-lt"/>
                          <a:ea typeface="Amazon Ember Light" panose="020B0403020204020204" pitchFamily="34" charset="0"/>
                          <a:cs typeface="Amazon Ember Light" panose="020B0403020204020204" pitchFamily="34" charset="0"/>
                        </a:rPr>
                        <a:t>ypes</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a1, m4, m5,</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t2, 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3">
                              <a:lumMod val="75000"/>
                            </a:schemeClr>
                          </a:solidFill>
                          <a:latin typeface="+mn-lt"/>
                          <a:ea typeface="Amazon Ember Light" panose="020B0403020204020204" pitchFamily="34" charset="0"/>
                          <a:cs typeface="Amazon Ember Light" panose="020B0403020204020204" pitchFamily="34" charset="0"/>
                        </a:rPr>
                        <a:t>c4, c5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r4, r5,</a:t>
                      </a:r>
                      <a:br>
                        <a:rPr lang="en-US" sz="1800" b="1" kern="1200" dirty="0">
                          <a:solidFill>
                            <a:schemeClr val="accent6"/>
                          </a:solidFill>
                          <a:latin typeface="+mn-lt"/>
                          <a:ea typeface="Amazon Ember Light" panose="020B0403020204020204" pitchFamily="34" charset="0"/>
                          <a:cs typeface="Amazon Ember Light" panose="020B0403020204020204" pitchFamily="34" charset="0"/>
                        </a:rPr>
                      </a:br>
                      <a:r>
                        <a:rPr lang="en-US" sz="1800" b="1" kern="1200" dirty="0">
                          <a:solidFill>
                            <a:schemeClr val="accent6"/>
                          </a:solidFill>
                          <a:latin typeface="+mn-lt"/>
                          <a:ea typeface="Amazon Ember Light" panose="020B0403020204020204" pitchFamily="34" charset="0"/>
                          <a:cs typeface="Amazon Ember Light" panose="020B0403020204020204" pitchFamily="34" charset="0"/>
                        </a:rPr>
                        <a:t>x1, z1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4">
                              <a:lumMod val="75000"/>
                            </a:schemeClr>
                          </a:solidFill>
                          <a:latin typeface="+mn-lt"/>
                          <a:ea typeface="Amazon Ember Light" panose="020B0403020204020204" pitchFamily="34" charset="0"/>
                          <a:cs typeface="Amazon Ember Light" panose="020B0403020204020204" pitchFamily="34" charset="0"/>
                        </a:rPr>
                        <a:t>f1, g3, g4, </a:t>
                      </a:r>
                      <a:br>
                        <a:rPr lang="en-US" sz="1800" b="1" kern="1200" dirty="0">
                          <a:solidFill>
                            <a:schemeClr val="accent4">
                              <a:lumMod val="75000"/>
                            </a:schemeClr>
                          </a:solidFill>
                          <a:latin typeface="+mn-lt"/>
                          <a:ea typeface="Amazon Ember Light" panose="020B0403020204020204" pitchFamily="34" charset="0"/>
                          <a:cs typeface="Amazon Ember Light" panose="020B0403020204020204" pitchFamily="34" charset="0"/>
                        </a:rPr>
                      </a:br>
                      <a:r>
                        <a:rPr lang="en-US" sz="1800" b="1" kern="1200" dirty="0">
                          <a:solidFill>
                            <a:schemeClr val="accent4">
                              <a:lumMod val="75000"/>
                            </a:schemeClr>
                          </a:solidFill>
                          <a:latin typeface="+mn-lt"/>
                          <a:ea typeface="Amazon Ember Light" panose="020B0403020204020204" pitchFamily="34" charset="0"/>
                          <a:cs typeface="Amazon Ember Light" panose="020B0403020204020204" pitchFamily="34" charset="0"/>
                        </a:rPr>
                        <a:t>p2, 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d2, h1, i3</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675248"/>
                  </a:ext>
                </a:extLst>
              </a:tr>
              <a:tr h="1106229">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Use Case</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Broad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3">
                              <a:lumMod val="75000"/>
                            </a:schemeClr>
                          </a:solidFill>
                          <a:latin typeface="+mn-lt"/>
                          <a:ea typeface="Amazon Ember Light" panose="020B0403020204020204" pitchFamily="34" charset="0"/>
                          <a:cs typeface="Amazon Ember Light" panose="020B0403020204020204" pitchFamily="34" charset="0"/>
                        </a:rPr>
                        <a:t>High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In-memory 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4">
                              <a:lumMod val="75000"/>
                            </a:schemeClr>
                          </a:solidFill>
                          <a:latin typeface="+mn-lt"/>
                          <a:ea typeface="Amazon Ember Light" panose="020B0403020204020204" pitchFamily="34" charset="0"/>
                          <a:cs typeface="Amazon Ember Light" panose="020B0403020204020204" pitchFamily="34" charset="0"/>
                        </a:rPr>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Distributed file systems</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3801933"/>
                  </a:ext>
                </a:extLst>
              </a:tr>
            </a:tbl>
          </a:graphicData>
        </a:graphic>
      </p:graphicFrame>
      <p:pic>
        <p:nvPicPr>
          <p:cNvPr id="3" name="Picture 2">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0788" y="1770706"/>
            <a:ext cx="788684" cy="784929"/>
          </a:xfrm>
          <a:prstGeom prst="rect">
            <a:avLst/>
          </a:prstGeom>
        </p:spPr>
      </p:pic>
      <p:pic>
        <p:nvPicPr>
          <p:cNvPr id="4" name="Picture 3">
            <a:extLst>
              <a:ext uri="{C183D7F6-B498-43B3-948B-1728B52AA6E4}">
                <adec:decorative xmlns:adec="http://schemas.microsoft.com/office/drawing/2017/decorative" val="1"/>
              </a:ext>
            </a:extLst>
          </p:cNvPr>
          <p:cNvPicPr>
            <a:picLocks noChangeAspect="1"/>
          </p:cNvPicPr>
          <p:nvPr/>
        </p:nvPicPr>
        <p:blipFill>
          <a:blip r:embed="rId5">
            <a:duotone>
              <a:schemeClr val="accent3">
                <a:shade val="45000"/>
                <a:satMod val="135000"/>
              </a:schemeClr>
              <a:prstClr val="white"/>
            </a:duotone>
          </a:blip>
          <a:stretch>
            <a:fillRect/>
          </a:stretch>
        </p:blipFill>
        <p:spPr>
          <a:xfrm>
            <a:off x="4900318" y="1829915"/>
            <a:ext cx="676866" cy="666511"/>
          </a:xfrm>
          <a:prstGeom prst="rect">
            <a:avLst/>
          </a:prstGeom>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6">
            <a:duotone>
              <a:schemeClr val="accent6">
                <a:shade val="45000"/>
                <a:satMod val="135000"/>
              </a:schemeClr>
              <a:prstClr val="white"/>
            </a:duotone>
          </a:blip>
          <a:stretch>
            <a:fillRect/>
          </a:stretch>
        </p:blipFill>
        <p:spPr>
          <a:xfrm rot="1800000">
            <a:off x="6615916" y="2011899"/>
            <a:ext cx="914400" cy="302542"/>
          </a:xfrm>
          <a:prstGeom prst="rect">
            <a:avLst/>
          </a:prstGeom>
        </p:spPr>
      </p:pic>
      <p:pic>
        <p:nvPicPr>
          <p:cNvPr id="8" name="Picture 7">
            <a:extLst>
              <a:ext uri="{C183D7F6-B498-43B3-948B-1728B52AA6E4}">
                <adec:decorative xmlns:adec="http://schemas.microsoft.com/office/drawing/2017/decorative" val="1"/>
              </a:ext>
            </a:extLst>
          </p:cNvPr>
          <p:cNvPicPr>
            <a:picLocks noChangeAspect="1"/>
          </p:cNvPicPr>
          <p:nvPr/>
        </p:nvPicPr>
        <p:blipFill>
          <a:blip r:embed="rId7">
            <a:duotone>
              <a:schemeClr val="accent4">
                <a:shade val="45000"/>
                <a:satMod val="135000"/>
              </a:schemeClr>
              <a:prstClr val="white"/>
            </a:duotone>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val="0"/>
              </a:ext>
            </a:extLst>
          </a:blip>
          <a:stretch>
            <a:fillRect/>
          </a:stretch>
        </p:blipFill>
        <p:spPr>
          <a:xfrm>
            <a:off x="8525560" y="1826900"/>
            <a:ext cx="646612" cy="672541"/>
          </a:xfrm>
          <a:prstGeom prst="rect">
            <a:avLst/>
          </a:prstGeom>
        </p:spPr>
      </p:pic>
      <p:sp>
        <p:nvSpPr>
          <p:cNvPr id="9" name="Flowchart: Magnetic Disk 8">
            <a:extLst>
              <a:ext uri="{C183D7F6-B498-43B3-948B-1728B52AA6E4}">
                <adec:decorative xmlns:adec="http://schemas.microsoft.com/office/drawing/2017/decorative" val="1"/>
              </a:ext>
            </a:extLst>
          </p:cNvPr>
          <p:cNvSpPr/>
          <p:nvPr/>
        </p:nvSpPr>
        <p:spPr bwMode="auto">
          <a:xfrm>
            <a:off x="10392472" y="1941641"/>
            <a:ext cx="583762" cy="502990"/>
          </a:xfrm>
          <a:prstGeom prst="flowChartMagneticDisk">
            <a:avLst/>
          </a:prstGeom>
          <a:solidFill>
            <a:schemeClr val="bg1"/>
          </a:solidFill>
          <a:ln w="28575">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0" name="Slide Number Placeholder 9">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15</a:t>
            </a:fld>
            <a:endParaRPr lang="en-US" dirty="0"/>
          </a:p>
        </p:txBody>
      </p:sp>
      <p:sp>
        <p:nvSpPr>
          <p:cNvPr id="13" name="Content Placeholder 8">
            <a:extLst>
              <a:ext uri="{FF2B5EF4-FFF2-40B4-BE49-F238E27FC236}">
                <a16:creationId xmlns:a16="http://schemas.microsoft.com/office/drawing/2014/main" id="{099FBB38-D28E-764D-B572-7DD4C8DEA481}"/>
              </a:ext>
              <a:ext uri="{C183D7F6-B498-43B3-948B-1728B52AA6E4}">
                <adec:decorative xmlns:adec="http://schemas.microsoft.com/office/drawing/2017/decorative" val="1"/>
              </a:ext>
            </a:extLst>
          </p:cNvPr>
          <p:cNvSpPr txBox="1">
            <a:spLocks/>
          </p:cNvSpPr>
          <p:nvPr/>
        </p:nvSpPr>
        <p:spPr>
          <a:xfrm>
            <a:off x="216922" y="1549865"/>
            <a:ext cx="2605672" cy="613305"/>
          </a:xfrm>
          <a:prstGeom prst="rect">
            <a:avLst/>
          </a:prstGeom>
          <a:solidFill>
            <a:schemeClr val="bg1">
              <a:lumMod val="9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Instance type details</a:t>
            </a:r>
            <a:endParaRPr lang="en-US" sz="1800" dirty="0"/>
          </a:p>
        </p:txBody>
      </p:sp>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721CF36B-C007-48BE-A211-36E6E97F3BD0}"/>
                  </a:ext>
                </a:extLst>
              </p14:cNvPr>
              <p14:cNvContentPartPr/>
              <p14:nvPr/>
            </p14:nvContentPartPr>
            <p14:xfrm>
              <a:off x="3089520" y="4223880"/>
              <a:ext cx="563040" cy="134280"/>
            </p14:xfrm>
          </p:contentPart>
        </mc:Choice>
        <mc:Fallback xmlns="">
          <p:pic>
            <p:nvPicPr>
              <p:cNvPr id="7" name="Ink 6">
                <a:extLst>
                  <a:ext uri="{FF2B5EF4-FFF2-40B4-BE49-F238E27FC236}">
                    <a16:creationId xmlns:a16="http://schemas.microsoft.com/office/drawing/2014/main" id="{721CF36B-C007-48BE-A211-36E6E97F3BD0}"/>
                  </a:ext>
                </a:extLst>
              </p:cNvPr>
              <p:cNvPicPr/>
              <p:nvPr/>
            </p:nvPicPr>
            <p:blipFill>
              <a:blip r:embed="rId10"/>
              <a:stretch>
                <a:fillRect/>
              </a:stretch>
            </p:blipFill>
            <p:spPr>
              <a:xfrm>
                <a:off x="3080160" y="4214520"/>
                <a:ext cx="581760" cy="153000"/>
              </a:xfrm>
              <a:prstGeom prst="rect">
                <a:avLst/>
              </a:prstGeom>
            </p:spPr>
          </p:pic>
        </mc:Fallback>
      </mc:AlternateContent>
    </p:spTree>
    <p:custDataLst>
      <p:tags r:id="rId1"/>
    </p:custDataLst>
    <p:extLst>
      <p:ext uri="{BB962C8B-B14F-4D97-AF65-F5344CB8AC3E}">
        <p14:creationId xmlns:p14="http://schemas.microsoft.com/office/powerpoint/2010/main" val="3332426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86C32-A663-C14D-B3FB-2ECC7C5A18D0}"/>
              </a:ext>
            </a:extLst>
          </p:cNvPr>
          <p:cNvSpPr>
            <a:spLocks noGrp="1"/>
          </p:cNvSpPr>
          <p:nvPr>
            <p:ph type="title"/>
          </p:nvPr>
        </p:nvSpPr>
        <p:spPr/>
        <p:txBody>
          <a:bodyPr/>
          <a:lstStyle/>
          <a:p>
            <a:r>
              <a:rPr lang="en-US" dirty="0"/>
              <a:t>Instance types: Networking features</a:t>
            </a:r>
          </a:p>
        </p:txBody>
      </p:sp>
      <p:sp>
        <p:nvSpPr>
          <p:cNvPr id="5" name="Content Placeholder 4">
            <a:extLst>
              <a:ext uri="{FF2B5EF4-FFF2-40B4-BE49-F238E27FC236}">
                <a16:creationId xmlns:a16="http://schemas.microsoft.com/office/drawing/2014/main" id="{1534AA6B-5585-0846-BA9B-453EBFB931D5}"/>
              </a:ext>
            </a:extLst>
          </p:cNvPr>
          <p:cNvSpPr>
            <a:spLocks noGrp="1"/>
          </p:cNvSpPr>
          <p:nvPr>
            <p:ph idx="1"/>
          </p:nvPr>
        </p:nvSpPr>
        <p:spPr>
          <a:xfrm>
            <a:off x="419100" y="1528175"/>
            <a:ext cx="11353800" cy="4648788"/>
          </a:xfrm>
        </p:spPr>
        <p:txBody>
          <a:bodyPr/>
          <a:lstStyle/>
          <a:p>
            <a:r>
              <a:rPr lang="en-US" sz="2400" dirty="0"/>
              <a:t>The network bandwidth (Gbps) varies by instance type.</a:t>
            </a:r>
          </a:p>
          <a:p>
            <a:pPr lvl="1"/>
            <a:r>
              <a:rPr lang="en-US" sz="2000" dirty="0"/>
              <a:t>See </a:t>
            </a:r>
            <a:r>
              <a:rPr lang="en-US" sz="2000" dirty="0">
                <a:hlinkClick r:id="rId4"/>
              </a:rPr>
              <a:t>Amazon EC2 Instance Types </a:t>
            </a:r>
            <a:r>
              <a:rPr lang="en-US" sz="2000" dirty="0"/>
              <a:t>to compare.</a:t>
            </a:r>
          </a:p>
          <a:p>
            <a:r>
              <a:rPr lang="en-US" sz="2400" dirty="0"/>
              <a:t>To maximize networking and bandwidth performance of your instance type:</a:t>
            </a:r>
          </a:p>
          <a:p>
            <a:pPr lvl="1"/>
            <a:r>
              <a:rPr lang="en-US" sz="2000" dirty="0"/>
              <a:t>If you have interdependent instances, launch them into a </a:t>
            </a:r>
            <a:r>
              <a:rPr lang="en-US" sz="2000" b="1" dirty="0">
                <a:solidFill>
                  <a:schemeClr val="accent5"/>
                </a:solidFill>
              </a:rPr>
              <a:t>cluster placement group</a:t>
            </a:r>
            <a:r>
              <a:rPr lang="en-US" sz="2000" dirty="0"/>
              <a:t>.</a:t>
            </a:r>
          </a:p>
          <a:p>
            <a:pPr lvl="1"/>
            <a:r>
              <a:rPr lang="en-US" sz="2000" dirty="0"/>
              <a:t>Enable enhanced networking. </a:t>
            </a:r>
          </a:p>
          <a:p>
            <a:r>
              <a:rPr lang="en-US" sz="2400" dirty="0"/>
              <a:t>Enhanced networking types are supported on most instance types.</a:t>
            </a:r>
          </a:p>
          <a:p>
            <a:pPr lvl="1"/>
            <a:r>
              <a:rPr lang="en-US" sz="2000" dirty="0"/>
              <a:t>See the </a:t>
            </a:r>
            <a:r>
              <a:rPr lang="en-US" sz="2000" dirty="0">
                <a:hlinkClick r:id="rId5"/>
              </a:rPr>
              <a:t>Networking and Storage Features</a:t>
            </a:r>
            <a:r>
              <a:rPr lang="en-US" sz="2000" dirty="0"/>
              <a:t> documentation for details.</a:t>
            </a:r>
          </a:p>
          <a:p>
            <a:r>
              <a:rPr lang="en-US" sz="2400" dirty="0"/>
              <a:t>Enhanced networking types – </a:t>
            </a:r>
          </a:p>
          <a:p>
            <a:pPr lvl="1"/>
            <a:r>
              <a:rPr lang="en-US" sz="2000" b="1" dirty="0">
                <a:solidFill>
                  <a:schemeClr val="accent5"/>
                </a:solidFill>
              </a:rPr>
              <a:t>Elastic Network Adapter (ENA): </a:t>
            </a:r>
            <a:r>
              <a:rPr lang="en-US" sz="2000" dirty="0"/>
              <a:t>Supports network speeds of up to 100 Gbps.</a:t>
            </a:r>
          </a:p>
          <a:p>
            <a:pPr lvl="1"/>
            <a:r>
              <a:rPr lang="en-US" sz="2000" b="1" dirty="0">
                <a:solidFill>
                  <a:schemeClr val="accent5"/>
                </a:solidFill>
              </a:rPr>
              <a:t>Intel 82599 Virtual Function interface: </a:t>
            </a:r>
            <a:r>
              <a:rPr lang="en-US" sz="2000" dirty="0"/>
              <a:t>Supports network speeds of up to 10 Gbps.</a:t>
            </a:r>
          </a:p>
          <a:p>
            <a:endParaRPr lang="en-US" sz="2400" dirty="0"/>
          </a:p>
          <a:p>
            <a:endParaRPr lang="en-US" sz="2400" dirty="0"/>
          </a:p>
        </p:txBody>
      </p:sp>
      <p:sp>
        <p:nvSpPr>
          <p:cNvPr id="3" name="Slide Number Placeholder 2">
            <a:extLst>
              <a:ext uri="{FF2B5EF4-FFF2-40B4-BE49-F238E27FC236}">
                <a16:creationId xmlns:a16="http://schemas.microsoft.com/office/drawing/2014/main" id="{16415660-59B9-0B40-8EB4-FCFA4FAD4445}"/>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16</a:t>
            </a:fld>
            <a:endParaRPr lang="en-US" dirty="0"/>
          </a:p>
        </p:txBody>
      </p:sp>
      <p:sp>
        <p:nvSpPr>
          <p:cNvPr id="4" name="Footer Placeholder 3">
            <a:extLst>
              <a:ext uri="{FF2B5EF4-FFF2-40B4-BE49-F238E27FC236}">
                <a16:creationId xmlns:a16="http://schemas.microsoft.com/office/drawing/2014/main" id="{2713A40A-A475-024F-ADA5-0CA68335087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532284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3. Specify network settings</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17</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20769" y="1557799"/>
            <a:ext cx="7673843" cy="4470253"/>
          </a:xfrm>
        </p:spPr>
        <p:txBody>
          <a:bodyPr/>
          <a:lstStyle/>
          <a:p>
            <a:r>
              <a:rPr lang="en-US" sz="2000" dirty="0"/>
              <a:t>Where should the instance be deployed? </a:t>
            </a:r>
          </a:p>
          <a:p>
            <a:pPr lvl="1"/>
            <a:r>
              <a:rPr lang="en-US" sz="1800" dirty="0"/>
              <a:t>Identify the </a:t>
            </a:r>
            <a:r>
              <a:rPr lang="en-US" sz="1800" b="1" dirty="0">
                <a:solidFill>
                  <a:schemeClr val="accent5"/>
                </a:solidFill>
              </a:rPr>
              <a:t>VPC</a:t>
            </a:r>
            <a:r>
              <a:rPr lang="en-US" sz="1800" dirty="0"/>
              <a:t> and optionally the </a:t>
            </a:r>
            <a:r>
              <a:rPr lang="en-US" sz="1800" b="1" dirty="0">
                <a:solidFill>
                  <a:schemeClr val="accent5"/>
                </a:solidFill>
              </a:rPr>
              <a:t>subnet</a:t>
            </a:r>
            <a:endParaRPr lang="en-US" sz="1600" b="1" dirty="0">
              <a:solidFill>
                <a:schemeClr val="accent5"/>
              </a:solidFill>
            </a:endParaRPr>
          </a:p>
          <a:p>
            <a:r>
              <a:rPr lang="en-US" sz="2000" dirty="0"/>
              <a:t>Should a </a:t>
            </a:r>
            <a:r>
              <a:rPr lang="en-US" sz="2000" b="1" dirty="0">
                <a:solidFill>
                  <a:schemeClr val="accent5"/>
                </a:solidFill>
              </a:rPr>
              <a:t>public IP address</a:t>
            </a:r>
            <a:r>
              <a:rPr lang="en-US" sz="2000" dirty="0"/>
              <a:t> be automatically assigned?</a:t>
            </a:r>
          </a:p>
          <a:p>
            <a:pPr lvl="1"/>
            <a:r>
              <a:rPr lang="en-US" sz="1800" dirty="0"/>
              <a:t>To make it internet-accessible</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3" name="Group 2" descr="architectural diagram showing that an instance was deployed in a public subnet in a VPC in AZ1 in a particular region.">
            <a:extLst>
              <a:ext uri="{FF2B5EF4-FFF2-40B4-BE49-F238E27FC236}">
                <a16:creationId xmlns:a16="http://schemas.microsoft.com/office/drawing/2014/main" id="{9C812D3B-DC06-F44F-A55A-CFAE4B6472DA}"/>
              </a:ext>
            </a:extLst>
          </p:cNvPr>
          <p:cNvGrpSpPr/>
          <p:nvPr/>
        </p:nvGrpSpPr>
        <p:grpSpPr>
          <a:xfrm>
            <a:off x="3958882" y="3141712"/>
            <a:ext cx="6509465" cy="3321233"/>
            <a:chOff x="3958882" y="3141712"/>
            <a:chExt cx="6509465" cy="3321233"/>
          </a:xfrm>
        </p:grpSpPr>
        <p:grpSp>
          <p:nvGrpSpPr>
            <p:cNvPr id="28" name="Group 27">
              <a:extLst>
                <a:ext uri="{FF2B5EF4-FFF2-40B4-BE49-F238E27FC236}">
                  <a16:creationId xmlns:a16="http://schemas.microsoft.com/office/drawing/2014/main" id="{4E1E8520-ABE7-CE43-A9F1-F1F4F143427A}"/>
                </a:ext>
              </a:extLst>
            </p:cNvPr>
            <p:cNvGrpSpPr/>
            <p:nvPr/>
          </p:nvGrpSpPr>
          <p:grpSpPr>
            <a:xfrm>
              <a:off x="6071552" y="3141712"/>
              <a:ext cx="4396795" cy="3321233"/>
              <a:chOff x="1814433" y="1837766"/>
              <a:chExt cx="4396795" cy="3321233"/>
            </a:xfrm>
          </p:grpSpPr>
          <p:sp>
            <p:nvSpPr>
              <p:cNvPr id="29" name="Rectangle 28">
                <a:extLst>
                  <a:ext uri="{FF2B5EF4-FFF2-40B4-BE49-F238E27FC236}">
                    <a16:creationId xmlns:a16="http://schemas.microsoft.com/office/drawing/2014/main" id="{AAC9C977-A33F-DD40-88FA-3DCB66DC5CAE}"/>
                  </a:ext>
                </a:extLst>
              </p:cNvPr>
              <p:cNvSpPr/>
              <p:nvPr/>
            </p:nvSpPr>
            <p:spPr>
              <a:xfrm>
                <a:off x="2348313" y="2783673"/>
                <a:ext cx="3617589" cy="1955593"/>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ln w="0"/>
                    <a:solidFill>
                      <a:schemeClr val="accent5"/>
                    </a:solidFill>
                  </a:rPr>
                  <a:t>VPC</a:t>
                </a:r>
              </a:p>
            </p:txBody>
          </p:sp>
          <p:sp>
            <p:nvSpPr>
              <p:cNvPr id="30" name="Rectangle 29">
                <a:extLst>
                  <a:ext uri="{FF2B5EF4-FFF2-40B4-BE49-F238E27FC236}">
                    <a16:creationId xmlns:a16="http://schemas.microsoft.com/office/drawing/2014/main" id="{12A5AF53-D605-DD4B-8559-6F8F5EB39F66}"/>
                  </a:ext>
                </a:extLst>
              </p:cNvPr>
              <p:cNvSpPr/>
              <p:nvPr/>
            </p:nvSpPr>
            <p:spPr>
              <a:xfrm>
                <a:off x="1814433" y="1837766"/>
                <a:ext cx="4396795" cy="33212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AWS Cloud</a:t>
                </a:r>
              </a:p>
            </p:txBody>
          </p:sp>
          <p:sp>
            <p:nvSpPr>
              <p:cNvPr id="31" name="Rectangle 30">
                <a:extLst>
                  <a:ext uri="{FF2B5EF4-FFF2-40B4-BE49-F238E27FC236}">
                    <a16:creationId xmlns:a16="http://schemas.microsoft.com/office/drawing/2014/main" id="{466D2EDB-63E9-DD41-97E3-EFFBF7198E7A}"/>
                  </a:ext>
                </a:extLst>
              </p:cNvPr>
              <p:cNvSpPr/>
              <p:nvPr/>
            </p:nvSpPr>
            <p:spPr>
              <a:xfrm>
                <a:off x="2663964" y="2461490"/>
                <a:ext cx="1602882" cy="2378138"/>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chemeClr val="accent3"/>
                    </a:solidFill>
                  </a:rPr>
                  <a:t>Availability Zone 1</a:t>
                </a:r>
              </a:p>
            </p:txBody>
          </p:sp>
          <p:pic>
            <p:nvPicPr>
              <p:cNvPr id="32" name="Graphic 31">
                <a:extLst>
                  <a:ext uri="{FF2B5EF4-FFF2-40B4-BE49-F238E27FC236}">
                    <a16:creationId xmlns:a16="http://schemas.microsoft.com/office/drawing/2014/main" id="{71EA166C-D64F-1F4E-B3C2-3D748AEA48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14433" y="1837766"/>
                <a:ext cx="277535" cy="277535"/>
              </a:xfrm>
              <a:prstGeom prst="rect">
                <a:avLst/>
              </a:prstGeom>
            </p:spPr>
          </p:pic>
          <p:pic>
            <p:nvPicPr>
              <p:cNvPr id="33" name="Graphic 32">
                <a:extLst>
                  <a:ext uri="{FF2B5EF4-FFF2-40B4-BE49-F238E27FC236}">
                    <a16:creationId xmlns:a16="http://schemas.microsoft.com/office/drawing/2014/main" id="{0B1501F4-AD0B-4A40-8C97-AC1E2135C7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48313" y="2783673"/>
                <a:ext cx="277535" cy="277535"/>
              </a:xfrm>
              <a:prstGeom prst="rect">
                <a:avLst/>
              </a:prstGeom>
            </p:spPr>
          </p:pic>
          <p:sp>
            <p:nvSpPr>
              <p:cNvPr id="34" name="Rectangle 33">
                <a:extLst>
                  <a:ext uri="{FF2B5EF4-FFF2-40B4-BE49-F238E27FC236}">
                    <a16:creationId xmlns:a16="http://schemas.microsoft.com/office/drawing/2014/main" id="{C57F04B8-7C55-1F4A-A9AC-73E93897EC7E}"/>
                  </a:ext>
                </a:extLst>
              </p:cNvPr>
              <p:cNvSpPr/>
              <p:nvPr/>
            </p:nvSpPr>
            <p:spPr>
              <a:xfrm>
                <a:off x="4384628" y="2461489"/>
                <a:ext cx="1485100" cy="23781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chemeClr val="accent3"/>
                    </a:solidFill>
                  </a:rPr>
                  <a:t>Availability Zone 2</a:t>
                </a:r>
              </a:p>
            </p:txBody>
          </p:sp>
          <p:pic>
            <p:nvPicPr>
              <p:cNvPr id="35" name="Graphic 34">
                <a:extLst>
                  <a:ext uri="{FF2B5EF4-FFF2-40B4-BE49-F238E27FC236}">
                    <a16:creationId xmlns:a16="http://schemas.microsoft.com/office/drawing/2014/main" id="{94FC23A4-BF5D-C149-B612-3784B38E92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26820" y="3371310"/>
                <a:ext cx="394953" cy="394953"/>
              </a:xfrm>
              <a:prstGeom prst="rect">
                <a:avLst/>
              </a:prstGeom>
            </p:spPr>
          </p:pic>
          <p:sp>
            <p:nvSpPr>
              <p:cNvPr id="36" name="TextBox 35">
                <a:extLst>
                  <a:ext uri="{FF2B5EF4-FFF2-40B4-BE49-F238E27FC236}">
                    <a16:creationId xmlns:a16="http://schemas.microsoft.com/office/drawing/2014/main" id="{D2CD9111-3B04-8F40-8DE9-2DF14061E583}"/>
                  </a:ext>
                </a:extLst>
              </p:cNvPr>
              <p:cNvSpPr txBox="1"/>
              <p:nvPr/>
            </p:nvSpPr>
            <p:spPr>
              <a:xfrm>
                <a:off x="2781746" y="3790403"/>
                <a:ext cx="1485100" cy="276999"/>
              </a:xfrm>
              <a:prstGeom prst="rect">
                <a:avLst/>
              </a:prstGeom>
              <a:noFill/>
            </p:spPr>
            <p:txBody>
              <a:bodyPr wrap="square" rtlCol="0">
                <a:spAutoFit/>
              </a:bodyPr>
              <a:lstStyle/>
              <a:p>
                <a:pPr algn="ctr"/>
                <a:r>
                  <a:rPr lang="en-US" sz="1200" dirty="0">
                    <a:solidFill>
                      <a:srgbClr val="232F3E"/>
                    </a:solidFill>
                  </a:rPr>
                  <a:t>Instance</a:t>
                </a:r>
              </a:p>
            </p:txBody>
          </p:sp>
          <p:sp>
            <p:nvSpPr>
              <p:cNvPr id="37" name="Rectangle 36">
                <a:extLst>
                  <a:ext uri="{FF2B5EF4-FFF2-40B4-BE49-F238E27FC236}">
                    <a16:creationId xmlns:a16="http://schemas.microsoft.com/office/drawing/2014/main" id="{775DD1B9-F9C8-D240-924B-52CEDC746E3C}"/>
                  </a:ext>
                </a:extLst>
              </p:cNvPr>
              <p:cNvSpPr/>
              <p:nvPr/>
            </p:nvSpPr>
            <p:spPr>
              <a:xfrm>
                <a:off x="2748294" y="3109633"/>
                <a:ext cx="1406263" cy="942380"/>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5"/>
                    </a:solidFill>
                  </a:rPr>
                  <a:t>Public subnet</a:t>
                </a:r>
              </a:p>
            </p:txBody>
          </p:sp>
          <p:sp>
            <p:nvSpPr>
              <p:cNvPr id="38" name="Rectangle 37">
                <a:extLst>
                  <a:ext uri="{FF2B5EF4-FFF2-40B4-BE49-F238E27FC236}">
                    <a16:creationId xmlns:a16="http://schemas.microsoft.com/office/drawing/2014/main" id="{197B3237-777F-154C-9545-6BB566D10E62}"/>
                  </a:ext>
                </a:extLst>
              </p:cNvPr>
              <p:cNvSpPr/>
              <p:nvPr/>
            </p:nvSpPr>
            <p:spPr>
              <a:xfrm>
                <a:off x="2768305" y="4088447"/>
                <a:ext cx="1406263" cy="561106"/>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pic>
            <p:nvPicPr>
              <p:cNvPr id="39" name="Graphic 38">
                <a:extLst>
                  <a:ext uri="{FF2B5EF4-FFF2-40B4-BE49-F238E27FC236}">
                    <a16:creationId xmlns:a16="http://schemas.microsoft.com/office/drawing/2014/main" id="{6A4DA338-5DEC-A549-87E6-C3008455FC6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68305" y="3107275"/>
                <a:ext cx="274320" cy="274320"/>
              </a:xfrm>
              <a:prstGeom prst="rect">
                <a:avLst/>
              </a:prstGeom>
            </p:spPr>
          </p:pic>
          <p:pic>
            <p:nvPicPr>
              <p:cNvPr id="40" name="Graphic 39">
                <a:extLst>
                  <a:ext uri="{FF2B5EF4-FFF2-40B4-BE49-F238E27FC236}">
                    <a16:creationId xmlns:a16="http://schemas.microsoft.com/office/drawing/2014/main" id="{CF4839DE-0636-E041-83E5-4F7A80284ED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68305" y="4114005"/>
                <a:ext cx="274320" cy="274320"/>
              </a:xfrm>
              <a:prstGeom prst="rect">
                <a:avLst/>
              </a:prstGeom>
            </p:spPr>
          </p:pic>
          <p:sp>
            <p:nvSpPr>
              <p:cNvPr id="41" name="Rectangle 40">
                <a:extLst>
                  <a:ext uri="{FF2B5EF4-FFF2-40B4-BE49-F238E27FC236}">
                    <a16:creationId xmlns:a16="http://schemas.microsoft.com/office/drawing/2014/main" id="{5B6DAFA9-25CE-0243-930F-732ADEB24A44}"/>
                  </a:ext>
                </a:extLst>
              </p:cNvPr>
              <p:cNvSpPr/>
              <p:nvPr/>
            </p:nvSpPr>
            <p:spPr>
              <a:xfrm>
                <a:off x="2091969" y="2152185"/>
                <a:ext cx="4004031" cy="2843561"/>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chemeClr val="accent3"/>
                    </a:solidFill>
                  </a:rPr>
                  <a:t>Region</a:t>
                </a:r>
              </a:p>
            </p:txBody>
          </p:sp>
          <p:pic>
            <p:nvPicPr>
              <p:cNvPr id="42" name="Graphic 41">
                <a:extLst>
                  <a:ext uri="{FF2B5EF4-FFF2-40B4-BE49-F238E27FC236}">
                    <a16:creationId xmlns:a16="http://schemas.microsoft.com/office/drawing/2014/main" id="{0E115595-8F5D-4F43-B9D4-5A7BC1A34DA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091968" y="2152185"/>
                <a:ext cx="274320" cy="274320"/>
              </a:xfrm>
              <a:prstGeom prst="rect">
                <a:avLst/>
              </a:prstGeom>
            </p:spPr>
          </p:pic>
        </p:grpSp>
        <p:cxnSp>
          <p:nvCxnSpPr>
            <p:cNvPr id="5" name="Straight Arrow Connector 4">
              <a:extLst>
                <a:ext uri="{FF2B5EF4-FFF2-40B4-BE49-F238E27FC236}">
                  <a16:creationId xmlns:a16="http://schemas.microsoft.com/office/drawing/2014/main" id="{279BB43B-3CF8-9B48-ACC6-E290F779AF30}"/>
                </a:ext>
              </a:extLst>
            </p:cNvPr>
            <p:cNvCxnSpPr>
              <a:cxnSpLocks/>
            </p:cNvCxnSpPr>
            <p:nvPr/>
          </p:nvCxnSpPr>
          <p:spPr>
            <a:xfrm>
              <a:off x="5694561" y="4898748"/>
              <a:ext cx="184477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6B70C7F-23C0-B74E-B16C-A0AF6DDB8DF5}"/>
                </a:ext>
              </a:extLst>
            </p:cNvPr>
            <p:cNvSpPr txBox="1"/>
            <p:nvPr/>
          </p:nvSpPr>
          <p:spPr>
            <a:xfrm>
              <a:off x="3958882" y="4483250"/>
              <a:ext cx="1665721" cy="830997"/>
            </a:xfrm>
            <a:prstGeom prst="rect">
              <a:avLst/>
            </a:prstGeom>
            <a:noFill/>
          </p:spPr>
          <p:txBody>
            <a:bodyPr wrap="square" rtlCol="0">
              <a:spAutoFit/>
            </a:bodyPr>
            <a:lstStyle/>
            <a:p>
              <a:pPr algn="r"/>
              <a:r>
                <a:rPr lang="en-US" sz="1600" i="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Example</a:t>
              </a:r>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 specify to deploy the instance here</a:t>
              </a:r>
            </a:p>
          </p:txBody>
        </p:sp>
      </p:grpSp>
      <p:sp>
        <p:nvSpPr>
          <p:cNvPr id="43" name="Content Placeholder 8">
            <a:extLst>
              <a:ext uri="{FF2B5EF4-FFF2-40B4-BE49-F238E27FC236}">
                <a16:creationId xmlns:a16="http://schemas.microsoft.com/office/drawing/2014/main" id="{38A53F34-AFD8-5F4A-AA38-128CCCB9675F}"/>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solidFill>
                  <a:schemeClr val="accent6"/>
                </a:solidFill>
              </a:rPr>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3640669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4. Attach IAM role (optional)</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18</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93706" y="1533082"/>
            <a:ext cx="7588694" cy="2894695"/>
          </a:xfrm>
        </p:spPr>
        <p:txBody>
          <a:bodyPr/>
          <a:lstStyle/>
          <a:p>
            <a:r>
              <a:rPr lang="en-US" sz="2000" dirty="0"/>
              <a:t>Will software on the EC2 instance need to interact with other AWS services?</a:t>
            </a:r>
          </a:p>
          <a:p>
            <a:pPr lvl="1"/>
            <a:r>
              <a:rPr lang="en-US" sz="2000" dirty="0"/>
              <a:t>If yes, attach an appropriate </a:t>
            </a:r>
            <a:r>
              <a:rPr lang="en-US" sz="2000" b="1" dirty="0">
                <a:solidFill>
                  <a:schemeClr val="accent5"/>
                </a:solidFill>
              </a:rPr>
              <a:t>IAM Role</a:t>
            </a:r>
            <a:r>
              <a:rPr lang="en-US" sz="2000" dirty="0"/>
              <a:t>.</a:t>
            </a:r>
            <a:endParaRPr lang="en-US" sz="1600" dirty="0"/>
          </a:p>
          <a:p>
            <a:r>
              <a:rPr lang="en-US" sz="2000" dirty="0"/>
              <a:t>An AWS Identity and Access Management (IAM) role that is attached to an EC2 instance is kept in an </a:t>
            </a:r>
            <a:r>
              <a:rPr lang="en-US" sz="2000" b="1" dirty="0">
                <a:solidFill>
                  <a:schemeClr val="accent5"/>
                </a:solidFill>
              </a:rPr>
              <a:t>instance profile</a:t>
            </a:r>
            <a:r>
              <a:rPr lang="en-US" sz="2000" dirty="0"/>
              <a:t>.</a:t>
            </a:r>
            <a:endParaRPr lang="en-US" dirty="0"/>
          </a:p>
          <a:p>
            <a:r>
              <a:rPr lang="en-US" sz="2000" dirty="0"/>
              <a:t>You are </a:t>
            </a:r>
            <a:r>
              <a:rPr lang="en-US" sz="2000" i="1" dirty="0"/>
              <a:t>not</a:t>
            </a:r>
            <a:r>
              <a:rPr lang="en-US" sz="2000" dirty="0"/>
              <a:t> restricted to attaching a role only at instance launch.</a:t>
            </a:r>
          </a:p>
          <a:p>
            <a:pPr lvl="1"/>
            <a:r>
              <a:rPr lang="en-US" sz="2000" dirty="0"/>
              <a:t>You can also attach a role to an instance that already exists.</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27" name="Group 26" descr="diagram showing that a role granting S3 bucket access is attached to an instance and that as a result,an application on that instance can access an S3 bucket with objects in it.">
            <a:extLst>
              <a:ext uri="{FF2B5EF4-FFF2-40B4-BE49-F238E27FC236}">
                <a16:creationId xmlns:a16="http://schemas.microsoft.com/office/drawing/2014/main" id="{4FEB46E4-FB1F-1345-A983-91C05634C2DC}"/>
              </a:ext>
            </a:extLst>
          </p:cNvPr>
          <p:cNvGrpSpPr/>
          <p:nvPr/>
        </p:nvGrpSpPr>
        <p:grpSpPr>
          <a:xfrm>
            <a:off x="4217178" y="4546773"/>
            <a:ext cx="5983824" cy="1758140"/>
            <a:chOff x="4324283" y="1904556"/>
            <a:chExt cx="5983824" cy="1758140"/>
          </a:xfrm>
        </p:grpSpPr>
        <p:pic>
          <p:nvPicPr>
            <p:cNvPr id="14" name="Graphic 13">
              <a:extLst>
                <a:ext uri="{FF2B5EF4-FFF2-40B4-BE49-F238E27FC236}">
                  <a16:creationId xmlns:a16="http://schemas.microsoft.com/office/drawing/2014/main" id="{B423AD71-FDEE-D249-A7BC-6F2812E0EE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0397" y="2228705"/>
              <a:ext cx="469900" cy="469900"/>
            </a:xfrm>
            <a:prstGeom prst="rect">
              <a:avLst/>
            </a:prstGeom>
          </p:spPr>
        </p:pic>
        <p:pic>
          <p:nvPicPr>
            <p:cNvPr id="15" name="Graphic 14">
              <a:extLst>
                <a:ext uri="{FF2B5EF4-FFF2-40B4-BE49-F238E27FC236}">
                  <a16:creationId xmlns:a16="http://schemas.microsoft.com/office/drawing/2014/main" id="{CE7FF3D1-9458-324D-A3B0-04052565E1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77101" y="2164472"/>
              <a:ext cx="606130" cy="606130"/>
            </a:xfrm>
            <a:prstGeom prst="rect">
              <a:avLst/>
            </a:prstGeom>
          </p:spPr>
        </p:pic>
        <p:sp>
          <p:nvSpPr>
            <p:cNvPr id="16" name="TextBox 15">
              <a:extLst>
                <a:ext uri="{FF2B5EF4-FFF2-40B4-BE49-F238E27FC236}">
                  <a16:creationId xmlns:a16="http://schemas.microsoft.com/office/drawing/2014/main" id="{CBFB5091-DCC2-604E-9867-127093E114BF}"/>
                </a:ext>
              </a:extLst>
            </p:cNvPr>
            <p:cNvSpPr txBox="1"/>
            <p:nvPr/>
          </p:nvSpPr>
          <p:spPr>
            <a:xfrm>
              <a:off x="6902315" y="2800777"/>
              <a:ext cx="1513305" cy="338554"/>
            </a:xfrm>
            <a:prstGeom prst="rect">
              <a:avLst/>
            </a:prstGeom>
            <a:noFill/>
          </p:spPr>
          <p:txBody>
            <a:bodyPr wrap="square" rtlCol="0">
              <a:spAutoFit/>
            </a:bodyPr>
            <a:lstStyle/>
            <a:p>
              <a:pPr algn="ctr"/>
              <a:r>
                <a:rPr lang="en-US" sz="1600" dirty="0"/>
                <a:t>Instance</a:t>
              </a:r>
            </a:p>
          </p:txBody>
        </p:sp>
        <p:sp>
          <p:nvSpPr>
            <p:cNvPr id="17" name="TextBox 16">
              <a:extLst>
                <a:ext uri="{FF2B5EF4-FFF2-40B4-BE49-F238E27FC236}">
                  <a16:creationId xmlns:a16="http://schemas.microsoft.com/office/drawing/2014/main" id="{509C5BA9-960B-7443-A8B9-05E218CF09D0}"/>
                </a:ext>
              </a:extLst>
            </p:cNvPr>
            <p:cNvSpPr txBox="1"/>
            <p:nvPr/>
          </p:nvSpPr>
          <p:spPr>
            <a:xfrm>
              <a:off x="4324283" y="2585478"/>
              <a:ext cx="2507360" cy="1077218"/>
            </a:xfrm>
            <a:prstGeom prst="rect">
              <a:avLst/>
            </a:prstGeom>
            <a:noFill/>
          </p:spPr>
          <p:txBody>
            <a:bodyPr wrap="square" rtlCol="0">
              <a:spAutoFit/>
            </a:bodyPr>
            <a:lstStyle/>
            <a:p>
              <a:pPr algn="ctr"/>
              <a:r>
                <a:rPr lang="en-US" sz="1600" dirty="0"/>
                <a:t>Role that grants Amazon Simple Storage Service (Amazon S3) bucket access permissions</a:t>
              </a:r>
            </a:p>
          </p:txBody>
        </p:sp>
        <p:sp>
          <p:nvSpPr>
            <p:cNvPr id="19" name="TextBox 18">
              <a:extLst>
                <a:ext uri="{FF2B5EF4-FFF2-40B4-BE49-F238E27FC236}">
                  <a16:creationId xmlns:a16="http://schemas.microsoft.com/office/drawing/2014/main" id="{527766CA-DB76-C94F-9D41-0D81EE24EC6C}"/>
                </a:ext>
              </a:extLst>
            </p:cNvPr>
            <p:cNvSpPr txBox="1"/>
            <p:nvPr/>
          </p:nvSpPr>
          <p:spPr>
            <a:xfrm>
              <a:off x="5920292" y="2145400"/>
              <a:ext cx="1357643" cy="338554"/>
            </a:xfrm>
            <a:prstGeom prst="rect">
              <a:avLst/>
            </a:prstGeom>
            <a:noFill/>
          </p:spPr>
          <p:txBody>
            <a:bodyPr wrap="square" rtlCol="0">
              <a:spAutoFit/>
            </a:bodyPr>
            <a:lstStyle/>
            <a:p>
              <a:pPr algn="ctr"/>
              <a:r>
                <a:rPr lang="en-US" sz="1600" dirty="0"/>
                <a:t>attached to</a:t>
              </a:r>
            </a:p>
          </p:txBody>
        </p:sp>
        <p:pic>
          <p:nvPicPr>
            <p:cNvPr id="20" name="Graphic 19">
              <a:extLst>
                <a:ext uri="{FF2B5EF4-FFF2-40B4-BE49-F238E27FC236}">
                  <a16:creationId xmlns:a16="http://schemas.microsoft.com/office/drawing/2014/main" id="{F60A4D16-82B4-8944-A27F-6DC46AF3973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09581" y="2183069"/>
              <a:ext cx="469900" cy="469900"/>
            </a:xfrm>
            <a:prstGeom prst="rect">
              <a:avLst/>
            </a:prstGeom>
          </p:spPr>
        </p:pic>
        <p:sp>
          <p:nvSpPr>
            <p:cNvPr id="21" name="TextBox 20">
              <a:extLst>
                <a:ext uri="{FF2B5EF4-FFF2-40B4-BE49-F238E27FC236}">
                  <a16:creationId xmlns:a16="http://schemas.microsoft.com/office/drawing/2014/main" id="{51672240-44FD-D543-B0E6-891EF38A67D9}"/>
                </a:ext>
              </a:extLst>
            </p:cNvPr>
            <p:cNvSpPr txBox="1"/>
            <p:nvPr/>
          </p:nvSpPr>
          <p:spPr>
            <a:xfrm>
              <a:off x="8976241" y="2692886"/>
              <a:ext cx="1331866" cy="584775"/>
            </a:xfrm>
            <a:prstGeom prst="rect">
              <a:avLst/>
            </a:prstGeom>
            <a:noFill/>
          </p:spPr>
          <p:txBody>
            <a:bodyPr wrap="square" rtlCol="0">
              <a:spAutoFit/>
            </a:bodyPr>
            <a:lstStyle/>
            <a:p>
              <a:pPr algn="ctr"/>
              <a:r>
                <a:rPr lang="en-US" sz="1600" dirty="0"/>
                <a:t>S3 bucket with objects</a:t>
              </a:r>
            </a:p>
          </p:txBody>
        </p:sp>
        <p:sp>
          <p:nvSpPr>
            <p:cNvPr id="22" name="TextBox 21">
              <a:extLst>
                <a:ext uri="{FF2B5EF4-FFF2-40B4-BE49-F238E27FC236}">
                  <a16:creationId xmlns:a16="http://schemas.microsoft.com/office/drawing/2014/main" id="{794260F2-50AC-1840-B4EF-B73C5C7A3246}"/>
                </a:ext>
              </a:extLst>
            </p:cNvPr>
            <p:cNvSpPr txBox="1"/>
            <p:nvPr/>
          </p:nvSpPr>
          <p:spPr>
            <a:xfrm>
              <a:off x="7838556" y="1904556"/>
              <a:ext cx="1571025" cy="830997"/>
            </a:xfrm>
            <a:prstGeom prst="rect">
              <a:avLst/>
            </a:prstGeom>
            <a:noFill/>
          </p:spPr>
          <p:txBody>
            <a:bodyPr wrap="square" rtlCol="0">
              <a:spAutoFit/>
            </a:bodyPr>
            <a:lstStyle/>
            <a:p>
              <a:pPr algn="ctr"/>
              <a:r>
                <a:rPr lang="en-US" sz="1600" dirty="0"/>
                <a:t>Application on instance can access</a:t>
              </a:r>
            </a:p>
          </p:txBody>
        </p:sp>
        <p:cxnSp>
          <p:nvCxnSpPr>
            <p:cNvPr id="23" name="Straight Arrow Connector 22">
              <a:extLst>
                <a:ext uri="{FF2B5EF4-FFF2-40B4-BE49-F238E27FC236}">
                  <a16:creationId xmlns:a16="http://schemas.microsoft.com/office/drawing/2014/main" id="{9E2401F5-961D-1646-9327-9BE58A1E0D48}"/>
                </a:ext>
              </a:extLst>
            </p:cNvPr>
            <p:cNvCxnSpPr/>
            <p:nvPr/>
          </p:nvCxnSpPr>
          <p:spPr>
            <a:xfrm>
              <a:off x="8065666" y="2457344"/>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69F9BD-7004-E14A-A887-6EF2EFAF4DD7}"/>
                </a:ext>
              </a:extLst>
            </p:cNvPr>
            <p:cNvCxnSpPr/>
            <p:nvPr/>
          </p:nvCxnSpPr>
          <p:spPr>
            <a:xfrm>
              <a:off x="6019391" y="2463655"/>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477951E5-B6D5-5D43-9ED8-0EE53C136CFB}"/>
              </a:ext>
            </a:extLst>
          </p:cNvPr>
          <p:cNvSpPr txBox="1"/>
          <p:nvPr/>
        </p:nvSpPr>
        <p:spPr>
          <a:xfrm>
            <a:off x="3985971" y="4533048"/>
            <a:ext cx="1096775" cy="369332"/>
          </a:xfrm>
          <a:prstGeom prst="rect">
            <a:avLst/>
          </a:prstGeom>
          <a:noFill/>
        </p:spPr>
        <p:txBody>
          <a:bodyPr wrap="none" rtlCol="0">
            <a:spAutoFit/>
          </a:bodyPr>
          <a:lstStyle/>
          <a:p>
            <a:r>
              <a:rPr lang="en-US"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sp>
        <p:nvSpPr>
          <p:cNvPr id="29" name="Content Placeholder 8">
            <a:extLst>
              <a:ext uri="{FF2B5EF4-FFF2-40B4-BE49-F238E27FC236}">
                <a16:creationId xmlns:a16="http://schemas.microsoft.com/office/drawing/2014/main" id="{26D72DF9-E758-9A46-87CE-99ABF4279B56}"/>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solidFill>
                  <a:schemeClr val="accent6"/>
                </a:solidFill>
              </a:rPr>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391647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5. User data script (optional)</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19</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3849095"/>
            <a:ext cx="7510134" cy="2309661"/>
          </a:xfrm>
        </p:spPr>
        <p:txBody>
          <a:bodyPr/>
          <a:lstStyle/>
          <a:p>
            <a:r>
              <a:rPr lang="en-US" sz="2000" dirty="0"/>
              <a:t>Optionally specify a user data script at instance launch </a:t>
            </a:r>
          </a:p>
          <a:p>
            <a:r>
              <a:rPr lang="en-US" sz="2000" dirty="0"/>
              <a:t>Use </a:t>
            </a:r>
            <a:r>
              <a:rPr lang="en-US" sz="2000" b="1" dirty="0">
                <a:solidFill>
                  <a:schemeClr val="accent5"/>
                </a:solidFill>
              </a:rPr>
              <a:t>user data </a:t>
            </a:r>
            <a:r>
              <a:rPr lang="en-US" sz="2000" dirty="0"/>
              <a:t>scripts</a:t>
            </a:r>
            <a:r>
              <a:rPr lang="en-US" sz="2000" b="1" dirty="0">
                <a:solidFill>
                  <a:schemeClr val="accent5"/>
                </a:solidFill>
              </a:rPr>
              <a:t> </a:t>
            </a:r>
            <a:r>
              <a:rPr lang="en-US" sz="2000" dirty="0"/>
              <a:t>to customize the runtime environment of your instance</a:t>
            </a:r>
          </a:p>
          <a:p>
            <a:pPr lvl="1"/>
            <a:r>
              <a:rPr lang="en-US" sz="1800" dirty="0">
                <a:solidFill>
                  <a:schemeClr val="accent6"/>
                </a:solidFill>
              </a:rPr>
              <a:t>Script runs the first time the instance starts</a:t>
            </a:r>
            <a:endParaRPr lang="en-US" sz="1600" dirty="0"/>
          </a:p>
          <a:p>
            <a:r>
              <a:rPr lang="en-US" sz="2000" dirty="0"/>
              <a:t>Can be used strategically</a:t>
            </a:r>
          </a:p>
          <a:p>
            <a:pPr lvl="1"/>
            <a:r>
              <a:rPr lang="en-US" sz="1800" dirty="0"/>
              <a:t>For example, reduce the number of custom AMIs that you build and maintain</a:t>
            </a:r>
          </a:p>
          <a:p>
            <a:pPr marL="457200" lvl="1" indent="0">
              <a:buNone/>
            </a:pPr>
            <a:endParaRPr lang="en-US" sz="1800" dirty="0"/>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28" name="Group 27" descr="daigram showing an AMI on the left, with an arrow point to a running instance. The arrow shows a user data script on top of it with three lines of code (code discussed in the notes below this slide).">
            <a:extLst>
              <a:ext uri="{FF2B5EF4-FFF2-40B4-BE49-F238E27FC236}">
                <a16:creationId xmlns:a16="http://schemas.microsoft.com/office/drawing/2014/main" id="{83924710-65D2-8D4D-A75F-CFB2A561836F}"/>
              </a:ext>
            </a:extLst>
          </p:cNvPr>
          <p:cNvGrpSpPr/>
          <p:nvPr/>
        </p:nvGrpSpPr>
        <p:grpSpPr>
          <a:xfrm>
            <a:off x="4547317" y="1443189"/>
            <a:ext cx="6099091" cy="2106175"/>
            <a:chOff x="4547317" y="1443189"/>
            <a:chExt cx="6099091" cy="2106175"/>
          </a:xfrm>
        </p:grpSpPr>
        <p:cxnSp>
          <p:nvCxnSpPr>
            <p:cNvPr id="5" name="Straight Arrow Connector 4">
              <a:extLst>
                <a:ext uri="{FF2B5EF4-FFF2-40B4-BE49-F238E27FC236}">
                  <a16:creationId xmlns:a16="http://schemas.microsoft.com/office/drawing/2014/main" id="{7CFA2A0A-6DAB-3D48-96C0-18EA633610B6}"/>
                </a:ext>
              </a:extLst>
            </p:cNvPr>
            <p:cNvCxnSpPr>
              <a:cxnSpLocks/>
            </p:cNvCxnSpPr>
            <p:nvPr/>
          </p:nvCxnSpPr>
          <p:spPr>
            <a:xfrm flipV="1">
              <a:off x="5646970" y="2393518"/>
              <a:ext cx="3660924" cy="3583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36C2FA-C4DB-5844-B150-219C79B96997}"/>
                </a:ext>
              </a:extLst>
            </p:cNvPr>
            <p:cNvSpPr txBox="1"/>
            <p:nvPr/>
          </p:nvSpPr>
          <p:spPr>
            <a:xfrm>
              <a:off x="4547317" y="2892927"/>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AMI</a:t>
              </a:r>
            </a:p>
          </p:txBody>
        </p:sp>
        <p:sp>
          <p:nvSpPr>
            <p:cNvPr id="24" name="TextBox 23">
              <a:extLst>
                <a:ext uri="{FF2B5EF4-FFF2-40B4-BE49-F238E27FC236}">
                  <a16:creationId xmlns:a16="http://schemas.microsoft.com/office/drawing/2014/main" id="{D56F5C00-4102-DA47-81E6-825B32C6ACA1}"/>
                </a:ext>
              </a:extLst>
            </p:cNvPr>
            <p:cNvSpPr txBox="1"/>
            <p:nvPr/>
          </p:nvSpPr>
          <p:spPr>
            <a:xfrm>
              <a:off x="8914201" y="2841478"/>
              <a:ext cx="1732207" cy="707886"/>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Running </a:t>
              </a:r>
              <a:br>
                <a:rPr lang="en-US" sz="2000" dirty="0">
                  <a:latin typeface="Amazon Ember" panose="020B0603020204020204" pitchFamily="34" charset="0"/>
                  <a:ea typeface="Amazon Ember" panose="020B0603020204020204" pitchFamily="34" charset="0"/>
                  <a:cs typeface="Amazon Ember" panose="020B0603020204020204" pitchFamily="34" charset="0"/>
                </a:rPr>
              </a:br>
              <a:r>
                <a:rPr lang="en-US" sz="2000" dirty="0">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20" name="Rectangle 19">
              <a:extLst>
                <a:ext uri="{FF2B5EF4-FFF2-40B4-BE49-F238E27FC236}">
                  <a16:creationId xmlns:a16="http://schemas.microsoft.com/office/drawing/2014/main" id="{DA350BEB-22F6-6C4A-AC8E-8A2160DF44E9}"/>
                </a:ext>
              </a:extLst>
            </p:cNvPr>
            <p:cNvSpPr/>
            <p:nvPr/>
          </p:nvSpPr>
          <p:spPr>
            <a:xfrm>
              <a:off x="5948320" y="1855014"/>
              <a:ext cx="2920568" cy="1402165"/>
            </a:xfrm>
            <a:prstGeom prst="rect">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1" name="TextBox 20">
              <a:extLst>
                <a:ext uri="{FF2B5EF4-FFF2-40B4-BE49-F238E27FC236}">
                  <a16:creationId xmlns:a16="http://schemas.microsoft.com/office/drawing/2014/main" id="{65DEB42B-78C8-5A40-B224-42AF44F844F5}"/>
                </a:ext>
              </a:extLst>
            </p:cNvPr>
            <p:cNvSpPr txBox="1"/>
            <p:nvPr/>
          </p:nvSpPr>
          <p:spPr>
            <a:xfrm>
              <a:off x="6641138" y="1443189"/>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User data</a:t>
              </a:r>
            </a:p>
          </p:txBody>
        </p:sp>
        <p:sp>
          <p:nvSpPr>
            <p:cNvPr id="22" name="Rectangle 21">
              <a:extLst>
                <a:ext uri="{FF2B5EF4-FFF2-40B4-BE49-F238E27FC236}">
                  <a16:creationId xmlns:a16="http://schemas.microsoft.com/office/drawing/2014/main" id="{02DACCA5-FEE5-9D4C-A485-D17CBCA823E0}"/>
                </a:ext>
              </a:extLst>
            </p:cNvPr>
            <p:cNvSpPr/>
            <p:nvPr/>
          </p:nvSpPr>
          <p:spPr>
            <a:xfrm>
              <a:off x="6127833" y="1913362"/>
              <a:ext cx="2600309" cy="1159933"/>
            </a:xfrm>
            <a:prstGeom prst="rect">
              <a:avLst/>
            </a:prstGeom>
          </p:spPr>
          <p:txBody>
            <a:bodyPr wrap="square">
              <a:spAutoFit/>
            </a:bodyPr>
            <a:lstStyle/>
            <a:p>
              <a:pPr>
                <a:lnSpc>
                  <a:spcPct val="150000"/>
                </a:lnSpc>
              </a:pPr>
              <a:r>
                <a:rPr lang="en-US" sz="1600" dirty="0">
                  <a:latin typeface="Lucida Console" panose="020B0609040504020204" pitchFamily="49" charset="0"/>
                  <a:cs typeface="Courier New" panose="02070309020205020404" pitchFamily="49" charset="0"/>
                </a:rPr>
                <a:t>#!/bin/bash</a:t>
              </a:r>
            </a:p>
            <a:p>
              <a:pPr>
                <a:lnSpc>
                  <a:spcPct val="150000"/>
                </a:lnSpc>
              </a:pPr>
              <a:r>
                <a:rPr lang="en-US" sz="1600" dirty="0">
                  <a:latin typeface="Lucida Console" panose="020B0609040504020204" pitchFamily="49" charset="0"/>
                  <a:cs typeface="Courier New" panose="02070309020205020404" pitchFamily="49" charset="0"/>
                </a:rPr>
                <a:t>yum update –y</a:t>
              </a:r>
            </a:p>
            <a:p>
              <a:pPr>
                <a:lnSpc>
                  <a:spcPct val="150000"/>
                </a:lnSpc>
              </a:pPr>
              <a:r>
                <a:rPr lang="en-US" sz="1600" dirty="0">
                  <a:latin typeface="Lucida Console" panose="020B0609040504020204" pitchFamily="49" charset="0"/>
                  <a:cs typeface="Courier New" panose="02070309020205020404" pitchFamily="49" charset="0"/>
                </a:rPr>
                <a:t>yum install -y wget</a:t>
              </a:r>
            </a:p>
          </p:txBody>
        </p:sp>
        <p:pic>
          <p:nvPicPr>
            <p:cNvPr id="25" name="Graphic 24">
              <a:extLst>
                <a:ext uri="{FF2B5EF4-FFF2-40B4-BE49-F238E27FC236}">
                  <a16:creationId xmlns:a16="http://schemas.microsoft.com/office/drawing/2014/main" id="{F6F4CFBE-6043-774D-A7FD-97F357C81A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4732" y="2008229"/>
              <a:ext cx="842238" cy="842238"/>
            </a:xfrm>
            <a:prstGeom prst="rect">
              <a:avLst/>
            </a:prstGeom>
          </p:spPr>
        </p:pic>
        <p:pic>
          <p:nvPicPr>
            <p:cNvPr id="26" name="Graphic 25">
              <a:extLst>
                <a:ext uri="{FF2B5EF4-FFF2-40B4-BE49-F238E27FC236}">
                  <a16:creationId xmlns:a16="http://schemas.microsoft.com/office/drawing/2014/main" id="{67A70AD0-1CED-F749-8727-5BC28B2B2C2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07894" y="1967853"/>
              <a:ext cx="851329" cy="851329"/>
            </a:xfrm>
            <a:prstGeom prst="rect">
              <a:avLst/>
            </a:prstGeom>
          </p:spPr>
        </p:pic>
      </p:grpSp>
      <p:sp>
        <p:nvSpPr>
          <p:cNvPr id="29" name="Content Placeholder 8">
            <a:extLst>
              <a:ext uri="{FF2B5EF4-FFF2-40B4-BE49-F238E27FC236}">
                <a16:creationId xmlns:a16="http://schemas.microsoft.com/office/drawing/2014/main" id="{A9A63986-A567-A74D-96CD-227FBA564A9E}"/>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solidFill>
                  <a:schemeClr val="accent6"/>
                </a:solidFill>
              </a:rPr>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242864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6. Specify storage</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20</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1524228"/>
            <a:ext cx="6767748" cy="4648788"/>
          </a:xfrm>
        </p:spPr>
        <p:txBody>
          <a:bodyPr/>
          <a:lstStyle/>
          <a:p>
            <a:pPr marL="287338" indent="-268288"/>
            <a:r>
              <a:rPr lang="en-US" sz="2400" dirty="0"/>
              <a:t>Configure the </a:t>
            </a:r>
            <a:r>
              <a:rPr lang="en-US" sz="2400" dirty="0">
                <a:solidFill>
                  <a:schemeClr val="accent6"/>
                </a:solidFill>
              </a:rPr>
              <a:t>root volume</a:t>
            </a:r>
          </a:p>
          <a:p>
            <a:pPr marL="744538" lvl="1" indent="-268288"/>
            <a:r>
              <a:rPr lang="en-US" sz="2000" dirty="0"/>
              <a:t> Where the guest operating system is installed</a:t>
            </a:r>
          </a:p>
          <a:p>
            <a:pPr marL="287338" indent="-268288"/>
            <a:r>
              <a:rPr lang="en-US" sz="2400" dirty="0"/>
              <a:t>Attach </a:t>
            </a:r>
            <a:r>
              <a:rPr lang="en-US" sz="2400" dirty="0">
                <a:solidFill>
                  <a:schemeClr val="accent6"/>
                </a:solidFill>
              </a:rPr>
              <a:t>additional storage volumes</a:t>
            </a:r>
            <a:r>
              <a:rPr lang="en-US" sz="2400" dirty="0"/>
              <a:t> (optional)</a:t>
            </a:r>
          </a:p>
          <a:p>
            <a:pPr marL="744538" lvl="1" indent="-268288"/>
            <a:r>
              <a:rPr lang="en-US" sz="2000" dirty="0"/>
              <a:t>AMI might already include more than one volume</a:t>
            </a:r>
          </a:p>
          <a:p>
            <a:pPr marL="287338" indent="-268288"/>
            <a:r>
              <a:rPr lang="en-US" sz="2400" dirty="0"/>
              <a:t>For each volume, specify:</a:t>
            </a:r>
          </a:p>
          <a:p>
            <a:pPr marL="744538" lvl="1" indent="-268288"/>
            <a:r>
              <a:rPr lang="en-US" sz="2000" dirty="0"/>
              <a:t>The </a:t>
            </a:r>
            <a:r>
              <a:rPr lang="en-US" sz="2000" b="1" dirty="0">
                <a:solidFill>
                  <a:schemeClr val="accent5"/>
                </a:solidFill>
              </a:rPr>
              <a:t>size</a:t>
            </a:r>
            <a:r>
              <a:rPr lang="en-US" sz="2000" dirty="0"/>
              <a:t> of the disk (in GB)</a:t>
            </a:r>
          </a:p>
          <a:p>
            <a:pPr marL="744538" lvl="1" indent="-268288"/>
            <a:r>
              <a:rPr lang="en-US" sz="2000" dirty="0"/>
              <a:t>The </a:t>
            </a:r>
            <a:r>
              <a:rPr lang="en-US" sz="2000" b="1" dirty="0">
                <a:solidFill>
                  <a:schemeClr val="accent5"/>
                </a:solidFill>
              </a:rPr>
              <a:t>volume type</a:t>
            </a:r>
          </a:p>
          <a:p>
            <a:pPr marL="1201738" lvl="2" indent="-268288"/>
            <a:r>
              <a:rPr lang="en-US" sz="1800" dirty="0"/>
              <a:t>Different types of solid state drives (SSDs) and hard disk drives (HDDs) are available</a:t>
            </a:r>
          </a:p>
          <a:p>
            <a:pPr marL="744538" lvl="1" indent="-268288"/>
            <a:r>
              <a:rPr lang="en-US" sz="2000" dirty="0"/>
              <a:t>If the volume will be deleted when the instance is terminated</a:t>
            </a:r>
          </a:p>
          <a:p>
            <a:pPr marL="744538" lvl="1" indent="-268288"/>
            <a:r>
              <a:rPr lang="en-US" sz="2000" dirty="0"/>
              <a:t>If </a:t>
            </a:r>
            <a:r>
              <a:rPr lang="en-US" sz="2000" b="1" dirty="0">
                <a:solidFill>
                  <a:schemeClr val="accent5"/>
                </a:solidFill>
              </a:rPr>
              <a:t>encryption</a:t>
            </a:r>
            <a:r>
              <a:rPr lang="en-US" sz="2000" dirty="0"/>
              <a:t> should be used</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16" name="Graphic 15">
            <a:extLst>
              <a:ext uri="{FF2B5EF4-FFF2-40B4-BE49-F238E27FC236}">
                <a16:creationId xmlns:a16="http://schemas.microsoft.com/office/drawing/2014/main" id="{37277187-0CBC-3647-A0AB-8E468DECC8D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99668" y="1524228"/>
            <a:ext cx="914400" cy="914400"/>
          </a:xfrm>
          <a:prstGeom prst="rect">
            <a:avLst/>
          </a:prstGeom>
        </p:spPr>
      </p:pic>
      <p:pic>
        <p:nvPicPr>
          <p:cNvPr id="17" name="Graphic 16">
            <a:extLst>
              <a:ext uri="{FF2B5EF4-FFF2-40B4-BE49-F238E27FC236}">
                <a16:creationId xmlns:a16="http://schemas.microsoft.com/office/drawing/2014/main" id="{FCE0DB5B-3CBC-FB4B-B0A8-3607409136A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53348" y="2700248"/>
            <a:ext cx="807039" cy="807039"/>
          </a:xfrm>
          <a:prstGeom prst="rect">
            <a:avLst/>
          </a:prstGeom>
        </p:spPr>
      </p:pic>
      <p:sp>
        <p:nvSpPr>
          <p:cNvPr id="20" name="Content Placeholder 8">
            <a:extLst>
              <a:ext uri="{FF2B5EF4-FFF2-40B4-BE49-F238E27FC236}">
                <a16:creationId xmlns:a16="http://schemas.microsoft.com/office/drawing/2014/main" id="{52E825D5-0043-8F4A-B6CC-635D30D85B49}"/>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solidFill>
                  <a:schemeClr val="accent6"/>
                </a:solidFill>
              </a:rPr>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2549876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90F2-CAB3-DC42-A9E1-3388BB0E2AFA}"/>
              </a:ext>
            </a:extLst>
          </p:cNvPr>
          <p:cNvSpPr>
            <a:spLocks noGrp="1"/>
          </p:cNvSpPr>
          <p:nvPr>
            <p:ph type="title"/>
          </p:nvPr>
        </p:nvSpPr>
        <p:spPr/>
        <p:txBody>
          <a:bodyPr/>
          <a:lstStyle/>
          <a:p>
            <a:r>
              <a:rPr lang="en-US" dirty="0"/>
              <a:t>Amazon EC2 storage options</a:t>
            </a:r>
          </a:p>
        </p:txBody>
      </p:sp>
      <p:sp>
        <p:nvSpPr>
          <p:cNvPr id="12" name="Content Placeholder 11">
            <a:extLst>
              <a:ext uri="{FF2B5EF4-FFF2-40B4-BE49-F238E27FC236}">
                <a16:creationId xmlns:a16="http://schemas.microsoft.com/office/drawing/2014/main" id="{E6B637D2-1856-B04F-89E5-B08E36BF3D36}"/>
              </a:ext>
            </a:extLst>
          </p:cNvPr>
          <p:cNvSpPr>
            <a:spLocks noGrp="1"/>
          </p:cNvSpPr>
          <p:nvPr>
            <p:ph idx="1"/>
          </p:nvPr>
        </p:nvSpPr>
        <p:spPr>
          <a:xfrm>
            <a:off x="419100" y="1528175"/>
            <a:ext cx="8482853" cy="4648788"/>
          </a:xfrm>
        </p:spPr>
        <p:txBody>
          <a:bodyPr/>
          <a:lstStyle/>
          <a:p>
            <a:r>
              <a:rPr lang="en-US" sz="2400" b="1" dirty="0">
                <a:solidFill>
                  <a:schemeClr val="accent5"/>
                </a:solidFill>
              </a:rPr>
              <a:t>Amazon Elastic Block Store (Amazon EBS) – </a:t>
            </a:r>
          </a:p>
          <a:p>
            <a:pPr lvl="1"/>
            <a:r>
              <a:rPr lang="en-US" sz="2000" dirty="0">
                <a:solidFill>
                  <a:schemeClr val="accent6"/>
                </a:solidFill>
              </a:rPr>
              <a:t>Durable</a:t>
            </a:r>
            <a:r>
              <a:rPr lang="en-US" sz="2000" dirty="0"/>
              <a:t>, block-level storage volumes.</a:t>
            </a:r>
          </a:p>
          <a:p>
            <a:pPr lvl="1"/>
            <a:r>
              <a:rPr lang="en-US" sz="2000" dirty="0"/>
              <a:t>You can stop the instance and start it again, and the data will still be there.</a:t>
            </a:r>
          </a:p>
          <a:p>
            <a:r>
              <a:rPr lang="en-US" sz="2400" b="1" dirty="0">
                <a:solidFill>
                  <a:schemeClr val="accent5"/>
                </a:solidFill>
              </a:rPr>
              <a:t>Amazon EC2 Instance Store – </a:t>
            </a:r>
          </a:p>
          <a:p>
            <a:pPr lvl="1"/>
            <a:r>
              <a:rPr lang="en-US" sz="2000" dirty="0">
                <a:solidFill>
                  <a:schemeClr val="accent6"/>
                </a:solidFill>
              </a:rPr>
              <a:t>Ephemeral</a:t>
            </a:r>
            <a:r>
              <a:rPr lang="en-US" sz="2000" dirty="0"/>
              <a:t> storage is provided on disks that are attached to the host computer where the EC2 instance is running.</a:t>
            </a:r>
          </a:p>
          <a:p>
            <a:pPr lvl="1"/>
            <a:r>
              <a:rPr lang="en-US" sz="2000" dirty="0">
                <a:solidFill>
                  <a:schemeClr val="accent6"/>
                </a:solidFill>
              </a:rPr>
              <a:t>If the instance stops, data stored here is deleted.</a:t>
            </a:r>
          </a:p>
          <a:p>
            <a:r>
              <a:rPr lang="en-US" sz="2400" dirty="0"/>
              <a:t>Other options for storage (not for the root volume) – </a:t>
            </a:r>
          </a:p>
          <a:p>
            <a:pPr lvl="1"/>
            <a:r>
              <a:rPr lang="en-US" sz="2000" dirty="0"/>
              <a:t>Mount an </a:t>
            </a:r>
            <a:r>
              <a:rPr lang="en-US" sz="2000" b="1" dirty="0">
                <a:solidFill>
                  <a:schemeClr val="accent5"/>
                </a:solidFill>
              </a:rPr>
              <a:t>Amazon Elastic File System (Amazon EFS) </a:t>
            </a:r>
            <a:r>
              <a:rPr lang="en-US" sz="2000" dirty="0"/>
              <a:t>file system.</a:t>
            </a:r>
          </a:p>
          <a:p>
            <a:pPr lvl="1"/>
            <a:r>
              <a:rPr lang="en-US" sz="2000" dirty="0"/>
              <a:t>Connect to </a:t>
            </a:r>
            <a:r>
              <a:rPr lang="en-US" sz="2000" b="1" dirty="0">
                <a:solidFill>
                  <a:schemeClr val="accent5"/>
                </a:solidFill>
              </a:rPr>
              <a:t>Amazon Simple Storage Service (Amazon S3)</a:t>
            </a:r>
            <a:r>
              <a:rPr lang="en-US" sz="2000" dirty="0"/>
              <a:t>.</a:t>
            </a:r>
            <a:r>
              <a:rPr lang="en-US" sz="2000" b="1" dirty="0">
                <a:solidFill>
                  <a:schemeClr val="accent5"/>
                </a:solidFill>
              </a:rPr>
              <a:t> </a:t>
            </a:r>
          </a:p>
        </p:txBody>
      </p:sp>
      <p:sp>
        <p:nvSpPr>
          <p:cNvPr id="4" name="Slide Number Placeholder 3">
            <a:extLst>
              <a:ext uri="{FF2B5EF4-FFF2-40B4-BE49-F238E27FC236}">
                <a16:creationId xmlns:a16="http://schemas.microsoft.com/office/drawing/2014/main" id="{AF648993-4880-6148-880D-2AE1FFA1A63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21</a:t>
            </a:fld>
            <a:endParaRPr lang="en-US" dirty="0"/>
          </a:p>
        </p:txBody>
      </p:sp>
      <p:sp>
        <p:nvSpPr>
          <p:cNvPr id="6" name="Footer Placeholder 5">
            <a:extLst>
              <a:ext uri="{FF2B5EF4-FFF2-40B4-BE49-F238E27FC236}">
                <a16:creationId xmlns:a16="http://schemas.microsoft.com/office/drawing/2014/main" id="{F9353EEE-5C74-0047-94FB-08D4F1D2BBA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716333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C8C114-ECD1-8C41-9770-E099B38577DC}"/>
              </a:ext>
            </a:extLst>
          </p:cNvPr>
          <p:cNvSpPr>
            <a:spLocks noGrp="1"/>
          </p:cNvSpPr>
          <p:nvPr>
            <p:ph type="title"/>
          </p:nvPr>
        </p:nvSpPr>
        <p:spPr/>
        <p:txBody>
          <a:bodyPr/>
          <a:lstStyle/>
          <a:p>
            <a:r>
              <a:rPr lang="en-US" dirty="0"/>
              <a:t>Example storage options</a:t>
            </a:r>
          </a:p>
        </p:txBody>
      </p:sp>
      <p:sp>
        <p:nvSpPr>
          <p:cNvPr id="50" name="Content Placeholder 49">
            <a:extLst>
              <a:ext uri="{FF2B5EF4-FFF2-40B4-BE49-F238E27FC236}">
                <a16:creationId xmlns:a16="http://schemas.microsoft.com/office/drawing/2014/main" id="{F48E2713-88E9-AA43-99F3-73BB63424EAE}"/>
              </a:ext>
            </a:extLst>
          </p:cNvPr>
          <p:cNvSpPr>
            <a:spLocks noGrp="1"/>
          </p:cNvSpPr>
          <p:nvPr>
            <p:ph idx="1"/>
          </p:nvPr>
        </p:nvSpPr>
        <p:spPr>
          <a:xfrm>
            <a:off x="419100" y="1528175"/>
            <a:ext cx="4123989" cy="4375084"/>
          </a:xfrm>
        </p:spPr>
        <p:txBody>
          <a:bodyPr/>
          <a:lstStyle/>
          <a:p>
            <a:r>
              <a:rPr lang="en-US" sz="2400" b="1" dirty="0">
                <a:solidFill>
                  <a:schemeClr val="accent5"/>
                </a:solidFill>
              </a:rPr>
              <a:t>Instance 1</a:t>
            </a:r>
            <a:r>
              <a:rPr lang="en-US" sz="2400" dirty="0"/>
              <a:t> characteristics – </a:t>
            </a:r>
          </a:p>
          <a:p>
            <a:pPr lvl="1"/>
            <a:r>
              <a:rPr lang="en-US" sz="1800" dirty="0"/>
              <a:t>It has an </a:t>
            </a:r>
            <a:r>
              <a:rPr lang="en-US" sz="1800" b="1" dirty="0"/>
              <a:t>Amazon EBS</a:t>
            </a:r>
            <a:r>
              <a:rPr lang="en-US" sz="1800" dirty="0"/>
              <a:t> </a:t>
            </a:r>
            <a:r>
              <a:rPr lang="en-US" sz="1800" i="1" dirty="0"/>
              <a:t>root volume</a:t>
            </a:r>
            <a:r>
              <a:rPr lang="en-US" sz="1800" dirty="0"/>
              <a:t> type for the operating system.</a:t>
            </a:r>
          </a:p>
          <a:p>
            <a:pPr lvl="1"/>
            <a:r>
              <a:rPr lang="en-US" sz="1800" dirty="0">
                <a:solidFill>
                  <a:schemeClr val="accent6"/>
                </a:solidFill>
              </a:rPr>
              <a:t>What will happen if the instance is stopped and then started again?</a:t>
            </a:r>
          </a:p>
          <a:p>
            <a:pPr marL="457200" lvl="1" indent="0">
              <a:buNone/>
            </a:pPr>
            <a:endParaRPr lang="en-US" sz="1800" dirty="0"/>
          </a:p>
          <a:p>
            <a:r>
              <a:rPr lang="en-US" sz="2400" b="1" dirty="0">
                <a:solidFill>
                  <a:schemeClr val="accent5"/>
                </a:solidFill>
              </a:rPr>
              <a:t>Instance 2</a:t>
            </a:r>
            <a:r>
              <a:rPr lang="en-US" sz="2400" dirty="0"/>
              <a:t> characteristics – </a:t>
            </a:r>
          </a:p>
          <a:p>
            <a:pPr lvl="1"/>
            <a:r>
              <a:rPr lang="en-US" sz="1800" dirty="0"/>
              <a:t>It has an </a:t>
            </a:r>
            <a:r>
              <a:rPr lang="en-US" sz="1800" b="1" dirty="0"/>
              <a:t>Instance Store</a:t>
            </a:r>
            <a:r>
              <a:rPr lang="en-US" sz="1800" dirty="0"/>
              <a:t> </a:t>
            </a:r>
            <a:r>
              <a:rPr lang="en-US" sz="1800" i="1" dirty="0"/>
              <a:t>root volume</a:t>
            </a:r>
            <a:r>
              <a:rPr lang="en-US" sz="1800" dirty="0"/>
              <a:t> type for the operating system.</a:t>
            </a:r>
          </a:p>
          <a:p>
            <a:pPr lvl="1"/>
            <a:r>
              <a:rPr lang="en-US" sz="1800" dirty="0">
                <a:solidFill>
                  <a:schemeClr val="accent6"/>
                </a:solidFill>
              </a:rPr>
              <a:t>What will happen if the instance stops (because of user error or a system malfunction)?</a:t>
            </a:r>
          </a:p>
          <a:p>
            <a:pPr lvl="1"/>
            <a:endParaRPr lang="en-US" sz="1800" dirty="0">
              <a:solidFill>
                <a:schemeClr val="accent6"/>
              </a:solidFill>
            </a:endParaRPr>
          </a:p>
          <a:p>
            <a:pPr marL="457200" lvl="1" indent="0">
              <a:buNone/>
            </a:pPr>
            <a:endParaRPr lang="en-US" sz="1800" dirty="0">
              <a:solidFill>
                <a:schemeClr val="accent6"/>
              </a:solidFill>
            </a:endParaRPr>
          </a:p>
          <a:p>
            <a:pPr marL="457200" lvl="1" indent="0">
              <a:buNone/>
            </a:pPr>
            <a:endParaRPr lang="en-US" sz="1800" dirty="0">
              <a:solidFill>
                <a:schemeClr val="accent6"/>
              </a:solidFill>
            </a:endParaRPr>
          </a:p>
          <a:p>
            <a:pPr marL="457200" lvl="1" indent="0">
              <a:buNone/>
            </a:pPr>
            <a:endParaRPr lang="en-US" sz="1600" dirty="0">
              <a:solidFill>
                <a:schemeClr val="accent6"/>
              </a:solidFill>
            </a:endParaRPr>
          </a:p>
          <a:p>
            <a:pPr lvl="1"/>
            <a:endParaRPr lang="en-US" sz="1800" dirty="0"/>
          </a:p>
        </p:txBody>
      </p:sp>
      <p:sp>
        <p:nvSpPr>
          <p:cNvPr id="4" name="Slide Number Placeholder 3">
            <a:extLst>
              <a:ext uri="{FF2B5EF4-FFF2-40B4-BE49-F238E27FC236}">
                <a16:creationId xmlns:a16="http://schemas.microsoft.com/office/drawing/2014/main" id="{4D9885F5-4B4F-B347-B353-EF498C4B413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22</a:t>
            </a:fld>
            <a:endParaRPr lang="en-US" dirty="0"/>
          </a:p>
        </p:txBody>
      </p:sp>
      <p:sp>
        <p:nvSpPr>
          <p:cNvPr id="6" name="Footer Placeholder 5">
            <a:extLst>
              <a:ext uri="{FF2B5EF4-FFF2-40B4-BE49-F238E27FC236}">
                <a16:creationId xmlns:a16="http://schemas.microsoft.com/office/drawing/2014/main" id="{441B4785-0A41-E046-9C55-D9C305AF1A9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5" name="Group 4" descr="diagraming showing two EC2 instances and the storage types attached. Details of the diagram explained in notes below the slide."/>
          <p:cNvGrpSpPr/>
          <p:nvPr/>
        </p:nvGrpSpPr>
        <p:grpSpPr>
          <a:xfrm>
            <a:off x="4646089" y="1425628"/>
            <a:ext cx="7398740" cy="3913738"/>
            <a:chOff x="4646089" y="1030314"/>
            <a:chExt cx="7398740" cy="3913738"/>
          </a:xfrm>
        </p:grpSpPr>
        <p:pic>
          <p:nvPicPr>
            <p:cNvPr id="8" name="Graphic 7">
              <a:extLst>
                <a:ext uri="{FF2B5EF4-FFF2-40B4-BE49-F238E27FC236}">
                  <a16:creationId xmlns:a16="http://schemas.microsoft.com/office/drawing/2014/main" id="{9C348E62-6AEE-BE41-9116-AEE94C646D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4953" y="2076183"/>
              <a:ext cx="672352" cy="672352"/>
            </a:xfrm>
            <a:prstGeom prst="rect">
              <a:avLst/>
            </a:prstGeom>
          </p:spPr>
        </p:pic>
        <p:sp>
          <p:nvSpPr>
            <p:cNvPr id="9" name="TextBox 8">
              <a:extLst>
                <a:ext uri="{FF2B5EF4-FFF2-40B4-BE49-F238E27FC236}">
                  <a16:creationId xmlns:a16="http://schemas.microsoft.com/office/drawing/2014/main" id="{17E402FB-9089-074A-B6F2-686A75A5D42F}"/>
                </a:ext>
              </a:extLst>
            </p:cNvPr>
            <p:cNvSpPr txBox="1"/>
            <p:nvPr/>
          </p:nvSpPr>
          <p:spPr>
            <a:xfrm>
              <a:off x="7945939" y="2739869"/>
              <a:ext cx="1513305" cy="338554"/>
            </a:xfrm>
            <a:prstGeom prst="rect">
              <a:avLst/>
            </a:prstGeom>
            <a:noFill/>
          </p:spPr>
          <p:txBody>
            <a:bodyPr wrap="square" rtlCol="0">
              <a:spAutoFit/>
            </a:bodyPr>
            <a:lstStyle/>
            <a:p>
              <a:pPr algn="ctr"/>
              <a:r>
                <a:rPr lang="en-US" sz="16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Instance 1</a:t>
              </a:r>
            </a:p>
          </p:txBody>
        </p:sp>
        <p:sp>
          <p:nvSpPr>
            <p:cNvPr id="10" name="Rectangle 9">
              <a:extLst>
                <a:ext uri="{FF2B5EF4-FFF2-40B4-BE49-F238E27FC236}">
                  <a16:creationId xmlns:a16="http://schemas.microsoft.com/office/drawing/2014/main" id="{15B286F4-BAF3-AA47-B9F1-DFDD896CA257}"/>
                </a:ext>
              </a:extLst>
            </p:cNvPr>
            <p:cNvSpPr/>
            <p:nvPr/>
          </p:nvSpPr>
          <p:spPr>
            <a:xfrm>
              <a:off x="8130432" y="1035422"/>
              <a:ext cx="3914397" cy="3908630"/>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5A6B86"/>
                  </a:solidFill>
                </a:rPr>
                <a:t>Host computer</a:t>
              </a:r>
              <a:endParaRPr lang="en-US" sz="1200" dirty="0">
                <a:solidFill>
                  <a:srgbClr val="5A6B86"/>
                </a:solidFill>
              </a:endParaRPr>
            </a:p>
          </p:txBody>
        </p:sp>
        <p:pic>
          <p:nvPicPr>
            <p:cNvPr id="11" name="Graphic 10">
              <a:extLst>
                <a:ext uri="{FF2B5EF4-FFF2-40B4-BE49-F238E27FC236}">
                  <a16:creationId xmlns:a16="http://schemas.microsoft.com/office/drawing/2014/main" id="{C8BE35CD-AFC5-EE40-9192-10B767F5ED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30432" y="1030314"/>
              <a:ext cx="330200" cy="330200"/>
            </a:xfrm>
            <a:prstGeom prst="rect">
              <a:avLst/>
            </a:prstGeom>
          </p:spPr>
        </p:pic>
        <p:pic>
          <p:nvPicPr>
            <p:cNvPr id="12" name="Graphic 11">
              <a:extLst>
                <a:ext uri="{FF2B5EF4-FFF2-40B4-BE49-F238E27FC236}">
                  <a16:creationId xmlns:a16="http://schemas.microsoft.com/office/drawing/2014/main" id="{79E2D665-67E7-5F4C-8EEB-C38EFC715C0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47381" y="3607824"/>
              <a:ext cx="469900" cy="469900"/>
            </a:xfrm>
            <a:prstGeom prst="rect">
              <a:avLst/>
            </a:prstGeom>
          </p:spPr>
        </p:pic>
        <p:sp>
          <p:nvSpPr>
            <p:cNvPr id="13" name="TextBox 12">
              <a:extLst>
                <a:ext uri="{FF2B5EF4-FFF2-40B4-BE49-F238E27FC236}">
                  <a16:creationId xmlns:a16="http://schemas.microsoft.com/office/drawing/2014/main" id="{6CB884AC-F1C4-3444-9581-3F767E76AC58}"/>
                </a:ext>
              </a:extLst>
            </p:cNvPr>
            <p:cNvSpPr txBox="1"/>
            <p:nvPr/>
          </p:nvSpPr>
          <p:spPr>
            <a:xfrm>
              <a:off x="10325678" y="4090410"/>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 volume 2</a:t>
              </a:r>
            </a:p>
          </p:txBody>
        </p:sp>
        <p:pic>
          <p:nvPicPr>
            <p:cNvPr id="14" name="Graphic 13">
              <a:extLst>
                <a:ext uri="{FF2B5EF4-FFF2-40B4-BE49-F238E27FC236}">
                  <a16:creationId xmlns:a16="http://schemas.microsoft.com/office/drawing/2014/main" id="{546D10E0-AA14-294B-8355-A32076F31C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36665" y="2181259"/>
              <a:ext cx="469900" cy="469900"/>
            </a:xfrm>
            <a:prstGeom prst="rect">
              <a:avLst/>
            </a:prstGeom>
          </p:spPr>
        </p:pic>
        <p:sp>
          <p:nvSpPr>
            <p:cNvPr id="15" name="TextBox 14">
              <a:extLst>
                <a:ext uri="{FF2B5EF4-FFF2-40B4-BE49-F238E27FC236}">
                  <a16:creationId xmlns:a16="http://schemas.microsoft.com/office/drawing/2014/main" id="{1043D273-7A6E-B643-AAFE-3595E8448B03}"/>
                </a:ext>
              </a:extLst>
            </p:cNvPr>
            <p:cNvSpPr txBox="1"/>
            <p:nvPr/>
          </p:nvSpPr>
          <p:spPr>
            <a:xfrm>
              <a:off x="10292433" y="2664817"/>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 1</a:t>
              </a:r>
            </a:p>
          </p:txBody>
        </p:sp>
        <p:pic>
          <p:nvPicPr>
            <p:cNvPr id="17" name="Graphic 16">
              <a:extLst>
                <a:ext uri="{FF2B5EF4-FFF2-40B4-BE49-F238E27FC236}">
                  <a16:creationId xmlns:a16="http://schemas.microsoft.com/office/drawing/2014/main" id="{74037D1E-3047-9142-923A-DA6DDC03A3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4953" y="3509582"/>
              <a:ext cx="672352" cy="672352"/>
            </a:xfrm>
            <a:prstGeom prst="rect">
              <a:avLst/>
            </a:prstGeom>
          </p:spPr>
        </p:pic>
        <p:sp>
          <p:nvSpPr>
            <p:cNvPr id="18" name="TextBox 17">
              <a:extLst>
                <a:ext uri="{FF2B5EF4-FFF2-40B4-BE49-F238E27FC236}">
                  <a16:creationId xmlns:a16="http://schemas.microsoft.com/office/drawing/2014/main" id="{8DE82A41-344E-EA41-927D-295035A6E6EA}"/>
                </a:ext>
              </a:extLst>
            </p:cNvPr>
            <p:cNvSpPr txBox="1"/>
            <p:nvPr/>
          </p:nvSpPr>
          <p:spPr>
            <a:xfrm>
              <a:off x="7957279" y="4178950"/>
              <a:ext cx="1513305" cy="338554"/>
            </a:xfrm>
            <a:prstGeom prst="rect">
              <a:avLst/>
            </a:prstGeom>
            <a:noFill/>
          </p:spPr>
          <p:txBody>
            <a:bodyPr wrap="square" rtlCol="0">
              <a:spAutoFit/>
            </a:bodyPr>
            <a:lstStyle/>
            <a:p>
              <a:pPr algn="ctr"/>
              <a:r>
                <a:rPr lang="en-US" sz="16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Instance 2</a:t>
              </a:r>
            </a:p>
          </p:txBody>
        </p:sp>
        <p:sp>
          <p:nvSpPr>
            <p:cNvPr id="19" name="TextBox 18">
              <a:extLst>
                <a:ext uri="{FF2B5EF4-FFF2-40B4-BE49-F238E27FC236}">
                  <a16:creationId xmlns:a16="http://schemas.microsoft.com/office/drawing/2014/main" id="{2CFAB646-0BB6-D548-898C-B7157A295B8C}"/>
                </a:ext>
              </a:extLst>
            </p:cNvPr>
            <p:cNvSpPr txBox="1"/>
            <p:nvPr/>
          </p:nvSpPr>
          <p:spPr>
            <a:xfrm>
              <a:off x="4749012" y="1181559"/>
              <a:ext cx="1985781" cy="830997"/>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Amazon Elastic Block Store (Amazon EBS)</a:t>
              </a:r>
            </a:p>
          </p:txBody>
        </p:sp>
        <p:pic>
          <p:nvPicPr>
            <p:cNvPr id="20" name="Graphic 19">
              <a:extLst>
                <a:ext uri="{FF2B5EF4-FFF2-40B4-BE49-F238E27FC236}">
                  <a16:creationId xmlns:a16="http://schemas.microsoft.com/office/drawing/2014/main" id="{8EACB74C-5697-CF46-BF8B-3C41D71B9DE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46089" y="1168400"/>
              <a:ext cx="351800" cy="351800"/>
            </a:xfrm>
            <a:prstGeom prst="rect">
              <a:avLst/>
            </a:prstGeom>
          </p:spPr>
        </p:pic>
        <p:sp>
          <p:nvSpPr>
            <p:cNvPr id="21" name="TextBox 20">
              <a:extLst>
                <a:ext uri="{FF2B5EF4-FFF2-40B4-BE49-F238E27FC236}">
                  <a16:creationId xmlns:a16="http://schemas.microsoft.com/office/drawing/2014/main" id="{0EC1FC32-B8EB-A144-8FBE-66CF7F238C6B}"/>
                </a:ext>
              </a:extLst>
            </p:cNvPr>
            <p:cNvSpPr txBox="1"/>
            <p:nvPr/>
          </p:nvSpPr>
          <p:spPr>
            <a:xfrm>
              <a:off x="4874485" y="2713631"/>
              <a:ext cx="1569242"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20-GB volume</a:t>
              </a:r>
            </a:p>
          </p:txBody>
        </p:sp>
        <p:pic>
          <p:nvPicPr>
            <p:cNvPr id="22" name="Graphic 21">
              <a:extLst>
                <a:ext uri="{FF2B5EF4-FFF2-40B4-BE49-F238E27FC236}">
                  <a16:creationId xmlns:a16="http://schemas.microsoft.com/office/drawing/2014/main" id="{58157669-6C01-7741-AED5-109AB04335C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76279" y="2113872"/>
              <a:ext cx="584775" cy="584775"/>
            </a:xfrm>
            <a:prstGeom prst="rect">
              <a:avLst/>
            </a:prstGeom>
          </p:spPr>
        </p:pic>
        <p:sp>
          <p:nvSpPr>
            <p:cNvPr id="23" name="Rectangle 22">
              <a:extLst>
                <a:ext uri="{FF2B5EF4-FFF2-40B4-BE49-F238E27FC236}">
                  <a16:creationId xmlns:a16="http://schemas.microsoft.com/office/drawing/2014/main" id="{FF459F6B-E826-F740-904A-DCD2C1AAF024}"/>
                </a:ext>
              </a:extLst>
            </p:cNvPr>
            <p:cNvSpPr/>
            <p:nvPr/>
          </p:nvSpPr>
          <p:spPr>
            <a:xfrm>
              <a:off x="4646089" y="1168400"/>
              <a:ext cx="1985781" cy="2993640"/>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cxnSp>
          <p:nvCxnSpPr>
            <p:cNvPr id="25" name="Straight Arrow Connector 24">
              <a:extLst>
                <a:ext uri="{FF2B5EF4-FFF2-40B4-BE49-F238E27FC236}">
                  <a16:creationId xmlns:a16="http://schemas.microsoft.com/office/drawing/2014/main" id="{861C5961-50EF-4B47-A82F-BD137E38DE95}"/>
                </a:ext>
              </a:extLst>
            </p:cNvPr>
            <p:cNvCxnSpPr>
              <a:cxnSpLocks/>
              <a:stCxn id="22" idx="3"/>
              <a:endCxn id="8" idx="1"/>
            </p:cNvCxnSpPr>
            <p:nvPr/>
          </p:nvCxnSpPr>
          <p:spPr>
            <a:xfrm>
              <a:off x="5961054" y="2406260"/>
              <a:ext cx="2403899" cy="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635862D-EAED-6343-9121-CB1EE687AC36}"/>
                </a:ext>
              </a:extLst>
            </p:cNvPr>
            <p:cNvSpPr txBox="1"/>
            <p:nvPr/>
          </p:nvSpPr>
          <p:spPr>
            <a:xfrm>
              <a:off x="6552726" y="2127163"/>
              <a:ext cx="1335623"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27" name="TextBox 26">
              <a:extLst>
                <a:ext uri="{FF2B5EF4-FFF2-40B4-BE49-F238E27FC236}">
                  <a16:creationId xmlns:a16="http://schemas.microsoft.com/office/drawing/2014/main" id="{238D33CC-CE48-5447-844E-07565D418E86}"/>
                </a:ext>
              </a:extLst>
            </p:cNvPr>
            <p:cNvSpPr txBox="1"/>
            <p:nvPr/>
          </p:nvSpPr>
          <p:spPr>
            <a:xfrm>
              <a:off x="4834314" y="3792715"/>
              <a:ext cx="1604021"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500-GB volume</a:t>
              </a:r>
            </a:p>
          </p:txBody>
        </p:sp>
        <p:pic>
          <p:nvPicPr>
            <p:cNvPr id="28" name="Graphic 27">
              <a:extLst>
                <a:ext uri="{FF2B5EF4-FFF2-40B4-BE49-F238E27FC236}">
                  <a16:creationId xmlns:a16="http://schemas.microsoft.com/office/drawing/2014/main" id="{D233EE6A-D042-5942-8657-C5DBC12D23E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76278" y="3207940"/>
              <a:ext cx="584775" cy="584775"/>
            </a:xfrm>
            <a:prstGeom prst="rect">
              <a:avLst/>
            </a:prstGeom>
          </p:spPr>
        </p:pic>
        <p:cxnSp>
          <p:nvCxnSpPr>
            <p:cNvPr id="29" name="Straight Arrow Connector 28">
              <a:extLst>
                <a:ext uri="{FF2B5EF4-FFF2-40B4-BE49-F238E27FC236}">
                  <a16:creationId xmlns:a16="http://schemas.microsoft.com/office/drawing/2014/main" id="{CB1A6BFB-D990-244F-8CBB-6C5C03B0625F}"/>
                </a:ext>
              </a:extLst>
            </p:cNvPr>
            <p:cNvCxnSpPr>
              <a:cxnSpLocks/>
              <a:stCxn id="28" idx="3"/>
            </p:cNvCxnSpPr>
            <p:nvPr/>
          </p:nvCxnSpPr>
          <p:spPr>
            <a:xfrm flipV="1">
              <a:off x="5961053" y="2566073"/>
              <a:ext cx="2383412" cy="934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378740D-6539-844F-B3FB-C005B45E836B}"/>
                </a:ext>
              </a:extLst>
            </p:cNvPr>
            <p:cNvSpPr txBox="1"/>
            <p:nvPr/>
          </p:nvSpPr>
          <p:spPr>
            <a:xfrm>
              <a:off x="6599050" y="3072905"/>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33" name="TextBox 32">
              <a:extLst>
                <a:ext uri="{FF2B5EF4-FFF2-40B4-BE49-F238E27FC236}">
                  <a16:creationId xmlns:a16="http://schemas.microsoft.com/office/drawing/2014/main" id="{09FDE44F-761F-5844-92DD-60E47128B101}"/>
                </a:ext>
              </a:extLst>
            </p:cNvPr>
            <p:cNvSpPr txBox="1"/>
            <p:nvPr/>
          </p:nvSpPr>
          <p:spPr>
            <a:xfrm>
              <a:off x="9096997" y="3577264"/>
              <a:ext cx="1335622"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cxnSp>
          <p:nvCxnSpPr>
            <p:cNvPr id="34" name="Straight Arrow Connector 33">
              <a:extLst>
                <a:ext uri="{FF2B5EF4-FFF2-40B4-BE49-F238E27FC236}">
                  <a16:creationId xmlns:a16="http://schemas.microsoft.com/office/drawing/2014/main" id="{80E36115-D681-AE4F-84AB-D3ADC64C2943}"/>
                </a:ext>
              </a:extLst>
            </p:cNvPr>
            <p:cNvCxnSpPr>
              <a:cxnSpLocks/>
              <a:stCxn id="14" idx="1"/>
              <a:endCxn id="8" idx="3"/>
            </p:cNvCxnSpPr>
            <p:nvPr/>
          </p:nvCxnSpPr>
          <p:spPr>
            <a:xfrm flipH="1" flipV="1">
              <a:off x="9037305" y="2412359"/>
              <a:ext cx="1799360" cy="3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C4C157-3C3C-1643-BC44-AB58EE1B84A4}"/>
                </a:ext>
              </a:extLst>
            </p:cNvPr>
            <p:cNvCxnSpPr>
              <a:cxnSpLocks/>
              <a:stCxn id="12" idx="1"/>
              <a:endCxn id="17" idx="3"/>
            </p:cNvCxnSpPr>
            <p:nvPr/>
          </p:nvCxnSpPr>
          <p:spPr>
            <a:xfrm flipH="1">
              <a:off x="9037305" y="3842774"/>
              <a:ext cx="1810076" cy="2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1D2A11A-F7A9-0D4D-980B-231A71BAEFFB}"/>
                </a:ext>
              </a:extLst>
            </p:cNvPr>
            <p:cNvSpPr/>
            <p:nvPr/>
          </p:nvSpPr>
          <p:spPr>
            <a:xfrm>
              <a:off x="10406971" y="2046788"/>
              <a:ext cx="1398767" cy="2620697"/>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sp>
          <p:nvSpPr>
            <p:cNvPr id="41" name="TextBox 40">
              <a:extLst>
                <a:ext uri="{FF2B5EF4-FFF2-40B4-BE49-F238E27FC236}">
                  <a16:creationId xmlns:a16="http://schemas.microsoft.com/office/drawing/2014/main" id="{770CADC0-A8C4-E946-9558-E58D416FFF3C}"/>
                </a:ext>
              </a:extLst>
            </p:cNvPr>
            <p:cNvSpPr txBox="1"/>
            <p:nvPr/>
          </p:nvSpPr>
          <p:spPr>
            <a:xfrm>
              <a:off x="10325678" y="1684310"/>
              <a:ext cx="1513305" cy="338554"/>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Instance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Store</a:t>
              </a:r>
            </a:p>
          </p:txBody>
        </p:sp>
        <p:sp>
          <p:nvSpPr>
            <p:cNvPr id="49" name="TextBox 48">
              <a:extLst>
                <a:ext uri="{FF2B5EF4-FFF2-40B4-BE49-F238E27FC236}">
                  <a16:creationId xmlns:a16="http://schemas.microsoft.com/office/drawing/2014/main" id="{7D3CC9A0-B731-F548-BD54-E29CB085186E}"/>
                </a:ext>
              </a:extLst>
            </p:cNvPr>
            <p:cNvSpPr txBox="1"/>
            <p:nvPr/>
          </p:nvSpPr>
          <p:spPr>
            <a:xfrm>
              <a:off x="8955373" y="2147699"/>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grpSp>
    </p:spTree>
    <p:custDataLst>
      <p:tags r:id="rId1"/>
    </p:custDataLst>
    <p:extLst>
      <p:ext uri="{BB962C8B-B14F-4D97-AF65-F5344CB8AC3E}">
        <p14:creationId xmlns:p14="http://schemas.microsoft.com/office/powerpoint/2010/main" val="317544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7. Add tags</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23</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1524228"/>
            <a:ext cx="6875780" cy="4648788"/>
          </a:xfrm>
        </p:spPr>
        <p:txBody>
          <a:bodyPr/>
          <a:lstStyle/>
          <a:p>
            <a:pPr marL="287338" indent="-268288"/>
            <a:r>
              <a:rPr lang="en-US" sz="2400" dirty="0"/>
              <a:t>A </a:t>
            </a:r>
            <a:r>
              <a:rPr lang="en-US" sz="2400" dirty="0">
                <a:solidFill>
                  <a:schemeClr val="accent6"/>
                </a:solidFill>
              </a:rPr>
              <a:t>tag</a:t>
            </a:r>
            <a:r>
              <a:rPr lang="en-US" sz="2400" dirty="0"/>
              <a:t> is a label that you can assign to an AWS resource. </a:t>
            </a:r>
          </a:p>
          <a:p>
            <a:pPr marL="744538" lvl="1" indent="-268288"/>
            <a:r>
              <a:rPr lang="en-US" sz="2000" dirty="0"/>
              <a:t>Consists of a </a:t>
            </a:r>
            <a:r>
              <a:rPr lang="en-US" sz="2000" i="1" dirty="0"/>
              <a:t>key</a:t>
            </a:r>
            <a:r>
              <a:rPr lang="en-US" sz="2000" dirty="0"/>
              <a:t> and an optional </a:t>
            </a:r>
            <a:r>
              <a:rPr lang="en-US" sz="2000" i="1" dirty="0"/>
              <a:t>value.</a:t>
            </a:r>
            <a:endParaRPr lang="en-US" sz="2000" dirty="0"/>
          </a:p>
          <a:p>
            <a:pPr marL="287338" indent="-268288"/>
            <a:r>
              <a:rPr lang="en-US" sz="2400" dirty="0"/>
              <a:t>Tagging is how you can attach </a:t>
            </a:r>
            <a:r>
              <a:rPr lang="en-US" sz="2400" b="1" dirty="0">
                <a:solidFill>
                  <a:schemeClr val="accent5"/>
                </a:solidFill>
              </a:rPr>
              <a:t>metadata</a:t>
            </a:r>
            <a:r>
              <a:rPr lang="en-US" sz="2400" dirty="0"/>
              <a:t> to an EC2 instance.</a:t>
            </a:r>
            <a:r>
              <a:rPr lang="en-US" dirty="0"/>
              <a:t> </a:t>
            </a:r>
          </a:p>
          <a:p>
            <a:pPr marL="287338" indent="-268288"/>
            <a:r>
              <a:rPr lang="en-US" sz="2400" dirty="0"/>
              <a:t>Potential benefits of tagging—Filtering, automation, cost allocation, and access control.</a:t>
            </a:r>
          </a:p>
          <a:p>
            <a:pPr marL="744538" lvl="1" indent="-268288"/>
            <a:endParaRPr lang="en-US" sz="1600" dirty="0"/>
          </a:p>
          <a:p>
            <a:pPr marL="19050" indent="0">
              <a:buNone/>
            </a:pPr>
            <a:r>
              <a:rPr lang="en-US" sz="2400" dirty="0"/>
              <a:t>Example: </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3" name="Picture 2" descr="screenshot of the tags UI in the EC2 console instance details view.">
            <a:extLst>
              <a:ext uri="{FF2B5EF4-FFF2-40B4-BE49-F238E27FC236}">
                <a16:creationId xmlns:a16="http://schemas.microsoft.com/office/drawing/2014/main" id="{7F4350A2-4105-5444-973D-04E8308F4346}"/>
              </a:ext>
            </a:extLst>
          </p:cNvPr>
          <p:cNvPicPr>
            <a:picLocks noChangeAspect="1"/>
          </p:cNvPicPr>
          <p:nvPr/>
        </p:nvPicPr>
        <p:blipFill>
          <a:blip r:embed="rId4"/>
          <a:stretch>
            <a:fillRect/>
          </a:stretch>
        </p:blipFill>
        <p:spPr>
          <a:xfrm>
            <a:off x="5364154" y="4394200"/>
            <a:ext cx="6065846" cy="1962150"/>
          </a:xfrm>
          <a:prstGeom prst="rect">
            <a:avLst/>
          </a:prstGeom>
          <a:ln>
            <a:solidFill>
              <a:schemeClr val="tx1"/>
            </a:solidFill>
          </a:ln>
        </p:spPr>
      </p:pic>
      <p:sp>
        <p:nvSpPr>
          <p:cNvPr id="13" name="Content Placeholder 8">
            <a:extLst>
              <a:ext uri="{FF2B5EF4-FFF2-40B4-BE49-F238E27FC236}">
                <a16:creationId xmlns:a16="http://schemas.microsoft.com/office/drawing/2014/main" id="{17D84353-0812-0848-94D7-2A46ADAAD287}"/>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solidFill>
                  <a:schemeClr val="accent6"/>
                </a:solidFill>
              </a:rPr>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4020468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8. Security group settings</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24</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1524228"/>
            <a:ext cx="7155180" cy="4648788"/>
          </a:xfrm>
        </p:spPr>
        <p:txBody>
          <a:bodyPr/>
          <a:lstStyle/>
          <a:p>
            <a:pPr marL="287338" indent="-268288"/>
            <a:r>
              <a:rPr lang="en-US" sz="2400" dirty="0"/>
              <a:t>A </a:t>
            </a:r>
            <a:r>
              <a:rPr lang="en-US" sz="2400" dirty="0">
                <a:solidFill>
                  <a:schemeClr val="accent6"/>
                </a:solidFill>
              </a:rPr>
              <a:t>security group </a:t>
            </a:r>
            <a:r>
              <a:rPr lang="en-US" sz="2400" dirty="0"/>
              <a:t>is a</a:t>
            </a:r>
            <a:r>
              <a:rPr lang="en-US" sz="2400" b="1" dirty="0">
                <a:solidFill>
                  <a:schemeClr val="accent5"/>
                </a:solidFill>
              </a:rPr>
              <a:t> set of firewall rules</a:t>
            </a:r>
            <a:r>
              <a:rPr lang="en-US" sz="2400" dirty="0"/>
              <a:t> that control traffic to the instance. </a:t>
            </a:r>
          </a:p>
          <a:p>
            <a:pPr marL="744538" lvl="1" indent="-268288"/>
            <a:r>
              <a:rPr lang="en-US" sz="2000" dirty="0"/>
              <a:t>It exists </a:t>
            </a:r>
            <a:r>
              <a:rPr lang="en-US" sz="2000" i="1" dirty="0"/>
              <a:t>outside</a:t>
            </a:r>
            <a:r>
              <a:rPr lang="en-US" sz="2000" dirty="0"/>
              <a:t> of the instance's guest OS.</a:t>
            </a:r>
          </a:p>
          <a:p>
            <a:pPr marL="287338" indent="-268288"/>
            <a:r>
              <a:rPr lang="en-US" sz="2400" dirty="0"/>
              <a:t>Create </a:t>
            </a:r>
            <a:r>
              <a:rPr lang="en-US" sz="2400" b="1" dirty="0">
                <a:solidFill>
                  <a:schemeClr val="accent5"/>
                </a:solidFill>
              </a:rPr>
              <a:t>rules</a:t>
            </a:r>
            <a:r>
              <a:rPr lang="en-US" sz="2400" dirty="0"/>
              <a:t> that specify the </a:t>
            </a:r>
            <a:r>
              <a:rPr lang="en-US" sz="2400" b="1" dirty="0">
                <a:solidFill>
                  <a:schemeClr val="accent5"/>
                </a:solidFill>
              </a:rPr>
              <a:t>source</a:t>
            </a:r>
            <a:r>
              <a:rPr lang="en-US" sz="2400" dirty="0"/>
              <a:t> and which </a:t>
            </a:r>
            <a:r>
              <a:rPr lang="en-US" sz="2400" b="1" dirty="0">
                <a:solidFill>
                  <a:schemeClr val="accent5"/>
                </a:solidFill>
              </a:rPr>
              <a:t>ports</a:t>
            </a:r>
            <a:r>
              <a:rPr lang="en-US" sz="2400" dirty="0"/>
              <a:t> that network communications can use.</a:t>
            </a:r>
          </a:p>
          <a:p>
            <a:pPr marL="744538" lvl="1" indent="-268288"/>
            <a:r>
              <a:rPr lang="en-US" sz="2000" dirty="0"/>
              <a:t>Specify the </a:t>
            </a:r>
            <a:r>
              <a:rPr lang="en-US" sz="2000" b="1" dirty="0">
                <a:solidFill>
                  <a:schemeClr val="accent5"/>
                </a:solidFill>
              </a:rPr>
              <a:t>port</a:t>
            </a:r>
            <a:r>
              <a:rPr lang="en-US" sz="2000" dirty="0"/>
              <a:t> number and the </a:t>
            </a:r>
            <a:r>
              <a:rPr lang="en-US" sz="2000" b="1" dirty="0">
                <a:solidFill>
                  <a:schemeClr val="accent5"/>
                </a:solidFill>
              </a:rPr>
              <a:t>protocol</a:t>
            </a:r>
            <a:r>
              <a:rPr lang="en-US" sz="2000" dirty="0"/>
              <a:t>, such as Transmission Control Protocol (TCP), User Datagram Protocol (UDP), or Internet Control Message Protocol (ICMP).</a:t>
            </a:r>
          </a:p>
          <a:p>
            <a:pPr marL="744538" lvl="1" indent="-268288"/>
            <a:r>
              <a:rPr lang="en-US" sz="2000" dirty="0"/>
              <a:t>Specify the </a:t>
            </a:r>
            <a:r>
              <a:rPr lang="en-US" sz="2000" b="1" dirty="0">
                <a:solidFill>
                  <a:schemeClr val="accent5"/>
                </a:solidFill>
              </a:rPr>
              <a:t>source </a:t>
            </a:r>
            <a:r>
              <a:rPr lang="en-US" sz="2000" dirty="0"/>
              <a:t>(for example, an IP address or another security group) that is allowed to use the rule.</a:t>
            </a:r>
          </a:p>
          <a:p>
            <a:pPr marL="744538" lvl="1" indent="-268288"/>
            <a:endParaRPr lang="en-US" sz="1400" dirty="0"/>
          </a:p>
          <a:p>
            <a:pPr marL="19050" indent="0">
              <a:buNone/>
            </a:pPr>
            <a:r>
              <a:rPr lang="en-US" sz="2400" dirty="0"/>
              <a:t>Example rule:</a:t>
            </a:r>
          </a:p>
          <a:p>
            <a:pPr marL="744538" lvl="1" indent="-268288"/>
            <a:endParaRPr lang="en-US" sz="1600" dirty="0"/>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3" name="Picture 2" descr="screenshot of the EC2 console screen where you can define a security group rule. It shows a rule with type SSH, protocol TCP, port range 22, source My IP, and a CIDR block that shows an example My IP address.">
            <a:extLst>
              <a:ext uri="{FF2B5EF4-FFF2-40B4-BE49-F238E27FC236}">
                <a16:creationId xmlns:a16="http://schemas.microsoft.com/office/drawing/2014/main" id="{109C21F5-182B-A24D-B554-CF0E74A5BDE8}"/>
              </a:ext>
            </a:extLst>
          </p:cNvPr>
          <p:cNvPicPr>
            <a:picLocks noChangeAspect="1"/>
          </p:cNvPicPr>
          <p:nvPr/>
        </p:nvPicPr>
        <p:blipFill>
          <a:blip r:embed="rId4"/>
          <a:stretch>
            <a:fillRect/>
          </a:stretch>
        </p:blipFill>
        <p:spPr>
          <a:xfrm>
            <a:off x="3931920" y="5262970"/>
            <a:ext cx="7807683" cy="1022578"/>
          </a:xfrm>
          <a:prstGeom prst="rect">
            <a:avLst/>
          </a:prstGeom>
          <a:ln>
            <a:solidFill>
              <a:schemeClr val="tx1"/>
            </a:solidFill>
          </a:ln>
        </p:spPr>
      </p:pic>
      <p:sp>
        <p:nvSpPr>
          <p:cNvPr id="14" name="Content Placeholder 8">
            <a:extLst>
              <a:ext uri="{FF2B5EF4-FFF2-40B4-BE49-F238E27FC236}">
                <a16:creationId xmlns:a16="http://schemas.microsoft.com/office/drawing/2014/main" id="{8161ABC1-BCB7-1B44-8CA0-D52E7231CFD1}"/>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solidFill>
                  <a:schemeClr val="accent6"/>
                </a:solidFill>
              </a:rPr>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1706425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9. Identify or create the key pair</a:t>
            </a:r>
          </a:p>
        </p:txBody>
      </p:sp>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25</a:t>
            </a:fld>
            <a:endParaRPr lang="en-US"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idx="13"/>
          </p:nvPr>
        </p:nvSpPr>
        <p:spPr>
          <a:xfrm>
            <a:off x="3931920" y="1524228"/>
            <a:ext cx="6593666" cy="4648788"/>
          </a:xfrm>
        </p:spPr>
        <p:txBody>
          <a:bodyPr/>
          <a:lstStyle/>
          <a:p>
            <a:pPr marL="287338" indent="-268288"/>
            <a:r>
              <a:rPr lang="en-US" sz="2400" dirty="0"/>
              <a:t>At instance launch, you specify an existing key pair </a:t>
            </a:r>
            <a:r>
              <a:rPr lang="en-US" sz="2400" i="1" dirty="0"/>
              <a:t>or </a:t>
            </a:r>
            <a:r>
              <a:rPr lang="en-US" sz="2400" dirty="0"/>
              <a:t>create a new key pair.</a:t>
            </a:r>
          </a:p>
          <a:p>
            <a:pPr marL="287338" indent="-268288"/>
            <a:r>
              <a:rPr lang="en-US" sz="2400" dirty="0"/>
              <a:t>A</a:t>
            </a:r>
            <a:r>
              <a:rPr lang="en-US" sz="2400" dirty="0">
                <a:solidFill>
                  <a:schemeClr val="accent6"/>
                </a:solidFill>
              </a:rPr>
              <a:t> key pair</a:t>
            </a:r>
            <a:r>
              <a:rPr lang="en-US" sz="2400" dirty="0"/>
              <a:t> consists of – </a:t>
            </a:r>
          </a:p>
          <a:p>
            <a:pPr marL="744538" lvl="1" indent="-268288"/>
            <a:r>
              <a:rPr lang="en-US" sz="2000" dirty="0"/>
              <a:t>A </a:t>
            </a:r>
            <a:r>
              <a:rPr lang="en-US" sz="2000" b="1" dirty="0">
                <a:solidFill>
                  <a:schemeClr val="accent5"/>
                </a:solidFill>
              </a:rPr>
              <a:t>public key</a:t>
            </a:r>
            <a:r>
              <a:rPr lang="en-US" sz="2000" dirty="0"/>
              <a:t> that AWS stores.</a:t>
            </a:r>
          </a:p>
          <a:p>
            <a:pPr marL="744538" lvl="1" indent="-268288"/>
            <a:r>
              <a:rPr lang="en-US" sz="2000" dirty="0"/>
              <a:t>A </a:t>
            </a:r>
            <a:r>
              <a:rPr lang="en-US" sz="2000" b="1" dirty="0">
                <a:solidFill>
                  <a:schemeClr val="accent5"/>
                </a:solidFill>
              </a:rPr>
              <a:t>private key</a:t>
            </a:r>
            <a:r>
              <a:rPr lang="en-US" sz="2000" dirty="0"/>
              <a:t> file that you store. </a:t>
            </a:r>
          </a:p>
          <a:p>
            <a:pPr marL="287338" indent="-268288"/>
            <a:r>
              <a:rPr lang="en-US" sz="2400" dirty="0"/>
              <a:t>It enables secure connections to the instance. </a:t>
            </a:r>
          </a:p>
          <a:p>
            <a:pPr marL="287338" indent="-268288"/>
            <a:r>
              <a:rPr lang="en-US" sz="2400" dirty="0"/>
              <a:t>For </a:t>
            </a:r>
            <a:r>
              <a:rPr lang="en-US" sz="2400" b="1" dirty="0"/>
              <a:t>Windows AMIs – </a:t>
            </a:r>
          </a:p>
          <a:p>
            <a:pPr marL="744538" lvl="1" indent="-268288"/>
            <a:r>
              <a:rPr lang="en-US" sz="2000" dirty="0"/>
              <a:t>Use the private key to obtain the administrator password that you need to log in to your instance. </a:t>
            </a:r>
          </a:p>
          <a:p>
            <a:pPr marL="287338" indent="-268288"/>
            <a:r>
              <a:rPr lang="en-US" sz="2400" dirty="0"/>
              <a:t>For </a:t>
            </a:r>
            <a:r>
              <a:rPr lang="en-US" sz="2400" b="1" dirty="0"/>
              <a:t>Linux AMIs – </a:t>
            </a:r>
          </a:p>
          <a:p>
            <a:pPr marL="744538" lvl="1" indent="-268288"/>
            <a:r>
              <a:rPr lang="en-US" sz="2000" dirty="0"/>
              <a:t>Use the private key to use SSH to securely connect to your instance.</a:t>
            </a:r>
          </a:p>
        </p:txBody>
      </p:sp>
      <p:sp>
        <p:nvSpPr>
          <p:cNvPr id="2" name="Footer Placeholder 1">
            <a:extLst>
              <a:ext uri="{FF2B5EF4-FFF2-40B4-BE49-F238E27FC236}">
                <a16:creationId xmlns:a16="http://schemas.microsoft.com/office/drawing/2014/main" id="{727AEF71-4056-C047-BBC7-E231CF623D4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5" name="TextBox 14">
            <a:extLst>
              <a:ext uri="{FF2B5EF4-FFF2-40B4-BE49-F238E27FC236}">
                <a16:creationId xmlns:a16="http://schemas.microsoft.com/office/drawing/2014/main" id="{EEF51727-40E9-2141-98E3-2072B8D72217}"/>
              </a:ext>
              <a:ext uri="{C183D7F6-B498-43B3-948B-1728B52AA6E4}">
                <adec:decorative xmlns:adec="http://schemas.microsoft.com/office/drawing/2017/decorative" val="1"/>
              </a:ext>
            </a:extLst>
          </p:cNvPr>
          <p:cNvSpPr txBox="1"/>
          <p:nvPr/>
        </p:nvSpPr>
        <p:spPr>
          <a:xfrm>
            <a:off x="10686904" y="2369924"/>
            <a:ext cx="1213794" cy="338554"/>
          </a:xfrm>
          <a:prstGeom prst="rect">
            <a:avLst/>
          </a:prstGeom>
          <a:noFill/>
        </p:spPr>
        <p:txBody>
          <a:bodyPr wrap="none" rtlCol="0">
            <a:spAutoFit/>
          </a:bodyPr>
          <a:lstStyle/>
          <a:p>
            <a:r>
              <a:rPr lang="en-US" sz="1600" dirty="0"/>
              <a:t>mykey.pem</a:t>
            </a:r>
          </a:p>
        </p:txBody>
      </p:sp>
      <p:pic>
        <p:nvPicPr>
          <p:cNvPr id="17" name="Graphic 16">
            <a:extLst>
              <a:ext uri="{FF2B5EF4-FFF2-40B4-BE49-F238E27FC236}">
                <a16:creationId xmlns:a16="http://schemas.microsoft.com/office/drawing/2014/main" id="{BA7463C5-E207-D843-9FBE-A486255FA35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03760" y="3475507"/>
            <a:ext cx="914400" cy="914400"/>
          </a:xfrm>
          <a:prstGeom prst="rect">
            <a:avLst/>
          </a:prstGeom>
        </p:spPr>
      </p:pic>
      <p:pic>
        <p:nvPicPr>
          <p:cNvPr id="19" name="Graphic 18">
            <a:extLst>
              <a:ext uri="{FF2B5EF4-FFF2-40B4-BE49-F238E27FC236}">
                <a16:creationId xmlns:a16="http://schemas.microsoft.com/office/drawing/2014/main" id="{B9130936-CC34-0D41-B9EC-0F70EDBA617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03171" y="1838046"/>
            <a:ext cx="719353" cy="719353"/>
          </a:xfrm>
          <a:prstGeom prst="rect">
            <a:avLst/>
          </a:prstGeom>
        </p:spPr>
      </p:pic>
      <p:sp>
        <p:nvSpPr>
          <p:cNvPr id="21" name="Content Placeholder 8">
            <a:extLst>
              <a:ext uri="{FF2B5EF4-FFF2-40B4-BE49-F238E27FC236}">
                <a16:creationId xmlns:a16="http://schemas.microsoft.com/office/drawing/2014/main" id="{BA524270-3615-3545-ABE6-0CF3BCF052AF}"/>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solidFill>
              </a:rPr>
              <a:t>Choices made by using the</a:t>
            </a:r>
            <a:br>
              <a:rPr lang="en-US" sz="2000" b="1" dirty="0">
                <a:solidFill>
                  <a:schemeClr val="accent5"/>
                </a:solidFill>
              </a:rPr>
            </a:br>
            <a:r>
              <a:rPr lang="en-US" sz="2000" b="1" dirty="0">
                <a:solidFill>
                  <a:schemeClr val="accent5"/>
                </a:solidFill>
              </a:rPr>
              <a:t>Launch Instance Wizard:</a:t>
            </a:r>
            <a:br>
              <a:rPr lang="en-US" sz="2400" b="1" dirty="0">
                <a:solidFill>
                  <a:schemeClr val="accent5"/>
                </a:solidFill>
              </a:rPr>
            </a:br>
            <a:endParaRPr lang="en-US" sz="2000" dirty="0"/>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solidFill>
                  <a:schemeClr val="accent6"/>
                </a:solidFill>
              </a:rPr>
              <a:t>Key pair</a:t>
            </a:r>
            <a:endParaRPr lang="en-US" sz="1800" b="1" dirty="0">
              <a:solidFill>
                <a:schemeClr val="accent6"/>
              </a:solidFill>
            </a:endParaRPr>
          </a:p>
        </p:txBody>
      </p:sp>
    </p:spTree>
    <p:custDataLst>
      <p:tags r:id="rId1"/>
    </p:custDataLst>
    <p:extLst>
      <p:ext uri="{BB962C8B-B14F-4D97-AF65-F5344CB8AC3E}">
        <p14:creationId xmlns:p14="http://schemas.microsoft.com/office/powerpoint/2010/main" val="4291607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BB63-9388-144A-A1AB-BB832437E3CA}"/>
              </a:ext>
            </a:extLst>
          </p:cNvPr>
          <p:cNvSpPr>
            <a:spLocks noGrp="1"/>
          </p:cNvSpPr>
          <p:nvPr>
            <p:ph type="title"/>
          </p:nvPr>
        </p:nvSpPr>
        <p:spPr>
          <a:xfrm>
            <a:off x="419100" y="365125"/>
            <a:ext cx="8610600" cy="474119"/>
          </a:xfrm>
        </p:spPr>
        <p:txBody>
          <a:bodyPr/>
          <a:lstStyle/>
          <a:p>
            <a:r>
              <a:rPr lang="en-US" sz="3600" dirty="0"/>
              <a:t>Amazon EC2 console view of a running EC2 instance</a:t>
            </a:r>
          </a:p>
        </p:txBody>
      </p:sp>
      <p:sp>
        <p:nvSpPr>
          <p:cNvPr id="4" name="Slide Number Placeholder 3">
            <a:extLst>
              <a:ext uri="{FF2B5EF4-FFF2-40B4-BE49-F238E27FC236}">
                <a16:creationId xmlns:a16="http://schemas.microsoft.com/office/drawing/2014/main" id="{F01F03A1-BF91-EB48-8D27-2ECE760F502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26</a:t>
            </a:fld>
            <a:endParaRPr lang="en-US" dirty="0"/>
          </a:p>
        </p:txBody>
      </p:sp>
      <p:sp>
        <p:nvSpPr>
          <p:cNvPr id="6" name="Footer Placeholder 5">
            <a:extLst>
              <a:ext uri="{FF2B5EF4-FFF2-40B4-BE49-F238E27FC236}">
                <a16:creationId xmlns:a16="http://schemas.microsoft.com/office/drawing/2014/main" id="{A97A7853-E175-9C43-8CF7-5643FBCEBF0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7" name="Picture 6" descr="screen capture of the EC2 console view of a running instance, with the Description panel showing details.">
            <a:extLst>
              <a:ext uri="{FF2B5EF4-FFF2-40B4-BE49-F238E27FC236}">
                <a16:creationId xmlns:a16="http://schemas.microsoft.com/office/drawing/2014/main" id="{0DD282FC-22D6-0849-B301-275B2200233F}"/>
              </a:ext>
            </a:extLst>
          </p:cNvPr>
          <p:cNvPicPr>
            <a:picLocks noChangeAspect="1"/>
          </p:cNvPicPr>
          <p:nvPr/>
        </p:nvPicPr>
        <p:blipFill>
          <a:blip r:embed="rId4"/>
          <a:stretch>
            <a:fillRect/>
          </a:stretch>
        </p:blipFill>
        <p:spPr>
          <a:xfrm>
            <a:off x="1541322" y="1410368"/>
            <a:ext cx="8859978" cy="4945982"/>
          </a:xfrm>
          <a:prstGeom prst="rect">
            <a:avLst/>
          </a:prstGeom>
          <a:ln>
            <a:solidFill>
              <a:schemeClr val="accent1"/>
            </a:solidFill>
          </a:ln>
        </p:spPr>
      </p:pic>
    </p:spTree>
    <p:custDataLst>
      <p:tags r:id="rId1"/>
    </p:custDataLst>
    <p:extLst>
      <p:ext uri="{BB962C8B-B14F-4D97-AF65-F5344CB8AC3E}">
        <p14:creationId xmlns:p14="http://schemas.microsoft.com/office/powerpoint/2010/main" val="2837966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4A8E24F-530D-674E-82AB-1053BF2E8516}"/>
              </a:ext>
              <a:ext uri="{C183D7F6-B498-43B3-948B-1728B52AA6E4}">
                <adec:decorative xmlns:adec="http://schemas.microsoft.com/office/drawing/2017/decorative" val="1"/>
              </a:ext>
            </a:extLst>
          </p:cNvPr>
          <p:cNvSpPr/>
          <p:nvPr/>
        </p:nvSpPr>
        <p:spPr>
          <a:xfrm>
            <a:off x="6233533" y="3456881"/>
            <a:ext cx="5709424" cy="241997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3">
            <a:extLst>
              <a:ext uri="{FF2B5EF4-FFF2-40B4-BE49-F238E27FC236}">
                <a16:creationId xmlns:a16="http://schemas.microsoft.com/office/drawing/2014/main" id="{583A2482-2DCD-B446-86FC-3673D9C832AE}"/>
              </a:ext>
            </a:extLst>
          </p:cNvPr>
          <p:cNvSpPr>
            <a:spLocks noGrp="1"/>
          </p:cNvSpPr>
          <p:nvPr>
            <p:ph type="title"/>
          </p:nvPr>
        </p:nvSpPr>
        <p:spPr/>
        <p:txBody>
          <a:bodyPr/>
          <a:lstStyle/>
          <a:p>
            <a:r>
              <a:rPr lang="en-US" sz="3600" dirty="0"/>
              <a:t>Another option: Launch an EC2 instance with the AWS Command Line Interface </a:t>
            </a:r>
          </a:p>
        </p:txBody>
      </p:sp>
      <p:sp>
        <p:nvSpPr>
          <p:cNvPr id="22" name="Content Placeholder 21">
            <a:extLst>
              <a:ext uri="{FF2B5EF4-FFF2-40B4-BE49-F238E27FC236}">
                <a16:creationId xmlns:a16="http://schemas.microsoft.com/office/drawing/2014/main" id="{E0BAFFB2-CBCF-0245-B234-B9C9FFC031AC}"/>
              </a:ext>
            </a:extLst>
          </p:cNvPr>
          <p:cNvSpPr>
            <a:spLocks noGrp="1"/>
          </p:cNvSpPr>
          <p:nvPr>
            <p:ph idx="1"/>
          </p:nvPr>
        </p:nvSpPr>
        <p:spPr/>
        <p:txBody>
          <a:bodyPr/>
          <a:lstStyle/>
          <a:p>
            <a:r>
              <a:rPr lang="en-US" sz="2400" dirty="0"/>
              <a:t>EC2 instances can also be created programmatically.</a:t>
            </a:r>
          </a:p>
          <a:p>
            <a:endParaRPr lang="en-US" sz="2000" dirty="0"/>
          </a:p>
          <a:p>
            <a:pPr marL="0" indent="0">
              <a:buNone/>
            </a:pPr>
            <a:endParaRPr lang="en-US" sz="2000" dirty="0"/>
          </a:p>
          <a:p>
            <a:r>
              <a:rPr lang="en-US" sz="2400" dirty="0"/>
              <a:t>This example shows how simple the command can be.</a:t>
            </a:r>
            <a:endParaRPr lang="en-US" sz="2000" dirty="0"/>
          </a:p>
          <a:p>
            <a:pPr lvl="1"/>
            <a:r>
              <a:rPr lang="en-US" sz="1800" dirty="0"/>
              <a:t>This command assumes that the key pair and security group already exist.</a:t>
            </a:r>
          </a:p>
          <a:p>
            <a:pPr lvl="1"/>
            <a:endParaRPr lang="en-US" sz="1800" dirty="0"/>
          </a:p>
          <a:p>
            <a:pPr lvl="1"/>
            <a:r>
              <a:rPr lang="en-US" sz="1800" dirty="0"/>
              <a:t>More options could be specified. See the </a:t>
            </a:r>
            <a:r>
              <a:rPr lang="en-US" sz="1800" dirty="0">
                <a:hlinkClick r:id="rId4"/>
              </a:rPr>
              <a:t>AWS CLI Command Reference</a:t>
            </a:r>
            <a:r>
              <a:rPr lang="en-US" sz="1800" dirty="0"/>
              <a:t> for details.</a:t>
            </a:r>
            <a:endParaRPr lang="en-US" sz="2000" dirty="0"/>
          </a:p>
        </p:txBody>
      </p:sp>
      <p:sp>
        <p:nvSpPr>
          <p:cNvPr id="4" name="Slide Number Placeholder 3">
            <a:extLst>
              <a:ext uri="{FF2B5EF4-FFF2-40B4-BE49-F238E27FC236}">
                <a16:creationId xmlns:a16="http://schemas.microsoft.com/office/drawing/2014/main" id="{76666A41-0DFD-8F45-9191-FD68F3DE70E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27</a:t>
            </a:fld>
            <a:endParaRPr lang="en-US" dirty="0"/>
          </a:p>
        </p:txBody>
      </p:sp>
      <p:sp>
        <p:nvSpPr>
          <p:cNvPr id="6" name="Footer Placeholder 5">
            <a:extLst>
              <a:ext uri="{FF2B5EF4-FFF2-40B4-BE49-F238E27FC236}">
                <a16:creationId xmlns:a16="http://schemas.microsoft.com/office/drawing/2014/main" id="{E42BAB57-F858-6E4C-B21A-FA15514461F7}"/>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7" name="TextBox 16">
            <a:extLst>
              <a:ext uri="{FF2B5EF4-FFF2-40B4-BE49-F238E27FC236}">
                <a16:creationId xmlns:a16="http://schemas.microsoft.com/office/drawing/2014/main" id="{67513463-9905-0941-94B0-A1BCE060F3CB}"/>
              </a:ext>
            </a:extLst>
          </p:cNvPr>
          <p:cNvSpPr txBox="1"/>
          <p:nvPr/>
        </p:nvSpPr>
        <p:spPr>
          <a:xfrm>
            <a:off x="6320354" y="3559427"/>
            <a:ext cx="5570756" cy="2246769"/>
          </a:xfrm>
          <a:prstGeom prst="rect">
            <a:avLst/>
          </a:prstGeom>
          <a:noFill/>
        </p:spPr>
        <p:txBody>
          <a:bodyPr wrap="none" rtlCol="0">
            <a:spAutoFit/>
          </a:bodyPr>
          <a:lstStyle/>
          <a:p>
            <a:r>
              <a:rPr lang="en-US" sz="2000" dirty="0">
                <a:latin typeface="Lucida Console" panose="020B0609040504020204" pitchFamily="49" charset="0"/>
              </a:rPr>
              <a:t>aws ec2 run-instances \ </a:t>
            </a:r>
          </a:p>
          <a:p>
            <a:r>
              <a:rPr lang="en-US" sz="2000" dirty="0">
                <a:latin typeface="Lucida Console" panose="020B0609040504020204" pitchFamily="49" charset="0"/>
              </a:rPr>
              <a:t>--image-id ami-1a2b3c4d \ </a:t>
            </a:r>
          </a:p>
          <a:p>
            <a:r>
              <a:rPr lang="en-US" sz="2000" dirty="0">
                <a:latin typeface="Lucida Console" panose="020B0609040504020204" pitchFamily="49" charset="0"/>
              </a:rPr>
              <a:t>--count 1 \ </a:t>
            </a:r>
          </a:p>
          <a:p>
            <a:r>
              <a:rPr lang="en-US" sz="2000" dirty="0">
                <a:latin typeface="Lucida Console" panose="020B0609040504020204" pitchFamily="49" charset="0"/>
              </a:rPr>
              <a:t>--instance-type c3.large \ </a:t>
            </a:r>
          </a:p>
          <a:p>
            <a:r>
              <a:rPr lang="en-US" sz="2000" dirty="0">
                <a:latin typeface="Lucida Console" panose="020B0609040504020204" pitchFamily="49" charset="0"/>
              </a:rPr>
              <a:t>--key-name MyKeyPair \ </a:t>
            </a:r>
          </a:p>
          <a:p>
            <a:r>
              <a:rPr lang="en-US" sz="2000" dirty="0">
                <a:latin typeface="Lucida Console" panose="020B0609040504020204" pitchFamily="49" charset="0"/>
              </a:rPr>
              <a:t>--security-groups MySecurityGroup \</a:t>
            </a:r>
          </a:p>
          <a:p>
            <a:r>
              <a:rPr lang="en-US" sz="2000" dirty="0">
                <a:latin typeface="Lucida Console" panose="020B0609040504020204" pitchFamily="49" charset="0"/>
                <a:ea typeface="Amazon Ember Light" panose="020B0403020204020204" pitchFamily="34" charset="0"/>
                <a:cs typeface="Amazon Ember Light" panose="020B0403020204020204" pitchFamily="34" charset="0"/>
              </a:rPr>
              <a:t>--region us-east-1</a:t>
            </a:r>
          </a:p>
        </p:txBody>
      </p:sp>
      <p:sp>
        <p:nvSpPr>
          <p:cNvPr id="18" name="TextBox 17">
            <a:extLst>
              <a:ext uri="{FF2B5EF4-FFF2-40B4-BE49-F238E27FC236}">
                <a16:creationId xmlns:a16="http://schemas.microsoft.com/office/drawing/2014/main" id="{A3400BFE-0EE3-2F44-805A-6719DB29A578}"/>
              </a:ext>
            </a:extLst>
          </p:cNvPr>
          <p:cNvSpPr txBox="1"/>
          <p:nvPr/>
        </p:nvSpPr>
        <p:spPr>
          <a:xfrm>
            <a:off x="7831988" y="2114343"/>
            <a:ext cx="2085668" cy="584775"/>
          </a:xfrm>
          <a:prstGeom prst="rect">
            <a:avLst/>
          </a:prstGeom>
          <a:noFill/>
        </p:spPr>
        <p:txBody>
          <a:bodyPr wrap="square" rtlCol="0">
            <a:spAutoFit/>
          </a:bodyPr>
          <a:lstStyle/>
          <a:p>
            <a:pPr algn="ctr"/>
            <a:r>
              <a:rPr lang="en-US" sz="1600" dirty="0"/>
              <a:t>AWS Command Line Interface (AWS CLI)</a:t>
            </a:r>
          </a:p>
        </p:txBody>
      </p:sp>
      <p:pic>
        <p:nvPicPr>
          <p:cNvPr id="19" name="Graphic 18">
            <a:extLst>
              <a:ext uri="{FF2B5EF4-FFF2-40B4-BE49-F238E27FC236}">
                <a16:creationId xmlns:a16="http://schemas.microsoft.com/office/drawing/2014/main" id="{E258282E-4963-954F-B8AE-19273169F55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19222" y="1355408"/>
            <a:ext cx="711200" cy="711200"/>
          </a:xfrm>
          <a:prstGeom prst="rect">
            <a:avLst/>
          </a:prstGeom>
        </p:spPr>
      </p:pic>
      <p:sp>
        <p:nvSpPr>
          <p:cNvPr id="24" name="TextBox 23">
            <a:extLst>
              <a:ext uri="{FF2B5EF4-FFF2-40B4-BE49-F238E27FC236}">
                <a16:creationId xmlns:a16="http://schemas.microsoft.com/office/drawing/2014/main" id="{4ABF5473-14D7-8E4A-BF2A-078577E8FC0C}"/>
              </a:ext>
            </a:extLst>
          </p:cNvPr>
          <p:cNvSpPr txBox="1"/>
          <p:nvPr/>
        </p:nvSpPr>
        <p:spPr>
          <a:xfrm>
            <a:off x="6144254" y="3079943"/>
            <a:ext cx="2840842" cy="461665"/>
          </a:xfrm>
          <a:prstGeom prst="rect">
            <a:avLst/>
          </a:prstGeom>
          <a:noFill/>
        </p:spPr>
        <p:txBody>
          <a:bodyPr wrap="none" rtlCol="0">
            <a:spAutoFit/>
          </a:bodyPr>
          <a:lstStyle/>
          <a:p>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Example command:</a:t>
            </a:r>
          </a:p>
        </p:txBody>
      </p:sp>
    </p:spTree>
    <p:custDataLst>
      <p:tags r:id="rId1"/>
    </p:custDataLst>
    <p:extLst>
      <p:ext uri="{BB962C8B-B14F-4D97-AF65-F5344CB8AC3E}">
        <p14:creationId xmlns:p14="http://schemas.microsoft.com/office/powerpoint/2010/main" val="4215408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Amazon EC2 instance lifecycle</a:t>
            </a:r>
          </a:p>
        </p:txBody>
      </p:sp>
      <p:grpSp>
        <p:nvGrpSpPr>
          <p:cNvPr id="23" name="Group 22" descr="diagram showing the states an instance can have after launch. A launched instance becomes &quot;pending&quot; and then &quot;running&quot;. Running instances can be rebooted, terminated, or stopped. A stopped instance can be started or termninated."/>
          <p:cNvGrpSpPr/>
          <p:nvPr/>
        </p:nvGrpSpPr>
        <p:grpSpPr>
          <a:xfrm>
            <a:off x="1147146" y="1364438"/>
            <a:ext cx="9288624" cy="4826316"/>
            <a:chOff x="1147146" y="1364438"/>
            <a:chExt cx="9288624" cy="4826316"/>
          </a:xfrm>
        </p:grpSpPr>
        <p:sp>
          <p:nvSpPr>
            <p:cNvPr id="52" name="Rectangle 51">
              <a:extLst>
                <a:ext uri="{FF2B5EF4-FFF2-40B4-BE49-F238E27FC236}">
                  <a16:creationId xmlns:a16="http://schemas.microsoft.com/office/drawing/2014/main" id="{B6751EC9-C4AA-E744-AEC5-B1E7EF5C711C}"/>
                </a:ext>
                <a:ext uri="{C183D7F6-B498-43B3-948B-1728B52AA6E4}">
                  <adec:decorative xmlns:adec="http://schemas.microsoft.com/office/drawing/2017/decorative" val="1"/>
                </a:ext>
              </a:extLst>
            </p:cNvPr>
            <p:cNvSpPr/>
            <p:nvPr/>
          </p:nvSpPr>
          <p:spPr>
            <a:xfrm>
              <a:off x="6089211" y="1624171"/>
              <a:ext cx="4346559" cy="4566583"/>
            </a:xfrm>
            <a:prstGeom prst="rect">
              <a:avLst/>
            </a:prstGeom>
            <a:solidFill>
              <a:schemeClr val="bg1">
                <a:lumMod val="95000"/>
              </a:schemeClr>
            </a:solidFill>
            <a:ln w="22225">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b="1" dirty="0">
                  <a:solidFill>
                    <a:schemeClr val="tx1"/>
                  </a:solidFill>
                </a:rPr>
                <a:t>Only instances backed by Amazon EBS</a:t>
              </a:r>
            </a:p>
          </p:txBody>
        </p:sp>
        <p:sp>
          <p:nvSpPr>
            <p:cNvPr id="6" name="TextBox 71">
              <a:extLst>
                <a:ext uri="{C183D7F6-B498-43B3-948B-1728B52AA6E4}">
                  <adec:decorative xmlns:adec="http://schemas.microsoft.com/office/drawing/2017/decorative" val="1"/>
                </a:ext>
              </a:extLst>
            </p:cNvPr>
            <p:cNvSpPr txBox="1"/>
            <p:nvPr/>
          </p:nvSpPr>
          <p:spPr>
            <a:xfrm>
              <a:off x="1766093" y="2856257"/>
              <a:ext cx="858375"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dirty="0">
                  <a:ea typeface="Amazon Ember" panose="020B0603020204020204" pitchFamily="34" charset="0"/>
                  <a:cs typeface="Amazon Ember" panose="020B0603020204020204" pitchFamily="34" charset="0"/>
                </a:rPr>
                <a:t>AMI</a:t>
              </a:r>
            </a:p>
          </p:txBody>
        </p:sp>
        <p:cxnSp>
          <p:nvCxnSpPr>
            <p:cNvPr id="9" name="Straight Arrow Connector 8"/>
            <p:cNvCxnSpPr>
              <a:cxnSpLocks/>
              <a:stCxn id="49" idx="3"/>
              <a:endCxn id="10" idx="1"/>
            </p:cNvCxnSpPr>
            <p:nvPr/>
          </p:nvCxnSpPr>
          <p:spPr>
            <a:xfrm>
              <a:off x="2546731" y="2498105"/>
              <a:ext cx="1100690" cy="0"/>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47421" y="2203189"/>
              <a:ext cx="1395752" cy="589831"/>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pending</a:t>
              </a:r>
            </a:p>
          </p:txBody>
        </p:sp>
        <p:sp>
          <p:nvSpPr>
            <p:cNvPr id="12" name="TextBox 71"/>
            <p:cNvSpPr txBox="1"/>
            <p:nvPr/>
          </p:nvSpPr>
          <p:spPr>
            <a:xfrm>
              <a:off x="2624468" y="2260613"/>
              <a:ext cx="815962"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Launch</a:t>
              </a:r>
            </a:p>
          </p:txBody>
        </p:sp>
        <p:sp>
          <p:nvSpPr>
            <p:cNvPr id="16" name="Rounded Rectangle 15"/>
            <p:cNvSpPr/>
            <p:nvPr/>
          </p:nvSpPr>
          <p:spPr>
            <a:xfrm>
              <a:off x="3641008" y="3333298"/>
              <a:ext cx="1395752" cy="589831"/>
            </a:xfrm>
            <a:prstGeom prst="roundRect">
              <a:avLst/>
            </a:prstGeom>
            <a:solidFill>
              <a:srgbClr val="73FB79">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running</a:t>
              </a:r>
            </a:p>
          </p:txBody>
        </p:sp>
        <p:cxnSp>
          <p:nvCxnSpPr>
            <p:cNvPr id="17" name="Straight Arrow Connector 16"/>
            <p:cNvCxnSpPr>
              <a:cxnSpLocks/>
              <a:stCxn id="10" idx="2"/>
              <a:endCxn id="16" idx="0"/>
            </p:cNvCxnSpPr>
            <p:nvPr/>
          </p:nvCxnSpPr>
          <p:spPr>
            <a:xfrm flipH="1">
              <a:off x="4338884" y="2793020"/>
              <a:ext cx="6413" cy="540278"/>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2563600" y="3701582"/>
              <a:ext cx="1094661" cy="0"/>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147146" y="3333298"/>
              <a:ext cx="1395752" cy="589830"/>
            </a:xfrm>
            <a:prstGeom prst="roundRect">
              <a:avLst/>
            </a:prstGeom>
            <a:solidFill>
              <a:schemeClr val="accent2">
                <a:lumMod val="60000"/>
                <a:lumOff val="4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rebooting</a:t>
              </a:r>
            </a:p>
          </p:txBody>
        </p:sp>
        <p:sp>
          <p:nvSpPr>
            <p:cNvPr id="47" name="TextBox 71"/>
            <p:cNvSpPr txBox="1"/>
            <p:nvPr/>
          </p:nvSpPr>
          <p:spPr>
            <a:xfrm>
              <a:off x="2669392" y="3268770"/>
              <a:ext cx="858375"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Reboot</a:t>
              </a:r>
            </a:p>
          </p:txBody>
        </p:sp>
        <p:cxnSp>
          <p:nvCxnSpPr>
            <p:cNvPr id="48" name="Straight Arrow Connector 47"/>
            <p:cNvCxnSpPr/>
            <p:nvPr/>
          </p:nvCxnSpPr>
          <p:spPr>
            <a:xfrm flipH="1" flipV="1">
              <a:off x="2542898" y="3497587"/>
              <a:ext cx="1098110" cy="1"/>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76" name="Group 75">
              <a:extLst>
                <a:ext uri="{C183D7F6-B498-43B3-948B-1728B52AA6E4}">
                  <adec:decorative xmlns:adec="http://schemas.microsoft.com/office/drawing/2017/decorative" val="1"/>
                </a:ext>
              </a:extLst>
            </p:cNvPr>
            <p:cNvGrpSpPr/>
            <p:nvPr/>
          </p:nvGrpSpPr>
          <p:grpSpPr>
            <a:xfrm>
              <a:off x="5043174" y="2265027"/>
              <a:ext cx="4219994" cy="1068271"/>
              <a:chOff x="3833412" y="1132752"/>
              <a:chExt cx="3164995" cy="801203"/>
            </a:xfrm>
          </p:grpSpPr>
          <p:cxnSp>
            <p:nvCxnSpPr>
              <p:cNvPr id="57" name="Elbow Connector 56"/>
              <p:cNvCxnSpPr>
                <a:cxnSpLocks/>
                <a:stCxn id="39" idx="0"/>
                <a:endCxn id="10" idx="3"/>
              </p:cNvCxnSpPr>
              <p:nvPr/>
            </p:nvCxnSpPr>
            <p:spPr>
              <a:xfrm rot="16200000" flipV="1">
                <a:off x="5102712" y="38260"/>
                <a:ext cx="626395" cy="3164995"/>
              </a:xfrm>
              <a:prstGeom prst="bentConnector2">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71"/>
              <p:cNvSpPr txBox="1"/>
              <p:nvPr/>
            </p:nvSpPr>
            <p:spPr>
              <a:xfrm>
                <a:off x="5341881" y="1132752"/>
                <a:ext cx="643781" cy="155632"/>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Start</a:t>
                </a:r>
              </a:p>
            </p:txBody>
          </p:sp>
        </p:grpSp>
        <p:grpSp>
          <p:nvGrpSpPr>
            <p:cNvPr id="72" name="Group 71"/>
            <p:cNvGrpSpPr/>
            <p:nvPr/>
          </p:nvGrpSpPr>
          <p:grpSpPr>
            <a:xfrm>
              <a:off x="3641009" y="5091978"/>
              <a:ext cx="1394933" cy="955553"/>
              <a:chOff x="2987063" y="3252969"/>
              <a:chExt cx="1046200" cy="716666"/>
            </a:xfrm>
          </p:grpSpPr>
          <p:sp>
            <p:nvSpPr>
              <p:cNvPr id="21" name="Rounded Rectangle 20"/>
              <p:cNvSpPr/>
              <p:nvPr/>
            </p:nvSpPr>
            <p:spPr>
              <a:xfrm>
                <a:off x="2987063" y="3527262"/>
                <a:ext cx="1046200" cy="442373"/>
              </a:xfrm>
              <a:prstGeom prst="roundRect">
                <a:avLst/>
              </a:prstGeom>
              <a:solidFill>
                <a:srgbClr val="FF0000">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terminated</a:t>
                </a:r>
              </a:p>
            </p:txBody>
          </p:sp>
          <p:cxnSp>
            <p:nvCxnSpPr>
              <p:cNvPr id="33" name="Straight Arrow Connector 32"/>
              <p:cNvCxnSpPr>
                <a:cxnSpLocks/>
                <a:stCxn id="19" idx="2"/>
                <a:endCxn id="21" idx="0"/>
              </p:cNvCxnSpPr>
              <p:nvPr/>
            </p:nvCxnSpPr>
            <p:spPr>
              <a:xfrm flipH="1">
                <a:off x="3510163" y="3252969"/>
                <a:ext cx="1" cy="274293"/>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1" name="Group 70"/>
            <p:cNvGrpSpPr/>
            <p:nvPr/>
          </p:nvGrpSpPr>
          <p:grpSpPr>
            <a:xfrm>
              <a:off x="3641009" y="3907463"/>
              <a:ext cx="1394935" cy="1184515"/>
              <a:chOff x="2987063" y="2364581"/>
              <a:chExt cx="1046201" cy="888388"/>
            </a:xfrm>
          </p:grpSpPr>
          <p:sp>
            <p:nvSpPr>
              <p:cNvPr id="19" name="Rounded Rectangle 18"/>
              <p:cNvSpPr/>
              <p:nvPr/>
            </p:nvSpPr>
            <p:spPr>
              <a:xfrm>
                <a:off x="2987063" y="2810596"/>
                <a:ext cx="1046201" cy="442373"/>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shutting-down</a:t>
                </a:r>
              </a:p>
            </p:txBody>
          </p:sp>
          <p:cxnSp>
            <p:nvCxnSpPr>
              <p:cNvPr id="32" name="Straight Arrow Connector 31"/>
              <p:cNvCxnSpPr>
                <a:cxnSpLocks/>
                <a:endCxn id="19" idx="0"/>
              </p:cNvCxnSpPr>
              <p:nvPr/>
            </p:nvCxnSpPr>
            <p:spPr>
              <a:xfrm flipH="1">
                <a:off x="3510164" y="2364581"/>
                <a:ext cx="2965" cy="446015"/>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71"/>
              <p:cNvSpPr txBox="1"/>
              <p:nvPr/>
            </p:nvSpPr>
            <p:spPr>
              <a:xfrm>
                <a:off x="3191238" y="2542396"/>
                <a:ext cx="733558" cy="155632"/>
              </a:xfrm>
              <a:prstGeom prst="rect">
                <a:avLst/>
              </a:prstGeom>
              <a:solidFill>
                <a:schemeClr val="bg1"/>
              </a:solid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Terminate</a:t>
                </a:r>
              </a:p>
            </p:txBody>
          </p:sp>
        </p:grpSp>
        <p:grpSp>
          <p:nvGrpSpPr>
            <p:cNvPr id="77" name="Group 76"/>
            <p:cNvGrpSpPr/>
            <p:nvPr/>
          </p:nvGrpSpPr>
          <p:grpSpPr>
            <a:xfrm>
              <a:off x="5035944" y="3923128"/>
              <a:ext cx="4227225" cy="1829488"/>
              <a:chOff x="3590581" y="2376331"/>
              <a:chExt cx="3170416" cy="1372119"/>
            </a:xfrm>
          </p:grpSpPr>
          <p:cxnSp>
            <p:nvCxnSpPr>
              <p:cNvPr id="63" name="Elbow Connector 62"/>
              <p:cNvCxnSpPr>
                <a:cxnSpLocks/>
                <a:stCxn id="39" idx="2"/>
                <a:endCxn id="21" idx="3"/>
              </p:cNvCxnSpPr>
              <p:nvPr/>
            </p:nvCxnSpPr>
            <p:spPr>
              <a:xfrm rot="5400000">
                <a:off x="4489729" y="1477183"/>
                <a:ext cx="1372119" cy="3170416"/>
              </a:xfrm>
              <a:prstGeom prst="bentConnector2">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71"/>
              <p:cNvSpPr txBox="1"/>
              <p:nvPr/>
            </p:nvSpPr>
            <p:spPr>
              <a:xfrm>
                <a:off x="5054591" y="3549275"/>
                <a:ext cx="862147" cy="155632"/>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Terminate</a:t>
                </a:r>
              </a:p>
            </p:txBody>
          </p:sp>
        </p:grpSp>
        <p:cxnSp>
          <p:nvCxnSpPr>
            <p:cNvPr id="36" name="Straight Arrow Connector 35"/>
            <p:cNvCxnSpPr>
              <a:cxnSpLocks/>
              <a:stCxn id="16" idx="3"/>
              <a:endCxn id="38" idx="1"/>
            </p:cNvCxnSpPr>
            <p:nvPr/>
          </p:nvCxnSpPr>
          <p:spPr>
            <a:xfrm flipV="1">
              <a:off x="5036760" y="3628213"/>
              <a:ext cx="1726055" cy="1"/>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71"/>
            <p:cNvSpPr txBox="1"/>
            <p:nvPr/>
          </p:nvSpPr>
          <p:spPr>
            <a:xfrm>
              <a:off x="4976647" y="3366926"/>
              <a:ext cx="1171861" cy="729504"/>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Stop</a:t>
              </a:r>
            </a:p>
            <a:p>
              <a:pPr algn="ctr"/>
              <a:r>
                <a:rPr lang="en-US" sz="1600" b="1" dirty="0">
                  <a:ea typeface="Amazon Ember" panose="020B0603020204020204" pitchFamily="34" charset="0"/>
                  <a:cs typeface="Amazon Ember" panose="020B0603020204020204" pitchFamily="34" charset="0"/>
                </a:rPr>
                <a:t>Stop-Hibernate</a:t>
              </a:r>
            </a:p>
          </p:txBody>
        </p:sp>
        <p:sp>
          <p:nvSpPr>
            <p:cNvPr id="38" name="Rounded Rectangle 37"/>
            <p:cNvSpPr/>
            <p:nvPr/>
          </p:nvSpPr>
          <p:spPr>
            <a:xfrm>
              <a:off x="6762815" y="3333298"/>
              <a:ext cx="1374674" cy="589830"/>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stopping</a:t>
              </a:r>
            </a:p>
          </p:txBody>
        </p:sp>
        <p:sp>
          <p:nvSpPr>
            <p:cNvPr id="39" name="Rounded Rectangle 38"/>
            <p:cNvSpPr/>
            <p:nvPr/>
          </p:nvSpPr>
          <p:spPr>
            <a:xfrm>
              <a:off x="8575829" y="3333298"/>
              <a:ext cx="1374675" cy="589830"/>
            </a:xfrm>
            <a:prstGeom prst="roundRect">
              <a:avLst/>
            </a:prstGeom>
            <a:solidFill>
              <a:srgbClr val="FF0000">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stopped</a:t>
              </a:r>
            </a:p>
          </p:txBody>
        </p:sp>
        <p:cxnSp>
          <p:nvCxnSpPr>
            <p:cNvPr id="40" name="Straight Arrow Connector 39"/>
            <p:cNvCxnSpPr>
              <a:cxnSpLocks/>
              <a:stCxn id="38" idx="3"/>
              <a:endCxn id="39" idx="1"/>
            </p:cNvCxnSpPr>
            <p:nvPr/>
          </p:nvCxnSpPr>
          <p:spPr>
            <a:xfrm>
              <a:off x="8137489" y="3628213"/>
              <a:ext cx="438340" cy="0"/>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49" name="Graphic 48">
              <a:extLst>
                <a:ext uri="{FF2B5EF4-FFF2-40B4-BE49-F238E27FC236}">
                  <a16:creationId xmlns:a16="http://schemas.microsoft.com/office/drawing/2014/main" id="{098B6D9A-1DD0-DB49-A3B1-06B3623B506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71030" y="2160254"/>
              <a:ext cx="675701" cy="675701"/>
            </a:xfrm>
            <a:prstGeom prst="rect">
              <a:avLst/>
            </a:prstGeom>
          </p:spPr>
        </p:pic>
        <p:pic>
          <p:nvPicPr>
            <p:cNvPr id="50" name="Graphic 49">
              <a:extLst>
                <a:ext uri="{FF2B5EF4-FFF2-40B4-BE49-F238E27FC236}">
                  <a16:creationId xmlns:a16="http://schemas.microsoft.com/office/drawing/2014/main" id="{8DAAD020-BA8D-284F-882A-5D3E71ED3E6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00085" y="1364438"/>
              <a:ext cx="591829" cy="591829"/>
            </a:xfrm>
            <a:prstGeom prst="rect">
              <a:avLst/>
            </a:prstGeom>
          </p:spPr>
        </p:pic>
      </p:grpSp>
      <p:sp>
        <p:nvSpPr>
          <p:cNvPr id="8" name="Footer Placeholder 7">
            <a:extLst>
              <a:ext uri="{FF2B5EF4-FFF2-40B4-BE49-F238E27FC236}">
                <a16:creationId xmlns:a16="http://schemas.microsoft.com/office/drawing/2014/main" id="{69F52E2A-02A2-8C48-8BE7-01A2E5C2B5E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latin typeface="+mn-lt"/>
              </a:rPr>
              <a:t>© 2019 Amazon Web Services, Inc. or its Affiliates. All rights reserved.</a:t>
            </a:r>
          </a:p>
        </p:txBody>
      </p:sp>
      <p:sp>
        <p:nvSpPr>
          <p:cNvPr id="11" name="Slide Number Placeholder 10">
            <a:extLst>
              <a:ext uri="{FF2B5EF4-FFF2-40B4-BE49-F238E27FC236}">
                <a16:creationId xmlns:a16="http://schemas.microsoft.com/office/drawing/2014/main" id="{7CA05716-DE85-0A40-829B-2BA3A696DD9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latin typeface="+mn-lt"/>
              </a:rPr>
              <a:t>28</a:t>
            </a:fld>
            <a:endParaRPr lang="en-US" dirty="0">
              <a:latin typeface="+mn-lt"/>
            </a:endParaRPr>
          </a:p>
        </p:txBody>
      </p:sp>
    </p:spTree>
    <p:custDataLst>
      <p:tags r:id="rId1"/>
    </p:custDataLst>
    <p:extLst>
      <p:ext uri="{BB962C8B-B14F-4D97-AF65-F5344CB8AC3E}">
        <p14:creationId xmlns:p14="http://schemas.microsoft.com/office/powerpoint/2010/main" val="1713796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Instance hibernation option </a:t>
            </a:r>
          </a:p>
        </p:txBody>
      </p:sp>
      <p:sp>
        <p:nvSpPr>
          <p:cNvPr id="3" name="Content Placeholder 2"/>
          <p:cNvSpPr>
            <a:spLocks noGrp="1"/>
          </p:cNvSpPr>
          <p:nvPr>
            <p:ph idx="1"/>
          </p:nvPr>
        </p:nvSpPr>
        <p:spPr>
          <a:xfrm>
            <a:off x="419100" y="3263183"/>
            <a:ext cx="11353800" cy="2913779"/>
          </a:xfrm>
        </p:spPr>
        <p:txBody>
          <a:bodyPr/>
          <a:lstStyle/>
          <a:p>
            <a:r>
              <a:rPr lang="en-US" sz="2400" dirty="0"/>
              <a:t>Benefits</a:t>
            </a:r>
          </a:p>
          <a:p>
            <a:pPr lvl="1"/>
            <a:r>
              <a:rPr lang="en-US" sz="2000" dirty="0"/>
              <a:t>It saves the contents from the instance memory (RAM). </a:t>
            </a:r>
          </a:p>
          <a:p>
            <a:pPr lvl="1"/>
            <a:r>
              <a:rPr lang="en-US" sz="2000" dirty="0"/>
              <a:t>On instance restart, RAM contents are reloaded, previously running processes are resumed.</a:t>
            </a:r>
          </a:p>
          <a:p>
            <a:pPr lvl="1"/>
            <a:r>
              <a:rPr lang="en-US" sz="2000" dirty="0"/>
              <a:t>You can save on cost in a hibernated state versus a running state (costs are similar to a stopped instance).</a:t>
            </a:r>
            <a:endParaRPr lang="en-US" sz="1800" dirty="0"/>
          </a:p>
          <a:p>
            <a:r>
              <a:rPr lang="en-US" sz="2400" dirty="0"/>
              <a:t>Prerequisites</a:t>
            </a:r>
          </a:p>
          <a:p>
            <a:pPr lvl="1"/>
            <a:r>
              <a:rPr lang="en-US" sz="2000" dirty="0"/>
              <a:t>Only certain Linux AMIs (such as Amazon Linux 2) and only certain instance families support it.</a:t>
            </a:r>
          </a:p>
          <a:p>
            <a:pPr lvl="1"/>
            <a:r>
              <a:rPr lang="en-US" sz="2000" dirty="0"/>
              <a:t>Instance must have an encrypted Amazon EBS root volume and a maximum of150 GB RAM.</a:t>
            </a:r>
          </a:p>
          <a:p>
            <a:pPr lvl="1"/>
            <a:r>
              <a:rPr lang="en-US" sz="2000" dirty="0"/>
              <a:t>Hibernation must be enabled at instance launch.</a:t>
            </a:r>
          </a:p>
          <a:p>
            <a:pPr lvl="1"/>
            <a:endParaRPr lang="en-US" sz="2000" dirty="0"/>
          </a:p>
          <a:p>
            <a:endParaRPr lang="en-US" sz="2400" dirty="0"/>
          </a:p>
        </p:txBody>
      </p:sp>
      <p:sp>
        <p:nvSpPr>
          <p:cNvPr id="5" name="Slide Number Placeholder 4">
            <a:extLst>
              <a:ext uri="{FF2B5EF4-FFF2-40B4-BE49-F238E27FC236}">
                <a16:creationId xmlns:a16="http://schemas.microsoft.com/office/drawing/2014/main" id="{10AD9707-4A7F-0644-B0C3-827A58AAE13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29</a:t>
            </a:fld>
            <a:endParaRPr lang="en-US" dirty="0"/>
          </a:p>
        </p:txBody>
      </p:sp>
      <p:sp>
        <p:nvSpPr>
          <p:cNvPr id="4" name="Footer Placeholder 3">
            <a:extLst>
              <a:ext uri="{FF2B5EF4-FFF2-40B4-BE49-F238E27FC236}">
                <a16:creationId xmlns:a16="http://schemas.microsoft.com/office/drawing/2014/main" id="{1FD1C623-D69E-AF49-877B-0EF84B6C057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6" name="Picture 5" descr="diagram showing an instance entering and then exiting hibernation.">
            <a:extLst>
              <a:ext uri="{FF2B5EF4-FFF2-40B4-BE49-F238E27FC236}">
                <a16:creationId xmlns:a16="http://schemas.microsoft.com/office/drawing/2014/main" id="{5C672129-9A94-1044-BB4F-172E397AE0E3}"/>
              </a:ext>
            </a:extLst>
          </p:cNvPr>
          <p:cNvPicPr>
            <a:picLocks noChangeAspect="1"/>
          </p:cNvPicPr>
          <p:nvPr/>
        </p:nvPicPr>
        <p:blipFill>
          <a:blip r:embed="rId4"/>
          <a:stretch>
            <a:fillRect/>
          </a:stretch>
        </p:blipFill>
        <p:spPr>
          <a:xfrm>
            <a:off x="2020340" y="1189531"/>
            <a:ext cx="8763774" cy="2420993"/>
          </a:xfrm>
          <a:prstGeom prst="rect">
            <a:avLst/>
          </a:prstGeom>
        </p:spPr>
      </p:pic>
    </p:spTree>
    <p:custDataLst>
      <p:tags r:id="rId1"/>
    </p:custDataLst>
    <p:extLst>
      <p:ext uri="{BB962C8B-B14F-4D97-AF65-F5344CB8AC3E}">
        <p14:creationId xmlns:p14="http://schemas.microsoft.com/office/powerpoint/2010/main" val="1698085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EE466-2810-F740-80BF-441C6A03C8D2}"/>
              </a:ext>
            </a:extLst>
          </p:cNvPr>
          <p:cNvSpPr>
            <a:spLocks noGrp="1"/>
          </p:cNvSpPr>
          <p:nvPr>
            <p:ph type="title"/>
          </p:nvPr>
        </p:nvSpPr>
        <p:spPr/>
        <p:txBody>
          <a:bodyPr/>
          <a:lstStyle/>
          <a:p>
            <a:r>
              <a:rPr lang="en-US" dirty="0"/>
              <a:t>Consider using an Elastic IP address</a:t>
            </a:r>
          </a:p>
        </p:txBody>
      </p:sp>
      <p:sp>
        <p:nvSpPr>
          <p:cNvPr id="3" name="Content Placeholder 2">
            <a:extLst>
              <a:ext uri="{FF2B5EF4-FFF2-40B4-BE49-F238E27FC236}">
                <a16:creationId xmlns:a16="http://schemas.microsoft.com/office/drawing/2014/main" id="{9429DD88-0F1B-B347-A103-CDEBE616C4E2}"/>
              </a:ext>
            </a:extLst>
          </p:cNvPr>
          <p:cNvSpPr>
            <a:spLocks noGrp="1"/>
          </p:cNvSpPr>
          <p:nvPr>
            <p:ph idx="1"/>
          </p:nvPr>
        </p:nvSpPr>
        <p:spPr/>
        <p:txBody>
          <a:bodyPr/>
          <a:lstStyle/>
          <a:p>
            <a:r>
              <a:rPr lang="en-US" sz="2400" b="1" dirty="0">
                <a:solidFill>
                  <a:schemeClr val="accent5"/>
                </a:solidFill>
              </a:rPr>
              <a:t>Rebooting</a:t>
            </a:r>
            <a:r>
              <a:rPr lang="en-US" sz="2400" dirty="0"/>
              <a:t> an instance will </a:t>
            </a:r>
            <a:r>
              <a:rPr lang="en-US" sz="2400" i="1" dirty="0"/>
              <a:t>not</a:t>
            </a:r>
            <a:r>
              <a:rPr lang="en-US" sz="2400" dirty="0"/>
              <a:t> change any IP addresses or DNS hostnames.</a:t>
            </a:r>
          </a:p>
          <a:p>
            <a:endParaRPr lang="en-US" sz="2400" dirty="0"/>
          </a:p>
          <a:p>
            <a:r>
              <a:rPr lang="en-US" sz="2400" dirty="0"/>
              <a:t>When an instance is </a:t>
            </a:r>
            <a:r>
              <a:rPr lang="en-US" sz="2400" b="1" dirty="0">
                <a:solidFill>
                  <a:schemeClr val="accent5"/>
                </a:solidFill>
              </a:rPr>
              <a:t>stopped</a:t>
            </a:r>
            <a:r>
              <a:rPr lang="en-US" sz="2400" dirty="0"/>
              <a:t> and then </a:t>
            </a:r>
            <a:r>
              <a:rPr lang="en-US" sz="2400" b="1" dirty="0">
                <a:solidFill>
                  <a:schemeClr val="accent5"/>
                </a:solidFill>
              </a:rPr>
              <a:t>started</a:t>
            </a:r>
            <a:r>
              <a:rPr lang="en-US" sz="2400" dirty="0"/>
              <a:t> again – </a:t>
            </a:r>
          </a:p>
          <a:p>
            <a:pPr lvl="1"/>
            <a:r>
              <a:rPr lang="en-US" sz="2000" dirty="0">
                <a:solidFill>
                  <a:schemeClr val="accent6"/>
                </a:solidFill>
              </a:rPr>
              <a:t>The </a:t>
            </a:r>
            <a:r>
              <a:rPr lang="en-US" sz="2000" i="1" dirty="0">
                <a:solidFill>
                  <a:schemeClr val="accent6"/>
                </a:solidFill>
              </a:rPr>
              <a:t>public</a:t>
            </a:r>
            <a:r>
              <a:rPr lang="en-US" sz="2000" dirty="0">
                <a:solidFill>
                  <a:schemeClr val="accent6"/>
                </a:solidFill>
              </a:rPr>
              <a:t> IPv4 address and </a:t>
            </a:r>
            <a:r>
              <a:rPr lang="en-US" sz="2000" i="1" dirty="0">
                <a:solidFill>
                  <a:schemeClr val="accent6"/>
                </a:solidFill>
              </a:rPr>
              <a:t>external</a:t>
            </a:r>
            <a:r>
              <a:rPr lang="en-US" sz="2000" dirty="0">
                <a:solidFill>
                  <a:schemeClr val="accent6"/>
                </a:solidFill>
              </a:rPr>
              <a:t> DNS hostname will change.</a:t>
            </a:r>
            <a:br>
              <a:rPr lang="en-US" sz="2000" dirty="0">
                <a:solidFill>
                  <a:schemeClr val="accent6"/>
                </a:solidFill>
              </a:rPr>
            </a:br>
            <a:endParaRPr lang="en-US" sz="2000" dirty="0">
              <a:solidFill>
                <a:schemeClr val="accent6"/>
              </a:solidFill>
            </a:endParaRPr>
          </a:p>
          <a:p>
            <a:pPr lvl="1"/>
            <a:r>
              <a:rPr lang="en-US" sz="2000" dirty="0"/>
              <a:t>The </a:t>
            </a:r>
            <a:r>
              <a:rPr lang="en-US" sz="2000" i="1" dirty="0"/>
              <a:t>private</a:t>
            </a:r>
            <a:r>
              <a:rPr lang="en-US" sz="2000" dirty="0"/>
              <a:t> IPv4 address and internal DNS hostname do </a:t>
            </a:r>
            <a:r>
              <a:rPr lang="en-US" sz="2000" i="1" dirty="0"/>
              <a:t>not</a:t>
            </a:r>
            <a:r>
              <a:rPr lang="en-US" sz="2000" dirty="0"/>
              <a:t> change.</a:t>
            </a:r>
          </a:p>
          <a:p>
            <a:endParaRPr lang="en-US" sz="2000" dirty="0"/>
          </a:p>
          <a:p>
            <a:pPr lvl="1"/>
            <a:endParaRPr lang="en-US" sz="2000" dirty="0"/>
          </a:p>
        </p:txBody>
      </p:sp>
      <p:sp>
        <p:nvSpPr>
          <p:cNvPr id="4" name="Slide Number Placeholder 3">
            <a:extLst>
              <a:ext uri="{FF2B5EF4-FFF2-40B4-BE49-F238E27FC236}">
                <a16:creationId xmlns:a16="http://schemas.microsoft.com/office/drawing/2014/main" id="{46C56D74-85A6-3748-81BD-94FA3C1C0E4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30</a:t>
            </a:fld>
            <a:endParaRPr lang="en-US" dirty="0"/>
          </a:p>
        </p:txBody>
      </p:sp>
      <p:sp>
        <p:nvSpPr>
          <p:cNvPr id="10" name="Content Placeholder 9">
            <a:extLst>
              <a:ext uri="{FF2B5EF4-FFF2-40B4-BE49-F238E27FC236}">
                <a16:creationId xmlns:a16="http://schemas.microsoft.com/office/drawing/2014/main" id="{1109DBB5-8287-244A-847A-205E873200E8}"/>
              </a:ext>
            </a:extLst>
          </p:cNvPr>
          <p:cNvSpPr>
            <a:spLocks noGrp="1"/>
          </p:cNvSpPr>
          <p:nvPr>
            <p:ph idx="13"/>
          </p:nvPr>
        </p:nvSpPr>
        <p:spPr/>
        <p:txBody>
          <a:bodyPr/>
          <a:lstStyle/>
          <a:p>
            <a:r>
              <a:rPr lang="en-US" sz="2400" dirty="0"/>
              <a:t>If you require a persistent public IP address – </a:t>
            </a:r>
          </a:p>
          <a:p>
            <a:pPr lvl="1"/>
            <a:r>
              <a:rPr lang="en-US" sz="2000" dirty="0"/>
              <a:t>Associate an </a:t>
            </a:r>
            <a:r>
              <a:rPr lang="en-US" sz="2000" b="1" dirty="0">
                <a:solidFill>
                  <a:schemeClr val="accent5"/>
                </a:solidFill>
              </a:rPr>
              <a:t>Elastic IP address </a:t>
            </a:r>
            <a:r>
              <a:rPr lang="en-US" sz="2000" dirty="0"/>
              <a:t>with the instance.</a:t>
            </a:r>
          </a:p>
          <a:p>
            <a:pPr lvl="1"/>
            <a:endParaRPr lang="en-US" sz="2000" dirty="0"/>
          </a:p>
          <a:p>
            <a:r>
              <a:rPr lang="en-US" sz="2400" dirty="0"/>
              <a:t>Elastic IP address characteristics – </a:t>
            </a:r>
          </a:p>
          <a:p>
            <a:pPr lvl="1"/>
            <a:r>
              <a:rPr lang="en-US" sz="2000" dirty="0"/>
              <a:t>Can be associated with instances in the Region as needed.</a:t>
            </a:r>
            <a:br>
              <a:rPr lang="en-US" sz="2000" dirty="0"/>
            </a:br>
            <a:endParaRPr lang="en-US" sz="2000" dirty="0"/>
          </a:p>
          <a:p>
            <a:pPr lvl="1"/>
            <a:r>
              <a:rPr lang="en-US" sz="2000" dirty="0"/>
              <a:t>Remains allocated to your account until you choose to release it.</a:t>
            </a:r>
            <a:endParaRPr lang="en-US" dirty="0"/>
          </a:p>
        </p:txBody>
      </p:sp>
      <p:sp>
        <p:nvSpPr>
          <p:cNvPr id="5" name="Footer Placeholder 4">
            <a:extLst>
              <a:ext uri="{FF2B5EF4-FFF2-40B4-BE49-F238E27FC236}">
                <a16:creationId xmlns:a16="http://schemas.microsoft.com/office/drawing/2014/main" id="{C3E8BE48-ED51-314D-B9AE-08A0778B701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9" name="Group 8">
            <a:extLst>
              <a:ext uri="{FF2B5EF4-FFF2-40B4-BE49-F238E27FC236}">
                <a16:creationId xmlns:a16="http://schemas.microsoft.com/office/drawing/2014/main" id="{3F08C504-C754-DC47-8A0E-1E931906EF3C}"/>
              </a:ext>
              <a:ext uri="{C183D7F6-B498-43B3-948B-1728B52AA6E4}">
                <adec:decorative xmlns:adec="http://schemas.microsoft.com/office/drawing/2017/decorative" val="1"/>
              </a:ext>
            </a:extLst>
          </p:cNvPr>
          <p:cNvGrpSpPr/>
          <p:nvPr/>
        </p:nvGrpSpPr>
        <p:grpSpPr>
          <a:xfrm>
            <a:off x="5395862" y="5102916"/>
            <a:ext cx="1242346" cy="1253434"/>
            <a:chOff x="10493446" y="1882588"/>
            <a:chExt cx="1242346" cy="1253434"/>
          </a:xfrm>
        </p:grpSpPr>
        <p:pic>
          <p:nvPicPr>
            <p:cNvPr id="7" name="Graphic 6">
              <a:extLst>
                <a:ext uri="{FF2B5EF4-FFF2-40B4-BE49-F238E27FC236}">
                  <a16:creationId xmlns:a16="http://schemas.microsoft.com/office/drawing/2014/main" id="{866370B7-12A0-6849-9E77-0515885171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23789" y="1882588"/>
              <a:ext cx="781660" cy="781660"/>
            </a:xfrm>
            <a:prstGeom prst="rect">
              <a:avLst/>
            </a:prstGeom>
          </p:spPr>
        </p:pic>
        <p:sp>
          <p:nvSpPr>
            <p:cNvPr id="8" name="TextBox 7">
              <a:extLst>
                <a:ext uri="{FF2B5EF4-FFF2-40B4-BE49-F238E27FC236}">
                  <a16:creationId xmlns:a16="http://schemas.microsoft.com/office/drawing/2014/main" id="{D57E80BE-4DB8-7F47-BFCA-E1DED74BD78A}"/>
                </a:ext>
              </a:extLst>
            </p:cNvPr>
            <p:cNvSpPr txBox="1"/>
            <p:nvPr/>
          </p:nvSpPr>
          <p:spPr>
            <a:xfrm>
              <a:off x="10493446" y="2551247"/>
              <a:ext cx="1242346"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Elastic IP Address</a:t>
              </a:r>
            </a:p>
          </p:txBody>
        </p:sp>
      </p:grpSp>
    </p:spTree>
    <p:custDataLst>
      <p:tags r:id="rId1"/>
    </p:custDataLst>
    <p:extLst>
      <p:ext uri="{BB962C8B-B14F-4D97-AF65-F5344CB8AC3E}">
        <p14:creationId xmlns:p14="http://schemas.microsoft.com/office/powerpoint/2010/main" val="1150125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instance metadata</a:t>
            </a:r>
          </a:p>
        </p:txBody>
      </p:sp>
      <p:sp>
        <p:nvSpPr>
          <p:cNvPr id="3" name="Content Placeholder 2"/>
          <p:cNvSpPr>
            <a:spLocks noGrp="1"/>
          </p:cNvSpPr>
          <p:nvPr>
            <p:ph idx="1"/>
          </p:nvPr>
        </p:nvSpPr>
        <p:spPr>
          <a:xfrm>
            <a:off x="419100" y="1528175"/>
            <a:ext cx="11353800" cy="4648788"/>
          </a:xfrm>
        </p:spPr>
        <p:txBody>
          <a:bodyPr/>
          <a:lstStyle/>
          <a:p>
            <a:r>
              <a:rPr lang="en-US" b="1" dirty="0">
                <a:solidFill>
                  <a:schemeClr val="accent5"/>
                </a:solidFill>
              </a:rPr>
              <a:t>Instance metadata</a:t>
            </a:r>
            <a:r>
              <a:rPr lang="en-US" dirty="0"/>
              <a:t> is data about your instance.</a:t>
            </a:r>
          </a:p>
          <a:p>
            <a:r>
              <a:rPr lang="en-US" dirty="0"/>
              <a:t>While you are connected to the instance, you can view it – </a:t>
            </a:r>
          </a:p>
          <a:p>
            <a:pPr lvl="1"/>
            <a:r>
              <a:rPr lang="en-US" sz="2000" dirty="0"/>
              <a:t>In a browser: </a:t>
            </a:r>
            <a:r>
              <a:rPr lang="en-US" sz="2000" dirty="0">
                <a:latin typeface="Lucida Console" panose="020B0609040504020204" pitchFamily="49" charset="0"/>
              </a:rPr>
              <a:t>http://169.254.169.254/latest/meta-data/</a:t>
            </a:r>
            <a:endParaRPr lang="en-US" sz="2000" dirty="0"/>
          </a:p>
          <a:p>
            <a:pPr lvl="1"/>
            <a:r>
              <a:rPr lang="en-US" sz="2000" dirty="0"/>
              <a:t>In a terminal window: </a:t>
            </a:r>
            <a:r>
              <a:rPr lang="en-US" sz="2000" dirty="0">
                <a:latin typeface="Lucida Console" panose="020B0609040504020204" pitchFamily="49" charset="0"/>
              </a:rPr>
              <a:t>curl http://169.254.169.254/latest/meta-data/</a:t>
            </a:r>
            <a:endParaRPr lang="en-US" sz="2000" dirty="0"/>
          </a:p>
          <a:p>
            <a:r>
              <a:rPr lang="en-US" dirty="0"/>
              <a:t>Example retrievable values – </a:t>
            </a:r>
          </a:p>
          <a:p>
            <a:pPr lvl="1"/>
            <a:r>
              <a:rPr lang="en-US" sz="2000" dirty="0"/>
              <a:t>Public IP address, private IP address, public hostname, instance ID, security groups, Region, Availability Zone.</a:t>
            </a:r>
          </a:p>
          <a:p>
            <a:pPr lvl="1"/>
            <a:r>
              <a:rPr lang="en-US" sz="2000" dirty="0"/>
              <a:t>Any user data specified at instance launch can also be accessed at: </a:t>
            </a:r>
            <a:r>
              <a:rPr lang="en-US" sz="2000" dirty="0">
                <a:latin typeface="Lucida Console" panose="020B0609040504020204" pitchFamily="49" charset="0"/>
              </a:rPr>
              <a:t>http://169.254.169.254/latest/user-data/</a:t>
            </a:r>
            <a:endParaRPr lang="en-US" sz="2000" dirty="0"/>
          </a:p>
          <a:p>
            <a:r>
              <a:rPr lang="en-US" dirty="0"/>
              <a:t>It can be used to configure or manage a running instance.</a:t>
            </a:r>
          </a:p>
          <a:p>
            <a:pPr lvl="1"/>
            <a:r>
              <a:rPr lang="en-US" sz="2000" dirty="0"/>
              <a:t>For example, author a configuration script that reads the metadata and uses it to configure applications or OS settings.</a:t>
            </a:r>
            <a:endParaRPr lang="en-US" dirty="0"/>
          </a:p>
          <a:p>
            <a:pPr marL="0" indent="0">
              <a:buNone/>
            </a:pPr>
            <a:endParaRPr lang="en-US" dirty="0"/>
          </a:p>
          <a:p>
            <a:pPr marL="457200" lvl="1" indent="0">
              <a:buNone/>
            </a:pPr>
            <a:endParaRPr lang="en-US" dirty="0"/>
          </a:p>
        </p:txBody>
      </p:sp>
      <p:sp>
        <p:nvSpPr>
          <p:cNvPr id="4" name="Footer Placeholder 3">
            <a:extLst>
              <a:ext uri="{FF2B5EF4-FFF2-40B4-BE49-F238E27FC236}">
                <a16:creationId xmlns:a16="http://schemas.microsoft.com/office/drawing/2014/main" id="{B207D6EA-5296-BD41-A320-C3963A34C3C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E9A27CC0-5DFB-924B-B321-63CD3E63632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31</a:t>
            </a:fld>
            <a:endParaRPr lang="en-US" dirty="0"/>
          </a:p>
        </p:txBody>
      </p:sp>
    </p:spTree>
    <p:custDataLst>
      <p:tags r:id="rId1"/>
    </p:custDataLst>
    <p:extLst>
      <p:ext uri="{BB962C8B-B14F-4D97-AF65-F5344CB8AC3E}">
        <p14:creationId xmlns:p14="http://schemas.microsoft.com/office/powerpoint/2010/main" val="2818736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9B58-7A92-774E-BC3A-BB4486AE738A}"/>
              </a:ext>
            </a:extLst>
          </p:cNvPr>
          <p:cNvSpPr>
            <a:spLocks noGrp="1"/>
          </p:cNvSpPr>
          <p:nvPr>
            <p:ph type="title"/>
          </p:nvPr>
        </p:nvSpPr>
        <p:spPr/>
        <p:txBody>
          <a:bodyPr/>
          <a:lstStyle/>
          <a:p>
            <a:r>
              <a:rPr lang="en-US" dirty="0"/>
              <a:t>Amazon CloudWatch for monitoring</a:t>
            </a:r>
          </a:p>
        </p:txBody>
      </p:sp>
      <p:sp>
        <p:nvSpPr>
          <p:cNvPr id="3" name="Content Placeholder 2">
            <a:extLst>
              <a:ext uri="{FF2B5EF4-FFF2-40B4-BE49-F238E27FC236}">
                <a16:creationId xmlns:a16="http://schemas.microsoft.com/office/drawing/2014/main" id="{30241FC8-E0C7-C442-A897-0F948721DFA1}"/>
              </a:ext>
            </a:extLst>
          </p:cNvPr>
          <p:cNvSpPr>
            <a:spLocks noGrp="1"/>
          </p:cNvSpPr>
          <p:nvPr>
            <p:ph idx="1"/>
          </p:nvPr>
        </p:nvSpPr>
        <p:spPr>
          <a:xfrm>
            <a:off x="312967" y="1528175"/>
            <a:ext cx="6118434" cy="4648788"/>
          </a:xfrm>
        </p:spPr>
        <p:txBody>
          <a:bodyPr/>
          <a:lstStyle/>
          <a:p>
            <a:r>
              <a:rPr lang="en-US" sz="2000" dirty="0"/>
              <a:t>Use </a:t>
            </a:r>
            <a:r>
              <a:rPr lang="en-US" sz="2000" b="1" dirty="0">
                <a:solidFill>
                  <a:schemeClr val="accent5"/>
                </a:solidFill>
              </a:rPr>
              <a:t>Amazon CloudWatch </a:t>
            </a:r>
            <a:r>
              <a:rPr lang="en-US" sz="2000" dirty="0"/>
              <a:t>to monitor EC2 instances</a:t>
            </a:r>
          </a:p>
          <a:p>
            <a:pPr lvl="1"/>
            <a:r>
              <a:rPr lang="en-US" sz="1800" dirty="0"/>
              <a:t>Provides near-real-time metrics</a:t>
            </a:r>
          </a:p>
          <a:p>
            <a:pPr lvl="1"/>
            <a:r>
              <a:rPr lang="en-US" sz="1800" dirty="0"/>
              <a:t>Provides charts in the Amazon EC2 console </a:t>
            </a:r>
            <a:r>
              <a:rPr lang="en-US" sz="1800" b="1" dirty="0"/>
              <a:t>Monitoring</a:t>
            </a:r>
            <a:r>
              <a:rPr lang="en-US" sz="1800" dirty="0"/>
              <a:t> tab that you can view</a:t>
            </a:r>
          </a:p>
          <a:p>
            <a:pPr lvl="1"/>
            <a:r>
              <a:rPr lang="en-US" sz="1800" dirty="0"/>
              <a:t>Maintains 15 months of historical data</a:t>
            </a:r>
          </a:p>
          <a:p>
            <a:pPr lvl="1"/>
            <a:endParaRPr lang="en-US" sz="1800" dirty="0"/>
          </a:p>
          <a:p>
            <a:r>
              <a:rPr lang="en-US" sz="2000" b="1" dirty="0">
                <a:solidFill>
                  <a:schemeClr val="accent5"/>
                </a:solidFill>
              </a:rPr>
              <a:t>Basic monitoring</a:t>
            </a:r>
          </a:p>
          <a:p>
            <a:pPr lvl="1"/>
            <a:r>
              <a:rPr lang="en-US" sz="1800" dirty="0"/>
              <a:t>Default, no additional cost</a:t>
            </a:r>
          </a:p>
          <a:p>
            <a:pPr lvl="1"/>
            <a:r>
              <a:rPr lang="en-US" sz="1800" dirty="0"/>
              <a:t>Metric data sent to CloudWatch every 5 minutes</a:t>
            </a:r>
          </a:p>
          <a:p>
            <a:pPr lvl="1"/>
            <a:endParaRPr lang="en-US" sz="1800" dirty="0"/>
          </a:p>
          <a:p>
            <a:r>
              <a:rPr lang="en-US" sz="2000" b="1" dirty="0">
                <a:solidFill>
                  <a:schemeClr val="accent5"/>
                </a:solidFill>
              </a:rPr>
              <a:t>Detailed monitoring</a:t>
            </a:r>
          </a:p>
          <a:p>
            <a:pPr lvl="1"/>
            <a:r>
              <a:rPr lang="en-US" sz="1800" dirty="0"/>
              <a:t>Fixed monthly rate for seven pre-selected metrics </a:t>
            </a:r>
          </a:p>
          <a:p>
            <a:pPr lvl="1"/>
            <a:r>
              <a:rPr lang="en-US" sz="1800" dirty="0"/>
              <a:t>Metric data delivered every 1 minute</a:t>
            </a:r>
          </a:p>
          <a:p>
            <a:endParaRPr lang="en-US" sz="2000" dirty="0"/>
          </a:p>
        </p:txBody>
      </p:sp>
      <p:sp>
        <p:nvSpPr>
          <p:cNvPr id="4" name="Slide Number Placeholder 3">
            <a:extLst>
              <a:ext uri="{FF2B5EF4-FFF2-40B4-BE49-F238E27FC236}">
                <a16:creationId xmlns:a16="http://schemas.microsoft.com/office/drawing/2014/main" id="{D0CFF0B1-4102-484F-B02A-21FE01BF14C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32</a:t>
            </a:fld>
            <a:endParaRPr lang="en-US" dirty="0"/>
          </a:p>
        </p:txBody>
      </p:sp>
      <p:sp>
        <p:nvSpPr>
          <p:cNvPr id="5" name="Footer Placeholder 4">
            <a:extLst>
              <a:ext uri="{FF2B5EF4-FFF2-40B4-BE49-F238E27FC236}">
                <a16:creationId xmlns:a16="http://schemas.microsoft.com/office/drawing/2014/main" id="{C86E1920-02E4-5B4E-AE3E-B9509C5D4EC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22" name="Group 21" descr="screen capture of the EC2 console showing the Monitoring tab view. The charts in the monitoring tab are highlighted.">
            <a:extLst>
              <a:ext uri="{FF2B5EF4-FFF2-40B4-BE49-F238E27FC236}">
                <a16:creationId xmlns:a16="http://schemas.microsoft.com/office/drawing/2014/main" id="{90F3373A-15A9-BA47-B8DE-433C0BC56FC8}"/>
              </a:ext>
            </a:extLst>
          </p:cNvPr>
          <p:cNvGrpSpPr/>
          <p:nvPr/>
        </p:nvGrpSpPr>
        <p:grpSpPr>
          <a:xfrm>
            <a:off x="6200325" y="1279221"/>
            <a:ext cx="5452849" cy="5384589"/>
            <a:chOff x="6278337" y="1279221"/>
            <a:chExt cx="5452849" cy="5384589"/>
          </a:xfrm>
        </p:grpSpPr>
        <p:grpSp>
          <p:nvGrpSpPr>
            <p:cNvPr id="21" name="Group 20">
              <a:extLst>
                <a:ext uri="{FF2B5EF4-FFF2-40B4-BE49-F238E27FC236}">
                  <a16:creationId xmlns:a16="http://schemas.microsoft.com/office/drawing/2014/main" id="{544BFC06-028E-6244-9EC8-642758CE4CC0}"/>
                </a:ext>
              </a:extLst>
            </p:cNvPr>
            <p:cNvGrpSpPr/>
            <p:nvPr/>
          </p:nvGrpSpPr>
          <p:grpSpPr>
            <a:xfrm>
              <a:off x="6278337" y="2250006"/>
              <a:ext cx="5293307" cy="4413804"/>
              <a:chOff x="6278337" y="2250006"/>
              <a:chExt cx="5293307" cy="4413804"/>
            </a:xfrm>
          </p:grpSpPr>
          <p:pic>
            <p:nvPicPr>
              <p:cNvPr id="15" name="Picture 14">
                <a:extLst>
                  <a:ext uri="{FF2B5EF4-FFF2-40B4-BE49-F238E27FC236}">
                    <a16:creationId xmlns:a16="http://schemas.microsoft.com/office/drawing/2014/main" id="{2776498D-DCDA-A44E-A03A-99B6942BD933}"/>
                  </a:ext>
                </a:extLst>
              </p:cNvPr>
              <p:cNvPicPr>
                <a:picLocks noChangeAspect="1"/>
              </p:cNvPicPr>
              <p:nvPr/>
            </p:nvPicPr>
            <p:blipFill>
              <a:blip r:embed="rId4"/>
              <a:stretch>
                <a:fillRect/>
              </a:stretch>
            </p:blipFill>
            <p:spPr>
              <a:xfrm>
                <a:off x="6278337" y="2250006"/>
                <a:ext cx="5293307" cy="4413804"/>
              </a:xfrm>
              <a:prstGeom prst="rect">
                <a:avLst/>
              </a:prstGeom>
              <a:ln>
                <a:solidFill>
                  <a:schemeClr val="accent1"/>
                </a:solidFill>
              </a:ln>
            </p:spPr>
          </p:pic>
          <p:sp>
            <p:nvSpPr>
              <p:cNvPr id="20" name="Rectangle 19">
                <a:extLst>
                  <a:ext uri="{FF2B5EF4-FFF2-40B4-BE49-F238E27FC236}">
                    <a16:creationId xmlns:a16="http://schemas.microsoft.com/office/drawing/2014/main" id="{7421B20E-971C-F94B-BE0A-0A4F1BC083C6}"/>
                  </a:ext>
                </a:extLst>
              </p:cNvPr>
              <p:cNvSpPr/>
              <p:nvPr/>
            </p:nvSpPr>
            <p:spPr>
              <a:xfrm>
                <a:off x="9453372" y="2311342"/>
                <a:ext cx="907107" cy="121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Box 10">
              <a:extLst>
                <a:ext uri="{FF2B5EF4-FFF2-40B4-BE49-F238E27FC236}">
                  <a16:creationId xmlns:a16="http://schemas.microsoft.com/office/drawing/2014/main" id="{ED5E8DC3-DB8F-DD4C-881B-983BF361CA46}"/>
                </a:ext>
              </a:extLst>
            </p:cNvPr>
            <p:cNvSpPr txBox="1"/>
            <p:nvPr/>
          </p:nvSpPr>
          <p:spPr>
            <a:xfrm>
              <a:off x="6920607" y="1850747"/>
              <a:ext cx="2188750"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p:txBody>
        </p:sp>
        <p:pic>
          <p:nvPicPr>
            <p:cNvPr id="12" name="Graphic 11">
              <a:extLst>
                <a:ext uri="{FF2B5EF4-FFF2-40B4-BE49-F238E27FC236}">
                  <a16:creationId xmlns:a16="http://schemas.microsoft.com/office/drawing/2014/main" id="{034236BD-4692-4E4F-9923-5554DA4E39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0662" y="1302107"/>
              <a:ext cx="548640" cy="548640"/>
            </a:xfrm>
            <a:prstGeom prst="rect">
              <a:avLst/>
            </a:prstGeom>
          </p:spPr>
        </p:pic>
        <p:pic>
          <p:nvPicPr>
            <p:cNvPr id="13" name="Graphic 12">
              <a:extLst>
                <a:ext uri="{FF2B5EF4-FFF2-40B4-BE49-F238E27FC236}">
                  <a16:creationId xmlns:a16="http://schemas.microsoft.com/office/drawing/2014/main" id="{9C9DBC19-E45D-0947-BB1F-4C9CB8F501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29457" y="1279221"/>
              <a:ext cx="548640" cy="548640"/>
            </a:xfrm>
            <a:prstGeom prst="rect">
              <a:avLst/>
            </a:prstGeom>
          </p:spPr>
        </p:pic>
        <p:sp>
          <p:nvSpPr>
            <p:cNvPr id="14" name="TextBox 13">
              <a:extLst>
                <a:ext uri="{FF2B5EF4-FFF2-40B4-BE49-F238E27FC236}">
                  <a16:creationId xmlns:a16="http://schemas.microsoft.com/office/drawing/2014/main" id="{30D6A80C-E29F-894D-AED8-7F8FE21352E1}"/>
                </a:ext>
              </a:extLst>
            </p:cNvPr>
            <p:cNvSpPr txBox="1"/>
            <p:nvPr/>
          </p:nvSpPr>
          <p:spPr>
            <a:xfrm>
              <a:off x="9076368" y="1851586"/>
              <a:ext cx="2654818"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Instance with CloudWatch</a:t>
              </a:r>
            </a:p>
          </p:txBody>
        </p:sp>
        <p:cxnSp>
          <p:nvCxnSpPr>
            <p:cNvPr id="17" name="Straight Arrow Connector 16">
              <a:extLst>
                <a:ext uri="{FF2B5EF4-FFF2-40B4-BE49-F238E27FC236}">
                  <a16:creationId xmlns:a16="http://schemas.microsoft.com/office/drawing/2014/main" id="{7316A9C0-79D0-5C4F-85A0-D5382F6C0027}"/>
                </a:ext>
              </a:extLst>
            </p:cNvPr>
            <p:cNvCxnSpPr>
              <a:cxnSpLocks/>
              <a:stCxn id="13" idx="3"/>
              <a:endCxn id="18" idx="3"/>
            </p:cNvCxnSpPr>
            <p:nvPr/>
          </p:nvCxnSpPr>
          <p:spPr>
            <a:xfrm>
              <a:off x="10678097" y="1553541"/>
              <a:ext cx="809054" cy="3330711"/>
            </a:xfrm>
            <a:prstGeom prst="bentConnector3">
              <a:avLst>
                <a:gd name="adj1" fmla="val 128255"/>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F6B8632-2A1E-534B-B465-8A40B36AE9E7}"/>
                </a:ext>
              </a:extLst>
            </p:cNvPr>
            <p:cNvSpPr/>
            <p:nvPr/>
          </p:nvSpPr>
          <p:spPr>
            <a:xfrm>
              <a:off x="7254175" y="3469819"/>
              <a:ext cx="4232976" cy="2828865"/>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grpSp>
    </p:spTree>
    <p:custDataLst>
      <p:tags r:id="rId1"/>
    </p:custDataLst>
    <p:extLst>
      <p:ext uri="{BB962C8B-B14F-4D97-AF65-F5344CB8AC3E}">
        <p14:creationId xmlns:p14="http://schemas.microsoft.com/office/powerpoint/2010/main" val="2227685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2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33</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sz="2000" b="1" dirty="0">
                <a:solidFill>
                  <a:schemeClr val="accent5"/>
                </a:solidFill>
              </a:rPr>
              <a:t>Amazon EC2</a:t>
            </a:r>
            <a:r>
              <a:rPr lang="en-US" sz="2000" dirty="0"/>
              <a:t> enables you to run Windows and Linux </a:t>
            </a:r>
            <a:r>
              <a:rPr lang="en-US" sz="2000" b="1" dirty="0">
                <a:solidFill>
                  <a:schemeClr val="accent5"/>
                </a:solidFill>
              </a:rPr>
              <a:t>virtual machines </a:t>
            </a:r>
            <a:r>
              <a:rPr lang="en-US" sz="2000" dirty="0"/>
              <a:t>in the cloud.</a:t>
            </a:r>
          </a:p>
          <a:p>
            <a:r>
              <a:rPr lang="en-US" sz="2000" dirty="0"/>
              <a:t>You launch </a:t>
            </a:r>
            <a:r>
              <a:rPr lang="en-US" sz="2000" b="1" dirty="0">
                <a:solidFill>
                  <a:schemeClr val="accent5"/>
                </a:solidFill>
              </a:rPr>
              <a:t>EC2 instances</a:t>
            </a:r>
            <a:r>
              <a:rPr lang="en-US" sz="2000" dirty="0"/>
              <a:t> from an </a:t>
            </a:r>
            <a:r>
              <a:rPr lang="en-US" sz="2000" b="1" dirty="0">
                <a:solidFill>
                  <a:schemeClr val="accent5"/>
                </a:solidFill>
              </a:rPr>
              <a:t>AMI</a:t>
            </a:r>
            <a:r>
              <a:rPr lang="en-US" sz="2000" dirty="0"/>
              <a:t> template into a VPC in your account.</a:t>
            </a:r>
          </a:p>
          <a:p>
            <a:r>
              <a:rPr lang="en-US" sz="2000" dirty="0"/>
              <a:t>You can choose from many </a:t>
            </a:r>
            <a:r>
              <a:rPr lang="en-US" sz="2000" b="1" dirty="0">
                <a:solidFill>
                  <a:schemeClr val="accent5"/>
                </a:solidFill>
              </a:rPr>
              <a:t>instance types</a:t>
            </a:r>
            <a:r>
              <a:rPr lang="en-US" sz="2000" dirty="0"/>
              <a:t>. Each instance type offers different combinations of CPU, RAM, storage, and networking capabilities.</a:t>
            </a:r>
          </a:p>
          <a:p>
            <a:r>
              <a:rPr lang="en-US" sz="2000" dirty="0"/>
              <a:t>You can configure </a:t>
            </a:r>
            <a:r>
              <a:rPr lang="en-US" sz="2000" b="1" dirty="0">
                <a:solidFill>
                  <a:schemeClr val="accent5"/>
                </a:solidFill>
              </a:rPr>
              <a:t>security groups </a:t>
            </a:r>
            <a:r>
              <a:rPr lang="en-US" sz="2000" dirty="0"/>
              <a:t>to control access to instances (specify allowed ports and source).</a:t>
            </a:r>
          </a:p>
          <a:p>
            <a:r>
              <a:rPr lang="en-US" sz="2000" b="1" dirty="0">
                <a:solidFill>
                  <a:schemeClr val="accent5"/>
                </a:solidFill>
              </a:rPr>
              <a:t>User data </a:t>
            </a:r>
            <a:r>
              <a:rPr lang="en-US" sz="2000" dirty="0"/>
              <a:t>enables you to specify a script to run the first time that an instance launches. </a:t>
            </a:r>
          </a:p>
          <a:p>
            <a:r>
              <a:rPr lang="en-US" sz="2000" dirty="0"/>
              <a:t>Only </a:t>
            </a:r>
            <a:r>
              <a:rPr lang="en-US" sz="2000" b="1" dirty="0">
                <a:solidFill>
                  <a:schemeClr val="accent5"/>
                </a:solidFill>
              </a:rPr>
              <a:t>instances that are backed by Amazon EBS </a:t>
            </a:r>
            <a:r>
              <a:rPr lang="en-US" sz="2000" dirty="0"/>
              <a:t>can be stopped. </a:t>
            </a:r>
          </a:p>
          <a:p>
            <a:r>
              <a:rPr lang="en-US" sz="2000" dirty="0"/>
              <a:t>You can use </a:t>
            </a:r>
            <a:r>
              <a:rPr lang="en-US" sz="2000" b="1" dirty="0">
                <a:solidFill>
                  <a:schemeClr val="accent5"/>
                </a:solidFill>
              </a:rPr>
              <a:t>Amazon CloudWatch </a:t>
            </a:r>
            <a:r>
              <a:rPr lang="en-US" sz="2000" dirty="0"/>
              <a:t>to capture and review metrics on EC2 instances.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4221487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2" name="Title 1"/>
          <p:cNvSpPr>
            <a:spLocks noGrp="1"/>
          </p:cNvSpPr>
          <p:nvPr>
            <p:ph type="title"/>
          </p:nvPr>
        </p:nvSpPr>
        <p:spPr/>
        <p:txBody>
          <a:bodyPr>
            <a:noAutofit/>
          </a:bodyPr>
          <a:lstStyle/>
          <a:p>
            <a:pPr algn="ctr"/>
            <a:r>
              <a:rPr lang="en-US" sz="4400" dirty="0"/>
              <a:t>Recorded Amazon EC2 demonstration</a:t>
            </a:r>
          </a:p>
        </p:txBody>
      </p:sp>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34</a:t>
            </a:fld>
            <a:endParaRPr lang="en-US" dirty="0"/>
          </a:p>
        </p:txBody>
      </p:sp>
      <p:pic>
        <p:nvPicPr>
          <p:cNvPr id="4" name="Picture 3">
            <a:hlinkClick r:id="rId4"/>
            <a:extLst>
              <a:ext uri="{FF2B5EF4-FFF2-40B4-BE49-F238E27FC236}">
                <a16:creationId xmlns:a16="http://schemas.microsoft.com/office/drawing/2014/main" id="{45DBDA2E-3B4A-8641-9422-2E88C41F073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604392" y="1916909"/>
            <a:ext cx="6139932" cy="3195637"/>
          </a:xfrm>
          <a:prstGeom prst="rect">
            <a:avLst/>
          </a:prstGeom>
        </p:spPr>
      </p:pic>
    </p:spTree>
    <p:custDataLst>
      <p:tags r:id="rId1"/>
    </p:custDataLst>
    <p:extLst>
      <p:ext uri="{BB962C8B-B14F-4D97-AF65-F5344CB8AC3E}">
        <p14:creationId xmlns:p14="http://schemas.microsoft.com/office/powerpoint/2010/main" val="1306560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2A977F79-488E-0448-AF87-F01F6C9ACA7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2" name="Title 1"/>
          <p:cNvSpPr>
            <a:spLocks noGrp="1"/>
          </p:cNvSpPr>
          <p:nvPr>
            <p:ph type="title"/>
          </p:nvPr>
        </p:nvSpPr>
        <p:spPr/>
        <p:txBody>
          <a:bodyPr>
            <a:noAutofit/>
          </a:bodyPr>
          <a:lstStyle/>
          <a:p>
            <a:r>
              <a:rPr lang="en-US" dirty="0"/>
              <a:t>Lab 3: </a:t>
            </a:r>
            <a:br>
              <a:rPr lang="en-US" dirty="0"/>
            </a:br>
            <a:r>
              <a:rPr lang="en-US" dirty="0"/>
              <a:t>Introduction to Amazon EC2</a:t>
            </a:r>
          </a:p>
        </p:txBody>
      </p:sp>
      <p:sp>
        <p:nvSpPr>
          <p:cNvPr id="8" name="Slide Number Placeholder 7">
            <a:extLst>
              <a:ext uri="{FF2B5EF4-FFF2-40B4-BE49-F238E27FC236}">
                <a16:creationId xmlns:a16="http://schemas.microsoft.com/office/drawing/2014/main" id="{7851E20E-EFE0-DB4E-98AB-A73A70227D99}"/>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t>35</a:t>
            </a:fld>
            <a:endParaRPr lang="en-US" dirty="0"/>
          </a:p>
        </p:txBody>
      </p:sp>
      <p:pic>
        <p:nvPicPr>
          <p:cNvPr id="10" name="Content Placeholder 3">
            <a:extLst>
              <a:ext uri="{FF2B5EF4-FFF2-40B4-BE49-F238E27FC236}">
                <a16:creationId xmlns:a16="http://schemas.microsoft.com/office/drawing/2014/main" id="{7D5B3482-C074-8E40-A746-E3E3D740744D}"/>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715000" y="1529655"/>
            <a:ext cx="5767388" cy="3983831"/>
          </a:xfrm>
          <a:prstGeom prst="rect">
            <a:avLst/>
          </a:prstGeom>
        </p:spPr>
      </p:pic>
    </p:spTree>
    <p:custDataLst>
      <p:tags r:id="rId1"/>
    </p:custDataLst>
    <p:extLst>
      <p:ext uri="{BB962C8B-B14F-4D97-AF65-F5344CB8AC3E}">
        <p14:creationId xmlns:p14="http://schemas.microsoft.com/office/powerpoint/2010/main" val="1582834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3 scenario</a:t>
            </a:r>
          </a:p>
        </p:txBody>
      </p:sp>
      <p:sp>
        <p:nvSpPr>
          <p:cNvPr id="3" name="Content Placeholder 2"/>
          <p:cNvSpPr>
            <a:spLocks noGrp="1"/>
          </p:cNvSpPr>
          <p:nvPr>
            <p:ph idx="1"/>
          </p:nvPr>
        </p:nvSpPr>
        <p:spPr>
          <a:xfrm>
            <a:off x="249171" y="1461571"/>
            <a:ext cx="11330609" cy="827344"/>
          </a:xfrm>
        </p:spPr>
        <p:txBody>
          <a:bodyPr>
            <a:normAutofit lnSpcReduction="10000"/>
          </a:bodyPr>
          <a:lstStyle/>
          <a:p>
            <a:pPr marL="0" lvl="1" indent="0">
              <a:spcBef>
                <a:spcPts val="1800"/>
              </a:spcBef>
              <a:spcAft>
                <a:spcPts val="800"/>
              </a:spcAft>
              <a:buNone/>
            </a:pPr>
            <a:r>
              <a:rPr lang="en-US" sz="2800" dirty="0"/>
              <a:t>In this lab, you will launch and configure your first virtual machine that runs on Amazon EC2. </a:t>
            </a:r>
          </a:p>
        </p:txBody>
      </p:sp>
      <p:sp>
        <p:nvSpPr>
          <p:cNvPr id="4" name="Footer Placeholder 3">
            <a:extLst>
              <a:ext uri="{FF2B5EF4-FFF2-40B4-BE49-F238E27FC236}">
                <a16:creationId xmlns:a16="http://schemas.microsoft.com/office/drawing/2014/main" id="{5F774010-6993-FF4A-9F39-8ADB5CD189D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B7E010F3-0831-B745-A08F-C40C256B1EF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36</a:t>
            </a:fld>
            <a:endParaRPr lang="en-US" dirty="0"/>
          </a:p>
        </p:txBody>
      </p:sp>
      <p:grpSp>
        <p:nvGrpSpPr>
          <p:cNvPr id="49" name="Group 48" descr="diagram showing a web server instance in a public subnet. The subnet is in availability zone 1 and a VPC named Lab VPC.">
            <a:extLst>
              <a:ext uri="{FF2B5EF4-FFF2-40B4-BE49-F238E27FC236}">
                <a16:creationId xmlns:a16="http://schemas.microsoft.com/office/drawing/2014/main" id="{E1900DA7-3EF6-7149-BEA0-327FFF983FC7}"/>
              </a:ext>
            </a:extLst>
          </p:cNvPr>
          <p:cNvGrpSpPr/>
          <p:nvPr/>
        </p:nvGrpSpPr>
        <p:grpSpPr>
          <a:xfrm>
            <a:off x="3655470" y="2369847"/>
            <a:ext cx="4518009" cy="3783811"/>
            <a:chOff x="2286828" y="2384058"/>
            <a:chExt cx="4518009" cy="3783811"/>
          </a:xfrm>
        </p:grpSpPr>
        <p:sp>
          <p:nvSpPr>
            <p:cNvPr id="38" name="Rectangle 37">
              <a:extLst>
                <a:ext uri="{FF2B5EF4-FFF2-40B4-BE49-F238E27FC236}">
                  <a16:creationId xmlns:a16="http://schemas.microsoft.com/office/drawing/2014/main" id="{BDE47609-F308-404B-95FC-9F484C3C716F}"/>
                </a:ext>
              </a:extLst>
            </p:cNvPr>
            <p:cNvSpPr/>
            <p:nvPr/>
          </p:nvSpPr>
          <p:spPr>
            <a:xfrm>
              <a:off x="4559202" y="3662339"/>
              <a:ext cx="1710543" cy="1864886"/>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600" dirty="0">
                  <a:solidFill>
                    <a:schemeClr val="accent5"/>
                  </a:solidFill>
                </a:rPr>
                <a:t>Public subnet</a:t>
              </a:r>
            </a:p>
          </p:txBody>
        </p:sp>
        <p:sp>
          <p:nvSpPr>
            <p:cNvPr id="30" name="Rectangle 29">
              <a:extLst>
                <a:ext uri="{FF2B5EF4-FFF2-40B4-BE49-F238E27FC236}">
                  <a16:creationId xmlns:a16="http://schemas.microsoft.com/office/drawing/2014/main" id="{D4C388C4-E5E3-5E4E-A417-3B469CE97805}"/>
                </a:ext>
              </a:extLst>
            </p:cNvPr>
            <p:cNvSpPr/>
            <p:nvPr/>
          </p:nvSpPr>
          <p:spPr>
            <a:xfrm>
              <a:off x="2820708" y="3329965"/>
              <a:ext cx="3617589" cy="2370748"/>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chemeClr val="accent5"/>
                  </a:solidFill>
                </a:rPr>
                <a:t>Lab VPC</a:t>
              </a:r>
            </a:p>
          </p:txBody>
        </p:sp>
        <p:sp>
          <p:nvSpPr>
            <p:cNvPr id="31" name="Rectangle 30">
              <a:extLst>
                <a:ext uri="{FF2B5EF4-FFF2-40B4-BE49-F238E27FC236}">
                  <a16:creationId xmlns:a16="http://schemas.microsoft.com/office/drawing/2014/main" id="{21FEE625-8C6A-3C41-9B39-A39E83110C4A}"/>
                </a:ext>
              </a:extLst>
            </p:cNvPr>
            <p:cNvSpPr/>
            <p:nvPr/>
          </p:nvSpPr>
          <p:spPr>
            <a:xfrm>
              <a:off x="2286828" y="2384058"/>
              <a:ext cx="4518009" cy="378381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sp>
          <p:nvSpPr>
            <p:cNvPr id="32" name="Rectangle 31">
              <a:extLst>
                <a:ext uri="{FF2B5EF4-FFF2-40B4-BE49-F238E27FC236}">
                  <a16:creationId xmlns:a16="http://schemas.microsoft.com/office/drawing/2014/main" id="{43813717-EE3B-0A46-BC41-DB27B7F7CDCA}"/>
                </a:ext>
              </a:extLst>
            </p:cNvPr>
            <p:cNvSpPr/>
            <p:nvPr/>
          </p:nvSpPr>
          <p:spPr>
            <a:xfrm>
              <a:off x="4454802" y="2947911"/>
              <a:ext cx="1860055" cy="288138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1</a:t>
              </a:r>
            </a:p>
          </p:txBody>
        </p:sp>
        <p:pic>
          <p:nvPicPr>
            <p:cNvPr id="33" name="Graphic 32">
              <a:extLst>
                <a:ext uri="{FF2B5EF4-FFF2-40B4-BE49-F238E27FC236}">
                  <a16:creationId xmlns:a16="http://schemas.microsoft.com/office/drawing/2014/main" id="{CB287DD5-665F-0B4E-A089-5C9C8401D5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86828" y="2384058"/>
              <a:ext cx="277535" cy="277535"/>
            </a:xfrm>
            <a:prstGeom prst="rect">
              <a:avLst/>
            </a:prstGeom>
          </p:spPr>
        </p:pic>
        <p:pic>
          <p:nvPicPr>
            <p:cNvPr id="34" name="Graphic 33">
              <a:extLst>
                <a:ext uri="{FF2B5EF4-FFF2-40B4-BE49-F238E27FC236}">
                  <a16:creationId xmlns:a16="http://schemas.microsoft.com/office/drawing/2014/main" id="{6C66796A-3077-C649-890F-9ED3B1DCE4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20708" y="3329965"/>
              <a:ext cx="277535" cy="277535"/>
            </a:xfrm>
            <a:prstGeom prst="rect">
              <a:avLst/>
            </a:prstGeom>
          </p:spPr>
        </p:pic>
        <p:pic>
          <p:nvPicPr>
            <p:cNvPr id="36" name="Graphic 35">
              <a:extLst>
                <a:ext uri="{FF2B5EF4-FFF2-40B4-BE49-F238E27FC236}">
                  <a16:creationId xmlns:a16="http://schemas.microsoft.com/office/drawing/2014/main" id="{B2A2CFDB-3786-214E-98C5-24E5E86727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16997" y="4062784"/>
              <a:ext cx="394953" cy="394953"/>
            </a:xfrm>
            <a:prstGeom prst="rect">
              <a:avLst/>
            </a:prstGeom>
          </p:spPr>
        </p:pic>
        <p:sp>
          <p:nvSpPr>
            <p:cNvPr id="37" name="TextBox 36">
              <a:extLst>
                <a:ext uri="{FF2B5EF4-FFF2-40B4-BE49-F238E27FC236}">
                  <a16:creationId xmlns:a16="http://schemas.microsoft.com/office/drawing/2014/main" id="{66D35617-E1A4-7E4E-AA57-AF3C2C897AED}"/>
                </a:ext>
              </a:extLst>
            </p:cNvPr>
            <p:cNvSpPr txBox="1"/>
            <p:nvPr/>
          </p:nvSpPr>
          <p:spPr>
            <a:xfrm>
              <a:off x="4671923" y="4410437"/>
              <a:ext cx="1485100" cy="584775"/>
            </a:xfrm>
            <a:prstGeom prst="rect">
              <a:avLst/>
            </a:prstGeom>
            <a:noFill/>
          </p:spPr>
          <p:txBody>
            <a:bodyPr wrap="square" rtlCol="0">
              <a:spAutoFit/>
            </a:bodyPr>
            <a:lstStyle/>
            <a:p>
              <a:pPr algn="ctr"/>
              <a:r>
                <a:rPr lang="en-US" sz="1600" dirty="0">
                  <a:solidFill>
                    <a:srgbClr val="232F3E"/>
                  </a:solidFill>
                </a:rPr>
                <a:t>Web server</a:t>
              </a:r>
              <a:br>
                <a:rPr lang="en-US" sz="1600" dirty="0">
                  <a:solidFill>
                    <a:srgbClr val="232F3E"/>
                  </a:solidFill>
                </a:rPr>
              </a:br>
              <a:r>
                <a:rPr lang="en-US" sz="1600" dirty="0">
                  <a:solidFill>
                    <a:srgbClr val="232F3E"/>
                  </a:solidFill>
                </a:rPr>
                <a:t>instance</a:t>
              </a:r>
            </a:p>
          </p:txBody>
        </p:sp>
        <p:pic>
          <p:nvPicPr>
            <p:cNvPr id="40" name="Graphic 39">
              <a:extLst>
                <a:ext uri="{FF2B5EF4-FFF2-40B4-BE49-F238E27FC236}">
                  <a16:creationId xmlns:a16="http://schemas.microsoft.com/office/drawing/2014/main" id="{0330DD15-3518-C947-8F1E-DA11C561F0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59144" y="3653567"/>
              <a:ext cx="274320" cy="274320"/>
            </a:xfrm>
            <a:prstGeom prst="rect">
              <a:avLst/>
            </a:prstGeom>
          </p:spPr>
        </p:pic>
        <p:sp>
          <p:nvSpPr>
            <p:cNvPr id="42" name="Rectangle 41">
              <a:extLst>
                <a:ext uri="{FF2B5EF4-FFF2-40B4-BE49-F238E27FC236}">
                  <a16:creationId xmlns:a16="http://schemas.microsoft.com/office/drawing/2014/main" id="{AC6338C9-4808-EA42-A2FC-2018ED9971FA}"/>
                </a:ext>
              </a:extLst>
            </p:cNvPr>
            <p:cNvSpPr/>
            <p:nvPr/>
          </p:nvSpPr>
          <p:spPr>
            <a:xfrm>
              <a:off x="2564364" y="2742525"/>
              <a:ext cx="4004031" cy="3215363"/>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accent3"/>
                  </a:solidFill>
                </a:rPr>
                <a:t>Region</a:t>
              </a:r>
            </a:p>
          </p:txBody>
        </p:sp>
        <p:pic>
          <p:nvPicPr>
            <p:cNvPr id="43" name="Graphic 42">
              <a:extLst>
                <a:ext uri="{FF2B5EF4-FFF2-40B4-BE49-F238E27FC236}">
                  <a16:creationId xmlns:a16="http://schemas.microsoft.com/office/drawing/2014/main" id="{CC5ED29E-4FBE-F54F-BA93-A562CDDEF1D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64363" y="2761925"/>
              <a:ext cx="274320" cy="274320"/>
            </a:xfrm>
            <a:prstGeom prst="rect">
              <a:avLst/>
            </a:prstGeom>
          </p:spPr>
        </p:pic>
      </p:grpSp>
    </p:spTree>
    <p:custDataLst>
      <p:tags r:id="rId1"/>
    </p:custDataLst>
    <p:extLst>
      <p:ext uri="{BB962C8B-B14F-4D97-AF65-F5344CB8AC3E}">
        <p14:creationId xmlns:p14="http://schemas.microsoft.com/office/powerpoint/2010/main" val="741571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3: Tasks</a:t>
            </a:r>
          </a:p>
        </p:txBody>
      </p:sp>
      <p:sp>
        <p:nvSpPr>
          <p:cNvPr id="3" name="Content Placeholder 2"/>
          <p:cNvSpPr>
            <a:spLocks noGrp="1"/>
          </p:cNvSpPr>
          <p:nvPr>
            <p:ph idx="1"/>
          </p:nvPr>
        </p:nvSpPr>
        <p:spPr>
          <a:xfrm>
            <a:off x="419100" y="1528175"/>
            <a:ext cx="9034272" cy="4648788"/>
          </a:xfrm>
        </p:spPr>
        <p:txBody>
          <a:bodyPr/>
          <a:lstStyle/>
          <a:p>
            <a:pPr>
              <a:lnSpc>
                <a:spcPct val="150000"/>
              </a:lnSpc>
            </a:pPr>
            <a:r>
              <a:rPr lang="en-US" sz="2400" dirty="0">
                <a:latin typeface="+mn-lt"/>
              </a:rPr>
              <a:t>Task 1 – Launch Your Amazon EC2 Instance</a:t>
            </a:r>
          </a:p>
          <a:p>
            <a:pPr>
              <a:lnSpc>
                <a:spcPct val="150000"/>
              </a:lnSpc>
            </a:pPr>
            <a:r>
              <a:rPr lang="en-US" sz="2400" dirty="0"/>
              <a:t>Task 2 – </a:t>
            </a:r>
            <a:r>
              <a:rPr lang="en-US" sz="2400" dirty="0">
                <a:latin typeface="+mn-lt"/>
              </a:rPr>
              <a:t>Monitor Your Instance</a:t>
            </a:r>
          </a:p>
          <a:p>
            <a:pPr>
              <a:lnSpc>
                <a:spcPct val="150000"/>
              </a:lnSpc>
            </a:pPr>
            <a:r>
              <a:rPr lang="en-US" sz="2400" dirty="0"/>
              <a:t>Task 3 – </a:t>
            </a:r>
            <a:r>
              <a:rPr lang="en-US" sz="2400" dirty="0">
                <a:latin typeface="+mn-lt"/>
              </a:rPr>
              <a:t>Update Your Security Group and Access the Web Server</a:t>
            </a:r>
          </a:p>
          <a:p>
            <a:pPr>
              <a:lnSpc>
                <a:spcPct val="150000"/>
              </a:lnSpc>
            </a:pPr>
            <a:r>
              <a:rPr lang="en-US" sz="2400" dirty="0"/>
              <a:t>Task 4 – </a:t>
            </a:r>
            <a:r>
              <a:rPr lang="en-US" sz="2400" dirty="0">
                <a:latin typeface="+mn-lt"/>
              </a:rPr>
              <a:t>Resize Your Instance: Instance Type and EBS Volume</a:t>
            </a:r>
          </a:p>
          <a:p>
            <a:pPr>
              <a:lnSpc>
                <a:spcPct val="150000"/>
              </a:lnSpc>
            </a:pPr>
            <a:r>
              <a:rPr lang="en-US" sz="2400" dirty="0"/>
              <a:t>Task 5 – </a:t>
            </a:r>
            <a:r>
              <a:rPr lang="en-US" sz="2400" dirty="0">
                <a:latin typeface="+mn-lt"/>
              </a:rPr>
              <a:t>Explore EC2 Limits</a:t>
            </a:r>
          </a:p>
          <a:p>
            <a:pPr>
              <a:lnSpc>
                <a:spcPct val="150000"/>
              </a:lnSpc>
            </a:pPr>
            <a:r>
              <a:rPr lang="en-US" sz="2400" dirty="0"/>
              <a:t>Task 6 – </a:t>
            </a:r>
            <a:r>
              <a:rPr lang="en-US" sz="2400" dirty="0">
                <a:latin typeface="+mn-lt"/>
              </a:rPr>
              <a:t>Test Termination Protection</a:t>
            </a:r>
          </a:p>
        </p:txBody>
      </p:sp>
      <p:sp>
        <p:nvSpPr>
          <p:cNvPr id="5" name="Slide Number Placeholder 4">
            <a:extLst>
              <a:ext uri="{FF2B5EF4-FFF2-40B4-BE49-F238E27FC236}">
                <a16:creationId xmlns:a16="http://schemas.microsoft.com/office/drawing/2014/main" id="{92F5F2A1-6E67-C14A-9D7F-953321325B8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37</a:t>
            </a:fld>
            <a:endParaRPr lang="en-US" dirty="0"/>
          </a:p>
        </p:txBody>
      </p:sp>
      <p:sp>
        <p:nvSpPr>
          <p:cNvPr id="4" name="Footer Placeholder 3">
            <a:extLst>
              <a:ext uri="{FF2B5EF4-FFF2-40B4-BE49-F238E27FC236}">
                <a16:creationId xmlns:a16="http://schemas.microsoft.com/office/drawing/2014/main" id="{1437F06E-ECEC-8B46-B7C8-E1C13184705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708822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3: Final product</a:t>
            </a:r>
          </a:p>
        </p:txBody>
      </p:sp>
      <p:sp>
        <p:nvSpPr>
          <p:cNvPr id="15" name="Content Placeholder 14">
            <a:extLst>
              <a:ext uri="{FF2B5EF4-FFF2-40B4-BE49-F238E27FC236}">
                <a16:creationId xmlns:a16="http://schemas.microsoft.com/office/drawing/2014/main" id="{69CC5531-FA4B-3543-A0EC-5AD24319FC56}"/>
              </a:ext>
            </a:extLst>
          </p:cNvPr>
          <p:cNvSpPr>
            <a:spLocks noGrp="1"/>
          </p:cNvSpPr>
          <p:nvPr>
            <p:ph idx="1"/>
          </p:nvPr>
        </p:nvSpPr>
        <p:spPr>
          <a:xfrm>
            <a:off x="419100" y="1528175"/>
            <a:ext cx="5021927" cy="4648788"/>
          </a:xfrm>
        </p:spPr>
        <p:txBody>
          <a:bodyPr/>
          <a:lstStyle/>
          <a:p>
            <a:pPr marL="0" indent="0">
              <a:buNone/>
            </a:pPr>
            <a:r>
              <a:rPr lang="en-US" sz="2400" dirty="0"/>
              <a:t>By the end of the lab, you will have:</a:t>
            </a:r>
          </a:p>
          <a:p>
            <a:pPr marL="457200" indent="-457200">
              <a:buFont typeface="+mj-lt"/>
              <a:buAutoNum type="arabicPeriod"/>
            </a:pPr>
            <a:r>
              <a:rPr lang="en-US" sz="1800" dirty="0"/>
              <a:t>Launched an instance that is configured as a web server</a:t>
            </a:r>
          </a:p>
          <a:p>
            <a:pPr marL="457200" indent="-457200">
              <a:buFont typeface="+mj-lt"/>
              <a:buAutoNum type="arabicPeriod"/>
            </a:pPr>
            <a:r>
              <a:rPr lang="en-US" sz="1800" dirty="0"/>
              <a:t>Viewed the instance system log</a:t>
            </a:r>
          </a:p>
          <a:p>
            <a:pPr marL="457200" indent="-457200">
              <a:buFont typeface="+mj-lt"/>
              <a:buAutoNum type="arabicPeriod"/>
            </a:pPr>
            <a:r>
              <a:rPr lang="en-US" sz="1800" dirty="0"/>
              <a:t>Reconfigured a security group</a:t>
            </a:r>
          </a:p>
          <a:p>
            <a:pPr marL="457200" indent="-457200">
              <a:buFont typeface="+mj-lt"/>
              <a:buAutoNum type="arabicPeriod"/>
            </a:pPr>
            <a:r>
              <a:rPr lang="en-US" sz="1800" dirty="0"/>
              <a:t>Modified the instance type and root volume size</a:t>
            </a:r>
            <a:endParaRPr lang="en-US" sz="2400" dirty="0"/>
          </a:p>
        </p:txBody>
      </p:sp>
      <p:sp>
        <p:nvSpPr>
          <p:cNvPr id="4" name="Slide Number Placeholder 3">
            <a:extLst>
              <a:ext uri="{FF2B5EF4-FFF2-40B4-BE49-F238E27FC236}">
                <a16:creationId xmlns:a16="http://schemas.microsoft.com/office/drawing/2014/main" id="{F6C8DCFB-0431-694F-805F-CEEEB5C8D9B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38</a:t>
            </a:fld>
            <a:endParaRPr lang="en-US" dirty="0"/>
          </a:p>
        </p:txBody>
      </p:sp>
      <p:sp>
        <p:nvSpPr>
          <p:cNvPr id="3" name="Footer Placeholder 2">
            <a:extLst>
              <a:ext uri="{FF2B5EF4-FFF2-40B4-BE49-F238E27FC236}">
                <a16:creationId xmlns:a16="http://schemas.microsoft.com/office/drawing/2014/main" id="{5F8B1CAF-E612-8D41-9553-6825529728A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42" name="Group 41" descr="diagram showing a t2.micro EC2 instance that was launched from an AMI being modified so that it is now a t2.small instance with a larger EBS root volume size."/>
          <p:cNvGrpSpPr/>
          <p:nvPr/>
        </p:nvGrpSpPr>
        <p:grpSpPr>
          <a:xfrm>
            <a:off x="5528604" y="1135484"/>
            <a:ext cx="5342596" cy="4878491"/>
            <a:chOff x="5528604" y="1135484"/>
            <a:chExt cx="5342596" cy="4878491"/>
          </a:xfrm>
        </p:grpSpPr>
        <p:cxnSp>
          <p:nvCxnSpPr>
            <p:cNvPr id="23" name="Straight Connector 22">
              <a:extLst>
                <a:ext uri="{FF2B5EF4-FFF2-40B4-BE49-F238E27FC236}">
                  <a16:creationId xmlns:a16="http://schemas.microsoft.com/office/drawing/2014/main" id="{635876D2-639A-D24E-ADDB-053C01B67A24}"/>
                </a:ext>
              </a:extLst>
            </p:cNvPr>
            <p:cNvCxnSpPr>
              <a:cxnSpLocks/>
            </p:cNvCxnSpPr>
            <p:nvPr/>
          </p:nvCxnSpPr>
          <p:spPr>
            <a:xfrm>
              <a:off x="7762129" y="1135484"/>
              <a:ext cx="1" cy="1"/>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963CCEF-4732-A140-B83A-A504A81DDC8E}"/>
                </a:ext>
              </a:extLst>
            </p:cNvPr>
            <p:cNvSpPr txBox="1"/>
            <p:nvPr/>
          </p:nvSpPr>
          <p:spPr>
            <a:xfrm>
              <a:off x="7309496" y="1301618"/>
              <a:ext cx="1513305" cy="338554"/>
            </a:xfrm>
            <a:prstGeom prst="rect">
              <a:avLst/>
            </a:prstGeom>
            <a:noFill/>
          </p:spPr>
          <p:txBody>
            <a:bodyPr wrap="square" rtlCol="0">
              <a:spAutoFit/>
            </a:bodyPr>
            <a:lstStyle/>
            <a:p>
              <a:pPr algn="ctr"/>
              <a:r>
                <a:rPr lang="en-US" sz="1600" b="1" dirty="0"/>
                <a:t>Amazon EC2</a:t>
              </a:r>
            </a:p>
          </p:txBody>
        </p:sp>
        <p:pic>
          <p:nvPicPr>
            <p:cNvPr id="21" name="Graphic 20">
              <a:extLst>
                <a:ext uri="{FF2B5EF4-FFF2-40B4-BE49-F238E27FC236}">
                  <a16:creationId xmlns:a16="http://schemas.microsoft.com/office/drawing/2014/main" id="{A4CAE151-76BF-074A-A4CD-C9C83B06E7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9911" y="1274311"/>
              <a:ext cx="274320" cy="274320"/>
            </a:xfrm>
            <a:prstGeom prst="rect">
              <a:avLst/>
            </a:prstGeom>
          </p:spPr>
        </p:pic>
        <p:sp>
          <p:nvSpPr>
            <p:cNvPr id="22" name="Rectangle 21">
              <a:extLst>
                <a:ext uri="{FF2B5EF4-FFF2-40B4-BE49-F238E27FC236}">
                  <a16:creationId xmlns:a16="http://schemas.microsoft.com/office/drawing/2014/main" id="{E3A698BA-DFAD-3649-B071-2A9F8A8F57F1}"/>
                </a:ext>
              </a:extLst>
            </p:cNvPr>
            <p:cNvSpPr/>
            <p:nvPr/>
          </p:nvSpPr>
          <p:spPr>
            <a:xfrm>
              <a:off x="5701667" y="2685984"/>
              <a:ext cx="1150289" cy="615367"/>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ctr"/>
              <a:r>
                <a:rPr lang="en-US" sz="1600" dirty="0">
                  <a:solidFill>
                    <a:srgbClr val="DF3312"/>
                  </a:solidFill>
                </a:rPr>
                <a:t>Security group</a:t>
              </a:r>
            </a:p>
          </p:txBody>
        </p:sp>
        <p:pic>
          <p:nvPicPr>
            <p:cNvPr id="24" name="Graphic 23">
              <a:extLst>
                <a:ext uri="{FF2B5EF4-FFF2-40B4-BE49-F238E27FC236}">
                  <a16:creationId xmlns:a16="http://schemas.microsoft.com/office/drawing/2014/main" id="{3CAF36D4-35B6-E74A-9F57-E93844B8A4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4227" y="2536467"/>
              <a:ext cx="914400" cy="914400"/>
            </a:xfrm>
            <a:prstGeom prst="rect">
              <a:avLst/>
            </a:prstGeom>
          </p:spPr>
        </p:pic>
        <p:sp>
          <p:nvSpPr>
            <p:cNvPr id="25" name="TextBox 24">
              <a:extLst>
                <a:ext uri="{FF2B5EF4-FFF2-40B4-BE49-F238E27FC236}">
                  <a16:creationId xmlns:a16="http://schemas.microsoft.com/office/drawing/2014/main" id="{C858FB2D-9CA4-B446-8151-8BC00A4670D0}"/>
                </a:ext>
              </a:extLst>
            </p:cNvPr>
            <p:cNvSpPr txBox="1"/>
            <p:nvPr/>
          </p:nvSpPr>
          <p:spPr>
            <a:xfrm>
              <a:off x="8004775" y="3370100"/>
              <a:ext cx="1513305" cy="584775"/>
            </a:xfrm>
            <a:prstGeom prst="rect">
              <a:avLst/>
            </a:prstGeom>
            <a:noFill/>
          </p:spPr>
          <p:txBody>
            <a:bodyPr wrap="square" rtlCol="0">
              <a:spAutoFit/>
            </a:bodyPr>
            <a:lstStyle/>
            <a:p>
              <a:pPr algn="ctr"/>
              <a:r>
                <a:rPr lang="en-US" sz="1600" b="1" dirty="0">
                  <a:solidFill>
                    <a:srgbClr val="CD6E1C"/>
                  </a:solidFill>
                </a:rPr>
                <a:t>t2.micro </a:t>
              </a:r>
            </a:p>
            <a:p>
              <a:pPr algn="ctr"/>
              <a:r>
                <a:rPr lang="en-US" sz="1600" b="1" dirty="0">
                  <a:solidFill>
                    <a:srgbClr val="CD6E1C"/>
                  </a:solidFill>
                </a:rPr>
                <a:t>instance</a:t>
              </a:r>
            </a:p>
          </p:txBody>
        </p:sp>
        <p:pic>
          <p:nvPicPr>
            <p:cNvPr id="27" name="Graphic 26">
              <a:extLst>
                <a:ext uri="{FF2B5EF4-FFF2-40B4-BE49-F238E27FC236}">
                  <a16:creationId xmlns:a16="http://schemas.microsoft.com/office/drawing/2014/main" id="{F47DBE76-9D0B-8E4B-81CE-06E4F28E63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31124" y="2536467"/>
              <a:ext cx="914400" cy="914400"/>
            </a:xfrm>
            <a:prstGeom prst="rect">
              <a:avLst/>
            </a:prstGeom>
          </p:spPr>
        </p:pic>
        <p:cxnSp>
          <p:nvCxnSpPr>
            <p:cNvPr id="28" name="Straight Arrow Connector 27">
              <a:extLst>
                <a:ext uri="{FF2B5EF4-FFF2-40B4-BE49-F238E27FC236}">
                  <a16:creationId xmlns:a16="http://schemas.microsoft.com/office/drawing/2014/main" id="{EE4D7112-908D-4246-AE6D-C49C1E40D740}"/>
                </a:ext>
              </a:extLst>
            </p:cNvPr>
            <p:cNvCxnSpPr>
              <a:cxnSpLocks/>
              <a:endCxn id="27" idx="1"/>
            </p:cNvCxnSpPr>
            <p:nvPr/>
          </p:nvCxnSpPr>
          <p:spPr>
            <a:xfrm flipV="1">
              <a:off x="9219428" y="2993667"/>
              <a:ext cx="411696" cy="1"/>
            </a:xfrm>
            <a:prstGeom prst="straightConnector1">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A9D1A80-8998-5144-8482-73BF5421DBC4}"/>
                </a:ext>
              </a:extLst>
            </p:cNvPr>
            <p:cNvSpPr txBox="1"/>
            <p:nvPr/>
          </p:nvSpPr>
          <p:spPr>
            <a:xfrm>
              <a:off x="6812104" y="4347932"/>
              <a:ext cx="1602577" cy="830997"/>
            </a:xfrm>
            <a:prstGeom prst="rect">
              <a:avLst/>
            </a:prstGeom>
            <a:noFill/>
          </p:spPr>
          <p:txBody>
            <a:bodyPr wrap="square" rtlCol="0">
              <a:spAutoFit/>
            </a:bodyPr>
            <a:lstStyle/>
            <a:p>
              <a:r>
                <a:rPr lang="en-US" sz="1600" dirty="0"/>
                <a:t>Amazon Elastic Block Store (Amazon EBS)</a:t>
              </a:r>
            </a:p>
          </p:txBody>
        </p:sp>
        <p:pic>
          <p:nvPicPr>
            <p:cNvPr id="30" name="Graphic 29">
              <a:extLst>
                <a:ext uri="{FF2B5EF4-FFF2-40B4-BE49-F238E27FC236}">
                  <a16:creationId xmlns:a16="http://schemas.microsoft.com/office/drawing/2014/main" id="{FCA21D59-36F2-EB4E-9E78-6FAE141FC26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70444" y="4368681"/>
              <a:ext cx="274320" cy="274320"/>
            </a:xfrm>
            <a:prstGeom prst="rect">
              <a:avLst/>
            </a:prstGeom>
          </p:spPr>
        </p:pic>
        <p:sp>
          <p:nvSpPr>
            <p:cNvPr id="32" name="TextBox 31">
              <a:extLst>
                <a:ext uri="{FF2B5EF4-FFF2-40B4-BE49-F238E27FC236}">
                  <a16:creationId xmlns:a16="http://schemas.microsoft.com/office/drawing/2014/main" id="{DBB75DB8-50E7-D941-A881-8132B79C6E2D}"/>
                </a:ext>
              </a:extLst>
            </p:cNvPr>
            <p:cNvSpPr txBox="1"/>
            <p:nvPr/>
          </p:nvSpPr>
          <p:spPr>
            <a:xfrm>
              <a:off x="8146524" y="5329502"/>
              <a:ext cx="1149946" cy="584775"/>
            </a:xfrm>
            <a:prstGeom prst="rect">
              <a:avLst/>
            </a:prstGeom>
            <a:noFill/>
          </p:spPr>
          <p:txBody>
            <a:bodyPr wrap="square" rtlCol="0">
              <a:spAutoFit/>
            </a:bodyPr>
            <a:lstStyle/>
            <a:p>
              <a:pPr algn="ctr"/>
              <a:r>
                <a:rPr lang="en-US" sz="1600" dirty="0"/>
                <a:t>8-GB root volume</a:t>
              </a:r>
            </a:p>
          </p:txBody>
        </p:sp>
        <p:pic>
          <p:nvPicPr>
            <p:cNvPr id="34" name="Graphic 33">
              <a:extLst>
                <a:ext uri="{FF2B5EF4-FFF2-40B4-BE49-F238E27FC236}">
                  <a16:creationId xmlns:a16="http://schemas.microsoft.com/office/drawing/2014/main" id="{4FF7917C-8109-524B-BC74-42473F6502E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26477" y="4835251"/>
              <a:ext cx="469900" cy="469900"/>
            </a:xfrm>
            <a:prstGeom prst="rect">
              <a:avLst/>
            </a:prstGeom>
          </p:spPr>
        </p:pic>
        <p:pic>
          <p:nvPicPr>
            <p:cNvPr id="35" name="Graphic 34">
              <a:extLst>
                <a:ext uri="{FF2B5EF4-FFF2-40B4-BE49-F238E27FC236}">
                  <a16:creationId xmlns:a16="http://schemas.microsoft.com/office/drawing/2014/main" id="{44995825-1C42-0A44-BD21-FF5F8750A14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90888" y="1859639"/>
              <a:ext cx="548640" cy="548640"/>
            </a:xfrm>
            <a:prstGeom prst="rect">
              <a:avLst/>
            </a:prstGeom>
          </p:spPr>
        </p:pic>
        <p:sp>
          <p:nvSpPr>
            <p:cNvPr id="36" name="TextBox 35">
              <a:extLst>
                <a:ext uri="{FF2B5EF4-FFF2-40B4-BE49-F238E27FC236}">
                  <a16:creationId xmlns:a16="http://schemas.microsoft.com/office/drawing/2014/main" id="{F52A1D78-E224-F241-B265-F961BAD64604}"/>
                </a:ext>
              </a:extLst>
            </p:cNvPr>
            <p:cNvSpPr txBox="1"/>
            <p:nvPr/>
          </p:nvSpPr>
          <p:spPr>
            <a:xfrm>
              <a:off x="7049722" y="2460846"/>
              <a:ext cx="1030972" cy="338554"/>
            </a:xfrm>
            <a:prstGeom prst="rect">
              <a:avLst/>
            </a:prstGeom>
            <a:noFill/>
          </p:spPr>
          <p:txBody>
            <a:bodyPr wrap="square" rtlCol="0">
              <a:spAutoFit/>
            </a:bodyPr>
            <a:lstStyle/>
            <a:p>
              <a:pPr algn="ctr"/>
              <a:r>
                <a:rPr lang="en-US" sz="1600" dirty="0"/>
                <a:t>AMI</a:t>
              </a:r>
            </a:p>
          </p:txBody>
        </p:sp>
        <p:cxnSp>
          <p:nvCxnSpPr>
            <p:cNvPr id="38" name="Straight Arrow Connector 40">
              <a:extLst>
                <a:ext uri="{FF2B5EF4-FFF2-40B4-BE49-F238E27FC236}">
                  <a16:creationId xmlns:a16="http://schemas.microsoft.com/office/drawing/2014/main" id="{1A0EF5C3-E7D0-A945-8305-CE7BF603EB7D}"/>
                </a:ext>
              </a:extLst>
            </p:cNvPr>
            <p:cNvCxnSpPr>
              <a:cxnSpLocks/>
              <a:stCxn id="35" idx="3"/>
              <a:endCxn id="24" idx="0"/>
            </p:cNvCxnSpPr>
            <p:nvPr/>
          </p:nvCxnSpPr>
          <p:spPr>
            <a:xfrm>
              <a:off x="7839528" y="2133959"/>
              <a:ext cx="921899" cy="402508"/>
            </a:xfrm>
            <a:prstGeom prst="bentConnector2">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54E3A-A807-1846-9293-47BA6BD1AFF8}"/>
                </a:ext>
              </a:extLst>
            </p:cNvPr>
            <p:cNvSpPr/>
            <p:nvPr/>
          </p:nvSpPr>
          <p:spPr>
            <a:xfrm>
              <a:off x="7097064" y="1284910"/>
              <a:ext cx="3774136" cy="2869880"/>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dirty="0">
                <a:solidFill>
                  <a:srgbClr val="D86613"/>
                </a:solidFill>
              </a:endParaRPr>
            </a:p>
            <a:p>
              <a:pPr algn="ctr"/>
              <a:endParaRPr lang="en-US" sz="1600" dirty="0">
                <a:solidFill>
                  <a:srgbClr val="D86613"/>
                </a:solidFill>
              </a:endParaRPr>
            </a:p>
          </p:txBody>
        </p:sp>
        <p:sp>
          <p:nvSpPr>
            <p:cNvPr id="40" name="Rectangle 39">
              <a:extLst>
                <a:ext uri="{FF2B5EF4-FFF2-40B4-BE49-F238E27FC236}">
                  <a16:creationId xmlns:a16="http://schemas.microsoft.com/office/drawing/2014/main" id="{AF341B73-E4E1-6B4B-8059-7BB005BA95D6}"/>
                </a:ext>
              </a:extLst>
            </p:cNvPr>
            <p:cNvSpPr/>
            <p:nvPr/>
          </p:nvSpPr>
          <p:spPr>
            <a:xfrm>
              <a:off x="6571795" y="4368681"/>
              <a:ext cx="4299405" cy="1645294"/>
            </a:xfrm>
            <a:prstGeom prst="rect">
              <a:avLst/>
            </a:prstGeom>
            <a:noFill/>
            <a:ln w="12700">
              <a:solidFill>
                <a:srgbClr val="16966D"/>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600" dirty="0">
                <a:solidFill>
                  <a:srgbClr val="D86613"/>
                </a:solidFill>
              </a:endParaRPr>
            </a:p>
            <a:p>
              <a:pPr algn="ctr"/>
              <a:endParaRPr lang="en-US" sz="1600" dirty="0">
                <a:solidFill>
                  <a:srgbClr val="D86613"/>
                </a:solidFill>
              </a:endParaRPr>
            </a:p>
          </p:txBody>
        </p:sp>
        <p:sp>
          <p:nvSpPr>
            <p:cNvPr id="43" name="TextBox 42">
              <a:extLst>
                <a:ext uri="{FF2B5EF4-FFF2-40B4-BE49-F238E27FC236}">
                  <a16:creationId xmlns:a16="http://schemas.microsoft.com/office/drawing/2014/main" id="{EA5C4F4C-78C0-AA4C-9FC2-784C97964733}"/>
                </a:ext>
              </a:extLst>
            </p:cNvPr>
            <p:cNvSpPr txBox="1"/>
            <p:nvPr/>
          </p:nvSpPr>
          <p:spPr>
            <a:xfrm>
              <a:off x="9433384" y="5328254"/>
              <a:ext cx="1309880" cy="584775"/>
            </a:xfrm>
            <a:prstGeom prst="rect">
              <a:avLst/>
            </a:prstGeom>
            <a:noFill/>
          </p:spPr>
          <p:txBody>
            <a:bodyPr wrap="square" rtlCol="0">
              <a:spAutoFit/>
            </a:bodyPr>
            <a:lstStyle/>
            <a:p>
              <a:pPr algn="ctr"/>
              <a:r>
                <a:rPr lang="en-US" sz="1600" dirty="0"/>
                <a:t>10-GB root volume</a:t>
              </a:r>
            </a:p>
          </p:txBody>
        </p:sp>
        <p:pic>
          <p:nvPicPr>
            <p:cNvPr id="44" name="Graphic 43">
              <a:extLst>
                <a:ext uri="{FF2B5EF4-FFF2-40B4-BE49-F238E27FC236}">
                  <a16:creationId xmlns:a16="http://schemas.microsoft.com/office/drawing/2014/main" id="{B06BFB5F-0C77-B449-92D2-4F0A5C02540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853374" y="4835251"/>
              <a:ext cx="469900" cy="469900"/>
            </a:xfrm>
            <a:prstGeom prst="rect">
              <a:avLst/>
            </a:prstGeom>
          </p:spPr>
        </p:pic>
        <p:cxnSp>
          <p:nvCxnSpPr>
            <p:cNvPr id="46" name="Straight Arrow Connector 45">
              <a:extLst>
                <a:ext uri="{FF2B5EF4-FFF2-40B4-BE49-F238E27FC236}">
                  <a16:creationId xmlns:a16="http://schemas.microsoft.com/office/drawing/2014/main" id="{B2FC79B8-CA93-8B49-B1F3-7D384090EB13}"/>
                </a:ext>
              </a:extLst>
            </p:cNvPr>
            <p:cNvCxnSpPr>
              <a:cxnSpLocks/>
              <a:stCxn id="34" idx="3"/>
              <a:endCxn id="44" idx="1"/>
            </p:cNvCxnSpPr>
            <p:nvPr/>
          </p:nvCxnSpPr>
          <p:spPr>
            <a:xfrm>
              <a:off x="8996377" y="5070201"/>
              <a:ext cx="856997" cy="0"/>
            </a:xfrm>
            <a:prstGeom prst="straightConnector1">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CEDBF0E-31F6-7443-BB30-3E578A903BA0}"/>
                </a:ext>
              </a:extLst>
            </p:cNvPr>
            <p:cNvCxnSpPr>
              <a:cxnSpLocks/>
              <a:stCxn id="34" idx="0"/>
              <a:endCxn id="25" idx="2"/>
            </p:cNvCxnSpPr>
            <p:nvPr/>
          </p:nvCxnSpPr>
          <p:spPr>
            <a:xfrm flipV="1">
              <a:off x="8761427" y="3954875"/>
              <a:ext cx="1" cy="880376"/>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690A5C2-8D21-9148-A674-7CE61B542D42}"/>
                </a:ext>
              </a:extLst>
            </p:cNvPr>
            <p:cNvCxnSpPr>
              <a:cxnSpLocks/>
              <a:stCxn id="44" idx="0"/>
              <a:endCxn id="53" idx="2"/>
            </p:cNvCxnSpPr>
            <p:nvPr/>
          </p:nvCxnSpPr>
          <p:spPr>
            <a:xfrm flipV="1">
              <a:off x="10088324" y="3917437"/>
              <a:ext cx="1" cy="917814"/>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CDC671E3-6D29-E04A-A5FA-6355E17D1846}"/>
                </a:ext>
              </a:extLst>
            </p:cNvPr>
            <p:cNvSpPr/>
            <p:nvPr/>
          </p:nvSpPr>
          <p:spPr>
            <a:xfrm>
              <a:off x="5528604" y="2263928"/>
              <a:ext cx="1426145" cy="1243814"/>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chemeClr val="accent5"/>
                  </a:solidFill>
                </a:rPr>
                <a:t>VPC</a:t>
              </a:r>
            </a:p>
          </p:txBody>
        </p:sp>
        <p:pic>
          <p:nvPicPr>
            <p:cNvPr id="50" name="Graphic 49">
              <a:extLst>
                <a:ext uri="{FF2B5EF4-FFF2-40B4-BE49-F238E27FC236}">
                  <a16:creationId xmlns:a16="http://schemas.microsoft.com/office/drawing/2014/main" id="{C89F16A5-3DBD-0A41-87B9-C7FBC8A39EE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542191" y="2258614"/>
              <a:ext cx="274320" cy="274320"/>
            </a:xfrm>
            <a:prstGeom prst="rect">
              <a:avLst/>
            </a:prstGeom>
          </p:spPr>
        </p:pic>
        <p:cxnSp>
          <p:nvCxnSpPr>
            <p:cNvPr id="52" name="Straight Arrow Connector 51">
              <a:extLst>
                <a:ext uri="{FF2B5EF4-FFF2-40B4-BE49-F238E27FC236}">
                  <a16:creationId xmlns:a16="http://schemas.microsoft.com/office/drawing/2014/main" id="{BC551D65-E4F7-B940-A5F4-A0E8CD92905C}"/>
                </a:ext>
              </a:extLst>
            </p:cNvPr>
            <p:cNvCxnSpPr>
              <a:cxnSpLocks/>
              <a:stCxn id="22" idx="3"/>
              <a:endCxn id="24" idx="1"/>
            </p:cNvCxnSpPr>
            <p:nvPr/>
          </p:nvCxnSpPr>
          <p:spPr>
            <a:xfrm flipV="1">
              <a:off x="6851956" y="2993667"/>
              <a:ext cx="1452271" cy="1"/>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18C7AC0-0128-3B48-A79C-A49E95840925}"/>
                </a:ext>
              </a:extLst>
            </p:cNvPr>
            <p:cNvSpPr txBox="1"/>
            <p:nvPr/>
          </p:nvSpPr>
          <p:spPr>
            <a:xfrm>
              <a:off x="9331672" y="3387660"/>
              <a:ext cx="1513305" cy="584775"/>
            </a:xfrm>
            <a:prstGeom prst="rect">
              <a:avLst/>
            </a:prstGeom>
            <a:noFill/>
          </p:spPr>
          <p:txBody>
            <a:bodyPr wrap="square" rtlCol="0">
              <a:spAutoFit/>
            </a:bodyPr>
            <a:lstStyle/>
            <a:p>
              <a:pPr algn="ctr"/>
              <a:r>
                <a:rPr lang="en-US" sz="1600" b="1" dirty="0">
                  <a:solidFill>
                    <a:srgbClr val="CD6E1C"/>
                  </a:solidFill>
                </a:rPr>
                <a:t>t2.small </a:t>
              </a:r>
            </a:p>
            <a:p>
              <a:pPr algn="ctr"/>
              <a:r>
                <a:rPr lang="en-US" sz="1600" b="1" dirty="0">
                  <a:solidFill>
                    <a:srgbClr val="CD6E1C"/>
                  </a:solidFill>
                </a:rPr>
                <a:t>instance</a:t>
              </a:r>
            </a:p>
          </p:txBody>
        </p:sp>
      </p:grpSp>
    </p:spTree>
    <p:custDataLst>
      <p:tags r:id="rId1"/>
    </p:custDataLst>
    <p:extLst>
      <p:ext uri="{BB962C8B-B14F-4D97-AF65-F5344CB8AC3E}">
        <p14:creationId xmlns:p14="http://schemas.microsoft.com/office/powerpoint/2010/main" val="4255386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9DAD90-EC3E-EA46-9DC7-1F2261B8BA8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4C9B835-4E5B-8D47-9CFC-533ADAB1CB1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39</a:t>
            </a:fld>
            <a:endParaRPr lang="en-US" dirty="0"/>
          </a:p>
        </p:txBody>
      </p:sp>
      <p:pic>
        <p:nvPicPr>
          <p:cNvPr id="4" name="Picture 3">
            <a:extLst>
              <a:ext uri="{FF2B5EF4-FFF2-40B4-BE49-F238E27FC236}">
                <a16:creationId xmlns:a16="http://schemas.microsoft.com/office/drawing/2014/main" id="{425E8405-D4BA-7847-9F9B-BD8A99A69246}"/>
              </a:ext>
              <a:ext uri="{C183D7F6-B498-43B3-948B-1728B52AA6E4}">
                <adec:decorative xmlns:adec="http://schemas.microsoft.com/office/drawing/2017/decorative" val="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l="-126"/>
          <a:stretch/>
        </p:blipFill>
        <p:spPr>
          <a:xfrm>
            <a:off x="-60960" y="1920240"/>
            <a:ext cx="12252960" cy="4358640"/>
          </a:xfrm>
          <a:prstGeom prst="rect">
            <a:avLst/>
          </a:prstGeom>
        </p:spPr>
      </p:pic>
      <p:sp>
        <p:nvSpPr>
          <p:cNvPr id="8" name="Title 5">
            <a:extLst>
              <a:ext uri="{FF2B5EF4-FFF2-40B4-BE49-F238E27FC236}">
                <a16:creationId xmlns:a16="http://schemas.microsoft.com/office/drawing/2014/main" id="{E2649A16-71FE-704E-AE3D-37A2D88068C4}"/>
              </a:ext>
            </a:extLst>
          </p:cNvPr>
          <p:cNvSpPr txBox="1">
            <a:spLocks/>
          </p:cNvSpPr>
          <p:nvPr/>
        </p:nvSpPr>
        <p:spPr>
          <a:xfrm>
            <a:off x="6220047" y="2168012"/>
            <a:ext cx="5552853" cy="3849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j-lt"/>
                <a:ea typeface="Amazon Ember" panose="02000000000000000000" pitchFamily="2" charset="0"/>
              </a:rPr>
              <a:t>Begin Lab 3: Introduction to </a:t>
            </a:r>
            <a:r>
              <a:rPr lang="en-US" sz="3600" dirty="0">
                <a:solidFill>
                  <a:srgbClr val="FFFFFF"/>
                </a:solidFill>
                <a:latin typeface="+mj-lt"/>
                <a:ea typeface="Amazon Ember" panose="02000000000000000000" pitchFamily="2" charset="0"/>
              </a:rPr>
              <a:t>Amazon EC2</a:t>
            </a:r>
            <a:endParaRPr kumimoji="0" lang="en-US" sz="3600" b="0" i="0" u="none" strike="noStrike" kern="1200" cap="none" spc="0" normalizeH="0" baseline="0" noProof="0" dirty="0">
              <a:ln>
                <a:noFill/>
              </a:ln>
              <a:solidFill>
                <a:srgbClr val="FFFFFF"/>
              </a:solidFill>
              <a:effectLst/>
              <a:uLnTx/>
              <a:uFillTx/>
              <a:latin typeface="+mj-lt"/>
              <a:ea typeface="Amazon Ember" panose="02000000000000000000" pitchFamily="2" charset="0"/>
            </a:endParaRPr>
          </a:p>
        </p:txBody>
      </p:sp>
      <p:grpSp>
        <p:nvGrpSpPr>
          <p:cNvPr id="9" name="Group 8" descr="A stopwatch icon.">
            <a:extLst>
              <a:ext uri="{FF2B5EF4-FFF2-40B4-BE49-F238E27FC236}">
                <a16:creationId xmlns:a16="http://schemas.microsoft.com/office/drawing/2014/main" id="{10DC9E4A-8285-4049-983B-7423DA3CE8FF}"/>
              </a:ext>
            </a:extLst>
          </p:cNvPr>
          <p:cNvGrpSpPr/>
          <p:nvPr/>
        </p:nvGrpSpPr>
        <p:grpSpPr>
          <a:xfrm>
            <a:off x="419099" y="579120"/>
            <a:ext cx="834514" cy="953731"/>
            <a:chOff x="11271015" y="5905029"/>
            <a:chExt cx="403626" cy="461287"/>
          </a:xfrm>
        </p:grpSpPr>
        <p:sp>
          <p:nvSpPr>
            <p:cNvPr id="10" name="Oval 9">
              <a:extLst>
                <a:ext uri="{FF2B5EF4-FFF2-40B4-BE49-F238E27FC236}">
                  <a16:creationId xmlns:a16="http://schemas.microsoft.com/office/drawing/2014/main" id="{AAC56321-5D68-4446-BED2-5F762D71FEF3}"/>
                </a:ext>
              </a:extLst>
            </p:cNvPr>
            <p:cNvSpPr/>
            <p:nvPr/>
          </p:nvSpPr>
          <p:spPr>
            <a:xfrm>
              <a:off x="11307093" y="5998845"/>
              <a:ext cx="331470" cy="3331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5C163E9-58FA-F745-9B8A-FE0E60F9CF77}"/>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1271015" y="5905029"/>
              <a:ext cx="403626" cy="461287"/>
            </a:xfrm>
            <a:prstGeom prst="rect">
              <a:avLst/>
            </a:prstGeom>
          </p:spPr>
        </p:pic>
      </p:grpSp>
      <p:sp>
        <p:nvSpPr>
          <p:cNvPr id="12" name="TextBox 11">
            <a:extLst>
              <a:ext uri="{FF2B5EF4-FFF2-40B4-BE49-F238E27FC236}">
                <a16:creationId xmlns:a16="http://schemas.microsoft.com/office/drawing/2014/main" id="{93CB1352-7A73-A74D-9F66-0C5041597E9C}"/>
              </a:ext>
            </a:extLst>
          </p:cNvPr>
          <p:cNvSpPr txBox="1"/>
          <p:nvPr/>
        </p:nvSpPr>
        <p:spPr>
          <a:xfrm>
            <a:off x="836356" y="1225074"/>
            <a:ext cx="1926530" cy="338554"/>
          </a:xfrm>
          <a:prstGeom prst="rect">
            <a:avLst/>
          </a:prstGeom>
          <a:noFill/>
        </p:spPr>
        <p:txBody>
          <a:bodyPr wrap="square" rtlCol="0">
            <a:spAutoFit/>
          </a:bodyPr>
          <a:lstStyle/>
          <a:p>
            <a:pPr algn="ctr"/>
            <a:r>
              <a:rPr lang="en-US" sz="1600" dirty="0">
                <a:ea typeface="Amazon Ember Light" panose="020B0403020204020204" pitchFamily="34" charset="0"/>
                <a:cs typeface="Amazon Ember Light" panose="020B0403020204020204" pitchFamily="34" charset="0"/>
              </a:rPr>
              <a:t>~ 35 minutes</a:t>
            </a:r>
          </a:p>
        </p:txBody>
      </p:sp>
      <p:sp>
        <p:nvSpPr>
          <p:cNvPr id="14" name="Title 13">
            <a:extLst>
              <a:ext uri="{FF2B5EF4-FFF2-40B4-BE49-F238E27FC236}">
                <a16:creationId xmlns:a16="http://schemas.microsoft.com/office/drawing/2014/main" id="{062620F9-9E23-8345-BF0E-52EDCFD48FFE}"/>
              </a:ext>
            </a:extLst>
          </p:cNvPr>
          <p:cNvSpPr>
            <a:spLocks noGrp="1"/>
          </p:cNvSpPr>
          <p:nvPr>
            <p:ph type="title" idx="4294967295"/>
          </p:nvPr>
        </p:nvSpPr>
        <p:spPr/>
        <p:txBody>
          <a:bodyPr>
            <a:normAutofit/>
          </a:bodyPr>
          <a:lstStyle/>
          <a:p>
            <a:pPr algn="r"/>
            <a:r>
              <a:rPr lang="en-US" sz="800" dirty="0">
                <a:solidFill>
                  <a:schemeClr val="bg2"/>
                </a:solidFill>
              </a:rPr>
              <a:t>Begin Lab 1: Introduction</a:t>
            </a:r>
            <a:r>
              <a:rPr lang="en-US" sz="800" baseline="0" dirty="0">
                <a:solidFill>
                  <a:schemeClr val="bg2"/>
                </a:solidFill>
              </a:rPr>
              <a:t> to AWS IAM</a:t>
            </a:r>
            <a:endParaRPr lang="en-US" sz="800" dirty="0">
              <a:solidFill>
                <a:schemeClr val="bg2"/>
              </a:solidFill>
            </a:endParaRPr>
          </a:p>
        </p:txBody>
      </p:sp>
    </p:spTree>
    <p:custDataLst>
      <p:tags r:id="rId1"/>
    </p:custDataLst>
    <p:extLst>
      <p:ext uri="{BB962C8B-B14F-4D97-AF65-F5344CB8AC3E}">
        <p14:creationId xmlns:p14="http://schemas.microsoft.com/office/powerpoint/2010/main" val="3317484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a:xfrm>
            <a:off x="419100" y="2420133"/>
            <a:ext cx="3735456" cy="2017734"/>
          </a:xfrm>
        </p:spPr>
        <p:txBody>
          <a:bodyPr/>
          <a:lstStyle/>
          <a:p>
            <a:r>
              <a:rPr lang="en-US" sz="4000" dirty="0">
                <a:latin typeface="+mj-lt"/>
              </a:rPr>
              <a:t>Lab debrief: </a:t>
            </a:r>
            <a:br>
              <a:rPr lang="en-US" sz="4000" dirty="0">
                <a:latin typeface="+mj-lt"/>
              </a:rPr>
            </a:br>
            <a:r>
              <a:rPr lang="en-US" sz="4000" dirty="0">
                <a:latin typeface="+mj-lt"/>
              </a:rPr>
              <a:t>Key takeaways</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40</a:t>
            </a:fld>
            <a:endParaRPr lang="en-US" dirty="0"/>
          </a:p>
        </p:txBody>
      </p:sp>
      <p:pic>
        <p:nvPicPr>
          <p:cNvPr id="5" name="Picture 4">
            <a:extLst>
              <a:ext uri="{FF2B5EF4-FFF2-40B4-BE49-F238E27FC236}">
                <a16:creationId xmlns:a16="http://schemas.microsoft.com/office/drawing/2014/main" id="{79125E67-2530-304C-9CF1-F3BC25E3B1E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154556" y="1168065"/>
            <a:ext cx="7421479" cy="4947653"/>
          </a:xfrm>
          <a:prstGeom prst="rect">
            <a:avLst/>
          </a:prstGeom>
          <a:ln>
            <a:solidFill>
              <a:schemeClr val="accent1"/>
            </a:solidFill>
          </a:ln>
        </p:spPr>
      </p:pic>
      <p:sp>
        <p:nvSpPr>
          <p:cNvPr id="2" name="Footer Placeholder 1">
            <a:extLst>
              <a:ext uri="{FF2B5EF4-FFF2-40B4-BE49-F238E27FC236}">
                <a16:creationId xmlns:a16="http://schemas.microsoft.com/office/drawing/2014/main" id="{21F4AD83-111D-E948-8D8A-FA2A918C2EF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344136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4E2BE3-1435-904C-988A-006DC38C048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017FB012-E14B-5F43-B605-4C7071827C78}"/>
              </a:ext>
            </a:extLst>
          </p:cNvPr>
          <p:cNvSpPr>
            <a:spLocks noGrp="1"/>
          </p:cNvSpPr>
          <p:nvPr>
            <p:ph type="title"/>
          </p:nvPr>
        </p:nvSpPr>
        <p:spPr>
          <a:xfrm>
            <a:off x="419100" y="1178376"/>
            <a:ext cx="4268647" cy="1742954"/>
          </a:xfrm>
        </p:spPr>
        <p:txBody>
          <a:bodyPr>
            <a:noAutofit/>
          </a:bodyPr>
          <a:lstStyle/>
          <a:p>
            <a:r>
              <a:rPr lang="en-US" sz="3200" dirty="0"/>
              <a:t>Activity: Amazon EC2</a:t>
            </a:r>
          </a:p>
        </p:txBody>
      </p:sp>
      <p:sp>
        <p:nvSpPr>
          <p:cNvPr id="4" name="Slide Number Placeholder 3">
            <a:extLst>
              <a:ext uri="{FF2B5EF4-FFF2-40B4-BE49-F238E27FC236}">
                <a16:creationId xmlns:a16="http://schemas.microsoft.com/office/drawing/2014/main" id="{2010F476-C7B4-8D4C-9640-0C638E9308D3}"/>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41</a:t>
            </a:fld>
            <a:endParaRPr lang="en-US" dirty="0"/>
          </a:p>
        </p:txBody>
      </p:sp>
      <p:pic>
        <p:nvPicPr>
          <p:cNvPr id="6" name="Picture 5">
            <a:extLst>
              <a:ext uri="{FF2B5EF4-FFF2-40B4-BE49-F238E27FC236}">
                <a16:creationId xmlns:a16="http://schemas.microsoft.com/office/drawing/2014/main" id="{D2394557-4B7E-5246-9CE6-6A6809ABA7A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800451" y="1330778"/>
            <a:ext cx="5595257" cy="4196443"/>
          </a:xfrm>
          <a:prstGeom prst="rect">
            <a:avLst/>
          </a:prstGeom>
        </p:spPr>
      </p:pic>
      <p:sp>
        <p:nvSpPr>
          <p:cNvPr id="7" name="Footer Placeholder 1">
            <a:extLst>
              <a:ext uri="{FF2B5EF4-FFF2-40B4-BE49-F238E27FC236}">
                <a16:creationId xmlns:a16="http://schemas.microsoft.com/office/drawing/2014/main" id="{9817BB4C-EC5A-0447-8EAD-E767BB0AAE70}"/>
              </a:ext>
            </a:extLst>
          </p:cNvPr>
          <p:cNvSpPr txBox="1">
            <a:spLocks/>
          </p:cNvSpPr>
          <p:nvPr/>
        </p:nvSpPr>
        <p:spPr>
          <a:xfrm>
            <a:off x="5595257" y="5427435"/>
            <a:ext cx="1952172" cy="365125"/>
          </a:xfrm>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Photo by Pixabay from Pexels.</a:t>
            </a:r>
          </a:p>
        </p:txBody>
      </p:sp>
    </p:spTree>
    <p:custDataLst>
      <p:tags r:id="rId1"/>
    </p:custDataLst>
    <p:extLst>
      <p:ext uri="{BB962C8B-B14F-4D97-AF65-F5344CB8AC3E}">
        <p14:creationId xmlns:p14="http://schemas.microsoft.com/office/powerpoint/2010/main" val="19392380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818366-9EC8-E442-A346-90CC44C6234C}"/>
              </a:ext>
            </a:extLst>
          </p:cNvPr>
          <p:cNvSpPr>
            <a:spLocks noGrp="1"/>
          </p:cNvSpPr>
          <p:nvPr>
            <p:ph type="title"/>
          </p:nvPr>
        </p:nvSpPr>
        <p:spPr/>
        <p:txBody>
          <a:bodyPr/>
          <a:lstStyle/>
          <a:p>
            <a:r>
              <a:rPr lang="en-US" dirty="0"/>
              <a:t>Activity: Gather information</a:t>
            </a:r>
          </a:p>
        </p:txBody>
      </p:sp>
      <p:sp>
        <p:nvSpPr>
          <p:cNvPr id="4" name="Slide Number Placeholder 3">
            <a:extLst>
              <a:ext uri="{FF2B5EF4-FFF2-40B4-BE49-F238E27FC236}">
                <a16:creationId xmlns:a16="http://schemas.microsoft.com/office/drawing/2014/main" id="{BEC52268-C098-DA49-84EB-E360D5064CA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42</a:t>
            </a:fld>
            <a:endParaRPr lang="en-US" dirty="0"/>
          </a:p>
        </p:txBody>
      </p:sp>
      <p:sp>
        <p:nvSpPr>
          <p:cNvPr id="2" name="Footer Placeholder 1">
            <a:extLst>
              <a:ext uri="{FF2B5EF4-FFF2-40B4-BE49-F238E27FC236}">
                <a16:creationId xmlns:a16="http://schemas.microsoft.com/office/drawing/2014/main" id="{4D439CD2-A602-024B-9087-1B01E3BA14F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7" name="Picture 6" descr="still frame from architecting video about deploying SQL Server on EC2">
            <a:hlinkClick r:id="rId4"/>
            <a:extLst>
              <a:ext uri="{FF2B5EF4-FFF2-40B4-BE49-F238E27FC236}">
                <a16:creationId xmlns:a16="http://schemas.microsoft.com/office/drawing/2014/main" id="{1F4AF5DC-1217-1449-96A8-6A23F86F081B}"/>
              </a:ext>
            </a:extLst>
          </p:cNvPr>
          <p:cNvPicPr>
            <a:picLocks noChangeAspect="1"/>
          </p:cNvPicPr>
          <p:nvPr/>
        </p:nvPicPr>
        <p:blipFill>
          <a:blip r:embed="rId5"/>
          <a:stretch>
            <a:fillRect/>
          </a:stretch>
        </p:blipFill>
        <p:spPr>
          <a:xfrm>
            <a:off x="392019" y="3319977"/>
            <a:ext cx="5422900" cy="2857500"/>
          </a:xfrm>
          <a:prstGeom prst="rect">
            <a:avLst/>
          </a:prstGeom>
        </p:spPr>
      </p:pic>
      <p:pic>
        <p:nvPicPr>
          <p:cNvPr id="8" name="Picture 7" descr="screen grab of AWS Quick Starts webpage">
            <a:hlinkClick r:id="rId6"/>
            <a:extLst>
              <a:ext uri="{FF2B5EF4-FFF2-40B4-BE49-F238E27FC236}">
                <a16:creationId xmlns:a16="http://schemas.microsoft.com/office/drawing/2014/main" id="{E37ADCC4-6D2A-6341-B33C-E4284168C8F2}"/>
              </a:ext>
            </a:extLst>
          </p:cNvPr>
          <p:cNvPicPr>
            <a:picLocks noChangeAspect="1"/>
          </p:cNvPicPr>
          <p:nvPr/>
        </p:nvPicPr>
        <p:blipFill>
          <a:blip r:embed="rId7"/>
          <a:stretch>
            <a:fillRect/>
          </a:stretch>
        </p:blipFill>
        <p:spPr>
          <a:xfrm>
            <a:off x="1165388" y="2227719"/>
            <a:ext cx="3930323" cy="913385"/>
          </a:xfrm>
          <a:prstGeom prst="rect">
            <a:avLst/>
          </a:prstGeom>
        </p:spPr>
      </p:pic>
      <p:sp>
        <p:nvSpPr>
          <p:cNvPr id="9" name="TextBox 8">
            <a:extLst>
              <a:ext uri="{FF2B5EF4-FFF2-40B4-BE49-F238E27FC236}">
                <a16:creationId xmlns:a16="http://schemas.microsoft.com/office/drawing/2014/main" id="{6B337CB9-C7A4-CE4B-91F7-C97E4E898E7E}"/>
              </a:ext>
            </a:extLst>
          </p:cNvPr>
          <p:cNvSpPr txBox="1"/>
          <p:nvPr/>
        </p:nvSpPr>
        <p:spPr>
          <a:xfrm>
            <a:off x="2914693" y="1462695"/>
            <a:ext cx="1513305" cy="338554"/>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Amazon EC2</a:t>
            </a:r>
          </a:p>
        </p:txBody>
      </p:sp>
      <p:pic>
        <p:nvPicPr>
          <p:cNvPr id="10" name="Graphic 9">
            <a:extLst>
              <a:ext uri="{FF2B5EF4-FFF2-40B4-BE49-F238E27FC236}">
                <a16:creationId xmlns:a16="http://schemas.microsoft.com/office/drawing/2014/main" id="{DFB9961F-4853-CD40-9DF8-7BBD6FB6790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86828" y="1254039"/>
            <a:ext cx="711200" cy="711200"/>
          </a:xfrm>
          <a:prstGeom prst="rect">
            <a:avLst/>
          </a:prstGeom>
        </p:spPr>
      </p:pic>
      <p:sp>
        <p:nvSpPr>
          <p:cNvPr id="11" name="TextBox 10">
            <a:extLst>
              <a:ext uri="{FF2B5EF4-FFF2-40B4-BE49-F238E27FC236}">
                <a16:creationId xmlns:a16="http://schemas.microsoft.com/office/drawing/2014/main" id="{E560CD8E-2485-1045-B7B1-AD3EB92AB79B}"/>
              </a:ext>
            </a:extLst>
          </p:cNvPr>
          <p:cNvSpPr txBox="1"/>
          <p:nvPr/>
        </p:nvSpPr>
        <p:spPr>
          <a:xfrm>
            <a:off x="8095447" y="1462695"/>
            <a:ext cx="2301904" cy="338554"/>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Amazon RDS</a:t>
            </a:r>
          </a:p>
        </p:txBody>
      </p:sp>
      <p:pic>
        <p:nvPicPr>
          <p:cNvPr id="12" name="Graphic 11">
            <a:extLst>
              <a:ext uri="{FF2B5EF4-FFF2-40B4-BE49-F238E27FC236}">
                <a16:creationId xmlns:a16="http://schemas.microsoft.com/office/drawing/2014/main" id="{BDEFF066-06B3-D24A-AD74-9AA32E96D65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39847" y="1254039"/>
            <a:ext cx="711200" cy="711200"/>
          </a:xfrm>
          <a:prstGeom prst="rect">
            <a:avLst/>
          </a:prstGeom>
        </p:spPr>
      </p:pic>
      <p:grpSp>
        <p:nvGrpSpPr>
          <p:cNvPr id="5" name="Group 4">
            <a:extLst>
              <a:ext uri="{FF2B5EF4-FFF2-40B4-BE49-F238E27FC236}">
                <a16:creationId xmlns:a16="http://schemas.microsoft.com/office/drawing/2014/main" id="{CC38EC5A-4108-1B4D-9139-A69E042E2343}"/>
              </a:ext>
              <a:ext uri="{C183D7F6-B498-43B3-948B-1728B52AA6E4}">
                <adec:decorative xmlns:adec="http://schemas.microsoft.com/office/drawing/2017/decorative" val="1"/>
              </a:ext>
            </a:extLst>
          </p:cNvPr>
          <p:cNvGrpSpPr/>
          <p:nvPr/>
        </p:nvGrpSpPr>
        <p:grpSpPr>
          <a:xfrm>
            <a:off x="6452815" y="2930148"/>
            <a:ext cx="5153770" cy="3247329"/>
            <a:chOff x="6835030" y="3166500"/>
            <a:chExt cx="5153770" cy="3247329"/>
          </a:xfrm>
        </p:grpSpPr>
        <p:sp>
          <p:nvSpPr>
            <p:cNvPr id="18" name="Rectangle 17">
              <a:extLst>
                <a:ext uri="{FF2B5EF4-FFF2-40B4-BE49-F238E27FC236}">
                  <a16:creationId xmlns:a16="http://schemas.microsoft.com/office/drawing/2014/main" id="{83762BB7-A01F-F943-98F8-45144768C1AE}"/>
                </a:ext>
              </a:extLst>
            </p:cNvPr>
            <p:cNvSpPr/>
            <p:nvPr/>
          </p:nvSpPr>
          <p:spPr>
            <a:xfrm>
              <a:off x="6835030" y="3166500"/>
              <a:ext cx="5153770" cy="32473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4572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sp>
          <p:nvSpPr>
            <p:cNvPr id="19" name="Rectangle 18">
              <a:extLst>
                <a:ext uri="{FF2B5EF4-FFF2-40B4-BE49-F238E27FC236}">
                  <a16:creationId xmlns:a16="http://schemas.microsoft.com/office/drawing/2014/main" id="{2D707AAF-50F2-5B44-80D5-60AD86686434}"/>
                </a:ext>
              </a:extLst>
            </p:cNvPr>
            <p:cNvSpPr/>
            <p:nvPr/>
          </p:nvSpPr>
          <p:spPr>
            <a:xfrm>
              <a:off x="6970389" y="3506614"/>
              <a:ext cx="2233988" cy="2837582"/>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b="1" dirty="0">
                  <a:solidFill>
                    <a:schemeClr val="accent3"/>
                  </a:solidFill>
                </a:rPr>
                <a:t>Availability Zone 1</a:t>
              </a:r>
            </a:p>
          </p:txBody>
        </p:sp>
        <p:pic>
          <p:nvPicPr>
            <p:cNvPr id="20" name="Graphic 19">
              <a:extLst>
                <a:ext uri="{FF2B5EF4-FFF2-40B4-BE49-F238E27FC236}">
                  <a16:creationId xmlns:a16="http://schemas.microsoft.com/office/drawing/2014/main" id="{CF675DD2-A263-F041-AED8-CA91AC7DFBC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35030" y="3166500"/>
              <a:ext cx="233568" cy="238844"/>
            </a:xfrm>
            <a:prstGeom prst="rect">
              <a:avLst/>
            </a:prstGeom>
          </p:spPr>
        </p:pic>
        <p:sp>
          <p:nvSpPr>
            <p:cNvPr id="21" name="Rectangle 20">
              <a:extLst>
                <a:ext uri="{FF2B5EF4-FFF2-40B4-BE49-F238E27FC236}">
                  <a16:creationId xmlns:a16="http://schemas.microsoft.com/office/drawing/2014/main" id="{352CCC1D-7015-A440-8BC9-AB599AB8738B}"/>
                </a:ext>
              </a:extLst>
            </p:cNvPr>
            <p:cNvSpPr/>
            <p:nvPr/>
          </p:nvSpPr>
          <p:spPr>
            <a:xfrm>
              <a:off x="9463364" y="3506614"/>
              <a:ext cx="2373036" cy="2837582"/>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b="1" dirty="0">
                  <a:solidFill>
                    <a:schemeClr val="accent3"/>
                  </a:solidFill>
                </a:rPr>
                <a:t>Availability Zone 2</a:t>
              </a:r>
            </a:p>
          </p:txBody>
        </p:sp>
        <p:pic>
          <p:nvPicPr>
            <p:cNvPr id="22" name="Graphic 21">
              <a:extLst>
                <a:ext uri="{FF2B5EF4-FFF2-40B4-BE49-F238E27FC236}">
                  <a16:creationId xmlns:a16="http://schemas.microsoft.com/office/drawing/2014/main" id="{2F5FDACB-8816-3D4F-A047-8E0AA3798E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205559" y="4410197"/>
              <a:ext cx="615633" cy="650819"/>
            </a:xfrm>
            <a:prstGeom prst="rect">
              <a:avLst/>
            </a:prstGeom>
          </p:spPr>
        </p:pic>
        <p:pic>
          <p:nvPicPr>
            <p:cNvPr id="23" name="Graphic 22">
              <a:extLst>
                <a:ext uri="{FF2B5EF4-FFF2-40B4-BE49-F238E27FC236}">
                  <a16:creationId xmlns:a16="http://schemas.microsoft.com/office/drawing/2014/main" id="{86836210-BB7C-A648-B4CE-4DA6FF4B903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843008" y="4410197"/>
              <a:ext cx="708925" cy="650819"/>
            </a:xfrm>
            <a:prstGeom prst="rect">
              <a:avLst/>
            </a:prstGeom>
          </p:spPr>
        </p:pic>
        <p:pic>
          <p:nvPicPr>
            <p:cNvPr id="24" name="Graphic 23">
              <a:extLst>
                <a:ext uri="{FF2B5EF4-FFF2-40B4-BE49-F238E27FC236}">
                  <a16:creationId xmlns:a16="http://schemas.microsoft.com/office/drawing/2014/main" id="{AF9E0C7B-8B2A-F540-8B3A-0B32C22154D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315646" y="5343281"/>
              <a:ext cx="395459" cy="418061"/>
            </a:xfrm>
            <a:prstGeom prst="rect">
              <a:avLst/>
            </a:prstGeom>
          </p:spPr>
        </p:pic>
        <p:pic>
          <p:nvPicPr>
            <p:cNvPr id="25" name="Graphic 24">
              <a:extLst>
                <a:ext uri="{FF2B5EF4-FFF2-40B4-BE49-F238E27FC236}">
                  <a16:creationId xmlns:a16="http://schemas.microsoft.com/office/drawing/2014/main" id="{FEA7049E-5484-EB4C-ADE5-8845EED704E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79089" y="5343164"/>
              <a:ext cx="395459" cy="418061"/>
            </a:xfrm>
            <a:prstGeom prst="rect">
              <a:avLst/>
            </a:prstGeom>
          </p:spPr>
        </p:pic>
        <p:pic>
          <p:nvPicPr>
            <p:cNvPr id="26" name="Graphic 25">
              <a:extLst>
                <a:ext uri="{FF2B5EF4-FFF2-40B4-BE49-F238E27FC236}">
                  <a16:creationId xmlns:a16="http://schemas.microsoft.com/office/drawing/2014/main" id="{4C584355-7D57-CD41-BCDA-3243FB6A8AD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969777" y="5362701"/>
              <a:ext cx="455386" cy="418061"/>
            </a:xfrm>
            <a:prstGeom prst="rect">
              <a:avLst/>
            </a:prstGeom>
          </p:spPr>
        </p:pic>
        <p:pic>
          <p:nvPicPr>
            <p:cNvPr id="27" name="Graphic 26">
              <a:extLst>
                <a:ext uri="{FF2B5EF4-FFF2-40B4-BE49-F238E27FC236}">
                  <a16:creationId xmlns:a16="http://schemas.microsoft.com/office/drawing/2014/main" id="{6660E55E-861D-3247-9BD6-2F1B633BC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904809" y="5362701"/>
              <a:ext cx="455386" cy="418061"/>
            </a:xfrm>
            <a:prstGeom prst="rect">
              <a:avLst/>
            </a:prstGeom>
          </p:spPr>
        </p:pic>
        <p:cxnSp>
          <p:nvCxnSpPr>
            <p:cNvPr id="28" name="Straight Arrow Connector 27">
              <a:extLst>
                <a:ext uri="{FF2B5EF4-FFF2-40B4-BE49-F238E27FC236}">
                  <a16:creationId xmlns:a16="http://schemas.microsoft.com/office/drawing/2014/main" id="{A3B5456C-2945-AB41-A55E-7B0035736F58}"/>
                </a:ext>
              </a:extLst>
            </p:cNvPr>
            <p:cNvCxnSpPr>
              <a:stCxn id="22" idx="3"/>
              <a:endCxn id="23" idx="1"/>
            </p:cNvCxnSpPr>
            <p:nvPr/>
          </p:nvCxnSpPr>
          <p:spPr>
            <a:xfrm>
              <a:off x="7821192" y="4735607"/>
              <a:ext cx="2021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699ED88-E670-6349-9169-09740AB0D8E6}"/>
                </a:ext>
              </a:extLst>
            </p:cNvPr>
            <p:cNvCxnSpPr>
              <a:cxnSpLocks/>
              <a:stCxn id="24" idx="3"/>
              <a:endCxn id="25" idx="1"/>
            </p:cNvCxnSpPr>
            <p:nvPr/>
          </p:nvCxnSpPr>
          <p:spPr>
            <a:xfrm flipV="1">
              <a:off x="7711105" y="5552195"/>
              <a:ext cx="667984" cy="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8BA2871-A544-D240-9D42-2F3058CE8399}"/>
                </a:ext>
              </a:extLst>
            </p:cNvPr>
            <p:cNvCxnSpPr>
              <a:cxnSpLocks/>
              <a:stCxn id="26" idx="3"/>
              <a:endCxn id="27" idx="1"/>
            </p:cNvCxnSpPr>
            <p:nvPr/>
          </p:nvCxnSpPr>
          <p:spPr>
            <a:xfrm>
              <a:off x="10425163" y="5571732"/>
              <a:ext cx="4796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81F65BF-9DC4-5740-84A5-92F3AAE5FDBC}"/>
                </a:ext>
              </a:extLst>
            </p:cNvPr>
            <p:cNvSpPr txBox="1"/>
            <p:nvPr/>
          </p:nvSpPr>
          <p:spPr>
            <a:xfrm>
              <a:off x="7178109" y="5756105"/>
              <a:ext cx="878767"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a:t>
              </a:r>
            </a:p>
          </p:txBody>
        </p:sp>
        <p:sp>
          <p:nvSpPr>
            <p:cNvPr id="32" name="TextBox 31">
              <a:extLst>
                <a:ext uri="{FF2B5EF4-FFF2-40B4-BE49-F238E27FC236}">
                  <a16:creationId xmlns:a16="http://schemas.microsoft.com/office/drawing/2014/main" id="{635D8DF7-A71A-264D-9E8F-FC6BC8C72411}"/>
                </a:ext>
              </a:extLst>
            </p:cNvPr>
            <p:cNvSpPr txBox="1"/>
            <p:nvPr/>
          </p:nvSpPr>
          <p:spPr>
            <a:xfrm>
              <a:off x="8156498" y="5752502"/>
              <a:ext cx="878767"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replica</a:t>
              </a:r>
            </a:p>
          </p:txBody>
        </p:sp>
        <p:sp>
          <p:nvSpPr>
            <p:cNvPr id="33" name="TextBox 32">
              <a:extLst>
                <a:ext uri="{FF2B5EF4-FFF2-40B4-BE49-F238E27FC236}">
                  <a16:creationId xmlns:a16="http://schemas.microsoft.com/office/drawing/2014/main" id="{1524D64A-1C20-D345-B33E-689571B0450F}"/>
                </a:ext>
              </a:extLst>
            </p:cNvPr>
            <p:cNvSpPr txBox="1"/>
            <p:nvPr/>
          </p:nvSpPr>
          <p:spPr>
            <a:xfrm>
              <a:off x="10676781" y="5778254"/>
              <a:ext cx="980552"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 replica</a:t>
              </a:r>
            </a:p>
          </p:txBody>
        </p:sp>
        <p:sp>
          <p:nvSpPr>
            <p:cNvPr id="34" name="TextBox 33">
              <a:extLst>
                <a:ext uri="{FF2B5EF4-FFF2-40B4-BE49-F238E27FC236}">
                  <a16:creationId xmlns:a16="http://schemas.microsoft.com/office/drawing/2014/main" id="{D2C3382B-E773-B442-8592-2E721EF1EC00}"/>
                </a:ext>
              </a:extLst>
            </p:cNvPr>
            <p:cNvSpPr txBox="1"/>
            <p:nvPr/>
          </p:nvSpPr>
          <p:spPr>
            <a:xfrm>
              <a:off x="9707194" y="5774031"/>
              <a:ext cx="980552" cy="338554"/>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a:t>
              </a:r>
            </a:p>
          </p:txBody>
        </p:sp>
        <p:sp>
          <p:nvSpPr>
            <p:cNvPr id="35" name="TextBox 34">
              <a:extLst>
                <a:ext uri="{FF2B5EF4-FFF2-40B4-BE49-F238E27FC236}">
                  <a16:creationId xmlns:a16="http://schemas.microsoft.com/office/drawing/2014/main" id="{3DE9A0DD-1BEF-E243-8744-D55997A363DD}"/>
                </a:ext>
              </a:extLst>
            </p:cNvPr>
            <p:cNvSpPr txBox="1"/>
            <p:nvPr/>
          </p:nvSpPr>
          <p:spPr>
            <a:xfrm>
              <a:off x="7875860" y="4435134"/>
              <a:ext cx="1173719"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Always-on </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mirroring</a:t>
              </a:r>
            </a:p>
          </p:txBody>
        </p:sp>
        <p:cxnSp>
          <p:nvCxnSpPr>
            <p:cNvPr id="36" name="Straight Connector 35">
              <a:extLst>
                <a:ext uri="{FF2B5EF4-FFF2-40B4-BE49-F238E27FC236}">
                  <a16:creationId xmlns:a16="http://schemas.microsoft.com/office/drawing/2014/main" id="{1759C571-6037-5041-98C0-20FB99B20309}"/>
                </a:ext>
              </a:extLst>
            </p:cNvPr>
            <p:cNvCxnSpPr>
              <a:stCxn id="22" idx="2"/>
              <a:endCxn id="24" idx="0"/>
            </p:cNvCxnSpPr>
            <p:nvPr/>
          </p:nvCxnSpPr>
          <p:spPr>
            <a:xfrm>
              <a:off x="7513376" y="5061016"/>
              <a:ext cx="0" cy="2822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B9F6CE8-B363-4947-A2F4-D887D88EF93E}"/>
                </a:ext>
              </a:extLst>
            </p:cNvPr>
            <p:cNvCxnSpPr>
              <a:cxnSpLocks/>
              <a:stCxn id="23" idx="2"/>
              <a:endCxn id="26" idx="0"/>
            </p:cNvCxnSpPr>
            <p:nvPr/>
          </p:nvCxnSpPr>
          <p:spPr>
            <a:xfrm flipH="1">
              <a:off x="10197470" y="5061016"/>
              <a:ext cx="1" cy="301685"/>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4577F40-DA25-9141-8BA7-2073D474A894}"/>
                </a:ext>
              </a:extLst>
            </p:cNvPr>
            <p:cNvSpPr txBox="1"/>
            <p:nvPr/>
          </p:nvSpPr>
          <p:spPr>
            <a:xfrm>
              <a:off x="7106337" y="3869236"/>
              <a:ext cx="2066690" cy="584775"/>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MS SQL Server primary DB instance</a:t>
              </a:r>
            </a:p>
          </p:txBody>
        </p:sp>
        <p:sp>
          <p:nvSpPr>
            <p:cNvPr id="39" name="TextBox 38">
              <a:extLst>
                <a:ext uri="{FF2B5EF4-FFF2-40B4-BE49-F238E27FC236}">
                  <a16:creationId xmlns:a16="http://schemas.microsoft.com/office/drawing/2014/main" id="{129708EC-9F63-384A-9249-549FAB8EA7AC}"/>
                </a:ext>
              </a:extLst>
            </p:cNvPr>
            <p:cNvSpPr txBox="1"/>
            <p:nvPr/>
          </p:nvSpPr>
          <p:spPr>
            <a:xfrm>
              <a:off x="9430595" y="3879785"/>
              <a:ext cx="2513024" cy="584775"/>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MS SQL Server secondary </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DB instance</a:t>
              </a:r>
            </a:p>
          </p:txBody>
        </p:sp>
      </p:grpSp>
    </p:spTree>
    <p:custDataLst>
      <p:tags r:id="rId1"/>
    </p:custDataLst>
    <p:extLst>
      <p:ext uri="{BB962C8B-B14F-4D97-AF65-F5344CB8AC3E}">
        <p14:creationId xmlns:p14="http://schemas.microsoft.com/office/powerpoint/2010/main" val="17018900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DD430C-DE38-B14E-A6BA-B7DB0B65398F}"/>
              </a:ext>
            </a:extLst>
          </p:cNvPr>
          <p:cNvSpPr>
            <a:spLocks noGrp="1"/>
          </p:cNvSpPr>
          <p:nvPr>
            <p:ph type="title"/>
          </p:nvPr>
        </p:nvSpPr>
        <p:spPr/>
        <p:txBody>
          <a:bodyPr/>
          <a:lstStyle/>
          <a:p>
            <a:r>
              <a:rPr lang="en-US" dirty="0"/>
              <a:t>Activity: Check your understanding</a:t>
            </a:r>
          </a:p>
        </p:txBody>
      </p:sp>
      <p:sp>
        <p:nvSpPr>
          <p:cNvPr id="8" name="Content Placeholder 7">
            <a:extLst>
              <a:ext uri="{FF2B5EF4-FFF2-40B4-BE49-F238E27FC236}">
                <a16:creationId xmlns:a16="http://schemas.microsoft.com/office/drawing/2014/main" id="{CF931B10-7FA9-754A-A87B-F600D44AAF8E}"/>
              </a:ext>
            </a:extLst>
          </p:cNvPr>
          <p:cNvSpPr>
            <a:spLocks noGrp="1"/>
          </p:cNvSpPr>
          <p:nvPr>
            <p:ph idx="1"/>
          </p:nvPr>
        </p:nvSpPr>
        <p:spPr/>
        <p:txBody>
          <a:bodyPr/>
          <a:lstStyle/>
          <a:p>
            <a:pPr marL="342900" indent="-342900">
              <a:buFont typeface="+mj-lt"/>
              <a:buAutoNum type="arabicPeriod"/>
            </a:pPr>
            <a:r>
              <a:rPr lang="en-US" sz="2000" dirty="0"/>
              <a:t>Between Amazon EC2 or Amazon RDS, which provides a managed service? What does </a:t>
            </a:r>
            <a:r>
              <a:rPr lang="en-US" sz="2000" i="1" dirty="0"/>
              <a:t>managed service </a:t>
            </a:r>
            <a:r>
              <a:rPr lang="en-US" sz="2000" dirty="0"/>
              <a:t>mean?</a:t>
            </a:r>
          </a:p>
          <a:p>
            <a:pPr lvl="1"/>
            <a:r>
              <a:rPr lang="en-US" sz="1800" b="1" dirty="0">
                <a:solidFill>
                  <a:schemeClr val="accent5"/>
                </a:solidFill>
              </a:rPr>
              <a:t>ANSWER:</a:t>
            </a:r>
            <a:r>
              <a:rPr lang="en-US" sz="1800" dirty="0"/>
              <a:t> </a:t>
            </a:r>
            <a:r>
              <a:rPr lang="en-US" sz="1800" dirty="0">
                <a:solidFill>
                  <a:schemeClr val="accent6"/>
                </a:solidFill>
              </a:rPr>
              <a:t>Amazon RDS provides a managed service. Amazon RDS handles provisioning, installation and patching, automated backups, restoring snapshots from points in time, high availability, and monitoring.</a:t>
            </a:r>
          </a:p>
          <a:p>
            <a:pPr marL="342900" indent="-342900">
              <a:buFont typeface="+mj-lt"/>
              <a:buAutoNum type="arabicPeriod"/>
            </a:pPr>
            <a:r>
              <a:rPr lang="en-US" sz="2000" dirty="0"/>
              <a:t>Name at least one advantage of deploying Microsoft SQL Server on Amazon EC2 instead of Amazon RDS.</a:t>
            </a:r>
          </a:p>
          <a:p>
            <a:pPr lvl="1"/>
            <a:r>
              <a:rPr lang="en-US" sz="1800" b="1" dirty="0">
                <a:solidFill>
                  <a:schemeClr val="accent5"/>
                </a:solidFill>
              </a:rPr>
              <a:t>ANSWER: </a:t>
            </a:r>
            <a:r>
              <a:rPr lang="en-US" sz="1800" dirty="0">
                <a:solidFill>
                  <a:schemeClr val="accent6"/>
                </a:solidFill>
              </a:rPr>
              <a:t>Amazon EC2 offers complete control over every configuration, the OS, and the software stack.</a:t>
            </a:r>
          </a:p>
          <a:p>
            <a:pPr marL="342900" indent="-342900">
              <a:buFont typeface="+mj-lt"/>
              <a:buAutoNum type="arabicPeriod"/>
            </a:pPr>
            <a:r>
              <a:rPr lang="en-US" sz="2000" dirty="0"/>
              <a:t>What advantage does the Quick Start provide over a manual installation on Amazon EC2?</a:t>
            </a:r>
          </a:p>
          <a:p>
            <a:pPr lvl="1"/>
            <a:r>
              <a:rPr lang="en-US" sz="1800" b="1" dirty="0">
                <a:solidFill>
                  <a:schemeClr val="accent5"/>
                </a:solidFill>
              </a:rPr>
              <a:t>ANSWER: </a:t>
            </a:r>
            <a:r>
              <a:rPr lang="en-US" sz="1800" dirty="0">
                <a:solidFill>
                  <a:schemeClr val="accent6"/>
                </a:solidFill>
              </a:rPr>
              <a:t>The Quick Start is a reference architecture with proven best practices built into the design.</a:t>
            </a:r>
            <a:endParaRPr lang="en-US" sz="1800" dirty="0"/>
          </a:p>
          <a:p>
            <a:pPr marL="342900" indent="-342900">
              <a:buFont typeface="+mj-lt"/>
              <a:buAutoNum type="arabicPeriod"/>
            </a:pPr>
            <a:r>
              <a:rPr lang="en-US" sz="2000" dirty="0"/>
              <a:t>Which deployment option offers the best approach for all use cases?</a:t>
            </a:r>
          </a:p>
          <a:p>
            <a:pPr lvl="1"/>
            <a:r>
              <a:rPr lang="en-US" sz="1800" b="1" dirty="0">
                <a:solidFill>
                  <a:schemeClr val="accent5"/>
                </a:solidFill>
              </a:rPr>
              <a:t>ANSWER:</a:t>
            </a:r>
            <a:r>
              <a:rPr lang="en-US" sz="1800" dirty="0"/>
              <a:t> </a:t>
            </a:r>
            <a:r>
              <a:rPr lang="en-US" sz="1800" dirty="0">
                <a:solidFill>
                  <a:schemeClr val="accent6"/>
                </a:solidFill>
              </a:rPr>
              <a:t>Neither. The correct deployment option depends on your specific needs.</a:t>
            </a:r>
          </a:p>
          <a:p>
            <a:pPr marL="342900" indent="-342900">
              <a:buFont typeface="+mj-lt"/>
              <a:buAutoNum type="arabicPeriod"/>
            </a:pPr>
            <a:r>
              <a:rPr lang="en-US" sz="2000" dirty="0"/>
              <a:t>Which approach costs more: using Amazon EC2 or using Amazon RDS?</a:t>
            </a:r>
          </a:p>
          <a:p>
            <a:pPr lvl="1"/>
            <a:r>
              <a:rPr lang="en-US" sz="1800" b="1" dirty="0">
                <a:solidFill>
                  <a:schemeClr val="accent5"/>
                </a:solidFill>
              </a:rPr>
              <a:t>ANSWER: </a:t>
            </a:r>
            <a:r>
              <a:rPr lang="en-US" sz="1800" dirty="0">
                <a:solidFill>
                  <a:schemeClr val="accent6"/>
                </a:solidFill>
              </a:rPr>
              <a:t>It depends. Managing the database deployment on Amazon EC2 requires more customer oversight and time. If time is your priority, then Amazon RDS might be less expensive. If you have in-house expertise, Amazon EC2 might be more cost-effective.</a:t>
            </a:r>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Slide Number Placeholder 2">
            <a:extLst>
              <a:ext uri="{FF2B5EF4-FFF2-40B4-BE49-F238E27FC236}">
                <a16:creationId xmlns:a16="http://schemas.microsoft.com/office/drawing/2014/main" id="{BE86F2C7-FA87-4746-9B69-7F94D527D48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43</a:t>
            </a:fld>
            <a:endParaRPr lang="en-US" dirty="0"/>
          </a:p>
        </p:txBody>
      </p:sp>
      <p:sp>
        <p:nvSpPr>
          <p:cNvPr id="4" name="Footer Placeholder 3">
            <a:extLst>
              <a:ext uri="{FF2B5EF4-FFF2-40B4-BE49-F238E27FC236}">
                <a16:creationId xmlns:a16="http://schemas.microsoft.com/office/drawing/2014/main" id="{49A3DB23-DB36-5F47-9AF6-5ED968C23D4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76573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Section 3: Amazon EC2 cost optimization</a:t>
            </a:r>
          </a:p>
        </p:txBody>
      </p:sp>
      <p:sp>
        <p:nvSpPr>
          <p:cNvPr id="5" name="Text Placeholder 4">
            <a:extLst>
              <a:ext uri="{FF2B5EF4-FFF2-40B4-BE49-F238E27FC236}">
                <a16:creationId xmlns:a16="http://schemas.microsoft.com/office/drawing/2014/main" id="{CCFB60D0-4DB9-4F4A-84AA-C41058AEAE12}"/>
              </a:ext>
            </a:extLst>
          </p:cNvPr>
          <p:cNvSpPr>
            <a:spLocks noGrp="1"/>
          </p:cNvSpPr>
          <p:nvPr>
            <p:ph type="body" sz="quarter" idx="10"/>
          </p:nvPr>
        </p:nvSpPr>
        <p:spPr/>
        <p:txBody>
          <a:bodyPr>
            <a:normAutofit/>
          </a:bodyPr>
          <a:lstStyle/>
          <a:p>
            <a:r>
              <a:rPr lang="en-US" dirty="0"/>
              <a:t>Module 6: Compute</a:t>
            </a:r>
          </a:p>
        </p:txBody>
      </p:sp>
      <p:sp>
        <p:nvSpPr>
          <p:cNvPr id="3" name="Footer Placeholder 2">
            <a:extLst>
              <a:ext uri="{FF2B5EF4-FFF2-40B4-BE49-F238E27FC236}">
                <a16:creationId xmlns:a16="http://schemas.microsoft.com/office/drawing/2014/main" id="{B72B0E41-B2D1-6641-B8F3-0A6671F66ED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18284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5BE538B-23AB-3F45-9B09-1966B19E8E8A}"/>
              </a:ext>
            </a:extLst>
          </p:cNvPr>
          <p:cNvSpPr>
            <a:spLocks noGrp="1"/>
          </p:cNvSpPr>
          <p:nvPr>
            <p:ph type="title"/>
          </p:nvPr>
        </p:nvSpPr>
        <p:spPr/>
        <p:txBody>
          <a:bodyPr/>
          <a:lstStyle/>
          <a:p>
            <a:r>
              <a:rPr lang="en-US" dirty="0"/>
              <a:t>Amazon EC2 pricing models</a:t>
            </a:r>
          </a:p>
        </p:txBody>
      </p:sp>
      <p:sp>
        <p:nvSpPr>
          <p:cNvPr id="9" name="Content Placeholder 8">
            <a:extLst>
              <a:ext uri="{FF2B5EF4-FFF2-40B4-BE49-F238E27FC236}">
                <a16:creationId xmlns:a16="http://schemas.microsoft.com/office/drawing/2014/main" id="{7A7E7A69-3224-0A42-8593-606D69F26BE9}"/>
              </a:ext>
            </a:extLst>
          </p:cNvPr>
          <p:cNvSpPr>
            <a:spLocks noGrp="1"/>
          </p:cNvSpPr>
          <p:nvPr>
            <p:ph idx="1"/>
          </p:nvPr>
        </p:nvSpPr>
        <p:spPr>
          <a:xfrm>
            <a:off x="419100" y="1528175"/>
            <a:ext cx="3735456" cy="4645152"/>
          </a:xfrm>
        </p:spPr>
        <p:txBody>
          <a:bodyPr/>
          <a:lstStyle/>
          <a:p>
            <a:pPr marL="0" indent="0">
              <a:buNone/>
            </a:pPr>
            <a:r>
              <a:rPr lang="en-US" sz="2400" b="1" dirty="0">
                <a:solidFill>
                  <a:schemeClr val="accent5"/>
                </a:solidFill>
              </a:rPr>
              <a:t>On-Demand Instances</a:t>
            </a:r>
          </a:p>
          <a:p>
            <a:r>
              <a:rPr lang="en-US" sz="1600" dirty="0"/>
              <a:t>Pay by the hour </a:t>
            </a:r>
          </a:p>
          <a:p>
            <a:r>
              <a:rPr lang="en-US" sz="1600" dirty="0"/>
              <a:t>No long-term commitments.</a:t>
            </a:r>
          </a:p>
          <a:p>
            <a:r>
              <a:rPr lang="en-US" sz="1600" dirty="0"/>
              <a:t>Eligible for the </a:t>
            </a:r>
            <a:r>
              <a:rPr lang="en-US" sz="1600" dirty="0">
                <a:hlinkClick r:id="rId4"/>
              </a:rPr>
              <a:t>AWS Free Tier</a:t>
            </a:r>
            <a:r>
              <a:rPr lang="en-US" sz="1600" dirty="0"/>
              <a:t>.</a:t>
            </a:r>
          </a:p>
          <a:p>
            <a:pPr marL="0" indent="0">
              <a:buNone/>
            </a:pPr>
            <a:endParaRPr lang="en-US" sz="1000" b="1" dirty="0">
              <a:solidFill>
                <a:schemeClr val="accent5"/>
              </a:solidFill>
            </a:endParaRPr>
          </a:p>
          <a:p>
            <a:pPr marL="0" indent="0">
              <a:buNone/>
            </a:pPr>
            <a:r>
              <a:rPr lang="en-US" sz="2400" b="1" dirty="0">
                <a:solidFill>
                  <a:schemeClr val="accent5"/>
                </a:solidFill>
              </a:rPr>
              <a:t>Dedicated Hosts</a:t>
            </a:r>
          </a:p>
          <a:p>
            <a:r>
              <a:rPr lang="en-US" sz="1600" dirty="0"/>
              <a:t>A physical server with EC2 instance capacity fully dedicated to your use.</a:t>
            </a:r>
          </a:p>
          <a:p>
            <a:endParaRPr lang="en-US" sz="1000" b="1" dirty="0">
              <a:solidFill>
                <a:schemeClr val="accent5"/>
              </a:solidFill>
            </a:endParaRPr>
          </a:p>
          <a:p>
            <a:pPr marL="0" indent="0">
              <a:buNone/>
            </a:pPr>
            <a:r>
              <a:rPr lang="en-US" sz="2400" b="1" dirty="0">
                <a:solidFill>
                  <a:schemeClr val="accent5"/>
                </a:solidFill>
              </a:rPr>
              <a:t>Dedicated Instances</a:t>
            </a:r>
          </a:p>
          <a:p>
            <a:r>
              <a:rPr lang="en-US" sz="1600" dirty="0"/>
              <a:t>Instances that run in a VPC on hardware that is dedicated to a single customer.</a:t>
            </a:r>
            <a:endParaRPr lang="en-US" sz="1600" b="1" dirty="0">
              <a:solidFill>
                <a:schemeClr val="accent5"/>
              </a:solidFill>
            </a:endParaRPr>
          </a:p>
          <a:p>
            <a:endParaRPr lang="en-US" sz="2000" b="1" dirty="0">
              <a:solidFill>
                <a:schemeClr val="accent5"/>
              </a:solidFill>
            </a:endParaRPr>
          </a:p>
        </p:txBody>
      </p:sp>
      <p:sp>
        <p:nvSpPr>
          <p:cNvPr id="4" name="Slide Number Placeholder 3">
            <a:extLst>
              <a:ext uri="{FF2B5EF4-FFF2-40B4-BE49-F238E27FC236}">
                <a16:creationId xmlns:a16="http://schemas.microsoft.com/office/drawing/2014/main" id="{FEFE9AD5-91C9-4A4A-89A6-C51BA77E849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45</a:t>
            </a:fld>
            <a:endParaRPr lang="en-US" dirty="0"/>
          </a:p>
        </p:txBody>
      </p:sp>
      <p:sp>
        <p:nvSpPr>
          <p:cNvPr id="10" name="Content Placeholder 9">
            <a:extLst>
              <a:ext uri="{FF2B5EF4-FFF2-40B4-BE49-F238E27FC236}">
                <a16:creationId xmlns:a16="http://schemas.microsoft.com/office/drawing/2014/main" id="{1461312D-F447-604C-8AAE-F61C8F9D43AB}"/>
              </a:ext>
            </a:extLst>
          </p:cNvPr>
          <p:cNvSpPr>
            <a:spLocks noGrp="1"/>
          </p:cNvSpPr>
          <p:nvPr>
            <p:ph idx="13"/>
          </p:nvPr>
        </p:nvSpPr>
        <p:spPr>
          <a:xfrm>
            <a:off x="8173686" y="1528175"/>
            <a:ext cx="3593592" cy="4130503"/>
          </a:xfrm>
        </p:spPr>
        <p:txBody>
          <a:bodyPr/>
          <a:lstStyle/>
          <a:p>
            <a:pPr marL="0" indent="0">
              <a:buNone/>
            </a:pPr>
            <a:r>
              <a:rPr lang="en-US" sz="2400" b="1" dirty="0">
                <a:solidFill>
                  <a:schemeClr val="accent5"/>
                </a:solidFill>
              </a:rPr>
              <a:t>Spot Instances</a:t>
            </a:r>
          </a:p>
          <a:p>
            <a:r>
              <a:rPr lang="en-US" sz="1600" dirty="0"/>
              <a:t>Instances run as long as they are available and your bid is above the Spot Instance price.</a:t>
            </a:r>
          </a:p>
          <a:p>
            <a:r>
              <a:rPr lang="en-US" sz="1600" dirty="0"/>
              <a:t>They can be interrupted by AWS with a 2-minute notification.</a:t>
            </a:r>
          </a:p>
          <a:p>
            <a:r>
              <a:rPr lang="en-US" sz="1600" dirty="0"/>
              <a:t>Interruption options include terminated, stopped or hibernated.</a:t>
            </a:r>
          </a:p>
          <a:p>
            <a:r>
              <a:rPr lang="en-US" sz="1600" dirty="0"/>
              <a:t>Prices can be significantly less expensive compared to On-Demand Instances</a:t>
            </a:r>
          </a:p>
          <a:p>
            <a:r>
              <a:rPr lang="en-US" sz="1600" dirty="0"/>
              <a:t>Good choice when you have flexibility in when your applications can run.</a:t>
            </a:r>
          </a:p>
          <a:p>
            <a:endParaRPr lang="en-US" dirty="0"/>
          </a:p>
          <a:p>
            <a:endParaRPr lang="en-US" dirty="0"/>
          </a:p>
          <a:p>
            <a:pPr marL="457200" lvl="1" indent="0">
              <a:buNone/>
            </a:pPr>
            <a:endParaRPr lang="en-US" dirty="0"/>
          </a:p>
        </p:txBody>
      </p:sp>
      <p:sp>
        <p:nvSpPr>
          <p:cNvPr id="11" name="Content Placeholder 10">
            <a:extLst>
              <a:ext uri="{FF2B5EF4-FFF2-40B4-BE49-F238E27FC236}">
                <a16:creationId xmlns:a16="http://schemas.microsoft.com/office/drawing/2014/main" id="{6C870859-B456-9749-BAE5-58C591DD1F3D}"/>
              </a:ext>
            </a:extLst>
          </p:cNvPr>
          <p:cNvSpPr>
            <a:spLocks noGrp="1"/>
          </p:cNvSpPr>
          <p:nvPr>
            <p:ph idx="14"/>
          </p:nvPr>
        </p:nvSpPr>
        <p:spPr>
          <a:xfrm>
            <a:off x="4314209" y="1528175"/>
            <a:ext cx="3593592" cy="4316034"/>
          </a:xfrm>
        </p:spPr>
        <p:txBody>
          <a:bodyPr/>
          <a:lstStyle/>
          <a:p>
            <a:pPr marL="0" indent="0">
              <a:buNone/>
            </a:pPr>
            <a:r>
              <a:rPr lang="en-US" sz="2400" b="1" dirty="0">
                <a:solidFill>
                  <a:schemeClr val="accent5"/>
                </a:solidFill>
              </a:rPr>
              <a:t>Reserved Instances</a:t>
            </a:r>
          </a:p>
          <a:p>
            <a:r>
              <a:rPr lang="en-US" sz="1600" dirty="0"/>
              <a:t>Full, partial, or no upfront payment for instance you reserve.</a:t>
            </a:r>
          </a:p>
          <a:p>
            <a:r>
              <a:rPr lang="en-US" sz="1600" dirty="0"/>
              <a:t>Discount on hourly charge for that instance.</a:t>
            </a:r>
          </a:p>
          <a:p>
            <a:r>
              <a:rPr lang="en-US" sz="1600" dirty="0"/>
              <a:t>1-year or 3-year term.</a:t>
            </a:r>
          </a:p>
          <a:p>
            <a:endParaRPr lang="en-US" sz="1400" dirty="0"/>
          </a:p>
          <a:p>
            <a:pPr marL="0" indent="0">
              <a:buNone/>
            </a:pPr>
            <a:r>
              <a:rPr lang="en-US" sz="2400" b="1" dirty="0">
                <a:solidFill>
                  <a:schemeClr val="accent5"/>
                </a:solidFill>
              </a:rPr>
              <a:t>Scheduled Reserved Instances</a:t>
            </a:r>
          </a:p>
          <a:p>
            <a:r>
              <a:rPr lang="en-US" sz="1600" dirty="0"/>
              <a:t>Purchase a capacity reservation that is always available on a recurring schedule you specify.</a:t>
            </a:r>
          </a:p>
          <a:p>
            <a:r>
              <a:rPr lang="en-US" sz="1600" dirty="0"/>
              <a:t>1-year term.</a:t>
            </a:r>
          </a:p>
        </p:txBody>
      </p:sp>
      <p:sp>
        <p:nvSpPr>
          <p:cNvPr id="5" name="Footer Placeholder 4">
            <a:extLst>
              <a:ext uri="{FF2B5EF4-FFF2-40B4-BE49-F238E27FC236}">
                <a16:creationId xmlns:a16="http://schemas.microsoft.com/office/drawing/2014/main" id="{AC2D9AD9-0B83-B341-AA18-C92803A9F60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TextBox 1">
            <a:extLst>
              <a:ext uri="{FF2B5EF4-FFF2-40B4-BE49-F238E27FC236}">
                <a16:creationId xmlns:a16="http://schemas.microsoft.com/office/drawing/2014/main" id="{68692509-AD77-0E4C-A138-43519957243F}"/>
              </a:ext>
            </a:extLst>
          </p:cNvPr>
          <p:cNvSpPr txBox="1"/>
          <p:nvPr/>
        </p:nvSpPr>
        <p:spPr>
          <a:xfrm>
            <a:off x="3162301" y="5841701"/>
            <a:ext cx="7205819" cy="584775"/>
          </a:xfrm>
          <a:prstGeom prst="rect">
            <a:avLst/>
          </a:prstGeom>
          <a:noFill/>
        </p:spPr>
        <p:txBody>
          <a:bodyPr wrap="none" rtlCol="0">
            <a:spAutoFit/>
          </a:bodyPr>
          <a:lstStyle/>
          <a:p>
            <a:r>
              <a:rPr lang="en-US" sz="1600" b="1" i="1" dirty="0">
                <a:solidFill>
                  <a:schemeClr val="accent5"/>
                </a:solidFill>
              </a:rPr>
              <a:t>Per second billing </a:t>
            </a:r>
            <a:r>
              <a:rPr lang="en-US" sz="1600" dirty="0"/>
              <a:t>available for On-Demand Instances, Reserved Instances, and </a:t>
            </a:r>
          </a:p>
          <a:p>
            <a:r>
              <a:rPr lang="en-US" sz="1600" dirty="0"/>
              <a:t>Spot Instances that run Amazon Linux or Ubuntu.</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4151584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Amazon EC2 pricing models: Benefits</a:t>
            </a: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492056460"/>
              </p:ext>
            </p:extLst>
          </p:nvPr>
        </p:nvGraphicFramePr>
        <p:xfrm>
          <a:off x="579572" y="2834640"/>
          <a:ext cx="11047024" cy="1935480"/>
        </p:xfrm>
        <a:graphic>
          <a:graphicData uri="http://schemas.openxmlformats.org/drawingml/2006/table">
            <a:tbl>
              <a:tblPr firstRow="1" bandRow="1">
                <a:tableStyleId>{F5AB1C69-6EDB-4FF4-983F-18BD219EF322}</a:tableStyleId>
              </a:tblPr>
              <a:tblGrid>
                <a:gridCol w="2761756">
                  <a:extLst>
                    <a:ext uri="{9D8B030D-6E8A-4147-A177-3AD203B41FA5}">
                      <a16:colId xmlns:a16="http://schemas.microsoft.com/office/drawing/2014/main" val="20000"/>
                    </a:ext>
                  </a:extLst>
                </a:gridCol>
                <a:gridCol w="2761756">
                  <a:extLst>
                    <a:ext uri="{9D8B030D-6E8A-4147-A177-3AD203B41FA5}">
                      <a16:colId xmlns:a16="http://schemas.microsoft.com/office/drawing/2014/main" val="20001"/>
                    </a:ext>
                  </a:extLst>
                </a:gridCol>
                <a:gridCol w="2761756">
                  <a:extLst>
                    <a:ext uri="{9D8B030D-6E8A-4147-A177-3AD203B41FA5}">
                      <a16:colId xmlns:a16="http://schemas.microsoft.com/office/drawing/2014/main" val="20002"/>
                    </a:ext>
                  </a:extLst>
                </a:gridCol>
                <a:gridCol w="2761756">
                  <a:extLst>
                    <a:ext uri="{9D8B030D-6E8A-4147-A177-3AD203B41FA5}">
                      <a16:colId xmlns:a16="http://schemas.microsoft.com/office/drawing/2014/main" val="2000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On-Demand Instances</a:t>
                      </a:r>
                      <a:endParaRPr lang="en-US" sz="20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Spot Instances</a:t>
                      </a:r>
                      <a:endParaRPr lang="en-US" sz="20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Reserved</a:t>
                      </a:r>
                      <a:r>
                        <a:rPr lang="en-US" sz="2000" b="0" baseline="0" dirty="0">
                          <a:solidFill>
                            <a:schemeClr val="tx1"/>
                          </a:solidFill>
                        </a:rPr>
                        <a:t> Instances</a:t>
                      </a:r>
                      <a:endParaRPr lang="en-US" sz="20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Dedicated Hosts</a:t>
                      </a:r>
                      <a:endParaRPr lang="en-US" sz="20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70840">
                <a:tc>
                  <a:txBody>
                    <a:bodyPr/>
                    <a:lstStyle/>
                    <a:p>
                      <a:pPr marL="342900" indent="-342900">
                        <a:buFont typeface="Arial" panose="020B0604020202020204" pitchFamily="34" charset="0"/>
                        <a:buChar char="•"/>
                      </a:pPr>
                      <a:r>
                        <a:rPr lang="en-US" sz="1800" dirty="0"/>
                        <a:t>Low cost and flexibility</a:t>
                      </a:r>
                    </a:p>
                    <a:p>
                      <a:pPr marL="342900" indent="-342900">
                        <a:buFont typeface="Arial" panose="020B0604020202020204" pitchFamily="34" charset="0"/>
                        <a:buChar char="•"/>
                      </a:pPr>
                      <a:endParaRPr lang="en-US" sz="18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spcAft>
                          <a:spcPts val="600"/>
                        </a:spcAft>
                        <a:buFont typeface="Arial" panose="020B0604020202020204" pitchFamily="34" charset="0"/>
                        <a:buChar char="•"/>
                      </a:pPr>
                      <a:r>
                        <a:rPr lang="en-US" sz="1800" dirty="0"/>
                        <a:t>Large scale, dynamic workload</a:t>
                      </a:r>
                    </a:p>
                    <a:p>
                      <a:pPr marL="342900" indent="-342900">
                        <a:buFont typeface="Arial" panose="020B0604020202020204" pitchFamily="34" charset="0"/>
                        <a:buChar char="•"/>
                      </a:pPr>
                      <a:endParaRPr lang="en-US" sz="18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1800" dirty="0"/>
                        <a:t>Predictability</a:t>
                      </a:r>
                      <a:r>
                        <a:rPr lang="en-US" sz="1800" baseline="0" dirty="0"/>
                        <a:t> ensures compute capacity is available when needed</a:t>
                      </a:r>
                      <a:endParaRPr lang="en-US" sz="1800" dirty="0"/>
                    </a:p>
                    <a:p>
                      <a:pPr marL="342900" indent="-342900">
                        <a:buFont typeface="Arial" panose="020B0604020202020204" pitchFamily="34" charset="0"/>
                        <a:buChar char="•"/>
                      </a:pPr>
                      <a:endParaRPr lang="en-US" sz="18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lgn="l" defTabSz="457200" rtl="0" eaLnBrk="1" latinLnBrk="0" hangingPunct="1">
                        <a:spcAft>
                          <a:spcPts val="600"/>
                        </a:spcAft>
                        <a:buFont typeface="Arial" panose="020B0604020202020204" pitchFamily="34" charset="0"/>
                        <a:buChar char="•"/>
                      </a:pPr>
                      <a:r>
                        <a:rPr lang="en-US" sz="1800" kern="1200" dirty="0"/>
                        <a:t>Save money on licensing costs</a:t>
                      </a:r>
                    </a:p>
                    <a:p>
                      <a:pPr marL="120650" indent="-120650" algn="l" defTabSz="457200" rtl="0" eaLnBrk="1" latinLnBrk="0" hangingPunct="1">
                        <a:spcAft>
                          <a:spcPts val="600"/>
                        </a:spcAft>
                        <a:buFont typeface="Arial" panose="020B0604020202020204" pitchFamily="34" charset="0"/>
                        <a:buChar char="•"/>
                      </a:pPr>
                      <a:r>
                        <a:rPr lang="en-US" sz="1800" kern="1200" dirty="0"/>
                        <a:t>Help meet compliance and regulatory requirements</a:t>
                      </a:r>
                      <a:endParaRPr lang="en-US" sz="1800" kern="1200" dirty="0">
                        <a:solidFill>
                          <a:schemeClr val="dk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3" name="Footer Placeholder 2">
            <a:extLst>
              <a:ext uri="{FF2B5EF4-FFF2-40B4-BE49-F238E27FC236}">
                <a16:creationId xmlns:a16="http://schemas.microsoft.com/office/drawing/2014/main" id="{7C93DDCC-C90B-0348-9D52-A640D1D60E0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FF2B5EF4-FFF2-40B4-BE49-F238E27FC236}">
                <a16:creationId xmlns:a16="http://schemas.microsoft.com/office/drawing/2014/main" id="{C45D31D5-0C88-D54A-BBB3-E2374CD9594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46</a:t>
            </a:fld>
            <a:endParaRPr lang="en-US" dirty="0"/>
          </a:p>
        </p:txBody>
      </p:sp>
      <p:pic>
        <p:nvPicPr>
          <p:cNvPr id="7" name="Picture 2">
            <a:extLst>
              <a:ext uri="{FF2B5EF4-FFF2-40B4-BE49-F238E27FC236}">
                <a16:creationId xmlns:a16="http://schemas.microsoft.com/office/drawing/2014/main" id="{CB99C9BF-BD51-5C4E-A252-761F43AA3B53}"/>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80"/>
          <a:stretch>
            <a:fillRect/>
          </a:stretch>
        </p:blipFill>
        <p:spPr bwMode="auto">
          <a:xfrm>
            <a:off x="1263798" y="1294618"/>
            <a:ext cx="1283533"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162F63BF-1FBE-7D43-8EC1-A3451E0D04DE}"/>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6341" y="1294618"/>
            <a:ext cx="1279836"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a:extLst>
              <a:ext uri="{FF2B5EF4-FFF2-40B4-BE49-F238E27FC236}">
                <a16:creationId xmlns:a16="http://schemas.microsoft.com/office/drawing/2014/main" id="{7A575226-EBAF-8C4D-9B94-F4DB80F0050B}"/>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2125" y="1294618"/>
            <a:ext cx="1256582"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a:extLst>
              <a:ext uri="{FF2B5EF4-FFF2-40B4-BE49-F238E27FC236}">
                <a16:creationId xmlns:a16="http://schemas.microsoft.com/office/drawing/2014/main" id="{187306D3-2D79-064F-8868-6D4604E87D0F}"/>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6773" b="3326"/>
          <a:stretch>
            <a:fillRect/>
          </a:stretch>
        </p:blipFill>
        <p:spPr bwMode="auto">
          <a:xfrm>
            <a:off x="9445250" y="1294618"/>
            <a:ext cx="1345228"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639287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Amazon EC2 pricing models: Use cases</a:t>
            </a: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840430646"/>
              </p:ext>
            </p:extLst>
          </p:nvPr>
        </p:nvGraphicFramePr>
        <p:xfrm>
          <a:off x="572488" y="2834640"/>
          <a:ext cx="11047024" cy="2667000"/>
        </p:xfrm>
        <a:graphic>
          <a:graphicData uri="http://schemas.openxmlformats.org/drawingml/2006/table">
            <a:tbl>
              <a:tblPr firstRow="1" bandRow="1">
                <a:tableStyleId>{5C22544A-7EE6-4342-B048-85BDC9FD1C3A}</a:tableStyleId>
              </a:tblPr>
              <a:tblGrid>
                <a:gridCol w="2761756">
                  <a:extLst>
                    <a:ext uri="{9D8B030D-6E8A-4147-A177-3AD203B41FA5}">
                      <a16:colId xmlns:a16="http://schemas.microsoft.com/office/drawing/2014/main" val="20000"/>
                    </a:ext>
                  </a:extLst>
                </a:gridCol>
                <a:gridCol w="2761756">
                  <a:extLst>
                    <a:ext uri="{9D8B030D-6E8A-4147-A177-3AD203B41FA5}">
                      <a16:colId xmlns:a16="http://schemas.microsoft.com/office/drawing/2014/main" val="20001"/>
                    </a:ext>
                  </a:extLst>
                </a:gridCol>
                <a:gridCol w="2761756">
                  <a:extLst>
                    <a:ext uri="{9D8B030D-6E8A-4147-A177-3AD203B41FA5}">
                      <a16:colId xmlns:a16="http://schemas.microsoft.com/office/drawing/2014/main" val="20002"/>
                    </a:ext>
                  </a:extLst>
                </a:gridCol>
                <a:gridCol w="2761756">
                  <a:extLst>
                    <a:ext uri="{9D8B030D-6E8A-4147-A177-3AD203B41FA5}">
                      <a16:colId xmlns:a16="http://schemas.microsoft.com/office/drawing/2014/main" val="2000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On-Demand Instances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Spot Instances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Reserved</a:t>
                      </a:r>
                      <a:r>
                        <a:rPr lang="en-US" sz="2000" b="0" i="0" baseline="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 Instances</a:t>
                      </a:r>
                      <a:endParaRPr lang="en-US" sz="20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Dedicated Hosts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70840">
                <a:tc>
                  <a:txBody>
                    <a:bodyPr/>
                    <a:lstStyle/>
                    <a:p>
                      <a:pPr marL="120650" indent="-120650">
                        <a:spcAft>
                          <a:spcPts val="600"/>
                        </a:spcAft>
                        <a:buFont typeface="Arial" panose="020B0604020202020204" pitchFamily="34" charset="0"/>
                        <a:buChar char="•"/>
                      </a:pPr>
                      <a:r>
                        <a:rPr lang="en-US" sz="1600" baseline="0" dirty="0">
                          <a:latin typeface="Amazon Ember Light" panose="020B0403020204020204" pitchFamily="34" charset="0"/>
                          <a:ea typeface="Amazon Ember Light" panose="020B0403020204020204" pitchFamily="34" charset="0"/>
                          <a:cs typeface="Amazon Ember Light" panose="020B0403020204020204" pitchFamily="34" charset="0"/>
                        </a:rPr>
                        <a:t>Short-term, spiky, or unpredictable workloads</a:t>
                      </a:r>
                    </a:p>
                    <a:p>
                      <a:pPr marL="120650" indent="-120650">
                        <a:spcAft>
                          <a:spcPts val="600"/>
                        </a:spcAft>
                        <a:buFont typeface="Arial" panose="020B0604020202020204" pitchFamily="34" charset="0"/>
                        <a:buChar char="•"/>
                      </a:pPr>
                      <a:r>
                        <a:rPr lang="en-US" sz="1600" baseline="0" dirty="0">
                          <a:latin typeface="Amazon Ember Light" panose="020B0403020204020204" pitchFamily="34" charset="0"/>
                          <a:ea typeface="Amazon Ember Light" panose="020B0403020204020204" pitchFamily="34" charset="0"/>
                          <a:cs typeface="Amazon Ember Light" panose="020B0403020204020204" pitchFamily="34" charset="0"/>
                        </a:rPr>
                        <a:t>Application development or testing</a:t>
                      </a:r>
                    </a:p>
                    <a:p>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Light" panose="020B0403020204020204" pitchFamily="34" charset="0"/>
                          <a:ea typeface="Amazon Ember Light" panose="020B0403020204020204" pitchFamily="34" charset="0"/>
                          <a:cs typeface="Amazon Ember Light" panose="020B0403020204020204" pitchFamily="34" charset="0"/>
                        </a:rPr>
                        <a:t>Applications with flexible start and end times</a:t>
                      </a:r>
                    </a:p>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Light" panose="020B0403020204020204" pitchFamily="34" charset="0"/>
                          <a:ea typeface="Amazon Ember Light" panose="020B0403020204020204" pitchFamily="34" charset="0"/>
                          <a:cs typeface="Amazon Ember Light" panose="020B0403020204020204" pitchFamily="34" charset="0"/>
                        </a:rPr>
                        <a:t>Applications only feasible at very low compute prices</a:t>
                      </a:r>
                    </a:p>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Light" panose="020B0403020204020204" pitchFamily="34" charset="0"/>
                          <a:ea typeface="Amazon Ember Light" panose="020B0403020204020204" pitchFamily="34" charset="0"/>
                          <a:cs typeface="Amazon Ember Light" panose="020B0403020204020204" pitchFamily="34" charset="0"/>
                        </a:rPr>
                        <a:t>Users with urgent computing needs for large amounts of additional capacity</a:t>
                      </a:r>
                    </a:p>
                    <a:p>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Steady state or predictable usage workloads</a:t>
                      </a:r>
                    </a:p>
                    <a:p>
                      <a:pPr marL="120650" indent="-120650">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Applications that require reserved capacity, including disaster recovery</a:t>
                      </a:r>
                    </a:p>
                    <a:p>
                      <a:pPr marL="120650" indent="-120650">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Users able to make upfront</a:t>
                      </a:r>
                      <a:r>
                        <a:rPr lang="en-US" sz="1600" baseline="0" dirty="0">
                          <a:latin typeface="Amazon Ember Light" panose="020B0403020204020204" pitchFamily="34" charset="0"/>
                          <a:ea typeface="Amazon Ember Light" panose="020B0403020204020204" pitchFamily="34" charset="0"/>
                          <a:cs typeface="Amazon Ember Light" panose="020B0403020204020204" pitchFamily="34" charset="0"/>
                        </a:rPr>
                        <a:t> payments to reduce total computing costs even further</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spcBef>
                          <a:spcPts val="600"/>
                        </a:spcBef>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Bring your own license (BYOL) </a:t>
                      </a:r>
                    </a:p>
                    <a:p>
                      <a:pPr marL="120650" indent="-120650">
                        <a:spcBef>
                          <a:spcPts val="600"/>
                        </a:spcBef>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Compliance and regulatory restrictions</a:t>
                      </a:r>
                    </a:p>
                    <a:p>
                      <a:pPr marL="120650" indent="-120650">
                        <a:spcBef>
                          <a:spcPts val="600"/>
                        </a:spcBef>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Usage and licensing tracking</a:t>
                      </a:r>
                    </a:p>
                    <a:p>
                      <a:pPr marL="120650" indent="-120650">
                        <a:spcBef>
                          <a:spcPts val="600"/>
                        </a:spcBef>
                        <a:spcAft>
                          <a:spcPts val="600"/>
                        </a:spcAft>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Control instance placement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3" name="Footer Placeholder 2">
            <a:extLst>
              <a:ext uri="{FF2B5EF4-FFF2-40B4-BE49-F238E27FC236}">
                <a16:creationId xmlns:a16="http://schemas.microsoft.com/office/drawing/2014/main" id="{6B1E9667-6E85-A44C-83B0-11602450D34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FF2B5EF4-FFF2-40B4-BE49-F238E27FC236}">
                <a16:creationId xmlns:a16="http://schemas.microsoft.com/office/drawing/2014/main" id="{BD6852AD-F95B-CC48-B4C2-9E8F228FB08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47</a:t>
            </a:fld>
            <a:endParaRPr lang="en-US" dirty="0"/>
          </a:p>
        </p:txBody>
      </p:sp>
      <p:pic>
        <p:nvPicPr>
          <p:cNvPr id="7" name="Picture 2">
            <a:extLst>
              <a:ext uri="{FF2B5EF4-FFF2-40B4-BE49-F238E27FC236}">
                <a16:creationId xmlns:a16="http://schemas.microsoft.com/office/drawing/2014/main" id="{C3EB6C5C-311B-D943-91B4-4842831B2CBA}"/>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80"/>
          <a:stretch>
            <a:fillRect/>
          </a:stretch>
        </p:blipFill>
        <p:spPr bwMode="auto">
          <a:xfrm>
            <a:off x="1263798" y="1294618"/>
            <a:ext cx="1283533"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65B9A51F-4734-3347-9B30-2B202F659977}"/>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6341" y="1294618"/>
            <a:ext cx="1279836"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a:extLst>
              <a:ext uri="{FF2B5EF4-FFF2-40B4-BE49-F238E27FC236}">
                <a16:creationId xmlns:a16="http://schemas.microsoft.com/office/drawing/2014/main" id="{CDF54727-621A-BA4E-ADCC-D7C9BF1FE9FC}"/>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2125" y="1294618"/>
            <a:ext cx="1256582"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a:extLst>
              <a:ext uri="{FF2B5EF4-FFF2-40B4-BE49-F238E27FC236}">
                <a16:creationId xmlns:a16="http://schemas.microsoft.com/office/drawing/2014/main" id="{9C2ABB9C-0E78-0945-A821-B6D57EA89CF6}"/>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6773" b="3326"/>
          <a:stretch>
            <a:fillRect/>
          </a:stretch>
        </p:blipFill>
        <p:spPr bwMode="auto">
          <a:xfrm>
            <a:off x="9445250" y="1294618"/>
            <a:ext cx="1345228"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28">
            <a:extLst>
              <a:ext uri="{FF2B5EF4-FFF2-40B4-BE49-F238E27FC236}">
                <a16:creationId xmlns:a16="http://schemas.microsoft.com/office/drawing/2014/main" id="{F978F2DA-394A-BE4D-B16C-7792A0C6DB6F}"/>
              </a:ext>
            </a:extLst>
          </p:cNvPr>
          <p:cNvSpPr txBox="1">
            <a:spLocks noChangeArrowheads="1"/>
          </p:cNvSpPr>
          <p:nvPr/>
        </p:nvSpPr>
        <p:spPr bwMode="auto">
          <a:xfrm>
            <a:off x="1126838" y="2135410"/>
            <a:ext cx="18133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0070C0"/>
                </a:solidFill>
                <a:effectLst/>
                <a:uLnTx/>
                <a:uFillTx/>
                <a:latin typeface="Amazon Ember" panose="020B0603020204020204" pitchFamily="34" charset="0"/>
                <a:ea typeface="Amazon Ember" panose="020B0603020204020204" pitchFamily="34" charset="0"/>
                <a:cs typeface="Amazon Ember" panose="020B0603020204020204" pitchFamily="34" charset="0"/>
              </a:rPr>
              <a:t>Spiky Workloads</a:t>
            </a:r>
          </a:p>
        </p:txBody>
      </p:sp>
      <p:sp>
        <p:nvSpPr>
          <p:cNvPr id="12" name="TextBox 29">
            <a:extLst>
              <a:ext uri="{FF2B5EF4-FFF2-40B4-BE49-F238E27FC236}">
                <a16:creationId xmlns:a16="http://schemas.microsoft.com/office/drawing/2014/main" id="{8521C55A-051D-1242-A832-8FEFB4522201}"/>
              </a:ext>
            </a:extLst>
          </p:cNvPr>
          <p:cNvSpPr txBox="1">
            <a:spLocks noChangeArrowheads="1"/>
          </p:cNvSpPr>
          <p:nvPr/>
        </p:nvSpPr>
        <p:spPr bwMode="auto">
          <a:xfrm>
            <a:off x="6340612" y="2135410"/>
            <a:ext cx="25202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0070C0"/>
                </a:solidFill>
                <a:effectLst/>
                <a:uLnTx/>
                <a:uFillTx/>
                <a:latin typeface="Amazon Ember" panose="020B0603020204020204" pitchFamily="34" charset="0"/>
                <a:ea typeface="Amazon Ember" panose="020B0603020204020204" pitchFamily="34" charset="0"/>
                <a:cs typeface="Amazon Ember" panose="020B0603020204020204" pitchFamily="34" charset="0"/>
              </a:rPr>
              <a:t>Steady-State Workloads</a:t>
            </a:r>
          </a:p>
        </p:txBody>
      </p:sp>
      <p:sp>
        <p:nvSpPr>
          <p:cNvPr id="13" name="TextBox 30">
            <a:extLst>
              <a:ext uri="{FF2B5EF4-FFF2-40B4-BE49-F238E27FC236}">
                <a16:creationId xmlns:a16="http://schemas.microsoft.com/office/drawing/2014/main" id="{E200D638-A2B5-DF41-9BF9-1099FE579CCC}"/>
              </a:ext>
            </a:extLst>
          </p:cNvPr>
          <p:cNvSpPr txBox="1">
            <a:spLocks noChangeArrowheads="1"/>
          </p:cNvSpPr>
          <p:nvPr/>
        </p:nvSpPr>
        <p:spPr bwMode="auto">
          <a:xfrm>
            <a:off x="3681796" y="2135410"/>
            <a:ext cx="22928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0070C0"/>
                </a:solidFill>
                <a:effectLst/>
                <a:uLnTx/>
                <a:uFillTx/>
                <a:latin typeface="Amazon Ember" panose="020B0603020204020204" pitchFamily="34" charset="0"/>
                <a:ea typeface="Amazon Ember" panose="020B0603020204020204" pitchFamily="34" charset="0"/>
                <a:cs typeface="Amazon Ember" panose="020B0603020204020204" pitchFamily="34" charset="0"/>
              </a:rPr>
              <a:t>Time-Insensitive Workloads</a:t>
            </a:r>
          </a:p>
        </p:txBody>
      </p:sp>
      <p:sp>
        <p:nvSpPr>
          <p:cNvPr id="14" name="TextBox 31">
            <a:extLst>
              <a:ext uri="{FF2B5EF4-FFF2-40B4-BE49-F238E27FC236}">
                <a16:creationId xmlns:a16="http://schemas.microsoft.com/office/drawing/2014/main" id="{CD55E4A6-BD8C-A04B-AEDE-2A85877F2204}"/>
              </a:ext>
            </a:extLst>
          </p:cNvPr>
          <p:cNvSpPr txBox="1">
            <a:spLocks noChangeArrowheads="1"/>
          </p:cNvSpPr>
          <p:nvPr/>
        </p:nvSpPr>
        <p:spPr bwMode="auto">
          <a:xfrm>
            <a:off x="9040091" y="2135410"/>
            <a:ext cx="23523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0070C0"/>
                </a:solidFill>
                <a:effectLst/>
                <a:uLnTx/>
                <a:uFillTx/>
                <a:latin typeface="Amazon Ember" panose="020B0603020204020204" pitchFamily="34" charset="0"/>
                <a:ea typeface="Amazon Ember" panose="020B0603020204020204" pitchFamily="34" charset="0"/>
                <a:cs typeface="Amazon Ember" panose="020B0603020204020204" pitchFamily="34" charset="0"/>
              </a:rPr>
              <a:t>Highly Sensitive Workloads</a:t>
            </a:r>
          </a:p>
        </p:txBody>
      </p:sp>
    </p:spTree>
    <p:custDataLst>
      <p:tags r:id="rId1"/>
    </p:custDataLst>
    <p:extLst>
      <p:ext uri="{BB962C8B-B14F-4D97-AF65-F5344CB8AC3E}">
        <p14:creationId xmlns:p14="http://schemas.microsoft.com/office/powerpoint/2010/main" val="16702774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38539" y="299301"/>
            <a:ext cx="11115261" cy="631550"/>
          </a:xfrm>
        </p:spPr>
        <p:txBody>
          <a:bodyPr>
            <a:noAutofit/>
          </a:bodyPr>
          <a:lstStyle/>
          <a:p>
            <a:r>
              <a:rPr lang="en-US" dirty="0"/>
              <a:t>The four pillars of cost optimization </a:t>
            </a:r>
          </a:p>
        </p:txBody>
      </p:sp>
      <p:sp>
        <p:nvSpPr>
          <p:cNvPr id="3" name="Footer Placeholder 2">
            <a:extLst>
              <a:ext uri="{FF2B5EF4-FFF2-40B4-BE49-F238E27FC236}">
                <a16:creationId xmlns:a16="http://schemas.microsoft.com/office/drawing/2014/main" id="{E70D4373-A959-C441-9B24-D061EA6A3BC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7BF7B2C-3F25-094A-95E5-45B95D78AB0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48</a:t>
            </a:fld>
            <a:endParaRPr lang="en-US" dirty="0"/>
          </a:p>
        </p:txBody>
      </p:sp>
      <p:grpSp>
        <p:nvGrpSpPr>
          <p:cNvPr id="5" name="Group 4" descr="graphic in form of greek columns labeled &quot;cost optimization&quot;. It has four labeled pillars (notes below the slide describe each of the four).">
            <a:extLst>
              <a:ext uri="{FF2B5EF4-FFF2-40B4-BE49-F238E27FC236}">
                <a16:creationId xmlns:a16="http://schemas.microsoft.com/office/drawing/2014/main" id="{B3413030-4153-5149-9E76-4294BE80C544}"/>
              </a:ext>
            </a:extLst>
          </p:cNvPr>
          <p:cNvGrpSpPr/>
          <p:nvPr/>
        </p:nvGrpSpPr>
        <p:grpSpPr>
          <a:xfrm>
            <a:off x="1295400" y="1350705"/>
            <a:ext cx="9525000" cy="5071760"/>
            <a:chOff x="1295400" y="1350705"/>
            <a:chExt cx="9525000" cy="5071760"/>
          </a:xfrm>
        </p:grpSpPr>
        <p:grpSp>
          <p:nvGrpSpPr>
            <p:cNvPr id="32" name="Group 31"/>
            <p:cNvGrpSpPr/>
            <p:nvPr/>
          </p:nvGrpSpPr>
          <p:grpSpPr>
            <a:xfrm>
              <a:off x="1617126" y="2070100"/>
              <a:ext cx="1600200" cy="4089400"/>
              <a:chOff x="1253121" y="1752600"/>
              <a:chExt cx="1600200" cy="4089400"/>
            </a:xfrm>
          </p:grpSpPr>
          <p:pic>
            <p:nvPicPr>
              <p:cNvPr id="33"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1253121" y="1752600"/>
                <a:ext cx="1600200" cy="4089400"/>
              </a:xfrm>
              <a:prstGeom prst="rect">
                <a:avLst/>
              </a:prstGeom>
              <a:solidFill>
                <a:schemeClr val="bg1">
                  <a:lumMod val="95000"/>
                </a:schemeClr>
              </a:solidFill>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22635" y="3930564"/>
                <a:ext cx="1261172" cy="1261172"/>
              </a:xfrm>
              <a:prstGeom prst="rect">
                <a:avLst/>
              </a:prstGeom>
            </p:spPr>
          </p:pic>
          <p:sp>
            <p:nvSpPr>
              <p:cNvPr id="35" name="TextBox 34"/>
              <p:cNvSpPr txBox="1"/>
              <p:nvPr/>
            </p:nvSpPr>
            <p:spPr>
              <a:xfrm>
                <a:off x="1422635" y="2946323"/>
                <a:ext cx="1261172" cy="369332"/>
              </a:xfrm>
              <a:prstGeom prst="rect">
                <a:avLst/>
              </a:prstGeom>
              <a:noFill/>
            </p:spPr>
            <p:txBody>
              <a:bodyPr wrap="square" rtlCol="0" anchor="b">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Right size</a:t>
                </a:r>
              </a:p>
            </p:txBody>
          </p:sp>
        </p:grpSp>
        <p:pic>
          <p:nvPicPr>
            <p:cNvPr id="37"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535898" y="2071147"/>
              <a:ext cx="1600200" cy="4089400"/>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p:cNvSpPr txBox="1"/>
            <p:nvPr/>
          </p:nvSpPr>
          <p:spPr>
            <a:xfrm>
              <a:off x="6713571" y="3112771"/>
              <a:ext cx="1244854" cy="923330"/>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Optimal pricing model</a:t>
              </a:r>
            </a:p>
          </p:txBody>
        </p:sp>
        <p:grpSp>
          <p:nvGrpSpPr>
            <p:cNvPr id="40" name="Group 39"/>
            <p:cNvGrpSpPr/>
            <p:nvPr/>
          </p:nvGrpSpPr>
          <p:grpSpPr>
            <a:xfrm>
              <a:off x="4076512" y="2078571"/>
              <a:ext cx="1600200" cy="4089400"/>
              <a:chOff x="6112995" y="1752600"/>
              <a:chExt cx="1600200" cy="4089400"/>
            </a:xfrm>
          </p:grpSpPr>
          <p:pic>
            <p:nvPicPr>
              <p:cNvPr id="41"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112995" y="1752600"/>
                <a:ext cx="1600200" cy="40894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75902" y="4118768"/>
                <a:ext cx="1063620" cy="1063620"/>
              </a:xfrm>
              <a:prstGeom prst="rect">
                <a:avLst/>
              </a:prstGeom>
            </p:spPr>
          </p:pic>
          <p:sp>
            <p:nvSpPr>
              <p:cNvPr id="43" name="TextBox 42"/>
              <p:cNvSpPr txBox="1"/>
              <p:nvPr/>
            </p:nvSpPr>
            <p:spPr>
              <a:xfrm>
                <a:off x="6271624" y="2825699"/>
                <a:ext cx="1272175" cy="646331"/>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Increase elasticity</a:t>
                </a:r>
              </a:p>
            </p:txBody>
          </p:sp>
        </p:grpSp>
        <p:pic>
          <p:nvPicPr>
            <p:cNvPr id="45"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865388" y="2070100"/>
              <a:ext cx="1600200" cy="408940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p:cNvSpPr txBox="1"/>
            <p:nvPr/>
          </p:nvSpPr>
          <p:spPr>
            <a:xfrm>
              <a:off x="9034784" y="3112771"/>
              <a:ext cx="1245721" cy="923330"/>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Optimize storage choices</a:t>
              </a:r>
            </a:p>
          </p:txBody>
        </p:sp>
        <p:pic>
          <p:nvPicPr>
            <p:cNvPr id="47" name="Picture 2" descr="https://d0.awsstatic.com/Digital%20Marketing/House/ctabox/ha_ctabox_cost-optimization-02.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2657" y="4472382"/>
              <a:ext cx="1202272" cy="1079500"/>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p:cNvSpPr/>
            <p:nvPr/>
          </p:nvSpPr>
          <p:spPr>
            <a:xfrm>
              <a:off x="1447800" y="6159500"/>
              <a:ext cx="9215718" cy="262965"/>
            </a:xfrm>
            <a:prstGeom prst="rect">
              <a:avLst/>
            </a:prstGeom>
            <a:solidFill>
              <a:srgbClr val="9F9994"/>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Rectangle 48"/>
            <p:cNvSpPr/>
            <p:nvPr/>
          </p:nvSpPr>
          <p:spPr>
            <a:xfrm>
              <a:off x="1447800" y="1944594"/>
              <a:ext cx="9215718" cy="102086"/>
            </a:xfrm>
            <a:prstGeom prst="rect">
              <a:avLst/>
            </a:prstGeom>
            <a:solidFill>
              <a:schemeClr val="bg1">
                <a:lumMod val="9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 name="Rectangle 49"/>
            <p:cNvSpPr/>
            <p:nvPr/>
          </p:nvSpPr>
          <p:spPr>
            <a:xfrm>
              <a:off x="1295400" y="1350705"/>
              <a:ext cx="9525000" cy="561998"/>
            </a:xfrm>
            <a:prstGeom prst="rect">
              <a:avLst/>
            </a:prstGeom>
            <a:solidFill>
              <a:schemeClr val="bg1">
                <a:lumMod val="9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1"/>
                  </a:solidFill>
                  <a:effectLst>
                    <a:outerShdw blurRad="50800" dist="38100" dir="2700000" algn="tl" rotWithShape="0">
                      <a:prstClr val="black">
                        <a:alpha val="40000"/>
                      </a:prstClr>
                    </a:outerShdw>
                  </a:effectLst>
                  <a:latin typeface="Amazon Ember" panose="020B0603020204020204" pitchFamily="34" charset="0"/>
                  <a:ea typeface="Amazon Ember" panose="020B0603020204020204" pitchFamily="34" charset="0"/>
                  <a:cs typeface="Amazon Ember" panose="020B0603020204020204" pitchFamily="34" charset="0"/>
                </a:rPr>
                <a:t>Cost Optimization</a:t>
              </a:r>
            </a:p>
          </p:txBody>
        </p:sp>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43061" y="4335432"/>
              <a:ext cx="1244854" cy="1244854"/>
            </a:xfrm>
            <a:prstGeom prst="rect">
              <a:avLst/>
            </a:prstGeom>
          </p:spPr>
        </p:pic>
      </p:grpSp>
    </p:spTree>
    <p:custDataLst>
      <p:tags r:id="rId1"/>
    </p:custDataLst>
    <p:extLst>
      <p:ext uri="{BB962C8B-B14F-4D97-AF65-F5344CB8AC3E}">
        <p14:creationId xmlns:p14="http://schemas.microsoft.com/office/powerpoint/2010/main" val="1891102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4C0B6F4-0EE5-6E48-A81E-13D2F681E923}"/>
              </a:ext>
            </a:extLst>
          </p:cNvPr>
          <p:cNvSpPr>
            <a:spLocks noGrp="1"/>
          </p:cNvSpPr>
          <p:nvPr>
            <p:ph idx="1"/>
          </p:nvPr>
        </p:nvSpPr>
        <p:spPr>
          <a:xfrm>
            <a:off x="4754880" y="1554480"/>
            <a:ext cx="6768466" cy="4663473"/>
          </a:xfrm>
        </p:spPr>
        <p:txBody>
          <a:bodyPr/>
          <a:lstStyle/>
          <a:p>
            <a:pPr defTabSz="342900">
              <a:lnSpc>
                <a:spcPct val="150000"/>
              </a:lnSpc>
              <a:spcBef>
                <a:spcPct val="20000"/>
              </a:spcBef>
              <a:buFont typeface="Wingdings" pitchFamily="2" charset="2"/>
              <a:buChar char="ü"/>
            </a:pPr>
            <a:r>
              <a:rPr lang="en-US" dirty="0">
                <a:latin typeface="+mn-lt"/>
              </a:rPr>
              <a:t>Provision instances to match the need </a:t>
            </a:r>
          </a:p>
          <a:p>
            <a:pPr lvl="1" defTabSz="342900">
              <a:lnSpc>
                <a:spcPct val="100000"/>
              </a:lnSpc>
              <a:spcBef>
                <a:spcPct val="20000"/>
              </a:spcBef>
            </a:pPr>
            <a:r>
              <a:rPr lang="en-US" sz="2000" dirty="0"/>
              <a:t>CPU, memory, storage, and network throughput</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Select appropriate </a:t>
            </a:r>
            <a:r>
              <a:rPr lang="en-US" sz="2000" dirty="0">
                <a:solidFill>
                  <a:schemeClr val="accent5"/>
                </a:solidFill>
                <a:latin typeface="+mn-lt"/>
                <a:ea typeface="Amazon Ember" panose="020B0603020204020204" pitchFamily="34" charset="0"/>
                <a:cs typeface="Amazon Ember" panose="020B0603020204020204" pitchFamily="34" charset="0"/>
              </a:rPr>
              <a:t>instance types </a:t>
            </a:r>
            <a:r>
              <a:rPr lang="en-US" sz="2000" dirty="0">
                <a:latin typeface="+mn-lt"/>
                <a:ea typeface="Amazon Ember" panose="020B0603020204020204" pitchFamily="34" charset="0"/>
                <a:cs typeface="Amazon Ember" panose="020B0603020204020204" pitchFamily="34" charset="0"/>
              </a:rPr>
              <a:t>for your use</a:t>
            </a:r>
            <a:endParaRPr lang="en-US" dirty="0">
              <a:latin typeface="+mn-lt"/>
              <a:ea typeface="Amazon Ember" panose="020B0603020204020204" pitchFamily="34" charset="0"/>
              <a:cs typeface="Amazon Ember" panose="020B0603020204020204" pitchFamily="34" charset="0"/>
            </a:endParaRPr>
          </a:p>
          <a:p>
            <a:pPr defTabSz="342900">
              <a:lnSpc>
                <a:spcPct val="150000"/>
              </a:lnSpc>
              <a:spcBef>
                <a:spcPct val="20000"/>
              </a:spcBef>
              <a:buFont typeface="Wingdings" pitchFamily="2" charset="2"/>
              <a:buChar char="ü"/>
            </a:pPr>
            <a:r>
              <a:rPr lang="en-US" dirty="0">
                <a:latin typeface="+mn-lt"/>
                <a:ea typeface="Amazon Ember" panose="020B0603020204020204" pitchFamily="34" charset="0"/>
                <a:cs typeface="Amazon Ember" panose="020B0603020204020204" pitchFamily="34" charset="0"/>
              </a:rPr>
              <a:t>Use Amazon CloudWatch metrics</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How idle are instances? When?</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Downsize instances</a:t>
            </a:r>
          </a:p>
          <a:p>
            <a:pPr defTabSz="342900">
              <a:lnSpc>
                <a:spcPct val="150000"/>
              </a:lnSpc>
              <a:spcBef>
                <a:spcPct val="20000"/>
              </a:spcBef>
              <a:buFont typeface="Wingdings" pitchFamily="2" charset="2"/>
              <a:buChar char="ü"/>
            </a:pPr>
            <a:r>
              <a:rPr lang="en-US" dirty="0">
                <a:latin typeface="+mn-lt"/>
                <a:ea typeface="Amazon Ember" panose="020B0603020204020204" pitchFamily="34" charset="0"/>
                <a:cs typeface="Amazon Ember" panose="020B0603020204020204" pitchFamily="34" charset="0"/>
              </a:rPr>
              <a:t>Best practice: Right size, then reserve</a:t>
            </a:r>
            <a:endParaRPr lang="en-US" dirty="0">
              <a:latin typeface="+mn-lt"/>
            </a:endParaRPr>
          </a:p>
        </p:txBody>
      </p:sp>
      <p:sp>
        <p:nvSpPr>
          <p:cNvPr id="4" name="Slide Number Placeholder 3">
            <a:extLst>
              <a:ext uri="{FF2B5EF4-FFF2-40B4-BE49-F238E27FC236}">
                <a16:creationId xmlns:a16="http://schemas.microsoft.com/office/drawing/2014/main" id="{5E04AB13-45D7-C048-836E-B8FA1B462B2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49</a:t>
            </a:fld>
            <a:endParaRPr lang="en-US" dirty="0"/>
          </a:p>
        </p:txBody>
      </p:sp>
      <p:sp>
        <p:nvSpPr>
          <p:cNvPr id="3" name="Footer Placeholder 2">
            <a:extLst>
              <a:ext uri="{FF2B5EF4-FFF2-40B4-BE49-F238E27FC236}">
                <a16:creationId xmlns:a16="http://schemas.microsoft.com/office/drawing/2014/main" id="{75DFCA16-4282-0D49-9C8B-AEEB1C47773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9" name="Group 8">
            <a:extLst>
              <a:ext uri="{FF2B5EF4-FFF2-40B4-BE49-F238E27FC236}">
                <a16:creationId xmlns:a16="http://schemas.microsoft.com/office/drawing/2014/main" id="{2E4F4943-01A8-AD43-AA80-474C80165514}"/>
              </a:ext>
              <a:ext uri="{C183D7F6-B498-43B3-948B-1728B52AA6E4}">
                <adec:decorative xmlns:adec="http://schemas.microsoft.com/office/drawing/2017/decorative" val="1"/>
              </a:ext>
            </a:extLst>
          </p:cNvPr>
          <p:cNvGrpSpPr/>
          <p:nvPr/>
        </p:nvGrpSpPr>
        <p:grpSpPr>
          <a:xfrm>
            <a:off x="55685" y="1775998"/>
            <a:ext cx="3840373" cy="3295302"/>
            <a:chOff x="55685" y="1775998"/>
            <a:chExt cx="3840373" cy="3295302"/>
          </a:xfrm>
        </p:grpSpPr>
        <p:sp>
          <p:nvSpPr>
            <p:cNvPr id="22" name="TextBox 21"/>
            <p:cNvSpPr txBox="1"/>
            <p:nvPr/>
          </p:nvSpPr>
          <p:spPr>
            <a:xfrm>
              <a:off x="55685" y="2346247"/>
              <a:ext cx="3392275" cy="1323439"/>
            </a:xfrm>
            <a:prstGeom prst="rect">
              <a:avLst/>
            </a:prstGeom>
            <a:noFill/>
          </p:spPr>
          <p:txBody>
            <a:bodyPr wrap="none" rtlCol="0">
              <a:spAutoFit/>
            </a:bodyPr>
            <a:lstStyle/>
            <a:p>
              <a:pPr algn="r"/>
              <a:r>
                <a:rPr lang="en-US" sz="2000" dirty="0">
                  <a:solidFill>
                    <a:srgbClr val="E97D11"/>
                  </a:solidFill>
                  <a:latin typeface="Amazon Ember" panose="020B0603020204020204" pitchFamily="34" charset="0"/>
                  <a:ea typeface="Amazon Ember" panose="020B0603020204020204" pitchFamily="34" charset="0"/>
                  <a:cs typeface="Amazon Ember" panose="020B0603020204020204" pitchFamily="34" charset="0"/>
                </a:rPr>
                <a:t>1. Right 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p:cNvGrpSpPr/>
            <p:nvPr/>
          </p:nvGrpSpPr>
          <p:grpSpPr>
            <a:xfrm>
              <a:off x="3299420" y="2192748"/>
              <a:ext cx="596638" cy="646331"/>
              <a:chOff x="2997997" y="2209302"/>
              <a:chExt cx="596638" cy="646331"/>
            </a:xfrm>
          </p:grpSpPr>
          <p:sp>
            <p:nvSpPr>
              <p:cNvPr id="25" name="TextBox 24"/>
              <p:cNvSpPr txBox="1"/>
              <p:nvPr/>
            </p:nvSpPr>
            <p:spPr>
              <a:xfrm>
                <a:off x="2997997" y="2209302"/>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6" name="TextBox 25"/>
              <p:cNvSpPr txBox="1"/>
              <p:nvPr/>
            </p:nvSpPr>
            <p:spPr>
              <a:xfrm>
                <a:off x="3016763" y="2268130"/>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6444" y="3810128"/>
              <a:ext cx="1261172" cy="1261172"/>
            </a:xfrm>
            <a:prstGeom prst="rect">
              <a:avLst/>
            </a:prstGeom>
          </p:spPr>
        </p:pic>
        <p:sp>
          <p:nvSpPr>
            <p:cNvPr id="11" name="TextBox 10">
              <a:extLst>
                <a:ext uri="{FF2B5EF4-FFF2-40B4-BE49-F238E27FC236}">
                  <a16:creationId xmlns:a16="http://schemas.microsoft.com/office/drawing/2014/main" id="{D17AFE00-A142-B44E-91D2-60DA944EF37E}"/>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sp>
        <p:nvSpPr>
          <p:cNvPr id="13" name="Title 12">
            <a:extLst>
              <a:ext uri="{FF2B5EF4-FFF2-40B4-BE49-F238E27FC236}">
                <a16:creationId xmlns:a16="http://schemas.microsoft.com/office/drawing/2014/main" id="{8137E1B3-25FF-424E-BEC2-37D6F3B3A8A5}"/>
              </a:ext>
            </a:extLst>
          </p:cNvPr>
          <p:cNvSpPr>
            <a:spLocks noGrp="1"/>
          </p:cNvSpPr>
          <p:nvPr>
            <p:ph type="title"/>
          </p:nvPr>
        </p:nvSpPr>
        <p:spPr/>
        <p:txBody>
          <a:bodyPr/>
          <a:lstStyle/>
          <a:p>
            <a:r>
              <a:rPr lang="en-US" dirty="0"/>
              <a:t>Pillar 1: Right size</a:t>
            </a:r>
          </a:p>
        </p:txBody>
      </p:sp>
    </p:spTree>
    <p:custDataLst>
      <p:tags r:id="rId1"/>
    </p:custDataLst>
    <p:extLst>
      <p:ext uri="{BB962C8B-B14F-4D97-AF65-F5344CB8AC3E}">
        <p14:creationId xmlns:p14="http://schemas.microsoft.com/office/powerpoint/2010/main" val="14606608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2B317D-D832-824B-A4D2-44209B02D90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50</a:t>
            </a:fld>
            <a:endParaRPr lang="en-US" dirty="0"/>
          </a:p>
        </p:txBody>
      </p:sp>
      <p:sp>
        <p:nvSpPr>
          <p:cNvPr id="29" name="Content Placeholder 7">
            <a:extLst>
              <a:ext uri="{FF2B5EF4-FFF2-40B4-BE49-F238E27FC236}">
                <a16:creationId xmlns:a16="http://schemas.microsoft.com/office/drawing/2014/main" id="{7967077A-B64B-784E-91AB-5553ED98AE09}"/>
              </a:ext>
            </a:extLst>
          </p:cNvPr>
          <p:cNvSpPr>
            <a:spLocks noGrp="1"/>
          </p:cNvSpPr>
          <p:nvPr>
            <p:ph idx="1"/>
          </p:nvPr>
        </p:nvSpPr>
        <p:spPr>
          <a:xfrm>
            <a:off x="4754880" y="1554480"/>
            <a:ext cx="6768466" cy="4663473"/>
          </a:xfrm>
        </p:spPr>
        <p:txBody>
          <a:bodyPr/>
          <a:lstStyle/>
          <a:p>
            <a:pPr defTabSz="342900">
              <a:lnSpc>
                <a:spcPct val="100000"/>
              </a:lnSpc>
              <a:spcBef>
                <a:spcPct val="20000"/>
              </a:spcBef>
              <a:buFont typeface="Wingdings" pitchFamily="2" charset="2"/>
              <a:buChar char="ü"/>
            </a:pPr>
            <a:r>
              <a:rPr lang="en-US" sz="2400" b="1" dirty="0">
                <a:solidFill>
                  <a:schemeClr val="accent5"/>
                </a:solidFill>
              </a:rPr>
              <a:t>Stop</a:t>
            </a:r>
            <a:r>
              <a:rPr lang="en-US" sz="2400" dirty="0"/>
              <a:t> or </a:t>
            </a:r>
            <a:r>
              <a:rPr lang="en-US" sz="2400" b="1" dirty="0">
                <a:solidFill>
                  <a:schemeClr val="accent5"/>
                </a:solidFill>
              </a:rPr>
              <a:t>hibernate</a:t>
            </a:r>
            <a:r>
              <a:rPr lang="en-US" sz="2400" dirty="0"/>
              <a:t> Amazon EBS-backed instances that are not actively in use</a:t>
            </a:r>
          </a:p>
          <a:p>
            <a:pPr lvl="1" defTabSz="342900">
              <a:lnSpc>
                <a:spcPct val="100000"/>
              </a:lnSpc>
              <a:spcBef>
                <a:spcPct val="20000"/>
              </a:spcBef>
            </a:pPr>
            <a:r>
              <a:rPr lang="en-US" sz="2000" dirty="0"/>
              <a:t>Example: non-production development or test instances</a:t>
            </a:r>
          </a:p>
          <a:p>
            <a:pPr lvl="1" defTabSz="342900">
              <a:lnSpc>
                <a:spcPct val="100000"/>
              </a:lnSpc>
              <a:spcBef>
                <a:spcPct val="20000"/>
              </a:spcBef>
            </a:pPr>
            <a:endParaRPr lang="en-US" dirty="0"/>
          </a:p>
          <a:p>
            <a:pPr defTabSz="342900">
              <a:lnSpc>
                <a:spcPct val="100000"/>
              </a:lnSpc>
              <a:spcBef>
                <a:spcPct val="20000"/>
              </a:spcBef>
              <a:buFont typeface="Wingdings" pitchFamily="2" charset="2"/>
              <a:buChar char="ü"/>
            </a:pPr>
            <a:r>
              <a:rPr lang="en-US" sz="2400" dirty="0"/>
              <a:t>Use</a:t>
            </a:r>
            <a:r>
              <a:rPr lang="en-US" sz="2400" b="1" dirty="0">
                <a:solidFill>
                  <a:schemeClr val="accent5"/>
                </a:solidFill>
              </a:rPr>
              <a:t> automatic scaling </a:t>
            </a:r>
            <a:r>
              <a:rPr lang="en-US" sz="2400" dirty="0"/>
              <a:t>to match needs based on usage </a:t>
            </a:r>
          </a:p>
          <a:p>
            <a:pPr lvl="1" defTabSz="342900">
              <a:lnSpc>
                <a:spcPct val="100000"/>
              </a:lnSpc>
              <a:spcBef>
                <a:spcPct val="20000"/>
              </a:spcBef>
            </a:pPr>
            <a:r>
              <a:rPr lang="en-US" sz="2000" dirty="0"/>
              <a:t>Automated and time-based elasticity</a:t>
            </a:r>
          </a:p>
          <a:p>
            <a:pPr defTabSz="342900">
              <a:lnSpc>
                <a:spcPct val="100000"/>
              </a:lnSpc>
              <a:spcBef>
                <a:spcPct val="20000"/>
              </a:spcBef>
              <a:buFont typeface="Wingdings" pitchFamily="2" charset="2"/>
              <a:buChar char="ü"/>
            </a:pPr>
            <a:endParaRPr lang="en-US" sz="2400" dirty="0"/>
          </a:p>
          <a:p>
            <a:pPr marL="0" indent="0" defTabSz="342900">
              <a:lnSpc>
                <a:spcPct val="150000"/>
              </a:lnSpc>
              <a:spcBef>
                <a:spcPct val="20000"/>
              </a:spcBef>
              <a:buNone/>
            </a:pPr>
            <a:endParaRPr lang="en-US" sz="2400" dirty="0">
              <a:latin typeface="+mn-lt"/>
            </a:endParaRPr>
          </a:p>
        </p:txBody>
      </p:sp>
      <p:sp>
        <p:nvSpPr>
          <p:cNvPr id="10" name="Title 9">
            <a:extLst>
              <a:ext uri="{FF2B5EF4-FFF2-40B4-BE49-F238E27FC236}">
                <a16:creationId xmlns:a16="http://schemas.microsoft.com/office/drawing/2014/main" id="{2F405AFB-8203-0D46-9A23-F4AD7904D1EA}"/>
              </a:ext>
            </a:extLst>
          </p:cNvPr>
          <p:cNvSpPr>
            <a:spLocks noGrp="1"/>
          </p:cNvSpPr>
          <p:nvPr>
            <p:ph type="title"/>
          </p:nvPr>
        </p:nvSpPr>
        <p:spPr/>
        <p:txBody>
          <a:bodyPr/>
          <a:lstStyle/>
          <a:p>
            <a:r>
              <a:rPr lang="en-US" dirty="0"/>
              <a:t>Pillar 2: Increase elasticity</a:t>
            </a:r>
          </a:p>
        </p:txBody>
      </p:sp>
      <p:grpSp>
        <p:nvGrpSpPr>
          <p:cNvPr id="2" name="Group 1" descr="graphic shows the four pillars with pillar 2 highlighted: Increase Elasticity">
            <a:extLst>
              <a:ext uri="{FF2B5EF4-FFF2-40B4-BE49-F238E27FC236}">
                <a16:creationId xmlns:a16="http://schemas.microsoft.com/office/drawing/2014/main" id="{CF490E1C-EB11-EE4C-8CA4-A257BA2A442F}"/>
              </a:ext>
            </a:extLst>
          </p:cNvPr>
          <p:cNvGrpSpPr/>
          <p:nvPr/>
        </p:nvGrpSpPr>
        <p:grpSpPr>
          <a:xfrm>
            <a:off x="55685" y="1775998"/>
            <a:ext cx="3840373" cy="3144180"/>
            <a:chOff x="55685" y="1775998"/>
            <a:chExt cx="3840373" cy="3144180"/>
          </a:xfrm>
        </p:grpSpPr>
        <p:grpSp>
          <p:nvGrpSpPr>
            <p:cNvPr id="21" name="Group 20">
              <a:extLst>
                <a:ext uri="{FF2B5EF4-FFF2-40B4-BE49-F238E27FC236}">
                  <a16:creationId xmlns:a16="http://schemas.microsoft.com/office/drawing/2014/main" id="{37CD8AFA-ED34-7D49-BA22-ADEE3ACAE8B2}"/>
                </a:ext>
                <a:ext uri="{C183D7F6-B498-43B3-948B-1728B52AA6E4}">
                  <adec:decorative xmlns:adec="http://schemas.microsoft.com/office/drawing/2017/decorative" val="1"/>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2539585"/>
                <a:ext cx="596638" cy="646331"/>
                <a:chOff x="2997997" y="2556139"/>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2556139"/>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2614968"/>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54" name="Picture 53">
              <a:extLst>
                <a:ext uri="{FF2B5EF4-FFF2-40B4-BE49-F238E27FC236}">
                  <a16:creationId xmlns:a16="http://schemas.microsoft.com/office/drawing/2014/main" id="{5F939B8B-2CAC-C446-8FAA-F404F1DC4244}"/>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5640" y="3856558"/>
              <a:ext cx="1063620" cy="1063620"/>
            </a:xfrm>
            <a:prstGeom prst="rect">
              <a:avLst/>
            </a:prstGeom>
          </p:spPr>
        </p:pic>
      </p:grpSp>
    </p:spTree>
    <p:custDataLst>
      <p:tags r:id="rId1"/>
    </p:custDataLst>
    <p:extLst>
      <p:ext uri="{BB962C8B-B14F-4D97-AF65-F5344CB8AC3E}">
        <p14:creationId xmlns:p14="http://schemas.microsoft.com/office/powerpoint/2010/main" val="10067631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2B317D-D832-824B-A4D2-44209B02D90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51</a:t>
            </a:fld>
            <a:endParaRPr lang="en-US" dirty="0"/>
          </a:p>
        </p:txBody>
      </p:sp>
      <p:sp>
        <p:nvSpPr>
          <p:cNvPr id="13" name="Content Placeholder 7">
            <a:extLst>
              <a:ext uri="{FF2B5EF4-FFF2-40B4-BE49-F238E27FC236}">
                <a16:creationId xmlns:a16="http://schemas.microsoft.com/office/drawing/2014/main" id="{793D8889-5EC7-7B43-B023-0E52A69F8E12}"/>
              </a:ext>
            </a:extLst>
          </p:cNvPr>
          <p:cNvSpPr>
            <a:spLocks noGrp="1"/>
          </p:cNvSpPr>
          <p:nvPr>
            <p:ph idx="1"/>
          </p:nvPr>
        </p:nvSpPr>
        <p:spPr>
          <a:xfrm>
            <a:off x="4754880" y="1554480"/>
            <a:ext cx="7123964" cy="4663473"/>
          </a:xfrm>
        </p:spPr>
        <p:txBody>
          <a:bodyPr/>
          <a:lstStyle/>
          <a:p>
            <a:pPr defTabSz="342900">
              <a:lnSpc>
                <a:spcPct val="150000"/>
              </a:lnSpc>
              <a:spcBef>
                <a:spcPct val="20000"/>
              </a:spcBef>
              <a:buFont typeface="Wingdings" pitchFamily="2" charset="2"/>
              <a:buChar char="ü"/>
            </a:pPr>
            <a:r>
              <a:rPr lang="en-US" sz="2400" dirty="0"/>
              <a:t>Leverage the right pricing model for your use case</a:t>
            </a:r>
          </a:p>
          <a:p>
            <a:pPr lvl="1" defTabSz="342900">
              <a:lnSpc>
                <a:spcPct val="150000"/>
              </a:lnSpc>
              <a:spcBef>
                <a:spcPct val="20000"/>
              </a:spcBef>
            </a:pPr>
            <a:r>
              <a:rPr lang="en-US" sz="2000" dirty="0">
                <a:latin typeface="+mn-lt"/>
              </a:rPr>
              <a:t>Consider your usage patterns </a:t>
            </a:r>
          </a:p>
          <a:p>
            <a:pPr defTabSz="342900">
              <a:lnSpc>
                <a:spcPct val="150000"/>
              </a:lnSpc>
              <a:spcBef>
                <a:spcPct val="20000"/>
              </a:spcBef>
              <a:buFont typeface="Wingdings" pitchFamily="2" charset="2"/>
              <a:buChar char="ü"/>
            </a:pPr>
            <a:r>
              <a:rPr lang="en-US" sz="2400" dirty="0">
                <a:latin typeface="+mn-lt"/>
              </a:rPr>
              <a:t>Optimize and </a:t>
            </a:r>
            <a:r>
              <a:rPr lang="en-US" sz="2400" i="1" dirty="0">
                <a:latin typeface="+mn-lt"/>
              </a:rPr>
              <a:t>combine</a:t>
            </a:r>
            <a:r>
              <a:rPr lang="en-US" sz="2400" dirty="0">
                <a:latin typeface="+mn-lt"/>
              </a:rPr>
              <a:t> purchase types</a:t>
            </a:r>
          </a:p>
          <a:p>
            <a:pPr defTabSz="342900">
              <a:lnSpc>
                <a:spcPct val="150000"/>
              </a:lnSpc>
              <a:spcBef>
                <a:spcPct val="20000"/>
              </a:spcBef>
              <a:buFont typeface="Wingdings" pitchFamily="2" charset="2"/>
              <a:buChar char="ü"/>
            </a:pPr>
            <a:r>
              <a:rPr lang="en-US" sz="2400" dirty="0">
                <a:latin typeface="+mn-lt"/>
              </a:rPr>
              <a:t>Examples:</a:t>
            </a:r>
            <a:endParaRPr lang="en-US" sz="2000" dirty="0">
              <a:latin typeface="+mn-lt"/>
            </a:endParaRPr>
          </a:p>
          <a:p>
            <a:pPr lvl="1" defTabSz="342900">
              <a:lnSpc>
                <a:spcPct val="100000"/>
              </a:lnSpc>
              <a:spcBef>
                <a:spcPct val="20000"/>
              </a:spcBef>
            </a:pPr>
            <a:r>
              <a:rPr lang="en-US" sz="2000" dirty="0"/>
              <a:t>Use </a:t>
            </a:r>
            <a:r>
              <a:rPr lang="en-US" sz="2000" b="1" dirty="0">
                <a:solidFill>
                  <a:schemeClr val="accent5"/>
                </a:solidFill>
              </a:rPr>
              <a:t>On-Demand Instance</a:t>
            </a:r>
            <a:r>
              <a:rPr lang="en-US" sz="2000" dirty="0"/>
              <a:t> and </a:t>
            </a:r>
            <a:r>
              <a:rPr lang="en-US" sz="2000" b="1" dirty="0">
                <a:solidFill>
                  <a:schemeClr val="accent5"/>
                </a:solidFill>
              </a:rPr>
              <a:t>Spot</a:t>
            </a:r>
            <a:r>
              <a:rPr lang="en-US" sz="2000" dirty="0"/>
              <a:t> </a:t>
            </a:r>
            <a:r>
              <a:rPr lang="en-US" sz="2000" b="1" dirty="0">
                <a:solidFill>
                  <a:schemeClr val="accent5"/>
                </a:solidFill>
              </a:rPr>
              <a:t>Instances</a:t>
            </a:r>
            <a:r>
              <a:rPr lang="en-US" sz="2000" dirty="0"/>
              <a:t> for variable workloads</a:t>
            </a:r>
            <a:br>
              <a:rPr lang="en-US" sz="2000" dirty="0"/>
            </a:br>
            <a:endParaRPr lang="en-US" sz="2000" dirty="0"/>
          </a:p>
          <a:p>
            <a:pPr lvl="1" defTabSz="342900">
              <a:lnSpc>
                <a:spcPct val="100000"/>
              </a:lnSpc>
              <a:spcBef>
                <a:spcPct val="20000"/>
              </a:spcBef>
            </a:pPr>
            <a:r>
              <a:rPr lang="en-US" sz="2000" dirty="0"/>
              <a:t>Use </a:t>
            </a:r>
            <a:r>
              <a:rPr lang="en-US" sz="2000" b="1" dirty="0">
                <a:solidFill>
                  <a:schemeClr val="accent5"/>
                </a:solidFill>
              </a:rPr>
              <a:t>Reserved Instances</a:t>
            </a:r>
            <a:r>
              <a:rPr lang="en-US" sz="2000" dirty="0"/>
              <a:t> for predictable workloads</a:t>
            </a:r>
            <a:br>
              <a:rPr lang="en-US" sz="2000" dirty="0"/>
            </a:br>
            <a:endParaRPr lang="en-US" sz="2000" dirty="0"/>
          </a:p>
          <a:p>
            <a:pPr defTabSz="342900">
              <a:lnSpc>
                <a:spcPct val="100000"/>
              </a:lnSpc>
              <a:spcBef>
                <a:spcPct val="20000"/>
              </a:spcBef>
              <a:buFont typeface="Wingdings" pitchFamily="2" charset="2"/>
              <a:buChar char="ü"/>
            </a:pPr>
            <a:r>
              <a:rPr lang="en-US" sz="2400" dirty="0"/>
              <a:t>Consider serverless solutions (AWS Lambda)</a:t>
            </a:r>
            <a:endParaRPr lang="en-US" sz="2600" dirty="0"/>
          </a:p>
        </p:txBody>
      </p:sp>
      <p:sp>
        <p:nvSpPr>
          <p:cNvPr id="6" name="Title 5">
            <a:extLst>
              <a:ext uri="{FF2B5EF4-FFF2-40B4-BE49-F238E27FC236}">
                <a16:creationId xmlns:a16="http://schemas.microsoft.com/office/drawing/2014/main" id="{6F044271-2C46-BB42-9087-3D0DF5355A69}"/>
              </a:ext>
            </a:extLst>
          </p:cNvPr>
          <p:cNvSpPr>
            <a:spLocks noGrp="1"/>
          </p:cNvSpPr>
          <p:nvPr>
            <p:ph type="title"/>
          </p:nvPr>
        </p:nvSpPr>
        <p:spPr/>
        <p:txBody>
          <a:bodyPr/>
          <a:lstStyle/>
          <a:p>
            <a:r>
              <a:rPr lang="en-US" dirty="0"/>
              <a:t>Pillar 3: Optimal pricing model</a:t>
            </a:r>
          </a:p>
        </p:txBody>
      </p:sp>
      <p:grpSp>
        <p:nvGrpSpPr>
          <p:cNvPr id="2" name="Group 1">
            <a:extLst>
              <a:ext uri="{FF2B5EF4-FFF2-40B4-BE49-F238E27FC236}">
                <a16:creationId xmlns:a16="http://schemas.microsoft.com/office/drawing/2014/main" id="{6E907B3D-70E8-6F43-B84B-77591481D669}"/>
              </a:ext>
              <a:ext uri="{C183D7F6-B498-43B3-948B-1728B52AA6E4}">
                <adec:decorative xmlns:adec="http://schemas.microsoft.com/office/drawing/2017/decorative" val="1"/>
              </a:ext>
            </a:extLst>
          </p:cNvPr>
          <p:cNvGrpSpPr/>
          <p:nvPr/>
        </p:nvGrpSpPr>
        <p:grpSpPr>
          <a:xfrm>
            <a:off x="55685" y="1775998"/>
            <a:ext cx="3840373" cy="3283788"/>
            <a:chOff x="55685" y="1775998"/>
            <a:chExt cx="3840373" cy="3283788"/>
          </a:xfrm>
        </p:grpSpPr>
        <p:grpSp>
          <p:nvGrpSpPr>
            <p:cNvPr id="21" name="Group 20">
              <a:extLst>
                <a:ext uri="{FF2B5EF4-FFF2-40B4-BE49-F238E27FC236}">
                  <a16:creationId xmlns:a16="http://schemas.microsoft.com/office/drawing/2014/main" id="{37CD8AFA-ED34-7D49-BA22-ADEE3ACAE8B2}"/>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2844385"/>
                <a:ext cx="596638" cy="646331"/>
                <a:chOff x="2997997" y="2860939"/>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2860939"/>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2919767"/>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17" name="Picture 2" descr="https://d0.awsstatic.com/Digital%20Marketing/House/ctabox/ha_ctabox_cost-optimization-02.png">
              <a:extLst>
                <a:ext uri="{FF2B5EF4-FFF2-40B4-BE49-F238E27FC236}">
                  <a16:creationId xmlns:a16="http://schemas.microsoft.com/office/drawing/2014/main" id="{A4266BF0-BA26-C748-9A9A-B5E60ADC5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20" y="3701155"/>
              <a:ext cx="1729166" cy="1358631"/>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2644201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2B317D-D832-824B-A4D2-44209B02D90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52</a:t>
            </a:fld>
            <a:endParaRPr lang="en-US" dirty="0"/>
          </a:p>
        </p:txBody>
      </p:sp>
      <p:sp>
        <p:nvSpPr>
          <p:cNvPr id="13" name="Content Placeholder 7">
            <a:extLst>
              <a:ext uri="{FF2B5EF4-FFF2-40B4-BE49-F238E27FC236}">
                <a16:creationId xmlns:a16="http://schemas.microsoft.com/office/drawing/2014/main" id="{008E9451-2FF4-1A46-B6B8-5A2FEB596199}"/>
              </a:ext>
            </a:extLst>
          </p:cNvPr>
          <p:cNvSpPr>
            <a:spLocks noGrp="1"/>
          </p:cNvSpPr>
          <p:nvPr>
            <p:ph idx="1"/>
          </p:nvPr>
        </p:nvSpPr>
        <p:spPr>
          <a:xfrm>
            <a:off x="4754879" y="1554480"/>
            <a:ext cx="7161349" cy="4663473"/>
          </a:xfrm>
        </p:spPr>
        <p:txBody>
          <a:bodyPr/>
          <a:lstStyle/>
          <a:p>
            <a:pPr defTabSz="342900">
              <a:lnSpc>
                <a:spcPct val="100000"/>
              </a:lnSpc>
              <a:spcBef>
                <a:spcPct val="20000"/>
              </a:spcBef>
              <a:buFont typeface="Wingdings" pitchFamily="2" charset="2"/>
              <a:buChar char="ü"/>
            </a:pPr>
            <a:r>
              <a:rPr lang="en-US" sz="2000" dirty="0"/>
              <a:t>Reduce costs while maintaining storage performance and availability</a:t>
            </a:r>
          </a:p>
          <a:p>
            <a:pPr lvl="1" defTabSz="342900">
              <a:lnSpc>
                <a:spcPct val="100000"/>
              </a:lnSpc>
              <a:spcBef>
                <a:spcPct val="20000"/>
              </a:spcBef>
              <a:buFont typeface="Wingdings" pitchFamily="2" charset="2"/>
              <a:buChar char="ü"/>
            </a:pPr>
            <a:endParaRPr lang="en-US" sz="1000" dirty="0"/>
          </a:p>
          <a:p>
            <a:pPr defTabSz="342900">
              <a:lnSpc>
                <a:spcPct val="100000"/>
              </a:lnSpc>
              <a:spcBef>
                <a:spcPct val="20000"/>
              </a:spcBef>
              <a:buFont typeface="Wingdings" pitchFamily="2" charset="2"/>
              <a:buChar char="ü"/>
            </a:pPr>
            <a:r>
              <a:rPr lang="en-US" sz="2000" dirty="0">
                <a:latin typeface="+mn-lt"/>
              </a:rPr>
              <a:t>Resize EBS volumes</a:t>
            </a:r>
          </a:p>
          <a:p>
            <a:pPr lvl="1" defTabSz="342900">
              <a:lnSpc>
                <a:spcPct val="100000"/>
              </a:lnSpc>
              <a:spcBef>
                <a:spcPct val="20000"/>
              </a:spcBef>
              <a:buFont typeface="Wingdings" pitchFamily="2" charset="2"/>
              <a:buChar char="ü"/>
            </a:pP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Change EBS volume types</a:t>
            </a:r>
          </a:p>
          <a:p>
            <a:pPr lvl="1" defTabSz="342900">
              <a:lnSpc>
                <a:spcPct val="100000"/>
              </a:lnSpc>
              <a:spcBef>
                <a:spcPct val="20000"/>
              </a:spcBef>
              <a:buFont typeface="Wingdings" pitchFamily="2" charset="2"/>
              <a:buChar char="ü"/>
            </a:pPr>
            <a:r>
              <a:rPr lang="en-US" sz="1600" dirty="0"/>
              <a:t>Can you meet performance requirements with less expensive storage?</a:t>
            </a:r>
          </a:p>
          <a:p>
            <a:pPr lvl="1" defTabSz="342900">
              <a:lnSpc>
                <a:spcPct val="100000"/>
              </a:lnSpc>
              <a:spcBef>
                <a:spcPct val="20000"/>
              </a:spcBef>
              <a:buFont typeface="Wingdings" pitchFamily="2" charset="2"/>
              <a:buChar char="ü"/>
            </a:pPr>
            <a:r>
              <a:rPr lang="en-US" sz="1600" dirty="0"/>
              <a:t>Example: </a:t>
            </a:r>
            <a:r>
              <a:rPr lang="en-US" sz="1600" b="1" dirty="0">
                <a:solidFill>
                  <a:schemeClr val="accent5"/>
                </a:solidFill>
              </a:rPr>
              <a:t>Amazon EBS Throughput Optimized HDD (st1)</a:t>
            </a:r>
            <a:r>
              <a:rPr lang="en-US" sz="1600" dirty="0"/>
              <a:t> storage typically costs half as much as the default </a:t>
            </a:r>
            <a:r>
              <a:rPr lang="en-US" sz="1600" b="1" dirty="0">
                <a:solidFill>
                  <a:schemeClr val="accent5"/>
                </a:solidFill>
              </a:rPr>
              <a:t>General Purpose SSD (gp2)</a:t>
            </a:r>
            <a:r>
              <a:rPr lang="en-US" sz="1600" dirty="0"/>
              <a:t> storage option.</a:t>
            </a:r>
          </a:p>
          <a:p>
            <a:pPr lvl="2" defTabSz="342900">
              <a:lnSpc>
                <a:spcPct val="100000"/>
              </a:lnSpc>
              <a:spcBef>
                <a:spcPct val="20000"/>
              </a:spcBef>
              <a:buFont typeface="Wingdings" pitchFamily="2" charset="2"/>
              <a:buChar char="ü"/>
            </a:pP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Delete EBS snapshots that are no longer needed</a:t>
            </a:r>
          </a:p>
          <a:p>
            <a:pPr lvl="1" defTabSz="342900">
              <a:lnSpc>
                <a:spcPct val="100000"/>
              </a:lnSpc>
              <a:spcBef>
                <a:spcPct val="20000"/>
              </a:spcBef>
              <a:buFont typeface="Wingdings" pitchFamily="2" charset="2"/>
              <a:buChar char="ü"/>
            </a:pP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Identify the most appropriate destination for specific types of data</a:t>
            </a:r>
          </a:p>
          <a:p>
            <a:pPr lvl="1" defTabSz="342900">
              <a:lnSpc>
                <a:spcPct val="100000"/>
              </a:lnSpc>
              <a:spcBef>
                <a:spcPct val="20000"/>
              </a:spcBef>
              <a:buFont typeface="Wingdings" pitchFamily="2" charset="2"/>
              <a:buChar char="ü"/>
            </a:pPr>
            <a:r>
              <a:rPr lang="en-US" sz="1600" dirty="0">
                <a:latin typeface="+mn-lt"/>
              </a:rPr>
              <a:t>Does the application need the instance to reside on Amazon EBS?</a:t>
            </a:r>
          </a:p>
          <a:p>
            <a:pPr lvl="1" defTabSz="342900">
              <a:lnSpc>
                <a:spcPct val="100000"/>
              </a:lnSpc>
              <a:spcBef>
                <a:spcPct val="20000"/>
              </a:spcBef>
              <a:buFont typeface="Wingdings" pitchFamily="2" charset="2"/>
              <a:buChar char="ü"/>
            </a:pPr>
            <a:r>
              <a:rPr lang="en-US" sz="1600" dirty="0">
                <a:latin typeface="+mn-lt"/>
              </a:rPr>
              <a:t>Amazon S3 storage options with lifecycle policies can reduce costs</a:t>
            </a:r>
          </a:p>
        </p:txBody>
      </p:sp>
      <p:sp>
        <p:nvSpPr>
          <p:cNvPr id="6" name="Title 5">
            <a:extLst>
              <a:ext uri="{FF2B5EF4-FFF2-40B4-BE49-F238E27FC236}">
                <a16:creationId xmlns:a16="http://schemas.microsoft.com/office/drawing/2014/main" id="{0C7AFB7B-38DF-B548-A538-97AC78600EE4}"/>
              </a:ext>
            </a:extLst>
          </p:cNvPr>
          <p:cNvSpPr>
            <a:spLocks noGrp="1"/>
          </p:cNvSpPr>
          <p:nvPr>
            <p:ph type="title"/>
          </p:nvPr>
        </p:nvSpPr>
        <p:spPr/>
        <p:txBody>
          <a:bodyPr/>
          <a:lstStyle/>
          <a:p>
            <a:r>
              <a:rPr lang="en-US" dirty="0"/>
              <a:t>Pillar 4: Optimize storage choices</a:t>
            </a:r>
          </a:p>
        </p:txBody>
      </p:sp>
      <p:grpSp>
        <p:nvGrpSpPr>
          <p:cNvPr id="2" name="Group 1">
            <a:extLst>
              <a:ext uri="{FF2B5EF4-FFF2-40B4-BE49-F238E27FC236}">
                <a16:creationId xmlns:a16="http://schemas.microsoft.com/office/drawing/2014/main" id="{B3EE9E2C-D07B-014D-A1F6-F99D802FED9A}"/>
              </a:ext>
              <a:ext uri="{C183D7F6-B498-43B3-948B-1728B52AA6E4}">
                <adec:decorative xmlns:adec="http://schemas.microsoft.com/office/drawing/2017/decorative" val="1"/>
              </a:ext>
            </a:extLst>
          </p:cNvPr>
          <p:cNvGrpSpPr/>
          <p:nvPr/>
        </p:nvGrpSpPr>
        <p:grpSpPr>
          <a:xfrm>
            <a:off x="55685" y="1775998"/>
            <a:ext cx="3840373" cy="3219514"/>
            <a:chOff x="55685" y="1775998"/>
            <a:chExt cx="3840373" cy="3219514"/>
          </a:xfrm>
        </p:grpSpPr>
        <p:grpSp>
          <p:nvGrpSpPr>
            <p:cNvPr id="21" name="Group 20">
              <a:extLst>
                <a:ext uri="{FF2B5EF4-FFF2-40B4-BE49-F238E27FC236}">
                  <a16:creationId xmlns:a16="http://schemas.microsoft.com/office/drawing/2014/main" id="{37CD8AFA-ED34-7D49-BA22-ADEE3ACAE8B2}"/>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3149183"/>
                <a:ext cx="596638" cy="646331"/>
                <a:chOff x="2997997" y="3165737"/>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3165737"/>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3224565"/>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16" name="Picture 15">
              <a:extLst>
                <a:ext uri="{FF2B5EF4-FFF2-40B4-BE49-F238E27FC236}">
                  <a16:creationId xmlns:a16="http://schemas.microsoft.com/office/drawing/2014/main" id="{F33EDD80-5DC8-1D42-B3B0-6A80B7D0BA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4523" y="3781223"/>
              <a:ext cx="1214289" cy="1214289"/>
            </a:xfrm>
            <a:prstGeom prst="rect">
              <a:avLst/>
            </a:prstGeom>
          </p:spPr>
        </p:pic>
      </p:grpSp>
    </p:spTree>
    <p:custDataLst>
      <p:tags r:id="rId1"/>
    </p:custDataLst>
    <p:extLst>
      <p:ext uri="{BB962C8B-B14F-4D97-AF65-F5344CB8AC3E}">
        <p14:creationId xmlns:p14="http://schemas.microsoft.com/office/powerpoint/2010/main" val="4144242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331CF5-82F8-B34B-89E2-C428A018B746}"/>
              </a:ext>
            </a:extLst>
          </p:cNvPr>
          <p:cNvSpPr>
            <a:spLocks noGrp="1"/>
          </p:cNvSpPr>
          <p:nvPr>
            <p:ph type="title"/>
          </p:nvPr>
        </p:nvSpPr>
        <p:spPr/>
        <p:txBody>
          <a:bodyPr/>
          <a:lstStyle/>
          <a:p>
            <a:r>
              <a:rPr lang="en-US" dirty="0"/>
              <a:t>Measure, monitor, and improve</a:t>
            </a:r>
          </a:p>
        </p:txBody>
      </p:sp>
      <p:sp>
        <p:nvSpPr>
          <p:cNvPr id="9" name="Content Placeholder 8">
            <a:extLst>
              <a:ext uri="{FF2B5EF4-FFF2-40B4-BE49-F238E27FC236}">
                <a16:creationId xmlns:a16="http://schemas.microsoft.com/office/drawing/2014/main" id="{B51E73EE-EDC9-764B-A48E-4B5FC2754EBC}"/>
              </a:ext>
            </a:extLst>
          </p:cNvPr>
          <p:cNvSpPr>
            <a:spLocks noGrp="1"/>
          </p:cNvSpPr>
          <p:nvPr>
            <p:ph idx="1"/>
          </p:nvPr>
        </p:nvSpPr>
        <p:spPr>
          <a:xfrm>
            <a:off x="419101" y="1528175"/>
            <a:ext cx="9034272" cy="4648788"/>
          </a:xfrm>
        </p:spPr>
        <p:txBody>
          <a:bodyPr/>
          <a:lstStyle/>
          <a:p>
            <a:r>
              <a:rPr lang="en-US" sz="3200" dirty="0"/>
              <a:t>Cost optimization is an ongoing process.</a:t>
            </a:r>
          </a:p>
          <a:p>
            <a:pPr lvl="1"/>
            <a:endParaRPr lang="en-US" sz="2800" dirty="0"/>
          </a:p>
          <a:p>
            <a:r>
              <a:rPr lang="en-US" sz="3200" dirty="0"/>
              <a:t>Recommendations – </a:t>
            </a:r>
            <a:endParaRPr lang="en-US" dirty="0"/>
          </a:p>
          <a:p>
            <a:pPr lvl="1">
              <a:lnSpc>
                <a:spcPct val="150000"/>
              </a:lnSpc>
            </a:pPr>
            <a:r>
              <a:rPr lang="en-US" dirty="0"/>
              <a:t>Define and enforce </a:t>
            </a:r>
            <a:r>
              <a:rPr lang="en-US" b="1" dirty="0">
                <a:solidFill>
                  <a:schemeClr val="accent5"/>
                </a:solidFill>
              </a:rPr>
              <a:t>cost allocation tagging</a:t>
            </a:r>
            <a:r>
              <a:rPr lang="en-US" dirty="0"/>
              <a:t>.</a:t>
            </a:r>
          </a:p>
          <a:p>
            <a:pPr lvl="1">
              <a:lnSpc>
                <a:spcPct val="150000"/>
              </a:lnSpc>
            </a:pPr>
            <a:r>
              <a:rPr lang="en-US" dirty="0"/>
              <a:t>Define metrics, set targets, and review regularly.</a:t>
            </a:r>
          </a:p>
          <a:p>
            <a:pPr lvl="1">
              <a:lnSpc>
                <a:spcPct val="150000"/>
              </a:lnSpc>
            </a:pPr>
            <a:r>
              <a:rPr lang="en-US" dirty="0"/>
              <a:t>Encourage teams to </a:t>
            </a:r>
            <a:r>
              <a:rPr lang="en-US" b="1" dirty="0">
                <a:solidFill>
                  <a:schemeClr val="accent5"/>
                </a:solidFill>
              </a:rPr>
              <a:t>architect for cost</a:t>
            </a:r>
            <a:r>
              <a:rPr lang="en-US" dirty="0"/>
              <a:t>.</a:t>
            </a:r>
          </a:p>
          <a:p>
            <a:pPr lvl="1">
              <a:lnSpc>
                <a:spcPct val="150000"/>
              </a:lnSpc>
            </a:pPr>
            <a:r>
              <a:rPr lang="en-US" dirty="0"/>
              <a:t>Assign the responsibility of optimization to an individual or to a team.</a:t>
            </a:r>
          </a:p>
          <a:p>
            <a:endParaRPr lang="en-US" dirty="0"/>
          </a:p>
        </p:txBody>
      </p:sp>
      <p:sp>
        <p:nvSpPr>
          <p:cNvPr id="4" name="Slide Number Placeholder 3">
            <a:extLst>
              <a:ext uri="{FF2B5EF4-FFF2-40B4-BE49-F238E27FC236}">
                <a16:creationId xmlns:a16="http://schemas.microsoft.com/office/drawing/2014/main" id="{58D5581F-2D3F-9247-8FFD-94A14B2EC33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53</a:t>
            </a:fld>
            <a:endParaRPr lang="en-US" dirty="0"/>
          </a:p>
        </p:txBody>
      </p:sp>
      <p:sp>
        <p:nvSpPr>
          <p:cNvPr id="7" name="Footer Placeholder 6">
            <a:extLst>
              <a:ext uri="{FF2B5EF4-FFF2-40B4-BE49-F238E27FC236}">
                <a16:creationId xmlns:a16="http://schemas.microsoft.com/office/drawing/2014/main" id="{EE21A7B7-F211-AA4E-A59C-1FED88D699F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6" name="Graphic 5">
            <a:extLst>
              <a:ext uri="{FF2B5EF4-FFF2-40B4-BE49-F238E27FC236}">
                <a16:creationId xmlns:a16="http://schemas.microsoft.com/office/drawing/2014/main" id="{C183439E-E888-A44C-9408-3585D291397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1300" y="4895057"/>
            <a:ext cx="914400" cy="914400"/>
          </a:xfrm>
          <a:prstGeom prst="rect">
            <a:avLst/>
          </a:prstGeom>
        </p:spPr>
      </p:pic>
      <p:pic>
        <p:nvPicPr>
          <p:cNvPr id="11" name="Graphic 10">
            <a:extLst>
              <a:ext uri="{FF2B5EF4-FFF2-40B4-BE49-F238E27FC236}">
                <a16:creationId xmlns:a16="http://schemas.microsoft.com/office/drawing/2014/main" id="{4D628F29-173C-994C-AC74-C13B96130EA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01300" y="2971800"/>
            <a:ext cx="914400" cy="914400"/>
          </a:xfrm>
          <a:prstGeom prst="rect">
            <a:avLst/>
          </a:prstGeom>
        </p:spPr>
      </p:pic>
      <p:pic>
        <p:nvPicPr>
          <p:cNvPr id="13" name="Graphic 12">
            <a:extLst>
              <a:ext uri="{FF2B5EF4-FFF2-40B4-BE49-F238E27FC236}">
                <a16:creationId xmlns:a16="http://schemas.microsoft.com/office/drawing/2014/main" id="{6D8F0647-90FE-944E-ACC8-D11EA24C076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05092" y="3801270"/>
            <a:ext cx="914400" cy="914400"/>
          </a:xfrm>
          <a:prstGeom prst="rect">
            <a:avLst/>
          </a:prstGeom>
        </p:spPr>
      </p:pic>
      <p:pic>
        <p:nvPicPr>
          <p:cNvPr id="17" name="Graphic 16">
            <a:extLst>
              <a:ext uri="{FF2B5EF4-FFF2-40B4-BE49-F238E27FC236}">
                <a16:creationId xmlns:a16="http://schemas.microsoft.com/office/drawing/2014/main" id="{63813077-7AD0-2F4A-BF14-B95E1AF535B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162292" y="1425577"/>
            <a:ext cx="914400" cy="914400"/>
          </a:xfrm>
          <a:prstGeom prst="rect">
            <a:avLst/>
          </a:prstGeom>
        </p:spPr>
      </p:pic>
    </p:spTree>
    <p:custDataLst>
      <p:tags r:id="rId1"/>
    </p:custDataLst>
    <p:extLst>
      <p:ext uri="{BB962C8B-B14F-4D97-AF65-F5344CB8AC3E}">
        <p14:creationId xmlns:p14="http://schemas.microsoft.com/office/powerpoint/2010/main" val="1867642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3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54</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sz="2000" b="1" dirty="0">
                <a:solidFill>
                  <a:schemeClr val="accent5"/>
                </a:solidFill>
              </a:rPr>
              <a:t>Amazon EC2 pricing models </a:t>
            </a:r>
            <a:r>
              <a:rPr lang="en-US" sz="2000" dirty="0"/>
              <a:t>include On-Demand Instances, Reserved Instances, Spot Instances, Dedicated Instances, and Dedicated Hosts.</a:t>
            </a:r>
          </a:p>
          <a:p>
            <a:pPr lvl="1"/>
            <a:endParaRPr lang="en-US" sz="1600" dirty="0"/>
          </a:p>
          <a:p>
            <a:r>
              <a:rPr lang="en-US" sz="2000" b="1" dirty="0">
                <a:solidFill>
                  <a:schemeClr val="accent5"/>
                </a:solidFill>
              </a:rPr>
              <a:t>Spot Instances </a:t>
            </a:r>
            <a:r>
              <a:rPr lang="en-US" sz="2000" dirty="0"/>
              <a:t>can be interrupted with a 2-minute notification. However, they can offer significant cost savings over On-Demand Instances.</a:t>
            </a:r>
          </a:p>
          <a:p>
            <a:pPr lvl="1"/>
            <a:endParaRPr lang="en-US" sz="1600" dirty="0"/>
          </a:p>
          <a:p>
            <a:r>
              <a:rPr lang="en-US" sz="2000" dirty="0"/>
              <a:t>The </a:t>
            </a:r>
            <a:r>
              <a:rPr lang="en-US" sz="2000" b="1" dirty="0">
                <a:solidFill>
                  <a:schemeClr val="accent5"/>
                </a:solidFill>
              </a:rPr>
              <a:t>four pillars of cost optimization</a:t>
            </a:r>
            <a:r>
              <a:rPr lang="en-US" sz="2000" dirty="0"/>
              <a:t> are:</a:t>
            </a:r>
          </a:p>
          <a:p>
            <a:pPr lvl="1"/>
            <a:r>
              <a:rPr lang="en-US" sz="1800" dirty="0"/>
              <a:t>Right size</a:t>
            </a:r>
          </a:p>
          <a:p>
            <a:pPr lvl="1"/>
            <a:r>
              <a:rPr lang="en-US" sz="1800" dirty="0"/>
              <a:t>Increase elasticity</a:t>
            </a:r>
          </a:p>
          <a:p>
            <a:pPr lvl="1"/>
            <a:r>
              <a:rPr lang="en-US" sz="1800" dirty="0"/>
              <a:t>Optimal pricing model</a:t>
            </a:r>
          </a:p>
          <a:p>
            <a:pPr lvl="1"/>
            <a:r>
              <a:rPr lang="en-US" sz="1800" dirty="0"/>
              <a:t>Optimize storage choices</a:t>
            </a:r>
          </a:p>
          <a:p>
            <a:endParaRPr lang="en-US" sz="2400" dirty="0"/>
          </a:p>
          <a:p>
            <a:endParaRPr lang="en-US" sz="2400" dirty="0"/>
          </a:p>
          <a:p>
            <a:endParaRPr lang="en-US" sz="2400" dirty="0"/>
          </a:p>
          <a:p>
            <a:endParaRPr lang="en-US" sz="2400" dirty="0"/>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1472181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dirty="0"/>
              <a:t>Thank you</a:t>
            </a:r>
            <a:endParaRPr lang="en-US"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2586573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SLIDE_COUNT" val="9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UDIO_ID" val="796"/>
  <p:tag name="ARTICULATE_USED_LAYOUT" val="5"/>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UDIO_ID" val="804"/>
  <p:tag name="ARTICULATE_USED_LAYOUT" val="3"/>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Academy_2019_Accessible" id="{0B1EFAAE-1898-4168-A8E4-48C906B750E4}" vid="{0BAE7003-4F32-4828-986F-3F3EE3E6BA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31474</TotalTime>
  <Words>14230</Words>
  <Application>Microsoft Office PowerPoint</Application>
  <PresentationFormat>Widescreen</PresentationFormat>
  <Paragraphs>1205</Paragraphs>
  <Slides>55</Slides>
  <Notes>54</Notes>
  <HiddenSlides>12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Amazon Ember</vt:lpstr>
      <vt:lpstr>Amazon Ember Light</vt:lpstr>
      <vt:lpstr>Arial</vt:lpstr>
      <vt:lpstr>Calibri</vt:lpstr>
      <vt:lpstr>Lucida Console</vt:lpstr>
      <vt:lpstr>Wingdings</vt:lpstr>
      <vt:lpstr>Office Theme</vt:lpstr>
      <vt:lpstr>Module 6: Compute</vt:lpstr>
      <vt:lpstr>Module overview</vt:lpstr>
      <vt:lpstr>Module objectives</vt:lpstr>
      <vt:lpstr>Section 1: Compute services overview</vt:lpstr>
      <vt:lpstr>AWS compute services</vt:lpstr>
      <vt:lpstr>Cloud Computing Model</vt:lpstr>
      <vt:lpstr>Section 2: Amazon EC2</vt:lpstr>
      <vt:lpstr>Amazon Elastic Compute Cloud (Amazon EC2)</vt:lpstr>
      <vt:lpstr>Amazon EC2 overview</vt:lpstr>
      <vt:lpstr>Launching an Amazon EC2 instance</vt:lpstr>
      <vt:lpstr>1. Select an AMI</vt:lpstr>
      <vt:lpstr>Creating a new AMI: Example</vt:lpstr>
      <vt:lpstr>2. Select an instance type</vt:lpstr>
      <vt:lpstr>EC2 instance type naming and sizes </vt:lpstr>
      <vt:lpstr>Select instance type: Based on use case</vt:lpstr>
      <vt:lpstr>Instance types: Networking features</vt:lpstr>
      <vt:lpstr>3. Specify network settings</vt:lpstr>
      <vt:lpstr>4. Attach IAM role (optional)</vt:lpstr>
      <vt:lpstr>5. User data script (optional)</vt:lpstr>
      <vt:lpstr>6. Specify storage</vt:lpstr>
      <vt:lpstr>Amazon EC2 storage options</vt:lpstr>
      <vt:lpstr>Example storage options</vt:lpstr>
      <vt:lpstr>7. Add tags</vt:lpstr>
      <vt:lpstr>8. Security group settings</vt:lpstr>
      <vt:lpstr>9. Identify or create the key pair</vt:lpstr>
      <vt:lpstr>Amazon EC2 console view of a running EC2 instance</vt:lpstr>
      <vt:lpstr>Another option: Launch an EC2 instance with the AWS Command Line Interface </vt:lpstr>
      <vt:lpstr>Amazon EC2 instance lifecycle</vt:lpstr>
      <vt:lpstr>Instance hibernation option </vt:lpstr>
      <vt:lpstr>Consider using an Elastic IP address</vt:lpstr>
      <vt:lpstr>EC2 instance metadata</vt:lpstr>
      <vt:lpstr>Amazon CloudWatch for monitoring</vt:lpstr>
      <vt:lpstr>Section 2 key takeaways</vt:lpstr>
      <vt:lpstr>Recorded Amazon EC2 demonstration</vt:lpstr>
      <vt:lpstr>Lab 3:  Introduction to Amazon EC2</vt:lpstr>
      <vt:lpstr>Lab 3 scenario</vt:lpstr>
      <vt:lpstr>Lab 3: Tasks</vt:lpstr>
      <vt:lpstr>Lab 3: Final product</vt:lpstr>
      <vt:lpstr>Begin Lab 1: Introduction to AWS IAM</vt:lpstr>
      <vt:lpstr>Lab debrief:  Key takeaways</vt:lpstr>
      <vt:lpstr>Activity: Amazon EC2</vt:lpstr>
      <vt:lpstr>Activity: Gather information</vt:lpstr>
      <vt:lpstr>Activity: Check your understanding</vt:lpstr>
      <vt:lpstr>Section 3: Amazon EC2 cost optimization</vt:lpstr>
      <vt:lpstr>Amazon EC2 pricing models</vt:lpstr>
      <vt:lpstr>Amazon EC2 pricing models: Benefits</vt:lpstr>
      <vt:lpstr>Amazon EC2 pricing models: Use cases</vt:lpstr>
      <vt:lpstr>The four pillars of cost optimization </vt:lpstr>
      <vt:lpstr>Pillar 1: Right size</vt:lpstr>
      <vt:lpstr>Pillar 2: Increase elasticity</vt:lpstr>
      <vt:lpstr>Pillar 3: Optimal pricing model</vt:lpstr>
      <vt:lpstr>Pillar 4: Optimize storage choices</vt:lpstr>
      <vt:lpstr>Measure, monitor, and improve</vt:lpstr>
      <vt:lpstr>Section 3 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Mohr</dc:creator>
  <cp:keywords>v1.0</cp:keywords>
  <cp:lastModifiedBy>SHAHLIZA ABD HALIM</cp:lastModifiedBy>
  <cp:revision>685</cp:revision>
  <cp:lastPrinted>2019-10-30T18:18:48Z</cp:lastPrinted>
  <dcterms:created xsi:type="dcterms:W3CDTF">2019-09-12T17:35:03Z</dcterms:created>
  <dcterms:modified xsi:type="dcterms:W3CDTF">2022-04-24T01:21:43Z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