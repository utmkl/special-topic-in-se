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6.xml" ContentType="application/vnd.openxmlformats-officedocument.presentationml.tags+xml"/>
  <Override PartName="/ppt/notesSlides/notesSlide1.xml" ContentType="application/vnd.openxmlformats-officedocument.presentationml.notesSlide+xml"/>
  <Override PartName="/ppt/tags/tag27.xml" ContentType="application/vnd.openxmlformats-officedocument.presentationml.tags+xml"/>
  <Override PartName="/ppt/notesSlides/notesSlide2.xml" ContentType="application/vnd.openxmlformats-officedocument.presentationml.notesSlide+xml"/>
  <Override PartName="/ppt/tags/tag28.xml" ContentType="application/vnd.openxmlformats-officedocument.presentationml.tags+xml"/>
  <Override PartName="/ppt/notesSlides/notesSlide3.xml" ContentType="application/vnd.openxmlformats-officedocument.presentationml.notesSlide+xml"/>
  <Override PartName="/ppt/tags/tag29.xml" ContentType="application/vnd.openxmlformats-officedocument.presentationml.tags+xml"/>
  <Override PartName="/ppt/notesSlides/notesSlide4.xml" ContentType="application/vnd.openxmlformats-officedocument.presentationml.notesSlide+xml"/>
  <Override PartName="/ppt/tags/tag30.xml" ContentType="application/vnd.openxmlformats-officedocument.presentationml.tags+xml"/>
  <Override PartName="/ppt/notesSlides/notesSlide5.xml" ContentType="application/vnd.openxmlformats-officedocument.presentationml.notesSlide+xml"/>
  <Override PartName="/ppt/tags/tag31.xml" ContentType="application/vnd.openxmlformats-officedocument.presentationml.tags+xml"/>
  <Override PartName="/ppt/notesSlides/notesSlide6.xml" ContentType="application/vnd.openxmlformats-officedocument.presentationml.notesSlide+xml"/>
  <Override PartName="/ppt/tags/tag32.xml" ContentType="application/vnd.openxmlformats-officedocument.presentationml.tags+xml"/>
  <Override PartName="/ppt/notesSlides/notesSlide7.xml" ContentType="application/vnd.openxmlformats-officedocument.presentationml.notesSlide+xml"/>
  <Override PartName="/ppt/tags/tag33.xml" ContentType="application/vnd.openxmlformats-officedocument.presentationml.tags+xml"/>
  <Override PartName="/ppt/notesSlides/notesSlide8.xml" ContentType="application/vnd.openxmlformats-officedocument.presentationml.notesSlide+xml"/>
  <Override PartName="/ppt/tags/tag34.xml" ContentType="application/vnd.openxmlformats-officedocument.presentationml.tags+xml"/>
  <Override PartName="/ppt/notesSlides/notesSlide9.xml" ContentType="application/vnd.openxmlformats-officedocument.presentationml.notesSlide+xml"/>
  <Override PartName="/ppt/tags/tag35.xml" ContentType="application/vnd.openxmlformats-officedocument.presentationml.tags+xml"/>
  <Override PartName="/ppt/notesSlides/notesSlide10.xml" ContentType="application/vnd.openxmlformats-officedocument.presentationml.notesSlide+xml"/>
  <Override PartName="/ppt/tags/tag36.xml" ContentType="application/vnd.openxmlformats-officedocument.presentationml.tags+xml"/>
  <Override PartName="/ppt/notesSlides/notesSlide11.xml" ContentType="application/vnd.openxmlformats-officedocument.presentationml.notesSlide+xml"/>
  <Override PartName="/ppt/tags/tag37.xml" ContentType="application/vnd.openxmlformats-officedocument.presentationml.tags+xml"/>
  <Override PartName="/ppt/notesSlides/notesSlide12.xml" ContentType="application/vnd.openxmlformats-officedocument.presentationml.notesSlide+xml"/>
  <Override PartName="/ppt/tags/tag38.xml" ContentType="application/vnd.openxmlformats-officedocument.presentationml.tags+xml"/>
  <Override PartName="/ppt/notesSlides/notesSlide13.xml" ContentType="application/vnd.openxmlformats-officedocument.presentationml.notesSlide+xml"/>
  <Override PartName="/ppt/tags/tag39.xml" ContentType="application/vnd.openxmlformats-officedocument.presentationml.tags+xml"/>
  <Override PartName="/ppt/notesSlides/notesSlide14.xml" ContentType="application/vnd.openxmlformats-officedocument.presentationml.notesSlide+xml"/>
  <Override PartName="/ppt/tags/tag40.xml" ContentType="application/vnd.openxmlformats-officedocument.presentationml.tags+xml"/>
  <Override PartName="/ppt/notesSlides/notesSlide15.xml" ContentType="application/vnd.openxmlformats-officedocument.presentationml.notesSlide+xml"/>
  <Override PartName="/ppt/tags/tag41.xml" ContentType="application/vnd.openxmlformats-officedocument.presentationml.tags+xml"/>
  <Override PartName="/ppt/notesSlides/notesSlide16.xml" ContentType="application/vnd.openxmlformats-officedocument.presentationml.notesSlide+xml"/>
  <Override PartName="/ppt/tags/tag42.xml" ContentType="application/vnd.openxmlformats-officedocument.presentationml.tags+xml"/>
  <Override PartName="/ppt/notesSlides/notesSlide17.xml" ContentType="application/vnd.openxmlformats-officedocument.presentationml.notesSlide+xml"/>
  <Override PartName="/ppt/tags/tag43.xml" ContentType="application/vnd.openxmlformats-officedocument.presentationml.tags+xml"/>
  <Override PartName="/ppt/notesSlides/notesSlide18.xml" ContentType="application/vnd.openxmlformats-officedocument.presentationml.notesSlide+xml"/>
  <Override PartName="/ppt/tags/tag44.xml" ContentType="application/vnd.openxmlformats-officedocument.presentationml.tags+xml"/>
  <Override PartName="/ppt/notesSlides/notesSlide19.xml" ContentType="application/vnd.openxmlformats-officedocument.presentationml.notesSlide+xml"/>
  <Override PartName="/ppt/tags/tag45.xml" ContentType="application/vnd.openxmlformats-officedocument.presentationml.tags+xml"/>
  <Override PartName="/ppt/notesSlides/notesSlide20.xml" ContentType="application/vnd.openxmlformats-officedocument.presentationml.notesSlide+xml"/>
  <Override PartName="/ppt/tags/tag46.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47.xml" ContentType="application/vnd.openxmlformats-officedocument.presentationml.tags+xml"/>
  <Override PartName="/ppt/notesSlides/notesSlide23.xml" ContentType="application/vnd.openxmlformats-officedocument.presentationml.notesSlide+xml"/>
  <Override PartName="/ppt/tags/tag48.xml" ContentType="application/vnd.openxmlformats-officedocument.presentationml.tags+xml"/>
  <Override PartName="/ppt/notesSlides/notesSlide24.xml" ContentType="application/vnd.openxmlformats-officedocument.presentationml.notesSlide+xml"/>
  <Override PartName="/ppt/tags/tag49.xml" ContentType="application/vnd.openxmlformats-officedocument.presentationml.tags+xml"/>
  <Override PartName="/ppt/notesSlides/notesSlide25.xml" ContentType="application/vnd.openxmlformats-officedocument.presentationml.notesSlide+xml"/>
  <Override PartName="/ppt/tags/tag50.xml" ContentType="application/vnd.openxmlformats-officedocument.presentationml.tags+xml"/>
  <Override PartName="/ppt/notesSlides/notesSlide26.xml" ContentType="application/vnd.openxmlformats-officedocument.presentationml.notesSlide+xml"/>
  <Override PartName="/ppt/tags/tag51.xml" ContentType="application/vnd.openxmlformats-officedocument.presentationml.tags+xml"/>
  <Override PartName="/ppt/notesSlides/notesSlide27.xml" ContentType="application/vnd.openxmlformats-officedocument.presentationml.notesSlide+xml"/>
  <Override PartName="/ppt/tags/tag52.xml" ContentType="application/vnd.openxmlformats-officedocument.presentationml.tags+xml"/>
  <Override PartName="/ppt/notesSlides/notesSlide28.xml" ContentType="application/vnd.openxmlformats-officedocument.presentationml.notesSlide+xml"/>
  <Override PartName="/ppt/tags/tag53.xml" ContentType="application/vnd.openxmlformats-officedocument.presentationml.tags+xml"/>
  <Override PartName="/ppt/notesSlides/notesSlide29.xml" ContentType="application/vnd.openxmlformats-officedocument.presentationml.notesSlide+xml"/>
  <Override PartName="/ppt/tags/tag54.xml" ContentType="application/vnd.openxmlformats-officedocument.presentationml.tags+xml"/>
  <Override PartName="/ppt/notesSlides/notesSlide30.xml" ContentType="application/vnd.openxmlformats-officedocument.presentationml.notesSlide+xml"/>
  <Override PartName="/ppt/tags/tag55.xml" ContentType="application/vnd.openxmlformats-officedocument.presentationml.tags+xml"/>
  <Override PartName="/ppt/notesSlides/notesSlide31.xml" ContentType="application/vnd.openxmlformats-officedocument.presentationml.notesSlide+xml"/>
  <Override PartName="/ppt/tags/tag56.xml" ContentType="application/vnd.openxmlformats-officedocument.presentationml.tags+xml"/>
  <Override PartName="/ppt/notesSlides/notesSlide32.xml" ContentType="application/vnd.openxmlformats-officedocument.presentationml.notesSlide+xml"/>
  <Override PartName="/ppt/tags/tag57.xml" ContentType="application/vnd.openxmlformats-officedocument.presentationml.tags+xml"/>
  <Override PartName="/ppt/notesSlides/notesSlide33.xml" ContentType="application/vnd.openxmlformats-officedocument.presentationml.notesSlide+xml"/>
  <Override PartName="/ppt/tags/tag58.xml" ContentType="application/vnd.openxmlformats-officedocument.presentationml.tags+xml"/>
  <Override PartName="/ppt/notesSlides/notesSlide34.xml" ContentType="application/vnd.openxmlformats-officedocument.presentationml.notesSlide+xml"/>
  <Override PartName="/ppt/tags/tag59.xml" ContentType="application/vnd.openxmlformats-officedocument.presentationml.tags+xml"/>
  <Override PartName="/ppt/notesSlides/notesSlide35.xml" ContentType="application/vnd.openxmlformats-officedocument.presentationml.notesSlide+xml"/>
  <Override PartName="/ppt/tags/tag60.xml" ContentType="application/vnd.openxmlformats-officedocument.presentationml.tags+xml"/>
  <Override PartName="/ppt/notesSlides/notesSlide36.xml" ContentType="application/vnd.openxmlformats-officedocument.presentationml.notesSlide+xml"/>
  <Override PartName="/ppt/tags/tag61.xml" ContentType="application/vnd.openxmlformats-officedocument.presentationml.tags+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handoutMasterIdLst>
    <p:handoutMasterId r:id="rId44"/>
  </p:handoutMasterIdLst>
  <p:sldIdLst>
    <p:sldId id="430" r:id="rId2"/>
    <p:sldId id="443" r:id="rId3"/>
    <p:sldId id="400" r:id="rId4"/>
    <p:sldId id="431" r:id="rId5"/>
    <p:sldId id="491" r:id="rId6"/>
    <p:sldId id="898" r:id="rId7"/>
    <p:sldId id="899" r:id="rId8"/>
    <p:sldId id="900" r:id="rId9"/>
    <p:sldId id="902" r:id="rId10"/>
    <p:sldId id="897" r:id="rId11"/>
    <p:sldId id="498" r:id="rId12"/>
    <p:sldId id="884" r:id="rId13"/>
    <p:sldId id="885" r:id="rId14"/>
    <p:sldId id="608" r:id="rId15"/>
    <p:sldId id="391" r:id="rId16"/>
    <p:sldId id="894" r:id="rId17"/>
    <p:sldId id="605" r:id="rId18"/>
    <p:sldId id="886" r:id="rId19"/>
    <p:sldId id="887" r:id="rId20"/>
    <p:sldId id="890" r:id="rId21"/>
    <p:sldId id="590" r:id="rId22"/>
    <p:sldId id="549" r:id="rId23"/>
    <p:sldId id="550" r:id="rId24"/>
    <p:sldId id="891" r:id="rId25"/>
    <p:sldId id="588" r:id="rId26"/>
    <p:sldId id="901" r:id="rId27"/>
    <p:sldId id="893" r:id="rId28"/>
    <p:sldId id="351" r:id="rId29"/>
    <p:sldId id="609" r:id="rId30"/>
    <p:sldId id="617" r:id="rId31"/>
    <p:sldId id="520" r:id="rId32"/>
    <p:sldId id="895" r:id="rId33"/>
    <p:sldId id="427" r:id="rId34"/>
    <p:sldId id="896" r:id="rId35"/>
    <p:sldId id="618" r:id="rId36"/>
    <p:sldId id="621" r:id="rId37"/>
    <p:sldId id="883" r:id="rId38"/>
    <p:sldId id="345" r:id="rId39"/>
    <p:sldId id="623" r:id="rId40"/>
    <p:sldId id="839" r:id="rId41"/>
    <p:sldId id="448" r:id="rId42"/>
  </p:sldIdLst>
  <p:sldSz cx="12192000" cy="6858000"/>
  <p:notesSz cx="6761163" cy="9942513"/>
  <p:custDataLst>
    <p:tags r:id="rId4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92E7FEE-A7E9-4CA6-9BD7-D8B0DD8235D3}">
          <p14:sldIdLst>
            <p14:sldId id="430"/>
            <p14:sldId id="443"/>
            <p14:sldId id="400"/>
          </p14:sldIdLst>
        </p14:section>
        <p14:section name="Section 1" id="{614BE97F-46AA-450F-AB7F-F2442055F218}">
          <p14:sldIdLst>
            <p14:sldId id="431"/>
            <p14:sldId id="491"/>
            <p14:sldId id="898"/>
            <p14:sldId id="899"/>
            <p14:sldId id="900"/>
            <p14:sldId id="902"/>
            <p14:sldId id="897"/>
            <p14:sldId id="498"/>
            <p14:sldId id="884"/>
          </p14:sldIdLst>
        </p14:section>
        <p14:section name="Section 2" id="{0F0B97A9-77B0-475A-B465-2268A0A51E6C}">
          <p14:sldIdLst>
            <p14:sldId id="885"/>
            <p14:sldId id="608"/>
            <p14:sldId id="391"/>
            <p14:sldId id="894"/>
            <p14:sldId id="605"/>
            <p14:sldId id="886"/>
          </p14:sldIdLst>
        </p14:section>
        <p14:section name="Section 3" id="{BA8D67B4-C6F6-4D87-AC48-C5BFCF7A381A}">
          <p14:sldIdLst>
            <p14:sldId id="887"/>
            <p14:sldId id="890"/>
            <p14:sldId id="590"/>
            <p14:sldId id="549"/>
            <p14:sldId id="550"/>
            <p14:sldId id="891"/>
            <p14:sldId id="588"/>
            <p14:sldId id="901"/>
            <p14:sldId id="893"/>
            <p14:sldId id="351"/>
            <p14:sldId id="609"/>
            <p14:sldId id="617"/>
          </p14:sldIdLst>
        </p14:section>
        <p14:section name="Lab" id="{1461514C-930D-4463-89C8-1CC348056A20}">
          <p14:sldIdLst>
            <p14:sldId id="520"/>
            <p14:sldId id="895"/>
            <p14:sldId id="427"/>
            <p14:sldId id="896"/>
            <p14:sldId id="618"/>
            <p14:sldId id="621"/>
          </p14:sldIdLst>
        </p14:section>
        <p14:section name="Module wrap up" id="{936E3800-8C58-46E0-83BE-87653CF45730}">
          <p14:sldIdLst>
            <p14:sldId id="883"/>
            <p14:sldId id="345"/>
            <p14:sldId id="623"/>
            <p14:sldId id="839"/>
            <p14:sldId id="44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32" userDrawn="1">
          <p15:clr>
            <a:srgbClr val="A4A3A4"/>
          </p15:clr>
        </p15:guide>
        <p15:guide id="2" pos="213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oshii, June" initials="YJ" lastIdx="40" clrIdx="0">
    <p:extLst>
      <p:ext uri="{19B8F6BF-5375-455C-9EA6-DF929625EA0E}">
        <p15:presenceInfo xmlns:p15="http://schemas.microsoft.com/office/powerpoint/2012/main" userId="S-1-5-21-1407069837-2091007605-538272213-30032476" providerId="AD"/>
      </p:ext>
    </p:extLst>
  </p:cmAuthor>
  <p:cmAuthor id="2" name="David Mohr" initials="DM" lastIdx="9" clrIdx="1">
    <p:extLst>
      <p:ext uri="{19B8F6BF-5375-455C-9EA6-DF929625EA0E}">
        <p15:presenceInfo xmlns:p15="http://schemas.microsoft.com/office/powerpoint/2012/main" userId="David Mohr" providerId="None"/>
      </p:ext>
    </p:extLst>
  </p:cmAuthor>
  <p:cmAuthor id="3" name="Charrette, Jen" initials="CJ" lastIdx="3" clrIdx="2">
    <p:extLst>
      <p:ext uri="{19B8F6BF-5375-455C-9EA6-DF929625EA0E}">
        <p15:presenceInfo xmlns:p15="http://schemas.microsoft.com/office/powerpoint/2012/main" userId="Charrette, Jen" providerId="None"/>
      </p:ext>
    </p:extLst>
  </p:cmAuthor>
  <p:cmAuthor id="4" name="Harris, Melissa" initials="HM" lastIdx="10" clrIdx="3">
    <p:extLst>
      <p:ext uri="{19B8F6BF-5375-455C-9EA6-DF929625EA0E}">
        <p15:presenceInfo xmlns:p15="http://schemas.microsoft.com/office/powerpoint/2012/main" userId="S-1-5-21-1407069837-2091007605-538272213-2578138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D86613"/>
    <a:srgbClr val="2D75E7"/>
    <a:srgbClr val="16966D"/>
    <a:srgbClr val="4E24A7"/>
    <a:srgbClr val="E817E4"/>
    <a:srgbClr val="FE5496"/>
    <a:srgbClr val="B3EB5B"/>
    <a:srgbClr val="FF9B29"/>
    <a:srgbClr val="535B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35" autoAdjust="0"/>
    <p:restoredTop sz="62628" autoAdjust="0"/>
  </p:normalViewPr>
  <p:slideViewPr>
    <p:cSldViewPr snapToGrid="0" snapToObjects="1" showGuides="1">
      <p:cViewPr varScale="1">
        <p:scale>
          <a:sx n="40" d="100"/>
          <a:sy n="40" d="100"/>
        </p:scale>
        <p:origin x="1566" y="6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60" d="100"/>
        <a:sy n="160" d="100"/>
      </p:scale>
      <p:origin x="0" y="0"/>
    </p:cViewPr>
  </p:sorterViewPr>
  <p:notesViewPr>
    <p:cSldViewPr snapToGrid="0" snapToObjects="1" showGuides="1">
      <p:cViewPr varScale="1">
        <p:scale>
          <a:sx n="84" d="100"/>
          <a:sy n="84" d="100"/>
        </p:scale>
        <p:origin x="3828" y="102"/>
      </p:cViewPr>
      <p:guideLst>
        <p:guide orient="horz" pos="3132"/>
        <p:guide pos="213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A624B0-90F9-634D-B088-BAF914AB736D}"/>
              </a:ext>
            </a:extLst>
          </p:cNvPr>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5550255-9A44-5141-A14B-0AFB2414ADFF}"/>
              </a:ext>
            </a:extLst>
          </p:cNvPr>
          <p:cNvSpPr>
            <a:spLocks noGrp="1"/>
          </p:cNvSpPr>
          <p:nvPr>
            <p:ph type="dt" sz="quarter" idx="1"/>
          </p:nvPr>
        </p:nvSpPr>
        <p:spPr>
          <a:xfrm>
            <a:off x="3829761" y="0"/>
            <a:ext cx="2929837" cy="498852"/>
          </a:xfrm>
          <a:prstGeom prst="rect">
            <a:avLst/>
          </a:prstGeom>
        </p:spPr>
        <p:txBody>
          <a:bodyPr vert="horz" lIns="91440" tIns="45720" rIns="91440" bIns="45720" rtlCol="0"/>
          <a:lstStyle>
            <a:lvl1pPr algn="r">
              <a:defRPr sz="1200"/>
            </a:lvl1pPr>
          </a:lstStyle>
          <a:p>
            <a:fld id="{8E7D4CC6-1AC1-6547-8987-01DDD7392771}" type="datetimeFigureOut">
              <a:rPr lang="en-US" smtClean="0"/>
              <a:t>5/14/2022</a:t>
            </a:fld>
            <a:endParaRPr lang="en-US" dirty="0"/>
          </a:p>
        </p:txBody>
      </p:sp>
      <p:sp>
        <p:nvSpPr>
          <p:cNvPr id="4" name="Footer Placeholder 3">
            <a:extLst>
              <a:ext uri="{FF2B5EF4-FFF2-40B4-BE49-F238E27FC236}">
                <a16:creationId xmlns:a16="http://schemas.microsoft.com/office/drawing/2014/main" id="{D3CB1F18-ED24-9E49-9F0B-B6FD6B22F875}"/>
              </a:ext>
            </a:extLst>
          </p:cNvPr>
          <p:cNvSpPr>
            <a:spLocks noGrp="1"/>
          </p:cNvSpPr>
          <p:nvPr>
            <p:ph type="ftr" sz="quarter" idx="2"/>
          </p:nvPr>
        </p:nvSpPr>
        <p:spPr>
          <a:xfrm>
            <a:off x="0" y="9443662"/>
            <a:ext cx="2929837" cy="498851"/>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245908075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1A01FDFC-8250-AD46-B773-8125051BCCF6}" type="datetimeFigureOut">
              <a:rPr lang="en-US" smtClean="0"/>
              <a:t>5/14/2022</a:t>
            </a:fld>
            <a:endParaRPr lang="en-US" dirty="0"/>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224710507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aws.amazon.com/AmazonCloudWatch/latest/monitoring/AlarmThatSendsEmail.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aws.amazon.com/ec2/autoscaling/"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docs.aws.amazon.com/autoscaling/ec2/userguide/AutoScalingGroup.html"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8" Type="http://schemas.openxmlformats.org/officeDocument/2006/relationships/hyperlink" Target="https://aws.amazon.com/blogs/aws/new-predictive-scaling-for-ec2-powered-by-machine-learning/" TargetMode="External"/><Relationship Id="rId3" Type="http://schemas.openxmlformats.org/officeDocument/2006/relationships/hyperlink" Target="https://docs.aws.amazon.com/autoscaling/ec2/userguide/LaunchConfiguration.html" TargetMode="External"/><Relationship Id="rId7" Type="http://schemas.openxmlformats.org/officeDocument/2006/relationships/hyperlink" Target="https://docs.aws.amazon.com/autoscaling/ec2/userguide/as-scale-based-on-demand.html#as-scaling-types" TargetMode="External"/><Relationship Id="rId2" Type="http://schemas.openxmlformats.org/officeDocument/2006/relationships/slide" Target="../slides/slide27.xml"/><Relationship Id="rId1" Type="http://schemas.openxmlformats.org/officeDocument/2006/relationships/notesMaster" Target="../notesMasters/notesMaster1.xml"/><Relationship Id="rId6" Type="http://schemas.openxmlformats.org/officeDocument/2006/relationships/hyperlink" Target="https://docs.aws.amazon.com/autoscaling/ec2/userguide/as-scale-based-on-demand.html" TargetMode="External"/><Relationship Id="rId5" Type="http://schemas.openxmlformats.org/officeDocument/2006/relationships/hyperlink" Target="https://docs.aws.amazon.com/autoscaling/ec2/userguide/schedule_time.html" TargetMode="External"/><Relationship Id="rId4" Type="http://schemas.openxmlformats.org/officeDocument/2006/relationships/hyperlink" Target="https://docs.aws.amazon.com/autoscaling/ec2/userguide/as-manual-scaling.html" TargetMode="External"/><Relationship Id="rId9" Type="http://schemas.openxmlformats.org/officeDocument/2006/relationships/hyperlink" Target="https://docs.aws.amazon.com/autoscaling/ec2/userguide/scaling_plan.html"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aws.amazon.com/autoscaling/"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Welcom</a:t>
            </a:r>
            <a:r>
              <a:rPr lang="en-US" sz="1100" baseline="0" dirty="0"/>
              <a:t>e to Module 10: Automatic Scaling and Monitoring</a:t>
            </a:r>
            <a:endParaRPr lang="en-US" sz="1100" dirty="0"/>
          </a:p>
        </p:txBody>
      </p:sp>
    </p:spTree>
    <p:extLst>
      <p:ext uri="{BB962C8B-B14F-4D97-AF65-F5344CB8AC3E}">
        <p14:creationId xmlns:p14="http://schemas.microsoft.com/office/powerpoint/2010/main" val="1736860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This module will address the following topics:</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Elastic Load Balancing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solidFill>
                  <a:schemeClr val="tx1"/>
                </a:solidFill>
                <a:effectLst/>
                <a:latin typeface="+mn-lt"/>
                <a:ea typeface="+mn-ea"/>
                <a:cs typeface="+mn-cs"/>
              </a:rPr>
              <a:t>Amazon CloudWatch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solidFill>
                  <a:schemeClr val="tx1"/>
                </a:solidFill>
                <a:effectLst/>
                <a:latin typeface="+mn-lt"/>
                <a:ea typeface="+mn-ea"/>
                <a:cs typeface="+mn-cs"/>
              </a:rPr>
              <a:t>Amazon EC2 Auto Scaling</a:t>
            </a:r>
          </a:p>
          <a:p>
            <a:pPr marL="0" indent="0">
              <a:buFont typeface="Arial" panose="020B0604020202020204" pitchFamily="34" charset="0"/>
              <a:buNone/>
            </a:pP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kern="1200" dirty="0">
                <a:solidFill>
                  <a:schemeClr val="tx1"/>
                </a:solidFill>
                <a:effectLst/>
                <a:latin typeface="+mn-lt"/>
                <a:ea typeface="+mn-ea"/>
                <a:cs typeface="+mn-cs"/>
              </a:rPr>
              <a:t>The module also includes two activities. One activity will challenge you to indicate Elastic Load Balancing use cases. The other activity will challenge you to identify Amazon CloudWatch examples.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kern="1200" dirty="0">
                <a:solidFill>
                  <a:schemeClr val="tx1"/>
                </a:solidFill>
                <a:effectLst/>
                <a:latin typeface="+mn-lt"/>
                <a:ea typeface="+mn-ea"/>
                <a:cs typeface="+mn-cs"/>
              </a:rPr>
              <a:t>The module also includes a hands-on lab where you will use Amazon EC2 Auto Scaling, Elastic Load Balancing, and Amazon CloudWatch together to create a dynamically scalable architecture.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kern="1200" dirty="0">
                <a:solidFill>
                  <a:schemeClr val="tx1"/>
                </a:solidFill>
                <a:effectLst/>
                <a:latin typeface="+mn-lt"/>
                <a:ea typeface="+mn-ea"/>
                <a:cs typeface="+mn-cs"/>
              </a:rPr>
              <a:t>Finally, you will be asked to complete a knowledge check that will test your understanding of key concepts that are covered in this module.</a:t>
            </a:r>
          </a:p>
          <a:p>
            <a:pPr marL="0" indent="0">
              <a:buFont typeface="Arial" panose="020B0604020202020204" pitchFamily="34" charset="0"/>
              <a:buNone/>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317600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After completing this module, you should be able to:</a:t>
            </a:r>
          </a:p>
          <a:p>
            <a:pPr marL="171450" indent="-171450">
              <a:buFont typeface="Arial" panose="020B0604020202020204" pitchFamily="34" charset="0"/>
              <a:buChar char="•"/>
            </a:pPr>
            <a:r>
              <a:rPr lang="en-US" sz="1100" dirty="0">
                <a:latin typeface="+mn-lt"/>
              </a:rPr>
              <a:t>Indicate how to distribute traffic across Amazon Elastic Compute Cloud (Amazon EC2) instances by using Elastic Load Balancing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latin typeface="+mn-lt"/>
              </a:rPr>
              <a:t>Identify how Amazon CloudWatch enables you to monitor AWS resources and applications in real time</a:t>
            </a:r>
          </a:p>
          <a:p>
            <a:pPr marL="171450" indent="-171450">
              <a:buFont typeface="Arial" panose="020B0604020202020204" pitchFamily="34" charset="0"/>
              <a:buChar char="•"/>
            </a:pPr>
            <a:r>
              <a:rPr lang="en-US" sz="1100" dirty="0">
                <a:latin typeface="+mn-lt"/>
              </a:rPr>
              <a:t>Explain how Amazon EC2 Auto Scaling launches and releases servers in response to workload changes</a:t>
            </a:r>
          </a:p>
          <a:p>
            <a:pPr marL="171450" indent="-171450">
              <a:buFont typeface="Arial" panose="020B0604020202020204" pitchFamily="34" charset="0"/>
              <a:buChar char="•"/>
            </a:pPr>
            <a:r>
              <a:rPr lang="en-US" sz="1100" dirty="0">
                <a:latin typeface="+mn-lt"/>
              </a:rPr>
              <a:t>Perform scaling and load balancing tasks to improve an architecture</a:t>
            </a:r>
            <a:endParaRPr lang="en-US" sz="1100" dirty="0"/>
          </a:p>
        </p:txBody>
      </p:sp>
    </p:spTree>
    <p:extLst>
      <p:ext uri="{BB962C8B-B14F-4D97-AF65-F5344CB8AC3E}">
        <p14:creationId xmlns:p14="http://schemas.microsoft.com/office/powerpoint/2010/main" val="345656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Section 1: Elastic Load Balancing</a:t>
            </a:r>
          </a:p>
        </p:txBody>
      </p:sp>
    </p:spTree>
    <p:extLst>
      <p:ext uri="{BB962C8B-B14F-4D97-AF65-F5344CB8AC3E}">
        <p14:creationId xmlns:p14="http://schemas.microsoft.com/office/powerpoint/2010/main" val="1890654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4641675"/>
          </a:xfrm>
        </p:spPr>
        <p:txBody>
          <a:bodyPr/>
          <a:lstStyle/>
          <a:p>
            <a:r>
              <a:rPr lang="en-US" sz="1100" dirty="0"/>
              <a:t>Modern high-traffic websites must serve hundreds of thousands—if not millions—of concurrent requests from users or clients, and then return the correct text, images, video, or application data in a fast and reliable manner. Additional servers are generally required to meet these high volumes.</a:t>
            </a:r>
          </a:p>
          <a:p>
            <a:r>
              <a:rPr lang="en-US" sz="1100" dirty="0"/>
              <a:t> </a:t>
            </a:r>
          </a:p>
          <a:p>
            <a:r>
              <a:rPr lang="en-US" sz="1100" dirty="0"/>
              <a:t>Elastic Load Balancing is an AWS service that distributes incoming application or network traffic across multiple targets—such as Amazon Elastic Compute Cloud (Amazon EC2) instances, containers, internet protocol (IP) addresses, and Lambda functions—in a single Availability Zone or across multiple Availability Zones. Elastic Load Balancing scales your load balancer as traffic to your application changes over time. It can automatically scale to most workloads. </a:t>
            </a:r>
          </a:p>
        </p:txBody>
      </p:sp>
    </p:spTree>
    <p:extLst>
      <p:ext uri="{BB962C8B-B14F-4D97-AF65-F5344CB8AC3E}">
        <p14:creationId xmlns:p14="http://schemas.microsoft.com/office/powerpoint/2010/main" val="3334875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 load balancer accepts incoming traffic from clients and routes requests to its registered targets (such as EC2 instances) in one or more Availability Zones.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r>
              <a:rPr lang="en-US" sz="1100" dirty="0"/>
              <a:t>You configure your load balancer to accept incoming traffic by specifying one or more </a:t>
            </a:r>
            <a:r>
              <a:rPr lang="en-US" sz="1100" i="1" dirty="0"/>
              <a:t>listeners</a:t>
            </a:r>
            <a:r>
              <a:rPr lang="en-US" sz="1100" dirty="0"/>
              <a:t>. A listener is a process that checks for connection requests. It is configured with a protocol and port number for connections from clients to the load balancer. Similarly, it is configured with a protocol and port number for connections from the load balancer to the targets. </a:t>
            </a:r>
          </a:p>
          <a:p>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You can also configure your load balancer to perform </a:t>
            </a:r>
            <a:r>
              <a:rPr lang="en-US" sz="1100" i="1" dirty="0"/>
              <a:t>health checks</a:t>
            </a:r>
            <a:r>
              <a:rPr lang="en-US" sz="1100" dirty="0"/>
              <a:t>, which are used to monitor the health of the registered targets so that the load balancer only sends requests to the healthy instances. When the load balancer detects an unhealthy target, it stops routing traffic to that target. It then resumes routing traffic to that target when it detects that the target is healthy again. </a:t>
            </a:r>
          </a:p>
          <a:p>
            <a:endParaRPr lang="en-US" sz="1100" dirty="0"/>
          </a:p>
          <a:p>
            <a:r>
              <a:rPr lang="en-US" sz="1100" dirty="0"/>
              <a:t>There is a key difference in how the load balancer types are configured. With Application Load Balancers and Network Load Balancers, you register targets in </a:t>
            </a:r>
            <a:r>
              <a:rPr lang="en-US" sz="1100" i="1" dirty="0"/>
              <a:t>target groups</a:t>
            </a:r>
            <a:r>
              <a:rPr lang="en-US" sz="1100" dirty="0"/>
              <a:t>, and route traffic to the target groups. With Classic Load Balancers, you register instances with the load balancer. </a:t>
            </a:r>
          </a:p>
        </p:txBody>
      </p:sp>
    </p:spTree>
    <p:extLst>
      <p:ext uri="{BB962C8B-B14F-4D97-AF65-F5344CB8AC3E}">
        <p14:creationId xmlns:p14="http://schemas.microsoft.com/office/powerpoint/2010/main" val="1444129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4021391"/>
          </a:xfrm>
        </p:spPr>
        <p:txBody>
          <a:bodyPr/>
          <a:lstStyle/>
          <a:p>
            <a:r>
              <a:rPr lang="en-US" sz="1100" dirty="0"/>
              <a:t>You can use the following features to monitor your load balancers, analyze traffic patterns, and troubleshoot issues with your load balancers and targets:</a:t>
            </a:r>
          </a:p>
          <a:p>
            <a:endParaRPr lang="en-US" sz="1100" dirty="0"/>
          </a:p>
          <a:p>
            <a:pPr marL="171450" indent="-171450">
              <a:buFont typeface="Arial" panose="020B0604020202020204" pitchFamily="34" charset="0"/>
              <a:buChar char="•"/>
            </a:pPr>
            <a:r>
              <a:rPr lang="en-US" sz="1100" i="1" dirty="0"/>
              <a:t>Amazon CloudWatch metrics</a:t>
            </a:r>
            <a:r>
              <a:rPr lang="en-US" sz="1100" i="0" baseline="0" dirty="0"/>
              <a:t> –</a:t>
            </a:r>
            <a:r>
              <a:rPr lang="en-US" sz="1100" dirty="0"/>
              <a:t> Elastic Load Balancing publishes data points to </a:t>
            </a:r>
            <a:r>
              <a:rPr lang="en-US" sz="1100" i="0" dirty="0"/>
              <a:t>Amazon CloudWatch </a:t>
            </a:r>
            <a:r>
              <a:rPr lang="en-US" sz="1100" dirty="0"/>
              <a:t>for your load balancers and your targets. CloudWatch enables you to retrieve statistics about those data points as an ordered set of time</a:t>
            </a:r>
            <a:r>
              <a:rPr lang="en-US" sz="1100" baseline="0" dirty="0"/>
              <a:t> </a:t>
            </a:r>
            <a:r>
              <a:rPr lang="en-US" sz="1100" dirty="0"/>
              <a:t>series data, known as </a:t>
            </a:r>
            <a:r>
              <a:rPr lang="en-US" sz="1100" i="0" dirty="0"/>
              <a:t>metrics</a:t>
            </a:r>
            <a:r>
              <a:rPr lang="en-US" sz="1100" dirty="0"/>
              <a:t>. You can use metrics to verify that your system is performing as expected. For example, you can create a CloudWatch alarm to monitor a specified metric and initiate an action (such as sending a notification to an email address) if the metric goes outside what you consider an acceptable range. </a:t>
            </a:r>
          </a:p>
          <a:p>
            <a:endParaRPr lang="en-US" sz="1100" dirty="0"/>
          </a:p>
          <a:p>
            <a:pPr marL="171450" indent="-171450">
              <a:buFont typeface="Arial" panose="020B0604020202020204" pitchFamily="34" charset="0"/>
              <a:buChar char="•"/>
            </a:pPr>
            <a:r>
              <a:rPr lang="en-US" sz="1100" i="1" dirty="0"/>
              <a:t>Access logs</a:t>
            </a:r>
            <a:r>
              <a:rPr lang="en-US" sz="1100" i="0" baseline="0" dirty="0"/>
              <a:t> –</a:t>
            </a:r>
            <a:r>
              <a:rPr lang="en-US" sz="1100" dirty="0"/>
              <a:t> You can use </a:t>
            </a:r>
            <a:r>
              <a:rPr lang="en-US" sz="1100" i="0" dirty="0"/>
              <a:t>access logs </a:t>
            </a:r>
            <a:r>
              <a:rPr lang="en-US" sz="1100" dirty="0"/>
              <a:t>to capture detailed information about the requests that were made to your load balancer and store them as log files in Amazon Simple Storage Service (Amazon S3). You can use these access logs to analyze traffic patterns and to troubleshoot issues with your targets or backend applications.</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i="1" dirty="0"/>
              <a:t>AWS CloudTrail logs</a:t>
            </a:r>
            <a:r>
              <a:rPr lang="en-US" sz="1100" i="0" dirty="0"/>
              <a:t> – </a:t>
            </a:r>
            <a:r>
              <a:rPr lang="en-US" sz="1100" dirty="0"/>
              <a:t>You can use </a:t>
            </a:r>
            <a:r>
              <a:rPr lang="en-US" sz="1100" i="0" dirty="0"/>
              <a:t>AWS CloudTrail </a:t>
            </a:r>
            <a:r>
              <a:rPr lang="en-US" sz="1100" dirty="0"/>
              <a:t>to capture detailed information about the calls that</a:t>
            </a:r>
            <a:r>
              <a:rPr lang="en-US" sz="1100" baseline="0" dirty="0"/>
              <a:t> were </a:t>
            </a:r>
            <a:r>
              <a:rPr lang="en-US" sz="1100" dirty="0"/>
              <a:t>made to the Elastic Load Balancing application programming interface (API) and store them as log files in Amazon S3. You can use these CloudTrail logs to determine who made the call, what calls were made, when the call was made, the source IP address of where the call came from, and so on. </a:t>
            </a:r>
          </a:p>
        </p:txBody>
      </p:sp>
    </p:spTree>
    <p:extLst>
      <p:ext uri="{BB962C8B-B14F-4D97-AF65-F5344CB8AC3E}">
        <p14:creationId xmlns:p14="http://schemas.microsoft.com/office/powerpoint/2010/main" val="826832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rPr>
              <a:t>Some key</a:t>
            </a:r>
            <a:r>
              <a:rPr lang="en-US" sz="1100" baseline="0" dirty="0">
                <a:latin typeface="+mn-lt"/>
              </a:rPr>
              <a:t> takeaways from this section of the module include:</a:t>
            </a:r>
            <a:endParaRPr lang="en-US" sz="1100" dirty="0">
              <a:solidFill>
                <a:srgbClr val="000000"/>
              </a:solidFill>
              <a:latin typeface="+mn-lt"/>
              <a:ea typeface="Amazon Ember" panose="02000000000000000000" pitchFamily="2" charset="0"/>
              <a:cs typeface="Amazon Ember Light" panose="020B0403020204020204" pitchFamily="34" charset="0"/>
            </a:endParaRPr>
          </a:p>
          <a:p>
            <a:pPr marL="171450" indent="-171450">
              <a:buFont typeface="Arial" panose="020B0604020202020204" pitchFamily="34" charset="0"/>
              <a:buChar char="•"/>
            </a:pPr>
            <a:r>
              <a:rPr lang="en-US" sz="1100" dirty="0"/>
              <a:t>Elastic Load Balancing distributes incoming application or network traffic across multiple targets</a:t>
            </a:r>
            <a:r>
              <a:rPr lang="en-US" sz="1100" baseline="0" dirty="0"/>
              <a:t> (</a:t>
            </a:r>
            <a:r>
              <a:rPr lang="en-US" sz="1100" dirty="0"/>
              <a:t>such as Amazon EC2 instances, containers, IP addresses, and Lambda functions) in one or more Availability Zones.</a:t>
            </a:r>
          </a:p>
          <a:p>
            <a:pPr marL="171450" indent="-171450">
              <a:buFont typeface="Arial" panose="020B0604020202020204" pitchFamily="34" charset="0"/>
              <a:buChar char="•"/>
            </a:pPr>
            <a:r>
              <a:rPr lang="en-US" sz="1100" dirty="0"/>
              <a:t>Elastic Load Balancing supports three types of load balancers: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t>Application Load Balancer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t>Network Load Balancer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t>Classic Load Balancer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t>Elastic Load Balancing offers several monitoring tools for continuous monitoring and logging for auditing and analytics.</a:t>
            </a:r>
          </a:p>
        </p:txBody>
      </p:sp>
    </p:spTree>
    <p:extLst>
      <p:ext uri="{BB962C8B-B14F-4D97-AF65-F5344CB8AC3E}">
        <p14:creationId xmlns:p14="http://schemas.microsoft.com/office/powerpoint/2010/main" val="175299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Section 2: Amazon CloudWatch</a:t>
            </a:r>
          </a:p>
        </p:txBody>
      </p:sp>
    </p:spTree>
    <p:extLst>
      <p:ext uri="{BB962C8B-B14F-4D97-AF65-F5344CB8AC3E}">
        <p14:creationId xmlns:p14="http://schemas.microsoft.com/office/powerpoint/2010/main" val="1892534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To use AWS efficiently, you need insight into your AWS resources. </a:t>
            </a:r>
          </a:p>
          <a:p>
            <a:endParaRPr lang="en-US" sz="1100" dirty="0"/>
          </a:p>
          <a:p>
            <a:r>
              <a:rPr lang="en-US" sz="1100" dirty="0"/>
              <a:t>For example, you might want to know:</a:t>
            </a:r>
          </a:p>
          <a:p>
            <a:pPr marL="171450" indent="-171450">
              <a:buFont typeface="Arial" panose="020B0604020202020204" pitchFamily="34" charset="0"/>
              <a:buChar char="•"/>
            </a:pPr>
            <a:r>
              <a:rPr lang="en-US" sz="1100" dirty="0"/>
              <a:t>When you should launch more Amazon EC2 instances?</a:t>
            </a:r>
          </a:p>
          <a:p>
            <a:pPr marL="171450" indent="-171450">
              <a:buFont typeface="Arial" panose="020B0604020202020204" pitchFamily="34" charset="0"/>
              <a:buChar char="•"/>
            </a:pPr>
            <a:r>
              <a:rPr lang="en-US" sz="1100" dirty="0"/>
              <a:t>If your application’s performance or availability is being affected by a lack of sufficient capacity?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t>How much of your infrastructure is actually being used?</a:t>
            </a:r>
          </a:p>
          <a:p>
            <a:pPr marL="171450" indent="-171450">
              <a:buFont typeface="Arial" panose="020B0604020202020204" pitchFamily="34" charset="0"/>
              <a:buChar char="•"/>
            </a:pPr>
            <a:endParaRPr lang="en-US" sz="1100" dirty="0"/>
          </a:p>
          <a:p>
            <a:r>
              <a:rPr lang="en-US" sz="1100" dirty="0"/>
              <a:t>How do you capture this information?</a:t>
            </a:r>
            <a:endParaRPr lang="en-US" sz="1100" b="0" i="0" kern="1200" dirty="0">
              <a:solidFill>
                <a:schemeClr val="tx1"/>
              </a:solidFill>
              <a:effectLst/>
            </a:endParaRPr>
          </a:p>
        </p:txBody>
      </p:sp>
    </p:spTree>
    <p:extLst>
      <p:ext uri="{BB962C8B-B14F-4D97-AF65-F5344CB8AC3E}">
        <p14:creationId xmlns:p14="http://schemas.microsoft.com/office/powerpoint/2010/main" val="533202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467475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You can capture this information with Amazon CloudWatch.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effectLst/>
              <a:latin typeface="+mn-lt"/>
              <a:ea typeface="+mn-ea"/>
              <a:cs typeface="+mn-cs"/>
            </a:endParaRPr>
          </a:p>
          <a:p>
            <a:r>
              <a:rPr lang="en-US" sz="1100" dirty="0"/>
              <a:t>Amazon CloudWatch is a monitoring and observability service that is built for DevOps engineers, developers, site reliability engineers (SRE), and IT managers. CloudWatch monitors your AWS resources (and the </a:t>
            </a:r>
            <a:r>
              <a:rPr lang="en-US" sz="1100" dirty="0">
                <a:solidFill>
                  <a:srgbClr val="000000"/>
                </a:solidFill>
              </a:rPr>
              <a:t>applications</a:t>
            </a:r>
            <a:r>
              <a:rPr lang="en-US" sz="1100" dirty="0"/>
              <a:t> that you run on AWS) in real time. You can use CloudWatch to collect and track metrics, which are variables that you can measure for your resources and </a:t>
            </a:r>
            <a:r>
              <a:rPr lang="en-US" sz="1100" dirty="0">
                <a:solidFill>
                  <a:srgbClr val="000000"/>
                </a:solidFill>
              </a:rPr>
              <a:t>applications</a:t>
            </a:r>
            <a:r>
              <a:rPr lang="en-US" sz="1100" dirty="0"/>
              <a:t>. </a:t>
            </a:r>
          </a:p>
          <a:p>
            <a:endParaRPr lang="en-US" sz="1100" dirty="0"/>
          </a:p>
          <a:p>
            <a:r>
              <a:rPr lang="en-US" sz="1100" dirty="0"/>
              <a:t>You can create an alarm to monitor any Amazon CloudWatch metric in your account and use the alarm to automatically send a notification to an Amazon Simple Notification Service (Amazon SNS) topic or perform an Amazon EC2 Auto Scaling or Amazon</a:t>
            </a:r>
            <a:r>
              <a:rPr lang="en-US" sz="1100" baseline="0" dirty="0"/>
              <a:t> </a:t>
            </a:r>
            <a:r>
              <a:rPr lang="en-US" sz="1100" dirty="0"/>
              <a:t>EC2 action. For example, you can create alarms on the CPU utilization of an EC2 instance, Elastic Load Balancing request latency, Amazon DynamoDB table throughput, Amazon Simple Queue Service (Amazon SQS) queue length, or even the charges on your AWS bill. You can also create an alarm on custom metrics that are specific to your custom applications or infrastructure.</a:t>
            </a:r>
          </a:p>
          <a:p>
            <a:endParaRPr lang="en-US" sz="1100" dirty="0"/>
          </a:p>
          <a:p>
            <a:r>
              <a:rPr lang="en-US" sz="1100" dirty="0"/>
              <a:t>You can also use Amazon CloudWatch Events to define rules that match incoming events (or changes in your AWS environment) and route them to targets for processing. Targets can include Amazon EC2 instances, AWS Lambda functions, Kinesis streams, Amazon ECS tasks, Step Functions state machines, Amazon SNS topics, Amazon SQS queues, and built-in targets. CloudWatch Events becomes aware of operational changes as they occur. CloudWatch Events responds to these operational changes and takes corrective action as necessary, by sending messages to respond to the environment, activating functions, making changes, and capturing state information. </a:t>
            </a:r>
          </a:p>
          <a:p>
            <a:endParaRPr lang="en-US" sz="1100" dirty="0"/>
          </a:p>
          <a:p>
            <a:r>
              <a:rPr lang="en-US" sz="1100" dirty="0"/>
              <a:t>With CloudWatch, you gain system-wide visibility into resource utilization, </a:t>
            </a:r>
            <a:r>
              <a:rPr lang="en-US" sz="1100" dirty="0">
                <a:solidFill>
                  <a:srgbClr val="000000"/>
                </a:solidFill>
              </a:rPr>
              <a:t>application</a:t>
            </a:r>
            <a:r>
              <a:rPr lang="en-US" sz="1100" dirty="0"/>
              <a:t> performance, and operational health. There is no upfront commitment or minimum fee; you </a:t>
            </a:r>
            <a:r>
              <a:rPr lang="en-US" sz="1100" dirty="0">
                <a:solidFill>
                  <a:srgbClr val="000000"/>
                </a:solidFill>
              </a:rPr>
              <a:t>simply</a:t>
            </a:r>
            <a:r>
              <a:rPr lang="en-US" sz="1100" dirty="0"/>
              <a:t> pay for what you use. You </a:t>
            </a:r>
            <a:r>
              <a:rPr lang="en-US" sz="1100" dirty="0">
                <a:solidFill>
                  <a:srgbClr val="000000"/>
                </a:solidFill>
              </a:rPr>
              <a:t>are charged</a:t>
            </a:r>
            <a:r>
              <a:rPr lang="en-US" sz="1100" dirty="0"/>
              <a:t> at the end of the month for what you use.</a:t>
            </a:r>
          </a:p>
        </p:txBody>
      </p:sp>
    </p:spTree>
    <p:extLst>
      <p:ext uri="{BB962C8B-B14F-4D97-AF65-F5344CB8AC3E}">
        <p14:creationId xmlns:p14="http://schemas.microsoft.com/office/powerpoint/2010/main" val="38851644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4518517"/>
          </a:xfrm>
        </p:spPr>
        <p:txBody>
          <a:bodyPr/>
          <a:lstStyle/>
          <a:p>
            <a:r>
              <a:rPr lang="en-US" sz="1100" dirty="0"/>
              <a:t>You can create a CloudWatch alarm that watches a single CloudWatch metric or the result of a math expression based on CloudWatch metrics. You can create a CloudWatch alarm based on a static threshold, anomaly detection, or a metric math expression.</a:t>
            </a:r>
          </a:p>
          <a:p>
            <a:endParaRPr lang="en-US" sz="1100" dirty="0"/>
          </a:p>
          <a:p>
            <a:r>
              <a:rPr lang="en-US" sz="1100" dirty="0"/>
              <a:t>When you create an alarm based on a static threshold, you choose a CloudWatch metric for the alarm to watch and the threshold for that metric. The alarm goes to ALARM state when the metric breaches the threshold for a specified number of evaluation periods. </a:t>
            </a:r>
          </a:p>
          <a:p>
            <a:endParaRPr lang="en-US" sz="1100" dirty="0"/>
          </a:p>
          <a:p>
            <a:r>
              <a:rPr lang="en-US" sz="1100" dirty="0"/>
              <a:t>For an alarm based on a static threshold, you must specify the:</a:t>
            </a:r>
          </a:p>
          <a:p>
            <a:pPr marL="171450" indent="-171450">
              <a:buFont typeface="Arial" panose="020B0604020202020204" pitchFamily="34" charset="0"/>
              <a:buChar char="•"/>
            </a:pPr>
            <a:r>
              <a:rPr lang="en-US" sz="1100" i="1" dirty="0"/>
              <a:t>Namespace</a:t>
            </a:r>
            <a:r>
              <a:rPr lang="en-US" sz="1100" i="0" baseline="0" dirty="0"/>
              <a:t> –</a:t>
            </a:r>
            <a:r>
              <a:rPr lang="en-US" sz="1100" dirty="0"/>
              <a:t> A namespace contains the CloudWatch metric that you want, for example, </a:t>
            </a:r>
            <a:r>
              <a:rPr lang="en-US" sz="1100" i="1" dirty="0"/>
              <a:t>AWS/EC2</a:t>
            </a:r>
            <a:r>
              <a:rPr lang="en-US" sz="1100" dirty="0"/>
              <a:t>.</a:t>
            </a:r>
          </a:p>
          <a:p>
            <a:pPr marL="171450" indent="-171450">
              <a:buFont typeface="Arial" panose="020B0604020202020204" pitchFamily="34" charset="0"/>
              <a:buChar char="•"/>
            </a:pPr>
            <a:r>
              <a:rPr lang="en-US" sz="1100" i="1" dirty="0"/>
              <a:t>Metric</a:t>
            </a:r>
            <a:r>
              <a:rPr lang="en-US" sz="1100" i="0" baseline="0" dirty="0"/>
              <a:t> –</a:t>
            </a:r>
            <a:r>
              <a:rPr lang="en-US" sz="1100" dirty="0"/>
              <a:t> A metric is the variable you want to measure, for example, </a:t>
            </a:r>
            <a:r>
              <a:rPr lang="en-US" sz="1100" i="1" dirty="0"/>
              <a:t>CPU Utilization</a:t>
            </a:r>
            <a:r>
              <a:rPr lang="en-US" sz="1100" dirty="0"/>
              <a:t>.</a:t>
            </a:r>
          </a:p>
          <a:p>
            <a:pPr marL="171450" indent="-171450">
              <a:buFont typeface="Arial" panose="020B0604020202020204" pitchFamily="34" charset="0"/>
              <a:buChar char="•"/>
            </a:pPr>
            <a:r>
              <a:rPr lang="en-US" sz="1100" i="1" dirty="0"/>
              <a:t>Statistic</a:t>
            </a:r>
            <a:r>
              <a:rPr lang="en-US" sz="1100" i="0" baseline="0" dirty="0"/>
              <a:t> – </a:t>
            </a:r>
            <a:r>
              <a:rPr lang="en-US" sz="1100" dirty="0"/>
              <a:t>A statistic can be an average, sum, minimum, maximum, sample count, a predefined percentile, or a custom percentile.</a:t>
            </a:r>
          </a:p>
          <a:p>
            <a:pPr marL="171450" indent="-171450">
              <a:buFont typeface="Arial" panose="020B0604020202020204" pitchFamily="34" charset="0"/>
              <a:buChar char="•"/>
            </a:pPr>
            <a:r>
              <a:rPr lang="en-US" sz="1100" i="1" dirty="0"/>
              <a:t>Period</a:t>
            </a:r>
            <a:r>
              <a:rPr lang="en-US" sz="1100" i="0" baseline="0" dirty="0"/>
              <a:t> –</a:t>
            </a:r>
            <a:r>
              <a:rPr lang="en-US" sz="1100" dirty="0"/>
              <a:t> A period is the evaluation period for the alarm. When the alarm is evaluated, each period is aggregated into one data point.</a:t>
            </a:r>
          </a:p>
          <a:p>
            <a:pPr marL="171450" indent="-171450">
              <a:buFont typeface="Arial" panose="020B0604020202020204" pitchFamily="34" charset="0"/>
              <a:buChar char="•"/>
            </a:pPr>
            <a:r>
              <a:rPr lang="en-US" sz="1100" i="1" dirty="0"/>
              <a:t>Conditions</a:t>
            </a:r>
            <a:r>
              <a:rPr lang="en-US" sz="1100" i="0" baseline="0" dirty="0"/>
              <a:t> –</a:t>
            </a:r>
            <a:r>
              <a:rPr lang="en-US" sz="1100" dirty="0"/>
              <a:t> When you specify the conditions for a static threshold, you specify whenever the metric is </a:t>
            </a:r>
            <a:r>
              <a:rPr lang="en-US" sz="1100" i="1" dirty="0"/>
              <a:t>Greater</a:t>
            </a:r>
            <a:r>
              <a:rPr lang="en-US" sz="1100" dirty="0"/>
              <a:t>, </a:t>
            </a:r>
            <a:r>
              <a:rPr lang="en-US" sz="1100" i="1" dirty="0"/>
              <a:t>Greater or Equal</a:t>
            </a:r>
            <a:r>
              <a:rPr lang="en-US" sz="1100" dirty="0"/>
              <a:t>, </a:t>
            </a:r>
            <a:r>
              <a:rPr lang="en-US" sz="1100" i="1" dirty="0"/>
              <a:t>Lower or Equal</a:t>
            </a:r>
            <a:r>
              <a:rPr lang="en-US" sz="1100" dirty="0"/>
              <a:t>, or </a:t>
            </a:r>
            <a:r>
              <a:rPr lang="en-US" sz="1100" i="1" dirty="0"/>
              <a:t>Lower</a:t>
            </a:r>
            <a:r>
              <a:rPr lang="en-US" sz="1100" i="0" dirty="0"/>
              <a:t> than the threshold value, and you also specify the threshold value.</a:t>
            </a:r>
          </a:p>
          <a:p>
            <a:pPr marL="171450" indent="-171450">
              <a:buFont typeface="Arial" panose="020B0604020202020204" pitchFamily="34" charset="0"/>
              <a:buChar char="•"/>
            </a:pPr>
            <a:r>
              <a:rPr lang="en-US" sz="1100" i="1" dirty="0"/>
              <a:t>Additional configuration information</a:t>
            </a:r>
            <a:r>
              <a:rPr lang="en-US" sz="1100" i="1" baseline="0" dirty="0"/>
              <a:t> – </a:t>
            </a:r>
            <a:r>
              <a:rPr lang="en-US" sz="1100" dirty="0"/>
              <a:t>This includes the number of data points within the evaluation period that must be breached to trigger the alarm, and how CloudWatch should treat missing data when it evaluates the alarm.</a:t>
            </a:r>
          </a:p>
          <a:p>
            <a:pPr marL="171450" indent="-171450">
              <a:buFont typeface="Arial" panose="020B0604020202020204" pitchFamily="34" charset="0"/>
              <a:buChar char="•"/>
            </a:pPr>
            <a:r>
              <a:rPr lang="en-US" sz="1100" i="1" dirty="0"/>
              <a:t>Actions</a:t>
            </a:r>
            <a:r>
              <a:rPr lang="en-US" sz="1100" i="0" baseline="0" dirty="0"/>
              <a:t> –</a:t>
            </a:r>
            <a:r>
              <a:rPr lang="en-US" sz="1100" dirty="0"/>
              <a:t> You can choose to send a notification to an Amazon SNS topic, or to perform an Amazon EC2 Auto Scaling action or Amazon EC2 action.</a:t>
            </a:r>
          </a:p>
          <a:p>
            <a:pPr marL="0" indent="0">
              <a:buFont typeface="Arial" panose="020B0604020202020204" pitchFamily="34" charset="0"/>
              <a:buNone/>
            </a:pPr>
            <a:endParaRPr lang="en-US" sz="11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dirty="0"/>
              <a:t>For more information on creating CloudWatch alarms, see the topics under </a:t>
            </a:r>
            <a:r>
              <a:rPr lang="en-US" sz="1100" dirty="0">
                <a:ea typeface="Amazon Ember Light" panose="020B0403020204020204" pitchFamily="34" charset="0"/>
                <a:cs typeface="Amazon Ember Light" panose="020B0403020204020204" pitchFamily="34" charset="0"/>
                <a:hlinkClick r:id="rId3"/>
              </a:rPr>
              <a:t>Using Alarms</a:t>
            </a:r>
            <a:r>
              <a:rPr lang="en-US" sz="1100" dirty="0">
                <a:ea typeface="Amazon Ember Light" panose="020B0403020204020204" pitchFamily="34" charset="0"/>
                <a:cs typeface="Amazon Ember Light" panose="020B0403020204020204" pitchFamily="34" charset="0"/>
              </a:rPr>
              <a:t> </a:t>
            </a:r>
            <a:r>
              <a:rPr lang="en-US" sz="1100" dirty="0"/>
              <a:t>in the AWS Documentation.</a:t>
            </a:r>
          </a:p>
        </p:txBody>
      </p:sp>
    </p:spTree>
    <p:extLst>
      <p:ext uri="{BB962C8B-B14F-4D97-AF65-F5344CB8AC3E}">
        <p14:creationId xmlns:p14="http://schemas.microsoft.com/office/powerpoint/2010/main" val="37916183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For this activity, see if you can identify which</a:t>
            </a:r>
            <a:r>
              <a:rPr lang="en-US" sz="1100" baseline="0" dirty="0"/>
              <a:t> </a:t>
            </a:r>
            <a:r>
              <a:rPr lang="en-US" sz="1100" dirty="0"/>
              <a:t>are correct CloudWatch alarms. For the ones that are incorrect, see if you can identify the error.</a:t>
            </a:r>
          </a:p>
        </p:txBody>
      </p:sp>
    </p:spTree>
    <p:extLst>
      <p:ext uri="{BB962C8B-B14F-4D97-AF65-F5344CB8AC3E}">
        <p14:creationId xmlns:p14="http://schemas.microsoft.com/office/powerpoint/2010/main" val="1795718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rPr>
              <a:t>Some key</a:t>
            </a:r>
            <a:r>
              <a:rPr lang="en-US" sz="1100" baseline="0" dirty="0">
                <a:latin typeface="+mn-lt"/>
              </a:rPr>
              <a:t> takeaways from this section of the module include:</a:t>
            </a:r>
            <a:endParaRPr lang="en-US" sz="1100" dirty="0">
              <a:solidFill>
                <a:srgbClr val="000000"/>
              </a:solidFill>
              <a:latin typeface="+mn-lt"/>
              <a:ea typeface="Amazon Ember" panose="02000000000000000000" pitchFamily="2" charset="0"/>
              <a:cs typeface="Amazon Ember Light" panose="020B0403020204020204" pitchFamily="34" charset="0"/>
            </a:endParaRPr>
          </a:p>
          <a:p>
            <a:pPr marL="171450" indent="-171450">
              <a:buFont typeface="Arial" panose="020B0604020202020204" pitchFamily="34" charset="0"/>
              <a:buChar char="•"/>
            </a:pPr>
            <a:r>
              <a:rPr lang="en-US" sz="1100" dirty="0"/>
              <a:t>Amazon CloudWatch helps you monitor your AWS resources—and the applications that you run on AWS—in real time.</a:t>
            </a:r>
          </a:p>
          <a:p>
            <a:pPr marL="171450" indent="-171450">
              <a:buFont typeface="Arial" panose="020B0604020202020204" pitchFamily="34" charset="0"/>
              <a:buChar char="•"/>
            </a:pPr>
            <a:r>
              <a:rPr lang="en-US" sz="1100" dirty="0"/>
              <a:t>CloudWatch enables you</a:t>
            </a:r>
            <a:r>
              <a:rPr lang="en-US" sz="1100" baseline="0" dirty="0"/>
              <a:t> to – </a:t>
            </a:r>
            <a:endParaRPr lang="en-US" sz="1100" dirty="0"/>
          </a:p>
          <a:p>
            <a:pPr marL="628650" lvl="1" indent="-171450">
              <a:buFont typeface="Arial" panose="020B0604020202020204" pitchFamily="34" charset="0"/>
              <a:buChar char="•"/>
            </a:pPr>
            <a:r>
              <a:rPr lang="en-US" sz="1100" dirty="0"/>
              <a:t>Collect and track standard and custom metrics.</a:t>
            </a:r>
          </a:p>
          <a:p>
            <a:pPr marL="628650" lvl="1" indent="-171450">
              <a:buFont typeface="Arial" panose="020B0604020202020204" pitchFamily="34" charset="0"/>
              <a:buChar char="•"/>
            </a:pPr>
            <a:r>
              <a:rPr lang="en-US" sz="1100" dirty="0"/>
              <a:t>Set alarms to automatically send notifications to SNS topics or perform Amazon EC2 Auto Scaling or Amazon EC2 actions based on the value of the metric or expression relative to a threshold over a number of time periods.</a:t>
            </a:r>
          </a:p>
          <a:p>
            <a:pPr marL="628650" lvl="1" indent="-171450">
              <a:buFont typeface="Arial" panose="020B0604020202020204" pitchFamily="34" charset="0"/>
              <a:buChar char="•"/>
            </a:pPr>
            <a:r>
              <a:rPr lang="en-US" sz="1100" dirty="0"/>
              <a:t>Define rules that match changes in your AWS environment and route these events to targets for processing.</a:t>
            </a:r>
          </a:p>
        </p:txBody>
      </p:sp>
    </p:spTree>
    <p:extLst>
      <p:ext uri="{BB962C8B-B14F-4D97-AF65-F5344CB8AC3E}">
        <p14:creationId xmlns:p14="http://schemas.microsoft.com/office/powerpoint/2010/main" val="19099576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Section 3: Amazon EC2 Auto Scaling</a:t>
            </a:r>
          </a:p>
          <a:p>
            <a:endParaRPr lang="en-US" sz="1100" dirty="0"/>
          </a:p>
          <a:p>
            <a:r>
              <a:rPr lang="en-US" sz="1100" kern="1200" dirty="0">
                <a:solidFill>
                  <a:schemeClr val="tx1"/>
                </a:solidFill>
                <a:effectLst/>
                <a:latin typeface="+mn-lt"/>
                <a:ea typeface="+mn-ea"/>
                <a:cs typeface="+mn-cs"/>
              </a:rPr>
              <a:t>When you run your applications on AWS, you want to ensure that your architecture can scale to handle changes in demand. In this section, you will learn how to automatically scale your EC2 instances with Amazon EC2 Auto Scaling.</a:t>
            </a:r>
            <a:endParaRPr lang="en-US" sz="1100" dirty="0"/>
          </a:p>
        </p:txBody>
      </p:sp>
    </p:spTree>
    <p:extLst>
      <p:ext uri="{BB962C8B-B14F-4D97-AF65-F5344CB8AC3E}">
        <p14:creationId xmlns:p14="http://schemas.microsoft.com/office/powerpoint/2010/main" val="41833208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21194" y="4958830"/>
            <a:ext cx="5408931" cy="4108461"/>
          </a:xfrm>
        </p:spPr>
        <p:txBody>
          <a:bodyPr/>
          <a:lstStyle/>
          <a:p>
            <a:pPr>
              <a:lnSpc>
                <a:spcPct val="115000"/>
              </a:lnSpc>
              <a:spcAft>
                <a:spcPts val="964"/>
              </a:spcAft>
            </a:pPr>
            <a:r>
              <a:rPr lang="en-US" sz="1100" b="0" dirty="0">
                <a:latin typeface="+mn-lt"/>
                <a:cs typeface="Arial"/>
              </a:rPr>
              <a:t>Scaling is the ability to increase or decrease the compute capacity of your application. To understand why scaling is important, consider this example of a workload that has varying </a:t>
            </a:r>
            <a:r>
              <a:rPr lang="en-US" sz="1100" kern="1200" dirty="0">
                <a:solidFill>
                  <a:schemeClr val="tx1"/>
                </a:solidFill>
                <a:effectLst/>
                <a:latin typeface="+mn-lt"/>
                <a:ea typeface="+mn-ea"/>
                <a:cs typeface="+mn-cs"/>
              </a:rPr>
              <a:t>resource requirements. In this example, the most resource capacity is required on Wednesday, and the least resource capacity is required on Sunday. </a:t>
            </a:r>
          </a:p>
          <a:p>
            <a:pPr>
              <a:lnSpc>
                <a:spcPct val="115000"/>
              </a:lnSpc>
              <a:spcAft>
                <a:spcPts val="964"/>
              </a:spcAft>
            </a:pPr>
            <a:r>
              <a:rPr lang="en-US" sz="1100" kern="1200" dirty="0">
                <a:solidFill>
                  <a:schemeClr val="tx1"/>
                </a:solidFill>
                <a:effectLst/>
                <a:latin typeface="+mn-lt"/>
                <a:ea typeface="+mn-ea"/>
                <a:cs typeface="+mn-cs"/>
              </a:rPr>
              <a:t>One option is to allocate more than enough capacity so you</a:t>
            </a:r>
            <a:r>
              <a:rPr lang="en-US" sz="1100" kern="1200" baseline="0" dirty="0">
                <a:solidFill>
                  <a:schemeClr val="tx1"/>
                </a:solidFill>
                <a:effectLst/>
                <a:latin typeface="+mn-lt"/>
                <a:ea typeface="+mn-ea"/>
                <a:cs typeface="+mn-cs"/>
              </a:rPr>
              <a:t> can always </a:t>
            </a:r>
            <a:r>
              <a:rPr lang="en-US" sz="1100" kern="1200" dirty="0">
                <a:solidFill>
                  <a:schemeClr val="tx1"/>
                </a:solidFill>
                <a:effectLst/>
                <a:latin typeface="+mn-lt"/>
                <a:ea typeface="+mn-ea"/>
                <a:cs typeface="+mn-cs"/>
              </a:rPr>
              <a:t>meet your highest demand—in this case, Wednesday. However, this situation means that you are running resources that will be underutilized most days of the week. With this option, your costs are not optimized.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Another option is to allocate less capacity to reduce costs. This situation means that you are under capacity on certain days. If you don't solve your capacity problem, your application could underperform or potentially even become unavailable for users. </a:t>
            </a:r>
            <a:endParaRPr lang="en-US" sz="1100" b="0" dirty="0">
              <a:latin typeface="+mn-lt"/>
              <a:cs typeface="Arial"/>
            </a:endParaRPr>
          </a:p>
        </p:txBody>
      </p:sp>
    </p:spTree>
    <p:extLst>
      <p:ext uri="{BB962C8B-B14F-4D97-AF65-F5344CB8AC3E}">
        <p14:creationId xmlns:p14="http://schemas.microsoft.com/office/powerpoint/2010/main" val="19067365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21194" y="4958830"/>
            <a:ext cx="5408931" cy="4108461"/>
          </a:xfrm>
        </p:spPr>
        <p:txBody>
          <a:bodyPr/>
          <a:lstStyle/>
          <a:p>
            <a:pPr>
              <a:lnSpc>
                <a:spcPct val="115000"/>
              </a:lnSpc>
              <a:spcAft>
                <a:spcPts val="964"/>
              </a:spcAft>
            </a:pPr>
            <a:r>
              <a:rPr lang="en-US" sz="1100" b="0" dirty="0">
                <a:cs typeface="Arial"/>
              </a:rPr>
              <a:t>In the cloud, because computing power is a programmatic resource,</a:t>
            </a:r>
            <a:r>
              <a:rPr lang="en-US" sz="1100" b="0" baseline="0" dirty="0">
                <a:cs typeface="Arial"/>
              </a:rPr>
              <a:t> you can take a flexible approach to scaling. </a:t>
            </a:r>
            <a:r>
              <a:rPr lang="en-US" sz="1100" dirty="0"/>
              <a:t>Amazon EC2 Auto Scaling is an AWS service that helps you maintain application availability and enables you to automatically add or remove EC2 instances according to conditions you define. You can use the fleet management features of EC2 Auto Scaling to maintain the health and availability of your fleet. </a:t>
            </a:r>
          </a:p>
          <a:p>
            <a:pPr>
              <a:lnSpc>
                <a:spcPct val="115000"/>
              </a:lnSpc>
              <a:spcAft>
                <a:spcPts val="964"/>
              </a:spcAft>
            </a:pPr>
            <a:r>
              <a:rPr lang="en-US" sz="1100" dirty="0"/>
              <a:t>Amazon EC2 Auto Scaling provides several ways to adjust scaling to best meet the needs of your applications. You can add or remove EC2 instances manually, on a schedule, in response to changing demand, or in combination with AWS Auto Scaling for predictive scaling. Dynamic scaling and predictive scaling can be used together to scale faster. </a:t>
            </a:r>
          </a:p>
          <a:p>
            <a:pPr marL="0" marR="0" lvl="0" indent="0" algn="l" defTabSz="914400" rtl="0" eaLnBrk="1" fontAlgn="auto" latinLnBrk="0" hangingPunct="1">
              <a:lnSpc>
                <a:spcPct val="115000"/>
              </a:lnSpc>
              <a:spcBef>
                <a:spcPts val="0"/>
              </a:spcBef>
              <a:spcAft>
                <a:spcPts val="964"/>
              </a:spcAft>
              <a:buClrTx/>
              <a:buSzTx/>
              <a:buFontTx/>
              <a:buNone/>
              <a:tabLst/>
              <a:defRPr/>
            </a:pPr>
            <a:r>
              <a:rPr lang="en-US" sz="1100" b="0" dirty="0">
                <a:cs typeface="Arial"/>
              </a:rPr>
              <a:t>To learn more about Amazon EC2 Auto Scaling, see the </a:t>
            </a:r>
            <a:r>
              <a:rPr lang="en-US" sz="1100" dirty="0">
                <a:ea typeface="Amazon Ember Light" panose="020B0403020204020204" pitchFamily="34" charset="0"/>
                <a:cs typeface="Amazon Ember Light" panose="020B0403020204020204" pitchFamily="34" charset="0"/>
                <a:hlinkClick r:id="rId3"/>
              </a:rPr>
              <a:t>Amazon EC2 Auto Scaling</a:t>
            </a:r>
            <a:r>
              <a:rPr lang="en-US" sz="1100" b="0" dirty="0">
                <a:ea typeface="Amazon Ember Light" panose="020B0403020204020204" pitchFamily="34" charset="0"/>
                <a:cs typeface="Arial"/>
              </a:rPr>
              <a:t> product page.</a:t>
            </a:r>
            <a:endParaRPr lang="en-US" sz="1100" dirty="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25883148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dirty="0"/>
              <a:t>Automatic scaling is useful for predictable workloads—for example, </a:t>
            </a:r>
            <a:r>
              <a:rPr lang="en-US" sz="1100" b="0" baseline="0" dirty="0"/>
              <a:t>the weekly traffic at the retail company Amazon.com. </a:t>
            </a:r>
            <a:endParaRPr lang="en-US" sz="1100" b="1" dirty="0"/>
          </a:p>
        </p:txBody>
      </p:sp>
    </p:spTree>
    <p:extLst>
      <p:ext uri="{BB962C8B-B14F-4D97-AF65-F5344CB8AC3E}">
        <p14:creationId xmlns:p14="http://schemas.microsoft.com/office/powerpoint/2010/main" val="21463471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dirty="0"/>
              <a:t>Automatic scaling is also useful for dynamic on-demand scaling. Amazon</a:t>
            </a:r>
            <a:r>
              <a:rPr lang="en-US" sz="1100" b="0" baseline="0" dirty="0"/>
              <a:t>.com </a:t>
            </a:r>
            <a:r>
              <a:rPr lang="en-US" sz="1100" dirty="0"/>
              <a:t>experiences a </a:t>
            </a:r>
            <a:r>
              <a:rPr lang="en-US" sz="1100" b="0" baseline="0" dirty="0"/>
              <a:t>seasonal peak in traffic in November (on Black Friday and Cyber Monday, which are days at the end of November when US retailers hold major sales). If Amazon provisions a fixed capacity to accommodate the highest use, 76 percent of the resources are idle for most of the year. Capacity scaling is necessary to support the fluctuating demands for service. Without scaling, the servers could crash due to saturation, and the business would lose customer confidence.</a:t>
            </a:r>
            <a:endParaRPr lang="en-US" sz="1100" b="1" dirty="0"/>
          </a:p>
        </p:txBody>
      </p:sp>
    </p:spTree>
    <p:extLst>
      <p:ext uri="{BB962C8B-B14F-4D97-AF65-F5344CB8AC3E}">
        <p14:creationId xmlns:p14="http://schemas.microsoft.com/office/powerpoint/2010/main" val="13214041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ea typeface="+mn-ea"/>
                <a:cs typeface="+mn-cs"/>
              </a:rPr>
              <a:t>An </a:t>
            </a:r>
            <a:r>
              <a:rPr lang="en-US" sz="1100" dirty="0">
                <a:ea typeface="Amazon Ember Light" panose="020B0403020204020204" pitchFamily="34" charset="0"/>
                <a:cs typeface="Amazon Ember Light" panose="020B0403020204020204" pitchFamily="34" charset="0"/>
                <a:hlinkClick r:id="rId3"/>
              </a:rPr>
              <a:t>Auto Scaling group</a:t>
            </a:r>
            <a:r>
              <a:rPr lang="en-US" sz="1100" kern="1200" dirty="0">
                <a:solidFill>
                  <a:schemeClr val="tx1"/>
                </a:solidFill>
                <a:effectLst/>
                <a:ea typeface="+mn-ea"/>
                <a:cs typeface="+mn-cs"/>
              </a:rPr>
              <a:t> is </a:t>
            </a:r>
            <a:r>
              <a:rPr lang="en-US" sz="1100" dirty="0"/>
              <a:t>a collection of Amazon EC2 instances that are treated as a logical grouping for the purposes of automatic scaling and management</a:t>
            </a:r>
            <a:r>
              <a:rPr lang="en-US" sz="1100" kern="1200" dirty="0">
                <a:solidFill>
                  <a:schemeClr val="tx1"/>
                </a:solidFill>
                <a:effectLst/>
                <a:ea typeface="+mn-ea"/>
                <a:cs typeface="+mn-cs"/>
              </a:rPr>
              <a:t>. </a:t>
            </a:r>
            <a:r>
              <a:rPr lang="en-US" sz="1100" dirty="0"/>
              <a:t>The size of an Auto Scaling group depends on the number of instances you set as the </a:t>
            </a:r>
            <a:r>
              <a:rPr lang="en-US" sz="1100" i="1" dirty="0"/>
              <a:t>desired capacity</a:t>
            </a:r>
            <a:r>
              <a:rPr lang="en-US" sz="1100" dirty="0"/>
              <a:t>. You can adjust its size to meet demand, either manually or by using automatic scaling. </a:t>
            </a:r>
          </a:p>
          <a:p>
            <a:endParaRPr lang="en-US" sz="1100" dirty="0"/>
          </a:p>
          <a:p>
            <a:r>
              <a:rPr lang="en-US" sz="1100" dirty="0"/>
              <a:t>You can specify the minimum number of instances in each Auto Scaling group, and Amazon EC2 Auto Scaling is designed to prevent your group from going below this size. You can specify the maximum number of instances in each Auto Scaling group, and Amazon EC2 Auto Scaling is designed to prevent your group from going above this size. If you specify the desired capacity, either when you create the group or at any time afterwards, Amazon EC2 Auto Scaling is designed to adjust the size of</a:t>
            </a:r>
            <a:r>
              <a:rPr lang="en-US" sz="1100" baseline="0" dirty="0"/>
              <a:t> </a:t>
            </a:r>
            <a:r>
              <a:rPr lang="en-US" sz="1100" dirty="0"/>
              <a:t>your group so it has the specified number of instances. If you specify scaling policies, then Amazon EC2 Auto Scaling can launch or terminate instances as demand on your application increases or decreases. </a:t>
            </a:r>
          </a:p>
          <a:p>
            <a:endParaRPr lang="en-US" sz="1100" kern="1200" dirty="0">
              <a:solidFill>
                <a:schemeClr val="tx1"/>
              </a:solidFill>
              <a:effectLst/>
              <a:ea typeface="+mn-ea"/>
              <a:cs typeface="+mn-cs"/>
            </a:endParaRPr>
          </a:p>
          <a:p>
            <a:r>
              <a:rPr lang="en-US" sz="1100" dirty="0"/>
              <a:t>For example, this Auto Scaling group has a minimum size of one instance, a desired capacity of two instances, and a maximum size of four instances. The scaling policies that you define adjust the number of instances</a:t>
            </a:r>
            <a:r>
              <a:rPr lang="en-US" sz="1100" baseline="0" dirty="0"/>
              <a:t> </a:t>
            </a:r>
            <a:r>
              <a:rPr lang="en-US" sz="1100" dirty="0"/>
              <a:t>within your minimum and maximum number of instances, based on the criteria that you specify. </a:t>
            </a:r>
          </a:p>
        </p:txBody>
      </p:sp>
    </p:spTree>
    <p:extLst>
      <p:ext uri="{BB962C8B-B14F-4D97-AF65-F5344CB8AC3E}">
        <p14:creationId xmlns:p14="http://schemas.microsoft.com/office/powerpoint/2010/main" val="24433873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With Amazon EC2 Auto Scaling, launching instances is referred to as </a:t>
            </a:r>
            <a:r>
              <a:rPr lang="en-US" sz="1100" i="1" kern="1200" dirty="0">
                <a:solidFill>
                  <a:schemeClr val="tx1"/>
                </a:solidFill>
                <a:effectLst/>
                <a:latin typeface="+mn-lt"/>
                <a:ea typeface="+mn-ea"/>
                <a:cs typeface="+mn-cs"/>
              </a:rPr>
              <a:t>scaling out</a:t>
            </a:r>
            <a:r>
              <a:rPr lang="en-US" sz="1100" kern="1200" dirty="0">
                <a:solidFill>
                  <a:schemeClr val="tx1"/>
                </a:solidFill>
                <a:effectLst/>
                <a:latin typeface="+mn-lt"/>
                <a:ea typeface="+mn-ea"/>
                <a:cs typeface="+mn-cs"/>
              </a:rPr>
              <a:t>, and terminating instances is referred to as </a:t>
            </a:r>
            <a:r>
              <a:rPr lang="en-US" sz="1100" i="1" kern="1200" dirty="0">
                <a:solidFill>
                  <a:schemeClr val="tx1"/>
                </a:solidFill>
                <a:effectLst/>
                <a:latin typeface="+mn-lt"/>
                <a:ea typeface="+mn-ea"/>
                <a:cs typeface="+mn-cs"/>
              </a:rPr>
              <a:t>scaling in</a:t>
            </a:r>
            <a:r>
              <a:rPr lang="en-US" sz="1100" kern="1200" dirty="0">
                <a:solidFill>
                  <a:schemeClr val="tx1"/>
                </a:solidFill>
                <a:effectLst/>
                <a:latin typeface="+mn-lt"/>
                <a:ea typeface="+mn-ea"/>
                <a:cs typeface="+mn-cs"/>
              </a:rPr>
              <a:t>. </a:t>
            </a:r>
          </a:p>
        </p:txBody>
      </p:sp>
    </p:spTree>
    <p:extLst>
      <p:ext uri="{BB962C8B-B14F-4D97-AF65-F5344CB8AC3E}">
        <p14:creationId xmlns:p14="http://schemas.microsoft.com/office/powerpoint/2010/main" val="8399599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Tree>
    <p:extLst>
      <p:ext uri="{BB962C8B-B14F-4D97-AF65-F5344CB8AC3E}">
        <p14:creationId xmlns:p14="http://schemas.microsoft.com/office/powerpoint/2010/main" val="9609546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414922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To launch EC2 instances, an Auto Scaling group uses a </a:t>
            </a:r>
            <a:r>
              <a:rPr lang="en-US" sz="1100" dirty="0">
                <a:ea typeface="Amazon Ember Light" panose="020B0403020204020204" pitchFamily="34" charset="0"/>
                <a:cs typeface="Amazon Ember Light" panose="020B0403020204020204" pitchFamily="34" charset="0"/>
                <a:hlinkClick r:id="rId3"/>
              </a:rPr>
              <a:t>launch configuration</a:t>
            </a:r>
            <a:r>
              <a:rPr lang="en-US" sz="1100" dirty="0"/>
              <a:t>, which is an instance configuration template. You can think of a launch configuration as </a:t>
            </a:r>
            <a:r>
              <a:rPr lang="en-US" sz="1100" i="1" dirty="0"/>
              <a:t>what</a:t>
            </a:r>
            <a:r>
              <a:rPr lang="en-US" sz="1100" dirty="0"/>
              <a:t> you</a:t>
            </a:r>
            <a:r>
              <a:rPr lang="en-US" sz="1100" baseline="0" dirty="0"/>
              <a:t> are </a:t>
            </a:r>
            <a:r>
              <a:rPr lang="en-US" sz="1100" dirty="0"/>
              <a:t>scaling. When you create a launch configuration, you specify information for the instances. The information you specify includes the ID of the Amazon Machine Image (AMI), the instance type, AWS Identity and Access Management (IAM) role, additional storage, one or more security groups,</a:t>
            </a:r>
            <a:r>
              <a:rPr lang="en-US" sz="1100" baseline="0" dirty="0"/>
              <a:t> and any Amazon Elastic Block Store (Amazon EBS) volumes</a:t>
            </a:r>
            <a:r>
              <a:rPr lang="en-US" sz="1100" dirty="0"/>
              <a:t>.</a:t>
            </a:r>
            <a:endParaRPr lang="en-US" sz="1100" kern="1200" dirty="0">
              <a:solidFill>
                <a:schemeClr val="tx1"/>
              </a:solidFill>
              <a:effectLst/>
              <a:ea typeface="+mn-ea"/>
              <a:cs typeface="+mn-cs"/>
            </a:endParaRPr>
          </a:p>
          <a:p>
            <a:endParaRPr lang="en-US" sz="1100" dirty="0"/>
          </a:p>
          <a:p>
            <a:r>
              <a:rPr lang="en-US" sz="1100" dirty="0"/>
              <a:t>You define the minimum and maximum number of instances and desired capacity of your Auto Scaling group.</a:t>
            </a:r>
            <a:r>
              <a:rPr lang="en-US" sz="1100" baseline="0" dirty="0"/>
              <a:t> T</a:t>
            </a:r>
            <a:r>
              <a:rPr lang="en-US" sz="1100" dirty="0"/>
              <a:t>hen,</a:t>
            </a:r>
            <a:r>
              <a:rPr lang="en-US" sz="1100" baseline="0" dirty="0"/>
              <a:t> you </a:t>
            </a:r>
            <a:r>
              <a:rPr lang="en-US" sz="1100" dirty="0"/>
              <a:t>launch it into a subnet within a VPC (you can think of this as </a:t>
            </a:r>
            <a:r>
              <a:rPr lang="en-US" sz="1100" i="1" dirty="0"/>
              <a:t>where</a:t>
            </a:r>
            <a:r>
              <a:rPr lang="en-US" sz="1100" dirty="0"/>
              <a:t> you</a:t>
            </a:r>
            <a:r>
              <a:rPr lang="en-US" sz="1100" baseline="0" dirty="0"/>
              <a:t> are </a:t>
            </a:r>
            <a:r>
              <a:rPr lang="en-US" sz="1100" dirty="0"/>
              <a:t>scaling). Amazon EC2 Auto Scaling integrates with Elastic Load Balancing to enable you to attach one or more load balancers to an existing Auto Scaling group. After you attach the load balancer, it automatically registers the instances in the group and distributes incoming traffic across the instances. </a:t>
            </a:r>
          </a:p>
          <a:p>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Finally, you specify </a:t>
            </a:r>
            <a:r>
              <a:rPr lang="en-US" sz="1100" i="1" dirty="0"/>
              <a:t>when</a:t>
            </a:r>
            <a:r>
              <a:rPr lang="en-US" sz="1100" dirty="0"/>
              <a:t> you want the scaling event to occur. You have many scaling options: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i="1" kern="1200" dirty="0">
                <a:solidFill>
                  <a:schemeClr val="tx1"/>
                </a:solidFill>
                <a:effectLst/>
                <a:ea typeface="+mn-ea"/>
                <a:cs typeface="+mn-cs"/>
              </a:rPr>
              <a:t>Maintain current instance levels at all times</a:t>
            </a:r>
            <a:r>
              <a:rPr lang="en-US" sz="1100" i="0" kern="1200" baseline="0" dirty="0">
                <a:solidFill>
                  <a:schemeClr val="tx1"/>
                </a:solidFill>
                <a:effectLst/>
                <a:ea typeface="+mn-ea"/>
                <a:cs typeface="+mn-cs"/>
              </a:rPr>
              <a:t> –</a:t>
            </a:r>
            <a:r>
              <a:rPr lang="en-US" sz="1100" i="0" kern="1200" dirty="0">
                <a:solidFill>
                  <a:schemeClr val="tx1"/>
                </a:solidFill>
                <a:effectLst/>
                <a:ea typeface="+mn-ea"/>
                <a:cs typeface="+mn-cs"/>
              </a:rPr>
              <a:t> </a:t>
            </a:r>
            <a:r>
              <a:rPr lang="en-US" sz="1100" dirty="0"/>
              <a:t>You can configure your Auto Scaling group to maintain a specified number of running instances at all times. To maintain the current instance levels, Amazon EC2 Auto Scaling performs a periodic health check on running instances in an Auto Scaling group. When Amazon EC2 Auto Scaling finds an unhealthy instance, it terminates that instance and launches a new one.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ea typeface="Amazon Ember Light" panose="020B0403020204020204" pitchFamily="34" charset="0"/>
                <a:cs typeface="Amazon Ember Light" panose="020B0403020204020204" pitchFamily="34" charset="0"/>
                <a:hlinkClick r:id="rId4"/>
              </a:rPr>
              <a:t>Manual scaling</a:t>
            </a:r>
            <a:r>
              <a:rPr lang="en-US" sz="1100" i="0" kern="1200" baseline="0" dirty="0">
                <a:solidFill>
                  <a:schemeClr val="tx1"/>
                </a:solidFill>
                <a:effectLst/>
                <a:ea typeface="+mn-ea"/>
                <a:cs typeface="+mn-cs"/>
              </a:rPr>
              <a:t> –</a:t>
            </a:r>
            <a:r>
              <a:rPr lang="en-US" sz="1100" i="0" kern="1200" dirty="0">
                <a:solidFill>
                  <a:schemeClr val="tx1"/>
                </a:solidFill>
                <a:effectLst/>
                <a:ea typeface="+mn-ea"/>
                <a:cs typeface="+mn-cs"/>
              </a:rPr>
              <a:t> With m</a:t>
            </a:r>
            <a:r>
              <a:rPr lang="en-US" sz="1100" dirty="0"/>
              <a:t>anual scaling, you specify only the change in the maximum, minimum, or desired capacity of your Auto Scaling group.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ea typeface="Amazon Ember Light" panose="020B0403020204020204" pitchFamily="34" charset="0"/>
                <a:cs typeface="Amazon Ember Light" panose="020B0403020204020204" pitchFamily="34" charset="0"/>
                <a:hlinkClick r:id="rId5"/>
              </a:rPr>
              <a:t>Scheduled scaling</a:t>
            </a:r>
            <a:r>
              <a:rPr lang="en-US" sz="1100" i="0" kern="1200" baseline="0" dirty="0">
                <a:solidFill>
                  <a:schemeClr val="tx1"/>
                </a:solidFill>
                <a:effectLst/>
                <a:ea typeface="+mn-ea"/>
                <a:cs typeface="+mn-cs"/>
              </a:rPr>
              <a:t> – </a:t>
            </a:r>
            <a:r>
              <a:rPr lang="en-US" sz="1100" i="0" kern="1200" dirty="0">
                <a:solidFill>
                  <a:schemeClr val="tx1"/>
                </a:solidFill>
                <a:effectLst/>
                <a:ea typeface="+mn-ea"/>
                <a:cs typeface="+mn-cs"/>
              </a:rPr>
              <a:t>With scheduled scaling, </a:t>
            </a:r>
            <a:r>
              <a:rPr lang="en-US" sz="1100" dirty="0"/>
              <a:t>scaling actions are performed automatically as a function of date and time. This is useful for predictable workloads when you know exactly when to increase or decrease the number of instances in your group. For example, say</a:t>
            </a:r>
            <a:r>
              <a:rPr lang="en-US" sz="1100" baseline="0" dirty="0"/>
              <a:t> that </a:t>
            </a:r>
            <a:r>
              <a:rPr lang="en-US" sz="1100" dirty="0"/>
              <a:t>every week,</a:t>
            </a:r>
            <a:r>
              <a:rPr lang="en-US" sz="1100" baseline="0" dirty="0"/>
              <a:t> t</a:t>
            </a:r>
            <a:r>
              <a:rPr lang="en-US" sz="1100" dirty="0"/>
              <a:t>he traffic to your web application starts to increase on Wednesday, remains high on Thursday, and starts to decrease on Friday. You can plan your scaling actions based on the predictable traffic patterns of your web application. To implement scheduled scaling, y</a:t>
            </a:r>
            <a:r>
              <a:rPr lang="en-US" sz="1100" i="0" kern="1200" dirty="0">
                <a:solidFill>
                  <a:schemeClr val="tx1"/>
                </a:solidFill>
                <a:effectLst/>
                <a:ea typeface="+mn-ea"/>
                <a:cs typeface="+mn-cs"/>
              </a:rPr>
              <a:t>ou create a </a:t>
            </a:r>
            <a:r>
              <a:rPr lang="en-US" sz="1100" dirty="0">
                <a:ea typeface="Amazon Ember Light" panose="020B0403020204020204" pitchFamily="34" charset="0"/>
                <a:cs typeface="Amazon Ember Light" panose="020B0403020204020204" pitchFamily="34" charset="0"/>
                <a:hlinkClick r:id="rId5"/>
              </a:rPr>
              <a:t>scheduled action</a:t>
            </a:r>
            <a:r>
              <a:rPr lang="en-US" sz="1100" dirty="0"/>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ea typeface="Amazon Ember Light" panose="020B0403020204020204" pitchFamily="34" charset="0"/>
                <a:cs typeface="Amazon Ember Light" panose="020B0403020204020204" pitchFamily="34" charset="0"/>
                <a:hlinkClick r:id="rId6"/>
              </a:rPr>
              <a:t>Dynamic, on-demand scaling</a:t>
            </a:r>
            <a:r>
              <a:rPr lang="en-US" sz="1100" i="0" kern="1200" baseline="0" dirty="0">
                <a:solidFill>
                  <a:schemeClr val="tx1"/>
                </a:solidFill>
                <a:effectLst/>
                <a:ea typeface="+mn-ea"/>
                <a:cs typeface="+mn-cs"/>
              </a:rPr>
              <a:t> – </a:t>
            </a:r>
            <a:r>
              <a:rPr lang="en-US" sz="1100" dirty="0"/>
              <a:t>A more advanced way to scale your resources enables you to define parameters that control the scaling process. For example, you have a web application that currently runs on two instances and you want the CPU utilization of the Auto Scaling group to stay close to 50 percent when the load on the application changes. This option is useful for scaling in response to changing conditions, when you don't know when those conditions will change. Dynamic scaling gives you extra capacity to handle traffic spikes without maintaining an excessive amount of idle resources. You can configure your Auto Scaling group to scale automatically to meet this need. The </a:t>
            </a:r>
            <a:r>
              <a:rPr lang="en-US" sz="1100" dirty="0">
                <a:ea typeface="Amazon Ember Light" panose="020B0403020204020204" pitchFamily="34" charset="0"/>
                <a:cs typeface="Amazon Ember Light" panose="020B0403020204020204" pitchFamily="34" charset="0"/>
                <a:hlinkClick r:id="rId7"/>
              </a:rPr>
              <a:t>scaling policy type</a:t>
            </a:r>
            <a:r>
              <a:rPr lang="en-US" sz="1100" dirty="0"/>
              <a:t> determines how the scaling action is performed. You can use Amazon EC2 Auto Scaling with Amazon CloudWatch to trigger the scaling policy in response to an alarm.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ea typeface="Amazon Ember Light" panose="020B0403020204020204" pitchFamily="34" charset="0"/>
                <a:cs typeface="Amazon Ember Light" panose="020B0403020204020204" pitchFamily="34" charset="0"/>
                <a:hlinkClick r:id="rId8"/>
              </a:rPr>
              <a:t>Predictive scaling</a:t>
            </a:r>
            <a:r>
              <a:rPr lang="en-US" sz="1100" i="0" kern="1200" baseline="0" dirty="0">
                <a:solidFill>
                  <a:schemeClr val="tx1"/>
                </a:solidFill>
                <a:effectLst/>
                <a:ea typeface="+mn-ea"/>
                <a:cs typeface="+mn-cs"/>
              </a:rPr>
              <a:t> – </a:t>
            </a:r>
            <a:r>
              <a:rPr lang="en-US" sz="1100" i="0" kern="1200" dirty="0">
                <a:solidFill>
                  <a:schemeClr val="tx1"/>
                </a:solidFill>
                <a:effectLst/>
                <a:ea typeface="+mn-ea"/>
                <a:cs typeface="+mn-cs"/>
              </a:rPr>
              <a:t>You can use Amazon EC2 Auto Scaling with AWS Auto Scaling to implement predictive scaling, where your capacity scales based on predicted demand. Predictive scaling </a:t>
            </a:r>
            <a:r>
              <a:rPr lang="en-US" sz="1100" dirty="0"/>
              <a:t>uses data that is collected from your actual EC2 usage, and the data is further informed by billions of data points that are drawn from our own observations. </a:t>
            </a:r>
            <a:r>
              <a:rPr lang="en-US" sz="1100" i="0" kern="1200" dirty="0">
                <a:solidFill>
                  <a:schemeClr val="tx1"/>
                </a:solidFill>
                <a:effectLst/>
                <a:ea typeface="+mn-ea"/>
                <a:cs typeface="+mn-cs"/>
              </a:rPr>
              <a:t>AWS then uses well-trained machine learning</a:t>
            </a:r>
            <a:r>
              <a:rPr lang="en-US" sz="1100" i="0" kern="1200" baseline="0" dirty="0">
                <a:solidFill>
                  <a:schemeClr val="tx1"/>
                </a:solidFill>
                <a:effectLst/>
                <a:ea typeface="+mn-ea"/>
                <a:cs typeface="+mn-cs"/>
              </a:rPr>
              <a:t> models to predict your expected traffic (and EC2 usage), including daily and weekly patterns. </a:t>
            </a:r>
            <a:r>
              <a:rPr lang="en-US" sz="1100" dirty="0"/>
              <a:t>The model needs at least 1 day of historical data to start making predictions. It is re-evaluated every 24 hours to create a forecast for the next 48 hours. The prediction process produces a scaling plan that can drive one or more groups of automatically scaled EC2 instances.</a:t>
            </a:r>
            <a:endParaRPr lang="en-US" sz="1100" i="0" kern="1200" dirty="0">
              <a:solidFill>
                <a:schemeClr val="tx1"/>
              </a:solidFill>
              <a:effectLs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i="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i="0" kern="1200" dirty="0">
                <a:solidFill>
                  <a:schemeClr val="tx1"/>
                </a:solidFill>
                <a:effectLst/>
                <a:ea typeface="+mn-ea"/>
                <a:cs typeface="+mn-cs"/>
              </a:rPr>
              <a:t>To learn more about these options, see </a:t>
            </a:r>
            <a:r>
              <a:rPr lang="en-US" sz="1100" dirty="0">
                <a:ea typeface="Amazon Ember Light" panose="020B0403020204020204" pitchFamily="34" charset="0"/>
                <a:cs typeface="Amazon Ember Light" panose="020B0403020204020204" pitchFamily="34" charset="0"/>
                <a:hlinkClick r:id="rId9"/>
              </a:rPr>
              <a:t>Scaling the Size of Your Auto Scaling Group</a:t>
            </a:r>
            <a:r>
              <a:rPr lang="en-US" sz="1100" i="0" kern="1200" dirty="0">
                <a:solidFill>
                  <a:schemeClr val="tx1"/>
                </a:solidFill>
                <a:effectLst/>
                <a:ea typeface="+mn-ea"/>
                <a:cs typeface="+mn-cs"/>
              </a:rPr>
              <a:t> in the AWS Documentation.</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effectLst/>
              <a:ea typeface="+mn-ea"/>
              <a:cs typeface="+mn-cs"/>
            </a:endParaRPr>
          </a:p>
          <a:p>
            <a:endParaRPr lang="en-US" sz="1100" dirty="0"/>
          </a:p>
        </p:txBody>
      </p:sp>
    </p:spTree>
    <p:extLst>
      <p:ext uri="{BB962C8B-B14F-4D97-AF65-F5344CB8AC3E}">
        <p14:creationId xmlns:p14="http://schemas.microsoft.com/office/powerpoint/2010/main" val="26574345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One common configuration for implementing dynamic scaling is to create a CloudWatch alarm that is based on performance information from your EC2 instances or load balancer. When a performance threshold is breached, a CloudWatch alarm triggers an automatic scaling event that either scales out or scales in EC2 instances in the Auto Scaling group.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kern="1200" dirty="0">
                <a:solidFill>
                  <a:schemeClr val="tx1"/>
                </a:solidFill>
                <a:effectLst/>
                <a:latin typeface="+mn-lt"/>
                <a:ea typeface="+mn-ea"/>
                <a:cs typeface="+mn-cs"/>
              </a:rPr>
              <a:t>To understand how it works, consider this example: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solidFill>
                  <a:schemeClr val="tx1"/>
                </a:solidFill>
                <a:effectLst/>
                <a:latin typeface="+mn-lt"/>
                <a:ea typeface="+mn-ea"/>
                <a:cs typeface="+mn-cs"/>
              </a:rPr>
              <a:t>You create an Amazon CloudWatch alarm to monitor CPU utilization across your fleet of EC2 instances and </a:t>
            </a:r>
            <a:r>
              <a:rPr lang="en-US" sz="1100" dirty="0"/>
              <a:t>run </a:t>
            </a:r>
            <a:r>
              <a:rPr lang="en-US" sz="1100" dirty="0">
                <a:solidFill>
                  <a:srgbClr val="000000"/>
                </a:solidFill>
              </a:rPr>
              <a:t>automatic scaling policies</a:t>
            </a:r>
            <a:r>
              <a:rPr lang="en-US" sz="1100" dirty="0"/>
              <a:t> </a:t>
            </a:r>
            <a:r>
              <a:rPr lang="en-US" sz="1100" kern="1200" baseline="0" dirty="0">
                <a:solidFill>
                  <a:schemeClr val="tx1"/>
                </a:solidFill>
                <a:effectLst/>
                <a:latin typeface="+mn-lt"/>
                <a:ea typeface="+mn-ea"/>
                <a:cs typeface="+mn-cs"/>
              </a:rPr>
              <a:t>if the average CPU utilization across the fleet goes above 60 percent for 5 minutes.</a:t>
            </a:r>
            <a:endParaRPr lang="en-US" sz="11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solidFill>
                  <a:schemeClr val="tx1"/>
                </a:solidFill>
                <a:effectLst/>
                <a:latin typeface="+mn-lt"/>
                <a:ea typeface="+mn-ea"/>
                <a:cs typeface="+mn-cs"/>
              </a:rPr>
              <a:t>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EC2</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Auto Scaling instantiates a new EC2 instance into your Auto Scaling group based on the launch configuration that you create.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solidFill>
                  <a:schemeClr val="tx1"/>
                </a:solidFill>
                <a:effectLst/>
                <a:latin typeface="+mn-lt"/>
                <a:ea typeface="+mn-ea"/>
                <a:cs typeface="+mn-cs"/>
              </a:rPr>
              <a:t>After the new instance is added, Amazon EC2</a:t>
            </a:r>
            <a:r>
              <a:rPr lang="en-US" sz="1100" kern="1200" baseline="0" dirty="0">
                <a:solidFill>
                  <a:schemeClr val="tx1"/>
                </a:solidFill>
                <a:effectLst/>
                <a:latin typeface="+mn-lt"/>
                <a:ea typeface="+mn-ea"/>
                <a:cs typeface="+mn-cs"/>
              </a:rPr>
              <a:t> Auto Scaling</a:t>
            </a:r>
            <a:r>
              <a:rPr lang="en-US" sz="1100" kern="1200" dirty="0">
                <a:solidFill>
                  <a:schemeClr val="tx1"/>
                </a:solidFill>
                <a:effectLst/>
                <a:latin typeface="+mn-lt"/>
                <a:ea typeface="+mn-ea"/>
                <a:cs typeface="+mn-cs"/>
              </a:rPr>
              <a:t> makes a call to Elastic Load Balancing to register the new EC2 instance in that Auto Scaling group.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solidFill>
                  <a:schemeClr val="tx1"/>
                </a:solidFill>
                <a:effectLst/>
                <a:latin typeface="+mn-lt"/>
                <a:ea typeface="+mn-ea"/>
                <a:cs typeface="+mn-cs"/>
              </a:rPr>
              <a:t>Elastic Load Balancing then performs the required health checks and starts distributing traffic to that instance.</a:t>
            </a:r>
            <a:r>
              <a:rPr lang="en-US" sz="1100" kern="1200" baseline="0" dirty="0">
                <a:solidFill>
                  <a:schemeClr val="tx1"/>
                </a:solidFill>
                <a:effectLst/>
                <a:latin typeface="+mn-lt"/>
                <a:ea typeface="+mn-ea"/>
                <a:cs typeface="+mn-cs"/>
              </a:rPr>
              <a:t> </a:t>
            </a:r>
            <a:r>
              <a:rPr lang="en-US" sz="1100" dirty="0"/>
              <a:t>Elastic Load Balancing routes traffic between EC2 instances and feeds metrics to Amazon CloudWatch.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dirty="0"/>
              <a:t>Amazon CloudWatch, Amazon EC2 Auto Scaling, and Elastic Load Balancing work </a:t>
            </a:r>
            <a:r>
              <a:rPr lang="en-US" sz="1100" dirty="0">
                <a:solidFill>
                  <a:srgbClr val="000000"/>
                </a:solidFill>
              </a:rPr>
              <a:t>well individually</a:t>
            </a:r>
            <a:r>
              <a:rPr lang="en-US" sz="1100" dirty="0">
                <a:solidFill>
                  <a:schemeClr val="tx1"/>
                </a:solidFill>
              </a:rPr>
              <a:t>.</a:t>
            </a:r>
            <a:r>
              <a:rPr lang="en-US" sz="1100" dirty="0"/>
              <a:t> Together, however, they become more powerful and increase the control and flexibility over how your application</a:t>
            </a:r>
            <a:r>
              <a:rPr lang="en-US" sz="1100" baseline="0" dirty="0"/>
              <a:t> handles </a:t>
            </a:r>
            <a:r>
              <a:rPr lang="en-US" sz="1100" dirty="0"/>
              <a:t>customer demand.</a:t>
            </a:r>
          </a:p>
        </p:txBody>
      </p:sp>
    </p:spTree>
    <p:extLst>
      <p:ext uri="{BB962C8B-B14F-4D97-AF65-F5344CB8AC3E}">
        <p14:creationId xmlns:p14="http://schemas.microsoft.com/office/powerpoint/2010/main" val="31605183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So far, you learned about scaling EC2 instances with Amazon EC2 Auto Scaling. You also learned that you can use Amazon EC2 Auto Scaling with AWS Auto Scaling to perform predictive scaling. </a:t>
            </a:r>
          </a:p>
          <a:p>
            <a:endParaRPr lang="en-US" sz="1100" dirty="0"/>
          </a:p>
          <a:p>
            <a:r>
              <a:rPr lang="en-US" sz="1100" dirty="0"/>
              <a:t>AWS Auto Scaling is a separate service that monitors your applications.</a:t>
            </a:r>
            <a:r>
              <a:rPr lang="en-US" sz="1100" baseline="0" dirty="0"/>
              <a:t> It </a:t>
            </a:r>
            <a:r>
              <a:rPr lang="en-US" sz="1100" dirty="0"/>
              <a:t>automatically adjusts capacity to maintain steady, predictable performance at the lowest possible cost. The service provides a simple, powerful user interface that enables you to build scaling plans for resources, including:</a:t>
            </a:r>
          </a:p>
          <a:p>
            <a:endParaRPr lang="en-US" sz="1100" dirty="0"/>
          </a:p>
          <a:p>
            <a:pPr marL="171450" lvl="0" indent="-171450">
              <a:buFont typeface="Arial" panose="020B0604020202020204" pitchFamily="34" charset="0"/>
              <a:buChar char="•"/>
            </a:pPr>
            <a:r>
              <a:rPr lang="en-US" sz="1100" dirty="0"/>
              <a:t>Amazon EC2 instances and Spot Fleets</a:t>
            </a:r>
          </a:p>
          <a:p>
            <a:pPr marL="171450" lvl="0" indent="-171450">
              <a:buFont typeface="Arial" panose="020B0604020202020204" pitchFamily="34" charset="0"/>
              <a:buChar char="•"/>
            </a:pPr>
            <a:r>
              <a:rPr lang="en-US" sz="1100" dirty="0"/>
              <a:t>Amazon Elastic Container Service (Amazon ECS) tasks</a:t>
            </a:r>
          </a:p>
          <a:p>
            <a:pPr marL="171450" lvl="0" indent="-171450">
              <a:buFont typeface="Arial" panose="020B0604020202020204" pitchFamily="34" charset="0"/>
              <a:buChar char="•"/>
            </a:pPr>
            <a:r>
              <a:rPr lang="en-US" sz="1100" dirty="0"/>
              <a:t>Amazon DynamoDB tables and indexes</a:t>
            </a:r>
          </a:p>
          <a:p>
            <a:pPr marL="171450" lvl="0" indent="-171450">
              <a:buFont typeface="Arial" panose="020B0604020202020204" pitchFamily="34" charset="0"/>
              <a:buChar char="•"/>
            </a:pPr>
            <a:r>
              <a:rPr lang="en-US" sz="1100" dirty="0"/>
              <a:t>Amazon Aurora Replicas</a:t>
            </a:r>
          </a:p>
          <a:p>
            <a:pPr marL="0" lvl="0" indent="0">
              <a:buFont typeface="Arial" panose="020B0604020202020204" pitchFamily="34" charset="0"/>
              <a:buNone/>
            </a:pPr>
            <a:endParaRPr lang="en-US" sz="1100" dirty="0"/>
          </a:p>
          <a:p>
            <a:pPr marL="0" lvl="0" indent="0">
              <a:buFont typeface="Arial" panose="020B0604020202020204" pitchFamily="34" charset="0"/>
              <a:buNone/>
            </a:pPr>
            <a:r>
              <a:rPr lang="en-US" sz="1100" dirty="0"/>
              <a:t>If you</a:t>
            </a:r>
            <a:r>
              <a:rPr lang="en-US" sz="1100" baseline="0" dirty="0"/>
              <a:t> are</a:t>
            </a:r>
            <a:r>
              <a:rPr lang="en-US" sz="1100" dirty="0"/>
              <a:t> already using Amazon EC2 Auto Scaling to dynamically scale your EC2 instances, you can now use it with AWS Auto Scaling to scale additional resources for other AWS services.</a:t>
            </a:r>
          </a:p>
          <a:p>
            <a:pPr marL="0" lvl="0" indent="0">
              <a:buFont typeface="Arial" panose="020B0604020202020204" pitchFamily="34" charset="0"/>
              <a:buNone/>
            </a:pPr>
            <a:endParaRPr lang="en-US" sz="11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dirty="0"/>
              <a:t>To learn more information about AWS Auto Scaling, see </a:t>
            </a:r>
            <a:r>
              <a:rPr lang="en-US" sz="1100" dirty="0">
                <a:ea typeface="Amazon Ember Light" panose="020B0403020204020204" pitchFamily="34" charset="0"/>
                <a:cs typeface="Amazon Ember Light" panose="020B0403020204020204" pitchFamily="34" charset="0"/>
                <a:hlinkClick r:id="rId3"/>
              </a:rPr>
              <a:t>AWS Auto Scaling</a:t>
            </a:r>
            <a:r>
              <a:rPr lang="en-US" sz="1100" dirty="0">
                <a:ea typeface="Amazon Ember Light" panose="020B0403020204020204" pitchFamily="34" charset="0"/>
                <a:cs typeface="Amazon Ember Light" panose="020B0403020204020204" pitchFamily="34" charset="0"/>
              </a:rPr>
              <a:t>.</a:t>
            </a:r>
            <a:endParaRPr lang="en-US" sz="1100" dirty="0"/>
          </a:p>
        </p:txBody>
      </p:sp>
    </p:spTree>
    <p:extLst>
      <p:ext uri="{BB962C8B-B14F-4D97-AF65-F5344CB8AC3E}">
        <p14:creationId xmlns:p14="http://schemas.microsoft.com/office/powerpoint/2010/main" val="9381717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rPr>
              <a:t>Some key</a:t>
            </a:r>
            <a:r>
              <a:rPr lang="en-US" sz="1100" baseline="0" dirty="0">
                <a:latin typeface="+mn-lt"/>
              </a:rPr>
              <a:t> takeaways from this section of the module include:</a:t>
            </a:r>
            <a:endParaRPr lang="en-US" sz="1100" dirty="0">
              <a:solidFill>
                <a:srgbClr val="000000"/>
              </a:solidFill>
              <a:latin typeface="+mn-lt"/>
              <a:ea typeface="Amazon Ember" panose="02000000000000000000" pitchFamily="2" charset="0"/>
              <a:cs typeface="Amazon Ember Light" panose="020B0403020204020204" pitchFamily="34" charset="0"/>
            </a:endParaRPr>
          </a:p>
          <a:p>
            <a:pPr marL="171450" indent="-171450">
              <a:buFont typeface="Arial" panose="020B0604020202020204" pitchFamily="34" charset="0"/>
              <a:buChar char="•"/>
            </a:pPr>
            <a:r>
              <a:rPr lang="en-US" sz="1100" kern="1200" dirty="0">
                <a:solidFill>
                  <a:schemeClr val="tx1"/>
                </a:solidFill>
                <a:latin typeface="+mn-lt"/>
                <a:ea typeface="+mn-ea"/>
                <a:cs typeface="+mn-cs"/>
              </a:rPr>
              <a:t>Scaling enables you to respond quickly to changes in resource needs.</a:t>
            </a:r>
          </a:p>
          <a:p>
            <a:pPr marL="171450" indent="-171450">
              <a:buFont typeface="Arial" panose="020B0604020202020204" pitchFamily="34" charset="0"/>
              <a:buChar char="•"/>
            </a:pPr>
            <a:r>
              <a:rPr lang="en-US" sz="1100" kern="1200" dirty="0">
                <a:solidFill>
                  <a:schemeClr val="tx1"/>
                </a:solidFill>
                <a:latin typeface="+mn-lt"/>
                <a:ea typeface="+mn-ea"/>
                <a:cs typeface="+mn-cs"/>
              </a:rPr>
              <a:t>Amazon EC2 Auto Scaling helps you maintain application availability,</a:t>
            </a:r>
            <a:r>
              <a:rPr lang="en-US" sz="1100" kern="1200" baseline="0" dirty="0">
                <a:solidFill>
                  <a:schemeClr val="tx1"/>
                </a:solidFill>
                <a:latin typeface="+mn-lt"/>
                <a:ea typeface="+mn-ea"/>
                <a:cs typeface="+mn-cs"/>
              </a:rPr>
              <a:t> </a:t>
            </a:r>
            <a:r>
              <a:rPr lang="en-US" sz="1100" kern="1200" dirty="0">
                <a:solidFill>
                  <a:schemeClr val="tx1"/>
                </a:solidFill>
                <a:latin typeface="+mn-lt"/>
                <a:ea typeface="+mn-ea"/>
                <a:cs typeface="+mn-cs"/>
              </a:rPr>
              <a:t>and enables you to automatically add or remove EC2 instances according to your workloads.</a:t>
            </a:r>
          </a:p>
          <a:p>
            <a:pPr marL="171450" indent="-171450">
              <a:buFont typeface="Arial" panose="020B0604020202020204" pitchFamily="34" charset="0"/>
              <a:buChar char="•"/>
            </a:pPr>
            <a:r>
              <a:rPr lang="en-US" sz="1100" kern="1200" dirty="0">
                <a:solidFill>
                  <a:schemeClr val="tx1"/>
                </a:solidFill>
                <a:latin typeface="+mn-lt"/>
                <a:ea typeface="+mn-ea"/>
                <a:cs typeface="+mn-cs"/>
              </a:rPr>
              <a:t>An Auto Scaling group is a collection of EC2 instances.</a:t>
            </a:r>
          </a:p>
          <a:p>
            <a:pPr marL="171450" indent="-171450">
              <a:buFont typeface="Arial" panose="020B0604020202020204" pitchFamily="34" charset="0"/>
              <a:buChar char="•"/>
            </a:pPr>
            <a:r>
              <a:rPr lang="en-US" sz="1100" kern="1200" dirty="0">
                <a:solidFill>
                  <a:schemeClr val="tx1"/>
                </a:solidFill>
                <a:latin typeface="+mn-lt"/>
                <a:ea typeface="+mn-ea"/>
                <a:cs typeface="+mn-cs"/>
              </a:rPr>
              <a:t>A launch configuration is an instance configuration template.</a:t>
            </a:r>
          </a:p>
          <a:p>
            <a:pPr marL="171450" indent="-171450">
              <a:buFont typeface="Arial" panose="020B0604020202020204" pitchFamily="34" charset="0"/>
              <a:buChar char="•"/>
            </a:pPr>
            <a:r>
              <a:rPr lang="en-US" sz="1100" kern="1200" dirty="0">
                <a:solidFill>
                  <a:schemeClr val="tx1"/>
                </a:solidFill>
                <a:latin typeface="+mn-lt"/>
                <a:ea typeface="+mn-ea"/>
                <a:cs typeface="+mn-cs"/>
              </a:rPr>
              <a:t>You can implement dynamic scaling with Amazon EC2 Auto Scaling, Amazon CloudWatch, and Elastic Load Balancing.</a:t>
            </a:r>
          </a:p>
          <a:p>
            <a:endParaRPr lang="en-US" sz="1100" dirty="0"/>
          </a:p>
          <a:p>
            <a:r>
              <a:rPr lang="en-US" sz="1100" dirty="0"/>
              <a:t>AWS Auto Scaling is a separate service that monitors your applications, and it automatically adjusts capacity for the following</a:t>
            </a:r>
            <a:r>
              <a:rPr lang="en-US" sz="1100" baseline="0" dirty="0"/>
              <a:t> resources:</a:t>
            </a:r>
            <a:endParaRPr lang="en-US" sz="1100" dirty="0"/>
          </a:p>
          <a:p>
            <a:pPr marL="171450" lvl="0" indent="-171450">
              <a:buFont typeface="Arial" panose="020B0604020202020204" pitchFamily="34" charset="0"/>
              <a:buChar char="•"/>
            </a:pPr>
            <a:r>
              <a:rPr lang="en-US" sz="1100" dirty="0"/>
              <a:t>Amazon EC2 instances and Spot Fleets</a:t>
            </a:r>
          </a:p>
          <a:p>
            <a:pPr marL="171450" lvl="0" indent="-171450">
              <a:buFont typeface="Arial" panose="020B0604020202020204" pitchFamily="34" charset="0"/>
              <a:buChar char="•"/>
            </a:pPr>
            <a:r>
              <a:rPr lang="en-US" sz="1100" dirty="0"/>
              <a:t>Amazon ECS tasks</a:t>
            </a:r>
          </a:p>
          <a:p>
            <a:pPr marL="171450" lvl="0" indent="-171450">
              <a:buFont typeface="Arial" panose="020B0604020202020204" pitchFamily="34" charset="0"/>
              <a:buChar char="•"/>
            </a:pPr>
            <a:r>
              <a:rPr lang="en-US" sz="1100" dirty="0"/>
              <a:t>Amazon DynamoDB tables and indexes</a:t>
            </a:r>
          </a:p>
          <a:p>
            <a:pPr marL="171450" lvl="0" indent="-171450">
              <a:buFont typeface="Arial" panose="020B0604020202020204" pitchFamily="34" charset="0"/>
              <a:buChar char="•"/>
            </a:pPr>
            <a:r>
              <a:rPr lang="en-US" sz="1100" dirty="0"/>
              <a:t>Amazon Aurora Replicas</a:t>
            </a:r>
          </a:p>
          <a:p>
            <a:pPr marL="0" indent="0">
              <a:buFont typeface="Arial" panose="020B0604020202020204" pitchFamily="34" charset="0"/>
              <a:buNone/>
            </a:pPr>
            <a:endParaRPr lang="en-US" sz="1100" dirty="0"/>
          </a:p>
        </p:txBody>
      </p:sp>
    </p:spTree>
    <p:extLst>
      <p:ext uri="{BB962C8B-B14F-4D97-AF65-F5344CB8AC3E}">
        <p14:creationId xmlns:p14="http://schemas.microsoft.com/office/powerpoint/2010/main" val="30775721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You will now complete Lab 6: Scale and Load Balance Your Architecture.</a:t>
            </a:r>
          </a:p>
        </p:txBody>
      </p:sp>
    </p:spTree>
    <p:extLst>
      <p:ext uri="{BB962C8B-B14F-4D97-AF65-F5344CB8AC3E}">
        <p14:creationId xmlns:p14="http://schemas.microsoft.com/office/powerpoint/2010/main" val="31753524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5"/>
            <a:ext cx="5408930" cy="3914864"/>
          </a:xfrm>
        </p:spPr>
        <p:txBody>
          <a:bodyPr/>
          <a:lstStyle/>
          <a:p>
            <a:r>
              <a:rPr lang="en-US" sz="1100" kern="1200" dirty="0">
                <a:solidFill>
                  <a:schemeClr val="tx1"/>
                </a:solidFill>
                <a:effectLst/>
                <a:latin typeface="+mn-lt"/>
                <a:ea typeface="+mn-ea"/>
                <a:cs typeface="+mn-cs"/>
              </a:rPr>
              <a:t>In this lab, you will use Elastic Load Balancing and Amazon EC2 Auto Scaling to load balance and scale your infrastructure. You will start with the given infrastructure.</a:t>
            </a:r>
          </a:p>
        </p:txBody>
      </p:sp>
    </p:spTree>
    <p:extLst>
      <p:ext uri="{BB962C8B-B14F-4D97-AF65-F5344CB8AC3E}">
        <p14:creationId xmlns:p14="http://schemas.microsoft.com/office/powerpoint/2010/main" val="24426951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 this lab, you will complete the following tasks:</a:t>
            </a:r>
          </a:p>
          <a:p>
            <a:pPr marL="171450" indent="-171450">
              <a:buFont typeface="Arial" panose="020B0604020202020204" pitchFamily="34" charset="0"/>
              <a:buChar char="•"/>
            </a:pPr>
            <a:r>
              <a:rPr lang="en-US" sz="1100" dirty="0">
                <a:latin typeface="+mn-lt"/>
              </a:rPr>
              <a:t>Create an Amazon Machine Image (AMI) from a running instance.</a:t>
            </a:r>
          </a:p>
          <a:p>
            <a:pPr marL="171450" indent="-171450">
              <a:buFont typeface="Arial" panose="020B0604020202020204" pitchFamily="34" charset="0"/>
              <a:buChar char="•"/>
            </a:pPr>
            <a:r>
              <a:rPr lang="en-US" sz="1100" dirty="0">
                <a:latin typeface="+mn-lt"/>
              </a:rPr>
              <a:t>Create an Application Load Balancer.</a:t>
            </a:r>
          </a:p>
          <a:p>
            <a:pPr marL="171450" indent="-171450">
              <a:buFont typeface="Arial" panose="020B0604020202020204" pitchFamily="34" charset="0"/>
              <a:buChar char="•"/>
            </a:pPr>
            <a:r>
              <a:rPr lang="en-US" sz="1100" dirty="0">
                <a:latin typeface="+mn-lt"/>
              </a:rPr>
              <a:t>Create a launch configuration and an Auto Scaling group.</a:t>
            </a:r>
          </a:p>
          <a:p>
            <a:pPr marL="171450" indent="-171450">
              <a:buFont typeface="Arial" panose="020B0604020202020204" pitchFamily="34" charset="0"/>
              <a:buChar char="•"/>
            </a:pPr>
            <a:r>
              <a:rPr lang="en-US" sz="1100" dirty="0">
                <a:latin typeface="+mn-lt"/>
              </a:rPr>
              <a:t>Automatically scale new instances within a private subnet.</a:t>
            </a:r>
          </a:p>
          <a:p>
            <a:pPr marL="171450" indent="-171450">
              <a:buFont typeface="Arial" panose="020B0604020202020204" pitchFamily="34" charset="0"/>
              <a:buChar char="•"/>
            </a:pPr>
            <a:r>
              <a:rPr lang="en-US" sz="1100" dirty="0">
                <a:latin typeface="+mn-lt"/>
              </a:rPr>
              <a:t>Create Amazon CloudWatch alarms and monitor performance of your infrastructure.</a:t>
            </a:r>
            <a:endParaRPr lang="en-US" sz="1100" dirty="0"/>
          </a:p>
        </p:txBody>
      </p:sp>
    </p:spTree>
    <p:extLst>
      <p:ext uri="{BB962C8B-B14F-4D97-AF65-F5344CB8AC3E}">
        <p14:creationId xmlns:p14="http://schemas.microsoft.com/office/powerpoint/2010/main" val="7906422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4767530"/>
          </a:xfrm>
        </p:spPr>
        <p:txBody>
          <a:bodyPr/>
          <a:lstStyle/>
          <a:p>
            <a:r>
              <a:rPr lang="en-US" sz="1100" dirty="0"/>
              <a:t>The diagram summarizes what you will have built after you complete the lab. </a:t>
            </a:r>
          </a:p>
          <a:p>
            <a:endParaRPr lang="en-US" sz="1100" dirty="0"/>
          </a:p>
          <a:p>
            <a:endParaRPr lang="en-US" sz="1100" b="0" baseline="0" dirty="0"/>
          </a:p>
          <a:p>
            <a:endParaRPr lang="en-US" sz="1100" b="0" baseline="0" dirty="0"/>
          </a:p>
        </p:txBody>
      </p:sp>
    </p:spTree>
    <p:extLst>
      <p:ext uri="{BB962C8B-B14F-4D97-AF65-F5344CB8AC3E}">
        <p14:creationId xmlns:p14="http://schemas.microsoft.com/office/powerpoint/2010/main" val="23066701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It is now time to start the lab. It should take you approximately 30 minutes to complete the lab.</a:t>
            </a:r>
          </a:p>
        </p:txBody>
      </p:sp>
    </p:spTree>
    <p:extLst>
      <p:ext uri="{BB962C8B-B14F-4D97-AF65-F5344CB8AC3E}">
        <p14:creationId xmlns:p14="http://schemas.microsoft.com/office/powerpoint/2010/main" val="5140712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 this lab, you:</a:t>
            </a:r>
          </a:p>
          <a:p>
            <a:pPr marL="171450" indent="-171450">
              <a:buFont typeface="Arial" panose="020B0604020202020204" pitchFamily="34" charset="0"/>
              <a:buChar char="•"/>
            </a:pPr>
            <a:r>
              <a:rPr lang="en-US" sz="1100" dirty="0">
                <a:latin typeface="+mn-lt"/>
              </a:rPr>
              <a:t>Created an Amazon Machine Image (AMI) from a running instance.</a:t>
            </a:r>
          </a:p>
          <a:p>
            <a:pPr marL="171450" indent="-171450">
              <a:buFont typeface="Arial" panose="020B0604020202020204" pitchFamily="34" charset="0"/>
              <a:buChar char="•"/>
            </a:pPr>
            <a:r>
              <a:rPr lang="en-US" sz="1100" dirty="0">
                <a:latin typeface="+mn-lt"/>
              </a:rPr>
              <a:t>Created a load balancer.</a:t>
            </a:r>
          </a:p>
          <a:p>
            <a:pPr marL="171450" indent="-171450">
              <a:buFont typeface="Arial" panose="020B0604020202020204" pitchFamily="34" charset="0"/>
              <a:buChar char="•"/>
            </a:pPr>
            <a:r>
              <a:rPr lang="en-US" sz="1100" dirty="0">
                <a:latin typeface="+mn-lt"/>
              </a:rPr>
              <a:t>Created a launch configuration and an Auto Scaling group.</a:t>
            </a:r>
          </a:p>
          <a:p>
            <a:pPr marL="171450" indent="-171450">
              <a:buFont typeface="Arial" panose="020B0604020202020204" pitchFamily="34" charset="0"/>
              <a:buChar char="•"/>
            </a:pPr>
            <a:r>
              <a:rPr lang="en-US" sz="1100" dirty="0">
                <a:latin typeface="+mn-lt"/>
              </a:rPr>
              <a:t>Automatically scaled new instances within a private subnet.</a:t>
            </a:r>
          </a:p>
          <a:p>
            <a:pPr marL="171450" indent="-171450">
              <a:buFont typeface="Arial" panose="020B0604020202020204" pitchFamily="34" charset="0"/>
              <a:buChar char="•"/>
            </a:pPr>
            <a:r>
              <a:rPr lang="en-US" sz="1100" dirty="0">
                <a:latin typeface="+mn-lt"/>
              </a:rPr>
              <a:t>Created Amazon CloudWatch alarms and monitored performance of your infrastructure.</a:t>
            </a:r>
            <a:endParaRPr lang="en-US" sz="1100" dirty="0"/>
          </a:p>
        </p:txBody>
      </p:sp>
    </p:spTree>
    <p:extLst>
      <p:ext uri="{BB962C8B-B14F-4D97-AF65-F5344CB8AC3E}">
        <p14:creationId xmlns:p14="http://schemas.microsoft.com/office/powerpoint/2010/main" val="33815138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It’s now time to review the module, and wrap up with a knowledge check and discussion of a practice certification exam question.</a:t>
            </a:r>
          </a:p>
        </p:txBody>
      </p:sp>
    </p:spTree>
    <p:extLst>
      <p:ext uri="{BB962C8B-B14F-4D97-AF65-F5344CB8AC3E}">
        <p14:creationId xmlns:p14="http://schemas.microsoft.com/office/powerpoint/2010/main" val="2235408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 summary, in this module you learned how to:</a:t>
            </a:r>
          </a:p>
          <a:p>
            <a:pPr marL="171450" indent="-171450">
              <a:buFont typeface="Arial" panose="020B0604020202020204" pitchFamily="34" charset="0"/>
              <a:buChar char="•"/>
            </a:pPr>
            <a:r>
              <a:rPr lang="en-US" sz="1100" dirty="0">
                <a:latin typeface="+mn-lt"/>
              </a:rPr>
              <a:t>Indicate how to distribute traffic across Amazon Elastic Compute Cloud (Amazon EC2) instances using Elastic Load Balancing.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latin typeface="+mn-lt"/>
              </a:rPr>
              <a:t>Identify how Amazon CloudWatch enables you to monitor AWS resources and applications in real 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latin typeface="+mn-lt"/>
              </a:rPr>
              <a:t>Explain how Amazon EC2 Auto Scaling launches and releases servers in response to workload changes.</a:t>
            </a:r>
          </a:p>
          <a:p>
            <a:pPr marL="171450" indent="-171450">
              <a:buFont typeface="Arial" panose="020B0604020202020204" pitchFamily="34" charset="0"/>
              <a:buChar char="•"/>
            </a:pPr>
            <a:r>
              <a:rPr lang="en-US" sz="1100" dirty="0">
                <a:latin typeface="+mn-lt"/>
              </a:rPr>
              <a:t>Perform scaling and load balancing tasks to improve an architecture.</a:t>
            </a:r>
            <a:endParaRPr lang="en-US" sz="1100" dirty="0"/>
          </a:p>
        </p:txBody>
      </p:sp>
    </p:spTree>
    <p:extLst>
      <p:ext uri="{BB962C8B-B14F-4D97-AF65-F5344CB8AC3E}">
        <p14:creationId xmlns:p14="http://schemas.microsoft.com/office/powerpoint/2010/main" val="7185447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Complete the knowledge check for this module.</a:t>
            </a:r>
          </a:p>
          <a:p>
            <a:endParaRPr lang="en-US" sz="1100" dirty="0"/>
          </a:p>
        </p:txBody>
      </p:sp>
    </p:spTree>
    <p:extLst>
      <p:ext uri="{BB962C8B-B14F-4D97-AF65-F5344CB8AC3E}">
        <p14:creationId xmlns:p14="http://schemas.microsoft.com/office/powerpoint/2010/main" val="16731974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Look at the answer</a:t>
            </a:r>
            <a:r>
              <a:rPr lang="en-US" sz="1100" baseline="0" dirty="0"/>
              <a:t> choices and rule them out based on the keywords that were previously highlighted.</a:t>
            </a:r>
            <a:endParaRPr lang="en-US" sz="1100" dirty="0"/>
          </a:p>
          <a:p>
            <a:endParaRPr lang="en-US" sz="1100" dirty="0"/>
          </a:p>
        </p:txBody>
      </p:sp>
    </p:spTree>
    <p:extLst>
      <p:ext uri="{BB962C8B-B14F-4D97-AF65-F5344CB8AC3E}">
        <p14:creationId xmlns:p14="http://schemas.microsoft.com/office/powerpoint/2010/main" val="34588781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Thanks for participating!</a:t>
            </a:r>
          </a:p>
        </p:txBody>
      </p:sp>
    </p:spTree>
    <p:extLst>
      <p:ext uri="{BB962C8B-B14F-4D97-AF65-F5344CB8AC3E}">
        <p14:creationId xmlns:p14="http://schemas.microsoft.com/office/powerpoint/2010/main" val="13269370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5.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333185800"/>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4231695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 uri="{C183D7F6-B498-43B3-948B-1728B52AA6E4}">
                <adec:decorative xmlns:adec="http://schemas.microsoft.com/office/drawing/2017/decorative" val="1"/>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dirty="0"/>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3816153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507082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394656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4">
            <a:extLst>
              <a:ext uri="{FF2B5EF4-FFF2-40B4-BE49-F238E27FC236}">
                <a16:creationId xmlns:a16="http://schemas.microsoft.com/office/drawing/2014/main" id="{69573A30-3961-C94C-A15D-1FC70640BAA5}"/>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611942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a:extLst>
              <a:ext uri="{FF2B5EF4-FFF2-40B4-BE49-F238E27FC236}">
                <a16:creationId xmlns:a16="http://schemas.microsoft.com/office/drawing/2014/main" id="{EAED9FF8-3030-4E4D-ADC0-FA2315FD54F2}"/>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4" name="Picture 13">
            <a:extLst>
              <a:ext uri="{FF2B5EF4-FFF2-40B4-BE49-F238E27FC236}">
                <a16:creationId xmlns:a16="http://schemas.microsoft.com/office/drawing/2014/main" id="{BCD2DB21-CEFB-4A4D-B8DA-776FFE4E65E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36884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0" name="Footer Placeholder 4">
            <a:extLst>
              <a:ext uri="{FF2B5EF4-FFF2-40B4-BE49-F238E27FC236}">
                <a16:creationId xmlns:a16="http://schemas.microsoft.com/office/drawing/2014/main" id="{6552EEA6-13B7-F947-9C14-50FE8967965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503D402F-215B-FB47-825A-3E2774C59C1B}"/>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778412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0" name="Footer Placeholder 4">
            <a:extLst>
              <a:ext uri="{FF2B5EF4-FFF2-40B4-BE49-F238E27FC236}">
                <a16:creationId xmlns:a16="http://schemas.microsoft.com/office/drawing/2014/main" id="{99B9B80A-7CBE-8F4D-B2B0-66F7C285B4DD}"/>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5" name="Picture 14">
            <a:extLst>
              <a:ext uri="{FF2B5EF4-FFF2-40B4-BE49-F238E27FC236}">
                <a16:creationId xmlns:a16="http://schemas.microsoft.com/office/drawing/2014/main" id="{2D28D2B2-887B-C449-B54F-A6016CBDBCB1}"/>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715083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fld id="{B6A95138-A96E-2F42-A959-2EFD44FE4AB7}" type="slidenum">
              <a:rPr lang="en-US" smtClean="0"/>
              <a:t>‹#›</a:t>
            </a:fld>
            <a:endParaRPr lang="en-US" dirty="0"/>
          </a:p>
        </p:txBody>
      </p:sp>
      <p:sp>
        <p:nvSpPr>
          <p:cNvPr id="7" name="Footer Placeholder 4">
            <a:extLst>
              <a:ext uri="{FF2B5EF4-FFF2-40B4-BE49-F238E27FC236}">
                <a16:creationId xmlns:a16="http://schemas.microsoft.com/office/drawing/2014/main" id="{BE8EE179-7D32-EC44-9957-395A214B62C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8" name="Picture 7">
            <a:extLst>
              <a:ext uri="{FF2B5EF4-FFF2-40B4-BE49-F238E27FC236}">
                <a16:creationId xmlns:a16="http://schemas.microsoft.com/office/drawing/2014/main" id="{FD64CDEF-A244-5649-B243-5BDF609659D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145953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13" name="Footer Placeholder 4">
            <a:extLst>
              <a:ext uri="{FF2B5EF4-FFF2-40B4-BE49-F238E27FC236}">
                <a16:creationId xmlns:a16="http://schemas.microsoft.com/office/drawing/2014/main" id="{69573A30-3961-C94C-A15D-1FC70640BAA5}"/>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B49C5B5F-9EDC-CD4D-BA0B-49411FD11BB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855186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dirty="0"/>
              <a:t>Click icon to add picture</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dirty="0"/>
              <a:t>Click icon to add picture</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dirty="0"/>
              <a:t>Click icon to add picture</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dirty="0"/>
              <a:t>Click icon to add picture</a:t>
            </a:r>
          </a:p>
        </p:txBody>
      </p:sp>
      <p:sp>
        <p:nvSpPr>
          <p:cNvPr id="14" name="Footer Placeholder 4">
            <a:extLst>
              <a:ext uri="{FF2B5EF4-FFF2-40B4-BE49-F238E27FC236}">
                <a16:creationId xmlns:a16="http://schemas.microsoft.com/office/drawing/2014/main" id="{075ED423-869B-CA42-83F6-A40BF01C3EB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49A7927A-C274-E848-B9FC-75CF0763AED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74960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dirty="0"/>
              <a:t>Click icon to add picture</a:t>
            </a:r>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dirty="0"/>
              <a:t>Click icon to add picture</a:t>
            </a:r>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21" name="Footer Placeholder 4">
            <a:extLst>
              <a:ext uri="{FF2B5EF4-FFF2-40B4-BE49-F238E27FC236}">
                <a16:creationId xmlns:a16="http://schemas.microsoft.com/office/drawing/2014/main" id="{FBF3F200-BB4F-664F-876E-B587463197ED}"/>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23" name="Picture 22">
            <a:extLst>
              <a:ext uri="{FF2B5EF4-FFF2-40B4-BE49-F238E27FC236}">
                <a16:creationId xmlns:a16="http://schemas.microsoft.com/office/drawing/2014/main" id="{C99A9892-B85D-B746-B8F0-8DD0CF1EABE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587252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Click to 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Click to 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Click to 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sp>
        <p:nvSpPr>
          <p:cNvPr id="31" name="Footer Placeholder 4">
            <a:extLst>
              <a:ext uri="{FF2B5EF4-FFF2-40B4-BE49-F238E27FC236}">
                <a16:creationId xmlns:a16="http://schemas.microsoft.com/office/drawing/2014/main" id="{A9C4F210-2650-3942-9632-6074E8F12704}"/>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34" name="Picture 33">
            <a:extLst>
              <a:ext uri="{FF2B5EF4-FFF2-40B4-BE49-F238E27FC236}">
                <a16:creationId xmlns:a16="http://schemas.microsoft.com/office/drawing/2014/main" id="{F7CCF82A-4490-0644-8968-C198DF5F3F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6"/>
            <a:ext cx="1772652"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1710858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pic>
        <p:nvPicPr>
          <p:cNvPr id="7" name="Picture 6">
            <a:extLst>
              <a:ext uri="{FF2B5EF4-FFF2-40B4-BE49-F238E27FC236}">
                <a16:creationId xmlns:a16="http://schemas.microsoft.com/office/drawing/2014/main" id="{18DE245B-4FD3-2740-8BED-8269A8D5C21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Tree>
    <p:custDataLst>
      <p:tags r:id="rId1"/>
    </p:custDataLst>
    <p:extLst>
      <p:ext uri="{BB962C8B-B14F-4D97-AF65-F5344CB8AC3E}">
        <p14:creationId xmlns:p14="http://schemas.microsoft.com/office/powerpoint/2010/main" val="25395086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pic>
        <p:nvPicPr>
          <p:cNvPr id="8" name="Picture 7">
            <a:extLst>
              <a:ext uri="{FF2B5EF4-FFF2-40B4-BE49-F238E27FC236}">
                <a16:creationId xmlns:a16="http://schemas.microsoft.com/office/drawing/2014/main" id="{FE4A4D56-E7FB-BE4E-A7A1-0A8FD181905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893529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3">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pic>
        <p:nvPicPr>
          <p:cNvPr id="8" name="Picture 7">
            <a:extLst>
              <a:ext uri="{FF2B5EF4-FFF2-40B4-BE49-F238E27FC236}">
                <a16:creationId xmlns:a16="http://schemas.microsoft.com/office/drawing/2014/main" id="{8DBCFF47-80C8-FA4F-9A18-B92FA7DC4DF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9369913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1" name="Picture 10">
            <a:extLst>
              <a:ext uri="{FF2B5EF4-FFF2-40B4-BE49-F238E27FC236}">
                <a16:creationId xmlns:a16="http://schemas.microsoft.com/office/drawing/2014/main" id="{BE6AEB20-C247-9049-A91B-EA79979980D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511904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 uri="{C183D7F6-B498-43B3-948B-1728B52AA6E4}">
                <adec:decorative xmlns:adec="http://schemas.microsoft.com/office/drawing/2017/decorative" val="1"/>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dirty="0"/>
              <a:t>Click to edit Master title style</a:t>
            </a:r>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34500859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6" name="Picture 5">
            <a:extLst>
              <a:ext uri="{FF2B5EF4-FFF2-40B4-BE49-F238E27FC236}">
                <a16:creationId xmlns:a16="http://schemas.microsoft.com/office/drawing/2014/main" id="{40DE264E-2087-B647-8F60-282FE0A1DE1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40182823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571082" cy="1311187"/>
          </a:xfrm>
          <a:prstGeom prst="rect">
            <a:avLst/>
          </a:prstGeom>
        </p:spPr>
        <p:txBody>
          <a:bodyPr>
            <a:normAutofit/>
          </a:bodyPr>
          <a:lstStyle>
            <a:lvl1pPr marL="0" indent="0">
              <a:buNone/>
              <a:defRPr sz="2400"/>
            </a:lvl1pPr>
          </a:lstStyle>
          <a:p>
            <a:pPr lvl="0"/>
            <a:r>
              <a:rPr lang="en-US"/>
              <a:t>Click to 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942034" cy="413702"/>
          </a:xfrm>
          <a:prstGeom prst="rect">
            <a:avLst/>
          </a:prstGeom>
        </p:spPr>
        <p:txBody>
          <a:bodyPr>
            <a:noAutofit/>
          </a:bodyPr>
          <a:lstStyle>
            <a:lvl1pPr marL="0" indent="0">
              <a:buNone/>
              <a:defRPr sz="2000" b="0">
                <a:solidFill>
                  <a:schemeClr val="tx1"/>
                </a:solidFill>
              </a:defRPr>
            </a:lvl1pPr>
          </a:lstStyle>
          <a:p>
            <a:pPr lvl="0"/>
            <a:r>
              <a:rPr lang="en-US"/>
              <a:t>Click to edit Master text styles</a:t>
            </a:r>
          </a:p>
        </p:txBody>
      </p:sp>
      <p:pic>
        <p:nvPicPr>
          <p:cNvPr id="16" name="Picture 15">
            <a:extLst>
              <a:ext uri="{FF2B5EF4-FFF2-40B4-BE49-F238E27FC236}">
                <a16:creationId xmlns:a16="http://schemas.microsoft.com/office/drawing/2014/main" id="{A51D4E80-7282-594D-8256-F973AFF71D5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396238" y="6089840"/>
            <a:ext cx="1772656" cy="449073"/>
          </a:xfrm>
          <a:prstGeom prst="rect">
            <a:avLst/>
          </a:prstGeom>
        </p:spPr>
      </p:pic>
      <p:sp>
        <p:nvSpPr>
          <p:cNvPr id="18" name="Footer Placeholder 4">
            <a:extLst>
              <a:ext uri="{FF2B5EF4-FFF2-40B4-BE49-F238E27FC236}">
                <a16:creationId xmlns:a16="http://schemas.microsoft.com/office/drawing/2014/main" id="{D654C84E-7AFF-4E43-BC29-5AF15F0EFE3A}"/>
              </a:ext>
              <a:ext uri="{C183D7F6-B498-43B3-948B-1728B52AA6E4}">
                <adec:decorative xmlns:adec="http://schemas.microsoft.com/office/drawing/2017/decorative" val="1"/>
              </a:ext>
            </a:extLst>
          </p:cNvPr>
          <p:cNvSpPr>
            <a:spLocks noGrp="1"/>
          </p:cNvSpPr>
          <p:nvPr>
            <p:ph type="ftr" sz="quarter" idx="3"/>
          </p:nvPr>
        </p:nvSpPr>
        <p:spPr>
          <a:xfrm>
            <a:off x="419100" y="6356351"/>
            <a:ext cx="3735457" cy="365125"/>
          </a:xfrm>
          <a:prstGeom prst="rect">
            <a:avLst/>
          </a:prstGeom>
        </p:spPr>
        <p:txBody>
          <a:bodyPr vert="horz" lIns="91440" tIns="45720" rIns="91440" bIns="45720" rtlCol="0" anchor="ctr"/>
          <a:lstStyle>
            <a:lvl1pPr algn="l">
              <a:defRPr sz="881"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333">
                <a:solidFill>
                  <a:schemeClr val="bg1"/>
                </a:solidFill>
              </a:defRPr>
            </a:lvl1pPr>
          </a:lstStyle>
          <a:p>
            <a:pPr lvl="0"/>
            <a:r>
              <a:rPr lang="en-US"/>
              <a:t>Click to edit Master text styles</a:t>
            </a:r>
          </a:p>
        </p:txBody>
      </p:sp>
      <p:sp>
        <p:nvSpPr>
          <p:cNvPr id="24" name="TextBox 23"/>
          <p:cNvSpPr txBox="1"/>
          <p:nvPr userDrawn="1"/>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333">
                <a:solidFill>
                  <a:schemeClr val="bg1"/>
                </a:solidFill>
              </a:defRPr>
            </a:lvl1pPr>
          </a:lstStyle>
          <a:p>
            <a:pPr lvl="0"/>
            <a:r>
              <a:rPr lang="en-US"/>
              <a:t>Click to 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573966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9" name="Footer Placeholder 4">
            <a:extLst>
              <a:ext uri="{FF2B5EF4-FFF2-40B4-BE49-F238E27FC236}">
                <a16:creationId xmlns:a16="http://schemas.microsoft.com/office/drawing/2014/main" id="{D654C84E-7AFF-4E43-BC29-5AF15F0EFE3A}"/>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3376812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 uri="{C183D7F6-B498-43B3-948B-1728B52AA6E4}">
                <adec:decorative xmlns:adec="http://schemas.microsoft.com/office/drawing/2017/decorative" val="0"/>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2019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7" name="Picture 6">
            <a:extLst>
              <a:ext uri="{FF2B5EF4-FFF2-40B4-BE49-F238E27FC236}">
                <a16:creationId xmlns:a16="http://schemas.microsoft.com/office/drawing/2014/main" id="{91A5F71C-941B-424B-B0F4-B91497513EB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581085189"/>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B6A95138-A96E-2F42-A959-2EFD44FE4AB7}" type="slidenum">
              <a:rPr lang="en-US" smtClean="0"/>
              <a:pPr/>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Tree>
    <p:custDataLst>
      <p:tags r:id="rId25"/>
    </p:custDataLst>
    <p:extLst>
      <p:ext uri="{BB962C8B-B14F-4D97-AF65-F5344CB8AC3E}">
        <p14:creationId xmlns:p14="http://schemas.microsoft.com/office/powerpoint/2010/main" val="2772879459"/>
      </p:ext>
    </p:extLst>
  </p:cSld>
  <p:clrMap bg1="lt1" tx1="dk1" bg2="lt2" tx2="dk2" accent1="accent1" accent2="accent2" accent3="accent3" accent4="accent4" accent5="accent5" accent6="accent6" hlink="hlink" folHlink="folHlink"/>
  <p:sldLayoutIdLst>
    <p:sldLayoutId id="2147483664" r:id="rId1"/>
    <p:sldLayoutId id="2147483663" r:id="rId2"/>
    <p:sldLayoutId id="2147483670" r:id="rId3"/>
    <p:sldLayoutId id="2147483667" r:id="rId4"/>
    <p:sldLayoutId id="2147483650" r:id="rId5"/>
    <p:sldLayoutId id="2147483649" r:id="rId6"/>
    <p:sldLayoutId id="2147483651" r:id="rId7"/>
    <p:sldLayoutId id="2147483652" r:id="rId8"/>
    <p:sldLayoutId id="2147483661" r:id="rId9"/>
    <p:sldLayoutId id="2147483653" r:id="rId10"/>
    <p:sldLayoutId id="2147483671" r:id="rId11"/>
    <p:sldLayoutId id="2147483657" r:id="rId12"/>
    <p:sldLayoutId id="2147483658" r:id="rId13"/>
    <p:sldLayoutId id="2147483659" r:id="rId14"/>
    <p:sldLayoutId id="2147483678" r:id="rId15"/>
    <p:sldLayoutId id="2147483679" r:id="rId16"/>
    <p:sldLayoutId id="2147483680" r:id="rId17"/>
    <p:sldLayoutId id="2147483668" r:id="rId18"/>
    <p:sldLayoutId id="2147483672" r:id="rId19"/>
    <p:sldLayoutId id="2147483665" r:id="rId20"/>
    <p:sldLayoutId id="2147483677" r:id="rId21"/>
    <p:sldLayoutId id="2147483669" r:id="rId22"/>
    <p:sldLayoutId id="2147483660" r:id="rId23"/>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64" userDrawn="1">
          <p15:clr>
            <a:srgbClr val="F26B43"/>
          </p15:clr>
        </p15:guide>
        <p15:guide id="4" pos="741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2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notesSlide" Target="../notesSlides/notesSlide5.xml"/><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slideLayout" Target="../slideLayouts/slideLayout6.xml"/><Relationship Id="rId1" Type="http://schemas.openxmlformats.org/officeDocument/2006/relationships/tags" Target="../tags/tag30.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6.xml"/><Relationship Id="rId7" Type="http://schemas.openxmlformats.org/officeDocument/2006/relationships/image" Target="../media/image26.svg"/><Relationship Id="rId2" Type="http://schemas.openxmlformats.org/officeDocument/2006/relationships/slideLayout" Target="../slideLayouts/slideLayout18.xml"/><Relationship Id="rId1" Type="http://schemas.openxmlformats.org/officeDocument/2006/relationships/tags" Target="../tags/tag31.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3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33.xml"/><Relationship Id="rId4" Type="http://schemas.openxmlformats.org/officeDocument/2006/relationships/image" Target="../media/image28.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3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32.png"/><Relationship Id="rId2" Type="http://schemas.openxmlformats.org/officeDocument/2006/relationships/slideLayout" Target="../slideLayouts/slideLayout18.xml"/><Relationship Id="rId1" Type="http://schemas.openxmlformats.org/officeDocument/2006/relationships/tags" Target="../tags/tag36.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37.xml"/><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2.svg"/><Relationship Id="rId3" Type="http://schemas.openxmlformats.org/officeDocument/2006/relationships/notesSlide" Target="../notesSlides/notesSlide13.xml"/><Relationship Id="rId7" Type="http://schemas.openxmlformats.org/officeDocument/2006/relationships/image" Target="../media/image38.svg"/><Relationship Id="rId12" Type="http://schemas.openxmlformats.org/officeDocument/2006/relationships/image" Target="../media/image41.png"/><Relationship Id="rId2" Type="http://schemas.openxmlformats.org/officeDocument/2006/relationships/slideLayout" Target="../slideLayouts/slideLayout5.xml"/><Relationship Id="rId1" Type="http://schemas.openxmlformats.org/officeDocument/2006/relationships/tags" Target="../tags/tag38.xml"/><Relationship Id="rId6" Type="http://schemas.openxmlformats.org/officeDocument/2006/relationships/image" Target="../media/image37.png"/><Relationship Id="rId11" Type="http://schemas.openxmlformats.org/officeDocument/2006/relationships/image" Target="../media/image10.svg"/><Relationship Id="rId5" Type="http://schemas.openxmlformats.org/officeDocument/2006/relationships/image" Target="../media/image36.svg"/><Relationship Id="rId10" Type="http://schemas.openxmlformats.org/officeDocument/2006/relationships/image" Target="../media/image9.png"/><Relationship Id="rId4" Type="http://schemas.openxmlformats.org/officeDocument/2006/relationships/image" Target="../media/image35.png"/><Relationship Id="rId9" Type="http://schemas.openxmlformats.org/officeDocument/2006/relationships/image" Target="../media/image40.sv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39.xml"/><Relationship Id="rId4" Type="http://schemas.openxmlformats.org/officeDocument/2006/relationships/image" Target="../media/image28.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8.xml"/><Relationship Id="rId1" Type="http://schemas.openxmlformats.org/officeDocument/2006/relationships/tags" Target="../tags/tag4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4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43.xm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44.xml"/><Relationship Id="rId5" Type="http://schemas.openxmlformats.org/officeDocument/2006/relationships/image" Target="../media/image45.pn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49.svg"/><Relationship Id="rId2" Type="http://schemas.openxmlformats.org/officeDocument/2006/relationships/slideLayout" Target="../slideLayouts/slideLayout18.xml"/><Relationship Id="rId1" Type="http://schemas.openxmlformats.org/officeDocument/2006/relationships/tags" Target="../tags/tag45.xml"/><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notesSlide" Target="../notesSlides/notesSlide21.xml"/><Relationship Id="rId7" Type="http://schemas.openxmlformats.org/officeDocument/2006/relationships/image" Target="../media/image49.svg"/><Relationship Id="rId2" Type="http://schemas.openxmlformats.org/officeDocument/2006/relationships/slideLayout" Target="../slideLayouts/slideLayout5.xml"/><Relationship Id="rId1" Type="http://schemas.openxmlformats.org/officeDocument/2006/relationships/tags" Target="../tags/tag46.xml"/><Relationship Id="rId6" Type="http://schemas.openxmlformats.org/officeDocument/2006/relationships/image" Target="../media/image48.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47.svg"/></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6.svg"/><Relationship Id="rId3" Type="http://schemas.openxmlformats.org/officeDocument/2006/relationships/notesSlide" Target="../notesSlides/notesSlide23.xml"/><Relationship Id="rId7" Type="http://schemas.openxmlformats.org/officeDocument/2006/relationships/image" Target="../media/image49.svg"/><Relationship Id="rId12" Type="http://schemas.openxmlformats.org/officeDocument/2006/relationships/image" Target="../media/image55.png"/><Relationship Id="rId2" Type="http://schemas.openxmlformats.org/officeDocument/2006/relationships/slideLayout" Target="../slideLayouts/slideLayout18.xml"/><Relationship Id="rId1" Type="http://schemas.openxmlformats.org/officeDocument/2006/relationships/tags" Target="../tags/tag47.xml"/><Relationship Id="rId6" Type="http://schemas.openxmlformats.org/officeDocument/2006/relationships/image" Target="../media/image48.png"/><Relationship Id="rId11" Type="http://schemas.openxmlformats.org/officeDocument/2006/relationships/image" Target="../media/image54.svg"/><Relationship Id="rId5" Type="http://schemas.openxmlformats.org/officeDocument/2006/relationships/image" Target="../media/image52.svg"/><Relationship Id="rId10" Type="http://schemas.openxmlformats.org/officeDocument/2006/relationships/image" Target="../media/image53.png"/><Relationship Id="rId4" Type="http://schemas.openxmlformats.org/officeDocument/2006/relationships/image" Target="../media/image51.png"/><Relationship Id="rId9" Type="http://schemas.openxmlformats.org/officeDocument/2006/relationships/image" Target="../media/image47.svg"/></Relationships>
</file>

<file path=ppt/slides/_rels/slide28.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60.png"/><Relationship Id="rId3" Type="http://schemas.openxmlformats.org/officeDocument/2006/relationships/notesSlide" Target="../notesSlides/notesSlide24.xml"/><Relationship Id="rId7" Type="http://schemas.openxmlformats.org/officeDocument/2006/relationships/image" Target="../media/image58.svg"/><Relationship Id="rId12" Type="http://schemas.openxmlformats.org/officeDocument/2006/relationships/image" Target="../media/image59.png"/><Relationship Id="rId2" Type="http://schemas.openxmlformats.org/officeDocument/2006/relationships/slideLayout" Target="../slideLayouts/slideLayout18.xml"/><Relationship Id="rId1" Type="http://schemas.openxmlformats.org/officeDocument/2006/relationships/tags" Target="../tags/tag48.xml"/><Relationship Id="rId6" Type="http://schemas.openxmlformats.org/officeDocument/2006/relationships/image" Target="../media/image57.png"/><Relationship Id="rId11" Type="http://schemas.openxmlformats.org/officeDocument/2006/relationships/image" Target="../media/image47.svg"/><Relationship Id="rId5" Type="http://schemas.openxmlformats.org/officeDocument/2006/relationships/image" Target="../media/image30.svg"/><Relationship Id="rId10" Type="http://schemas.openxmlformats.org/officeDocument/2006/relationships/image" Target="../media/image46.png"/><Relationship Id="rId4" Type="http://schemas.openxmlformats.org/officeDocument/2006/relationships/image" Target="../media/image29.png"/><Relationship Id="rId9" Type="http://schemas.openxmlformats.org/officeDocument/2006/relationships/image" Target="../media/image10.svg"/><Relationship Id="rId14" Type="http://schemas.openxmlformats.org/officeDocument/2006/relationships/image" Target="../media/image61.sv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tags" Target="../tags/tag49.xml"/><Relationship Id="rId5" Type="http://schemas.openxmlformats.org/officeDocument/2006/relationships/image" Target="../media/image63.svg"/><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tags" Target="../tags/tag50.xml"/><Relationship Id="rId4" Type="http://schemas.openxmlformats.org/officeDocument/2006/relationships/image" Target="../media/image28.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tags" Target="../tags/tag51.xml"/><Relationship Id="rId4" Type="http://schemas.openxmlformats.org/officeDocument/2006/relationships/image" Target="../media/image64.jpeg"/></Relationships>
</file>

<file path=ppt/slides/_rels/slide32.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svg"/><Relationship Id="rId18" Type="http://schemas.openxmlformats.org/officeDocument/2006/relationships/image" Target="../media/image48.png"/><Relationship Id="rId3" Type="http://schemas.openxmlformats.org/officeDocument/2006/relationships/notesSlide" Target="../notesSlides/notesSlide28.xml"/><Relationship Id="rId21" Type="http://schemas.openxmlformats.org/officeDocument/2006/relationships/image" Target="../media/image74.svg"/><Relationship Id="rId7" Type="http://schemas.openxmlformats.org/officeDocument/2006/relationships/image" Target="../media/image54.svg"/><Relationship Id="rId12" Type="http://schemas.openxmlformats.org/officeDocument/2006/relationships/image" Target="../media/image69.png"/><Relationship Id="rId17" Type="http://schemas.openxmlformats.org/officeDocument/2006/relationships/image" Target="../media/image72.svg"/><Relationship Id="rId2" Type="http://schemas.openxmlformats.org/officeDocument/2006/relationships/slideLayout" Target="../slideLayouts/slideLayout18.xml"/><Relationship Id="rId16" Type="http://schemas.openxmlformats.org/officeDocument/2006/relationships/image" Target="../media/image71.png"/><Relationship Id="rId20" Type="http://schemas.openxmlformats.org/officeDocument/2006/relationships/image" Target="../media/image73.png"/><Relationship Id="rId1" Type="http://schemas.openxmlformats.org/officeDocument/2006/relationships/tags" Target="../tags/tag52.xml"/><Relationship Id="rId6" Type="http://schemas.openxmlformats.org/officeDocument/2006/relationships/image" Target="../media/image53.png"/><Relationship Id="rId11" Type="http://schemas.openxmlformats.org/officeDocument/2006/relationships/image" Target="../media/image68.svg"/><Relationship Id="rId5" Type="http://schemas.openxmlformats.org/officeDocument/2006/relationships/image" Target="../media/image26.svg"/><Relationship Id="rId15" Type="http://schemas.openxmlformats.org/officeDocument/2006/relationships/image" Target="../media/image56.svg"/><Relationship Id="rId10" Type="http://schemas.openxmlformats.org/officeDocument/2006/relationships/image" Target="../media/image67.png"/><Relationship Id="rId19" Type="http://schemas.openxmlformats.org/officeDocument/2006/relationships/image" Target="../media/image49.svg"/><Relationship Id="rId4" Type="http://schemas.openxmlformats.org/officeDocument/2006/relationships/image" Target="../media/image25.png"/><Relationship Id="rId9" Type="http://schemas.openxmlformats.org/officeDocument/2006/relationships/image" Target="../media/image66.svg"/><Relationship Id="rId14" Type="http://schemas.openxmlformats.org/officeDocument/2006/relationships/image" Target="../media/image55.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53.xml"/></Relationships>
</file>

<file path=ppt/slides/_rels/slide34.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66.svg"/><Relationship Id="rId18" Type="http://schemas.openxmlformats.org/officeDocument/2006/relationships/image" Target="../media/image46.png"/><Relationship Id="rId3" Type="http://schemas.openxmlformats.org/officeDocument/2006/relationships/notesSlide" Target="../notesSlides/notesSlide30.xml"/><Relationship Id="rId21" Type="http://schemas.openxmlformats.org/officeDocument/2006/relationships/image" Target="../media/image70.svg"/><Relationship Id="rId7" Type="http://schemas.openxmlformats.org/officeDocument/2006/relationships/image" Target="../media/image54.svg"/><Relationship Id="rId12" Type="http://schemas.openxmlformats.org/officeDocument/2006/relationships/image" Target="../media/image65.png"/><Relationship Id="rId17" Type="http://schemas.openxmlformats.org/officeDocument/2006/relationships/image" Target="../media/image74.svg"/><Relationship Id="rId25" Type="http://schemas.openxmlformats.org/officeDocument/2006/relationships/image" Target="../media/image49.svg"/><Relationship Id="rId2" Type="http://schemas.openxmlformats.org/officeDocument/2006/relationships/slideLayout" Target="../slideLayouts/slideLayout5.xml"/><Relationship Id="rId16" Type="http://schemas.openxmlformats.org/officeDocument/2006/relationships/image" Target="../media/image73.png"/><Relationship Id="rId20" Type="http://schemas.openxmlformats.org/officeDocument/2006/relationships/image" Target="../media/image69.png"/><Relationship Id="rId1" Type="http://schemas.openxmlformats.org/officeDocument/2006/relationships/tags" Target="../tags/tag54.xml"/><Relationship Id="rId6" Type="http://schemas.openxmlformats.org/officeDocument/2006/relationships/image" Target="../media/image53.png"/><Relationship Id="rId11" Type="http://schemas.openxmlformats.org/officeDocument/2006/relationships/image" Target="../media/image56.svg"/><Relationship Id="rId24" Type="http://schemas.openxmlformats.org/officeDocument/2006/relationships/image" Target="../media/image48.png"/><Relationship Id="rId5" Type="http://schemas.openxmlformats.org/officeDocument/2006/relationships/image" Target="../media/image26.svg"/><Relationship Id="rId15" Type="http://schemas.openxmlformats.org/officeDocument/2006/relationships/image" Target="../media/image76.svg"/><Relationship Id="rId23" Type="http://schemas.openxmlformats.org/officeDocument/2006/relationships/image" Target="../media/image72.svg"/><Relationship Id="rId10" Type="http://schemas.openxmlformats.org/officeDocument/2006/relationships/image" Target="../media/image55.png"/><Relationship Id="rId19" Type="http://schemas.openxmlformats.org/officeDocument/2006/relationships/image" Target="../media/image47.svg"/><Relationship Id="rId4" Type="http://schemas.openxmlformats.org/officeDocument/2006/relationships/image" Target="../media/image25.png"/><Relationship Id="rId9" Type="http://schemas.openxmlformats.org/officeDocument/2006/relationships/image" Target="../media/image68.svg"/><Relationship Id="rId14" Type="http://schemas.openxmlformats.org/officeDocument/2006/relationships/image" Target="../media/image75.png"/><Relationship Id="rId22" Type="http://schemas.openxmlformats.org/officeDocument/2006/relationships/image" Target="../media/image7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9.xml"/><Relationship Id="rId1" Type="http://schemas.openxmlformats.org/officeDocument/2006/relationships/tags" Target="../tags/tag55.xml"/><Relationship Id="rId5" Type="http://schemas.openxmlformats.org/officeDocument/2006/relationships/image" Target="../media/image78.png"/><Relationship Id="rId4" Type="http://schemas.openxmlformats.org/officeDocument/2006/relationships/image" Target="../media/image77.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56.xml"/><Relationship Id="rId4" Type="http://schemas.openxmlformats.org/officeDocument/2006/relationships/image" Target="../media/image79.tiff"/></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5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8.xml"/><Relationship Id="rId1" Type="http://schemas.openxmlformats.org/officeDocument/2006/relationships/tags" Target="../tags/tag59.xml"/><Relationship Id="rId4" Type="http://schemas.openxmlformats.org/officeDocument/2006/relationships/image" Target="../media/image80.tiff"/></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60.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3.xml"/><Relationship Id="rId1" Type="http://schemas.openxmlformats.org/officeDocument/2006/relationships/tags" Target="../tags/tag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213009-50A0-5448-BFE6-30EFBA8DB8F6}"/>
              </a:ext>
            </a:extLst>
          </p:cNvPr>
          <p:cNvSpPr>
            <a:spLocks noGrp="1"/>
          </p:cNvSpPr>
          <p:nvPr>
            <p:ph type="body" sz="quarter" idx="10"/>
          </p:nvPr>
        </p:nvSpPr>
        <p:spPr/>
        <p:txBody>
          <a:bodyPr>
            <a:normAutofit/>
          </a:bodyPr>
          <a:lstStyle/>
          <a:p>
            <a:r>
              <a:rPr lang="en-US" dirty="0">
                <a:latin typeface="+mj-lt"/>
              </a:rPr>
              <a:t>AWS Academy Cloud Foundations</a:t>
            </a:r>
          </a:p>
        </p:txBody>
      </p:sp>
      <p:sp>
        <p:nvSpPr>
          <p:cNvPr id="6" name="Title 5"/>
          <p:cNvSpPr>
            <a:spLocks noGrp="1"/>
          </p:cNvSpPr>
          <p:nvPr>
            <p:ph type="title"/>
          </p:nvPr>
        </p:nvSpPr>
        <p:spPr>
          <a:xfrm>
            <a:off x="419100" y="3718418"/>
            <a:ext cx="11353800" cy="474119"/>
          </a:xfrm>
        </p:spPr>
        <p:txBody>
          <a:bodyPr/>
          <a:lstStyle/>
          <a:p>
            <a:r>
              <a:rPr lang="en-US" sz="5400" dirty="0">
                <a:latin typeface="+mj-lt"/>
              </a:rPr>
              <a:t>Module 10: Automatic Scaling and Monitoring</a:t>
            </a:r>
          </a:p>
        </p:txBody>
      </p:sp>
      <p:sp>
        <p:nvSpPr>
          <p:cNvPr id="3" name="TextBox 2">
            <a:extLst>
              <a:ext uri="{FF2B5EF4-FFF2-40B4-BE49-F238E27FC236}">
                <a16:creationId xmlns:a16="http://schemas.microsoft.com/office/drawing/2014/main" id="{06A6D384-6D2E-7D43-A879-7905EC93D215}"/>
              </a:ext>
            </a:extLst>
          </p:cNvPr>
          <p:cNvSpPr txBox="1"/>
          <p:nvPr/>
        </p:nvSpPr>
        <p:spPr>
          <a:xfrm>
            <a:off x="251791" y="6480313"/>
            <a:ext cx="4108174" cy="230832"/>
          </a:xfrm>
          <a:prstGeom prst="rect">
            <a:avLst/>
          </a:prstGeom>
          <a:noFill/>
        </p:spPr>
        <p:txBody>
          <a:bodyPr wrap="square" rtlCol="0">
            <a:spAutoFit/>
          </a:bodyPr>
          <a:lstStyle/>
          <a:p>
            <a:r>
              <a:rPr lang="en-US" sz="900" b="0" i="0" dirty="0">
                <a:solidFill>
                  <a:schemeClr val="bg1"/>
                </a:solidFill>
                <a:latin typeface="Amazon Ember Light" charset="0"/>
                <a:ea typeface="Amazon Ember Light" charset="0"/>
                <a:cs typeface="Amazon Ember Light" charset="0"/>
              </a:rPr>
              <a:t>© 2019, Amazon Web Services, Inc. or its Affiliates. All rights reserved.</a:t>
            </a:r>
          </a:p>
        </p:txBody>
      </p:sp>
    </p:spTree>
    <p:custDataLst>
      <p:tags r:id="rId1"/>
    </p:custDataLst>
    <p:extLst>
      <p:ext uri="{BB962C8B-B14F-4D97-AF65-F5344CB8AC3E}">
        <p14:creationId xmlns:p14="http://schemas.microsoft.com/office/powerpoint/2010/main" val="3562200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Module overview</a:t>
            </a:r>
          </a:p>
        </p:txBody>
      </p:sp>
      <p:sp>
        <p:nvSpPr>
          <p:cNvPr id="5" name="Content Placeholder 4"/>
          <p:cNvSpPr>
            <a:spLocks noGrp="1"/>
          </p:cNvSpPr>
          <p:nvPr>
            <p:ph idx="1"/>
          </p:nvPr>
        </p:nvSpPr>
        <p:spPr/>
        <p:txBody>
          <a:bodyPr>
            <a:noAutofit/>
          </a:bodyPr>
          <a:lstStyle/>
          <a:p>
            <a:pPr marL="0" indent="0">
              <a:spcBef>
                <a:spcPts val="1800"/>
              </a:spcBef>
              <a:buNone/>
            </a:pPr>
            <a:r>
              <a:rPr lang="en-US" b="1" dirty="0">
                <a:latin typeface="+mn-lt"/>
              </a:rPr>
              <a:t>Topics</a:t>
            </a:r>
          </a:p>
          <a:p>
            <a:pPr marL="239713" indent="-239713">
              <a:spcBef>
                <a:spcPts val="1800"/>
              </a:spcBef>
            </a:pPr>
            <a:r>
              <a:rPr lang="en-US" sz="2400" dirty="0">
                <a:latin typeface="+mn-lt"/>
              </a:rPr>
              <a:t>Elastic Load Balancing</a:t>
            </a:r>
          </a:p>
          <a:p>
            <a:pPr marL="239713" indent="-239713">
              <a:spcBef>
                <a:spcPts val="1800"/>
              </a:spcBef>
            </a:pPr>
            <a:r>
              <a:rPr lang="en-US" sz="2400" dirty="0">
                <a:latin typeface="+mn-lt"/>
              </a:rPr>
              <a:t>Amazon CloudWatch</a:t>
            </a:r>
          </a:p>
          <a:p>
            <a:pPr marL="239713" indent="-239713">
              <a:spcBef>
                <a:spcPts val="1800"/>
              </a:spcBef>
            </a:pPr>
            <a:r>
              <a:rPr lang="en-US" sz="2400" dirty="0">
                <a:latin typeface="+mn-lt"/>
              </a:rPr>
              <a:t>Amazon EC2 Auto Scaling</a:t>
            </a:r>
          </a:p>
        </p:txBody>
      </p:sp>
      <p:sp>
        <p:nvSpPr>
          <p:cNvPr id="6" name="Content Placeholder 5">
            <a:extLst>
              <a:ext uri="{FF2B5EF4-FFF2-40B4-BE49-F238E27FC236}">
                <a16:creationId xmlns:a16="http://schemas.microsoft.com/office/drawing/2014/main" id="{79AB60CE-670C-974B-8C37-C3795121745F}"/>
              </a:ext>
            </a:extLst>
          </p:cNvPr>
          <p:cNvSpPr>
            <a:spLocks noGrp="1"/>
          </p:cNvSpPr>
          <p:nvPr>
            <p:ph idx="13"/>
          </p:nvPr>
        </p:nvSpPr>
        <p:spPr/>
        <p:txBody>
          <a:bodyPr/>
          <a:lstStyle/>
          <a:p>
            <a:pPr marL="0" indent="0">
              <a:buNone/>
            </a:pPr>
            <a:r>
              <a:rPr lang="en-US" b="1" dirty="0"/>
              <a:t>Activities</a:t>
            </a:r>
            <a:endParaRPr lang="en-US" sz="3200" b="1" dirty="0"/>
          </a:p>
          <a:p>
            <a:r>
              <a:rPr lang="en-US" sz="2400" dirty="0"/>
              <a:t>Elastic Load Balancing activity</a:t>
            </a:r>
          </a:p>
          <a:p>
            <a:r>
              <a:rPr lang="en-US" sz="2400" dirty="0"/>
              <a:t>Amazon CloudWatch activity</a:t>
            </a:r>
          </a:p>
          <a:p>
            <a:pPr marL="0" indent="0">
              <a:buNone/>
            </a:pPr>
            <a:endParaRPr lang="en-US" dirty="0"/>
          </a:p>
          <a:p>
            <a:pPr marL="0" indent="0">
              <a:buNone/>
            </a:pPr>
            <a:r>
              <a:rPr lang="en-US" b="1" dirty="0">
                <a:latin typeface="+mn-lt"/>
              </a:rPr>
              <a:t>Lab</a:t>
            </a:r>
          </a:p>
          <a:p>
            <a:r>
              <a:rPr lang="en-US" sz="2400" dirty="0">
                <a:latin typeface="+mn-lt"/>
              </a:rPr>
              <a:t>Scale and Load Balance Your Architecture</a:t>
            </a:r>
          </a:p>
          <a:p>
            <a:endParaRPr lang="en-US" dirty="0">
              <a:latin typeface="+mn-lt"/>
            </a:endParaRPr>
          </a:p>
        </p:txBody>
      </p:sp>
      <p:grpSp>
        <p:nvGrpSpPr>
          <p:cNvPr id="7" name="Group 6">
            <a:extLst>
              <a:ext uri="{FF2B5EF4-FFF2-40B4-BE49-F238E27FC236}">
                <a16:creationId xmlns:a16="http://schemas.microsoft.com/office/drawing/2014/main" id="{5A386CF2-48DE-3E4F-B27A-6F6B12236D70}"/>
              </a:ext>
              <a:ext uri="{C183D7F6-B498-43B3-948B-1728B52AA6E4}">
                <adec:decorative xmlns:adec="http://schemas.microsoft.com/office/drawing/2017/decorative" val="1"/>
              </a:ext>
            </a:extLst>
          </p:cNvPr>
          <p:cNvGrpSpPr/>
          <p:nvPr/>
        </p:nvGrpSpPr>
        <p:grpSpPr>
          <a:xfrm>
            <a:off x="6246312" y="5640693"/>
            <a:ext cx="2832953" cy="532323"/>
            <a:chOff x="4188879" y="4810544"/>
            <a:chExt cx="2832953" cy="532323"/>
          </a:xfrm>
        </p:grpSpPr>
        <p:sp>
          <p:nvSpPr>
            <p:cNvPr id="8" name="TextBox 7">
              <a:extLst>
                <a:ext uri="{FF2B5EF4-FFF2-40B4-BE49-F238E27FC236}">
                  <a16:creationId xmlns:a16="http://schemas.microsoft.com/office/drawing/2014/main" id="{94F8C5C3-D9C4-4E4C-8D0B-BD50A1C962C5}"/>
                </a:ext>
              </a:extLst>
            </p:cNvPr>
            <p:cNvSpPr txBox="1"/>
            <p:nvPr/>
          </p:nvSpPr>
          <p:spPr>
            <a:xfrm>
              <a:off x="4721202" y="4892040"/>
              <a:ext cx="2300630" cy="400110"/>
            </a:xfrm>
            <a:prstGeom prst="rect">
              <a:avLst/>
            </a:prstGeom>
            <a:noFill/>
          </p:spPr>
          <p:txBody>
            <a:bodyPr wrap="none" rtlCol="0">
              <a:spAutoFit/>
            </a:bodyPr>
            <a:lstStyle/>
            <a:p>
              <a:r>
                <a:rPr lang="en-US" sz="2000" b="1" dirty="0">
                  <a:latin typeface="Amazon Ember" panose="020B0603020204020204" pitchFamily="34" charset="0"/>
                  <a:ea typeface="Amazon Ember" panose="020B0603020204020204" pitchFamily="34" charset="0"/>
                  <a:cs typeface="Amazon Ember" panose="020B0603020204020204" pitchFamily="34" charset="0"/>
                </a:rPr>
                <a:t>Knowledge check</a:t>
              </a:r>
            </a:p>
          </p:txBody>
        </p:sp>
        <p:pic>
          <p:nvPicPr>
            <p:cNvPr id="9" name="Picture 8">
              <a:extLst>
                <a:ext uri="{FF2B5EF4-FFF2-40B4-BE49-F238E27FC236}">
                  <a16:creationId xmlns:a16="http://schemas.microsoft.com/office/drawing/2014/main" id="{7C7503A9-F744-2745-8305-1056CF885D90}"/>
                </a:ext>
                <a:ext uri="{C183D7F6-B498-43B3-948B-1728B52AA6E4}">
                  <adec:decorative xmlns:adec="http://schemas.microsoft.com/office/drawing/2017/decorative" val="1"/>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4188879" y="4810544"/>
              <a:ext cx="532323" cy="532323"/>
            </a:xfrm>
            <a:prstGeom prst="rect">
              <a:avLst/>
            </a:prstGeom>
          </p:spPr>
        </p:pic>
      </p:grpSp>
      <p:sp>
        <p:nvSpPr>
          <p:cNvPr id="3" name="Footer Placeholder 2">
            <a:extLst>
              <a:ext uri="{FF2B5EF4-FFF2-40B4-BE49-F238E27FC236}">
                <a16:creationId xmlns:a16="http://schemas.microsoft.com/office/drawing/2014/main" id="{F6690F49-6F57-5C4A-9532-E7CF0D78A8D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C17933E2-EE90-C246-AEFF-135CA8848EB0}"/>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a:t>
            </a:fld>
            <a:endParaRPr lang="en-US" dirty="0"/>
          </a:p>
        </p:txBody>
      </p:sp>
    </p:spTree>
    <p:custDataLst>
      <p:tags r:id="rId1"/>
    </p:custDataLst>
    <p:extLst>
      <p:ext uri="{BB962C8B-B14F-4D97-AF65-F5344CB8AC3E}">
        <p14:creationId xmlns:p14="http://schemas.microsoft.com/office/powerpoint/2010/main" val="1745004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67E4-BDC1-B340-8993-E1E72418A01F}"/>
              </a:ext>
            </a:extLst>
          </p:cNvPr>
          <p:cNvSpPr>
            <a:spLocks noGrp="1"/>
          </p:cNvSpPr>
          <p:nvPr>
            <p:ph type="title"/>
          </p:nvPr>
        </p:nvSpPr>
        <p:spPr/>
        <p:txBody>
          <a:bodyPr/>
          <a:lstStyle/>
          <a:p>
            <a:r>
              <a:rPr lang="en-US" dirty="0"/>
              <a:t>Module objectives</a:t>
            </a:r>
          </a:p>
        </p:txBody>
      </p:sp>
      <p:sp>
        <p:nvSpPr>
          <p:cNvPr id="4" name="Content Placeholder 2">
            <a:extLst>
              <a:ext uri="{FF2B5EF4-FFF2-40B4-BE49-F238E27FC236}">
                <a16:creationId xmlns:a16="http://schemas.microsoft.com/office/drawing/2014/main" id="{AA03B58E-9CA1-F041-8923-2FE03FDDD563}"/>
              </a:ext>
            </a:extLst>
          </p:cNvPr>
          <p:cNvSpPr>
            <a:spLocks noGrp="1"/>
          </p:cNvSpPr>
          <p:nvPr>
            <p:ph idx="1"/>
          </p:nvPr>
        </p:nvSpPr>
        <p:spPr/>
        <p:txBody>
          <a:bodyPr/>
          <a:lstStyle/>
          <a:p>
            <a:pPr marL="0" indent="0">
              <a:buNone/>
            </a:pPr>
            <a:r>
              <a:rPr lang="en-US" dirty="0"/>
              <a:t>After completing this module, you should be able to:</a:t>
            </a:r>
          </a:p>
          <a:p>
            <a:r>
              <a:rPr lang="en-US" dirty="0">
                <a:latin typeface="+mn-lt"/>
              </a:rPr>
              <a:t>Indicate how to distribute traffic across Amazon Elastic Compute Cloud (Amazon EC2) instances by using Elastic Load Balancing</a:t>
            </a:r>
          </a:p>
          <a:p>
            <a:r>
              <a:rPr lang="en-US" dirty="0"/>
              <a:t>Identify how Amazon CloudWatch enables you to monitor AWS resources and applications in real time</a:t>
            </a:r>
          </a:p>
          <a:p>
            <a:r>
              <a:rPr lang="en-US" dirty="0"/>
              <a:t>Explain how Amazon EC2 Auto Scaling launches and releases servers in response to workload changes</a:t>
            </a:r>
          </a:p>
          <a:p>
            <a:r>
              <a:rPr lang="en-US" dirty="0">
                <a:latin typeface="+mn-lt"/>
              </a:rPr>
              <a:t>Perform scaling and load balancing tasks to improve an architecture</a:t>
            </a:r>
          </a:p>
        </p:txBody>
      </p:sp>
      <p:sp>
        <p:nvSpPr>
          <p:cNvPr id="3" name="Footer Placeholder 2">
            <a:extLst>
              <a:ext uri="{FF2B5EF4-FFF2-40B4-BE49-F238E27FC236}">
                <a16:creationId xmlns:a16="http://schemas.microsoft.com/office/drawing/2014/main" id="{08EDF210-8A75-2740-8664-8AEB6CD1C241}"/>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FF2B5EF4-FFF2-40B4-BE49-F238E27FC236}">
                <a16:creationId xmlns:a16="http://schemas.microsoft.com/office/drawing/2014/main" id="{D0E9032A-B193-E649-B33A-8B2DE7FF0AB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3</a:t>
            </a:fld>
            <a:endParaRPr lang="en-US" dirty="0"/>
          </a:p>
        </p:txBody>
      </p:sp>
    </p:spTree>
    <p:custDataLst>
      <p:tags r:id="rId1"/>
    </p:custDataLst>
    <p:extLst>
      <p:ext uri="{BB962C8B-B14F-4D97-AF65-F5344CB8AC3E}">
        <p14:creationId xmlns:p14="http://schemas.microsoft.com/office/powerpoint/2010/main" val="396247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body" sz="quarter" idx="10"/>
          </p:nvPr>
        </p:nvSpPr>
        <p:spPr>
          <a:xfrm>
            <a:off x="419100" y="2554356"/>
            <a:ext cx="9247414" cy="488498"/>
          </a:xfrm>
        </p:spPr>
        <p:txBody>
          <a:bodyPr>
            <a:normAutofit/>
          </a:bodyPr>
          <a:lstStyle/>
          <a:p>
            <a:r>
              <a:rPr lang="en-US" b="1" dirty="0">
                <a:latin typeface="+mn-lt"/>
              </a:rPr>
              <a:t>Module 10: Automatic Scaling and Monitoring</a:t>
            </a:r>
          </a:p>
        </p:txBody>
      </p:sp>
      <p:sp>
        <p:nvSpPr>
          <p:cNvPr id="2" name="Title 1"/>
          <p:cNvSpPr>
            <a:spLocks noGrp="1"/>
          </p:cNvSpPr>
          <p:nvPr>
            <p:ph type="title"/>
          </p:nvPr>
        </p:nvSpPr>
        <p:spPr/>
        <p:txBody>
          <a:bodyPr>
            <a:noAutofit/>
          </a:bodyPr>
          <a:lstStyle/>
          <a:p>
            <a:r>
              <a:rPr lang="en-US" sz="4000" dirty="0">
                <a:latin typeface="+mj-lt"/>
              </a:rPr>
              <a:t>Section 1: Elastic Load Balancing</a:t>
            </a:r>
          </a:p>
        </p:txBody>
      </p:sp>
      <p:sp>
        <p:nvSpPr>
          <p:cNvPr id="4" name="Footer Placeholder 3">
            <a:extLst>
              <a:ext uri="{FF2B5EF4-FFF2-40B4-BE49-F238E27FC236}">
                <a16:creationId xmlns:a16="http://schemas.microsoft.com/office/drawing/2014/main" id="{FEBA7B1D-809F-314D-94A0-500C8C6DD3B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605421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Elastic Load Balancing</a:t>
            </a:r>
          </a:p>
        </p:txBody>
      </p:sp>
      <p:sp>
        <p:nvSpPr>
          <p:cNvPr id="3" name="Content Placeholder 2"/>
          <p:cNvSpPr>
            <a:spLocks noGrp="1"/>
          </p:cNvSpPr>
          <p:nvPr>
            <p:ph idx="1"/>
          </p:nvPr>
        </p:nvSpPr>
        <p:spPr/>
        <p:txBody>
          <a:bodyPr>
            <a:noAutofit/>
          </a:bodyPr>
          <a:lstStyle/>
          <a:p>
            <a:pPr marL="457200" lvl="1" indent="-457200">
              <a:lnSpc>
                <a:spcPct val="100000"/>
              </a:lnSpc>
              <a:spcBef>
                <a:spcPts val="1000"/>
              </a:spcBef>
              <a:spcAft>
                <a:spcPts val="800"/>
              </a:spcAft>
            </a:pPr>
            <a:r>
              <a:rPr lang="en-US" sz="2800" dirty="0"/>
              <a:t>Distributes incoming application or network traffic across multiple targets in a single Availability Zone or across multiple Availability Zones.</a:t>
            </a:r>
          </a:p>
          <a:p>
            <a:pPr marL="457200" lvl="1" indent="-457200">
              <a:lnSpc>
                <a:spcPct val="100000"/>
              </a:lnSpc>
              <a:spcBef>
                <a:spcPts val="1000"/>
              </a:spcBef>
              <a:spcAft>
                <a:spcPts val="800"/>
              </a:spcAft>
            </a:pPr>
            <a:r>
              <a:rPr lang="en-US" sz="2800" dirty="0"/>
              <a:t>Scales your load balancer as traffic to your application changes over time.</a:t>
            </a:r>
          </a:p>
        </p:txBody>
      </p:sp>
      <p:grpSp>
        <p:nvGrpSpPr>
          <p:cNvPr id="15" name="Group 14">
            <a:extLst>
              <a:ext uri="{FF2B5EF4-FFF2-40B4-BE49-F238E27FC236}">
                <a16:creationId xmlns:a16="http://schemas.microsoft.com/office/drawing/2014/main" id="{A0486B23-8353-4209-854A-C1DF5A80B49E}"/>
              </a:ext>
              <a:ext uri="{C183D7F6-B498-43B3-948B-1728B52AA6E4}">
                <adec:decorative xmlns:adec="http://schemas.microsoft.com/office/drawing/2017/decorative" val="1"/>
              </a:ext>
            </a:extLst>
          </p:cNvPr>
          <p:cNvGrpSpPr/>
          <p:nvPr/>
        </p:nvGrpSpPr>
        <p:grpSpPr>
          <a:xfrm>
            <a:off x="5454189" y="1524228"/>
            <a:ext cx="6428094" cy="3751972"/>
            <a:chOff x="5454189" y="1524228"/>
            <a:chExt cx="6428094" cy="3751972"/>
          </a:xfrm>
        </p:grpSpPr>
        <p:cxnSp>
          <p:nvCxnSpPr>
            <p:cNvPr id="8" name="Straight Arrow Connector 7">
              <a:extLst>
                <a:ext uri="{FF2B5EF4-FFF2-40B4-BE49-F238E27FC236}">
                  <a16:creationId xmlns:a16="http://schemas.microsoft.com/office/drawing/2014/main" id="{A56C2934-B516-4EE4-A439-B52AA2CFF4BF}"/>
                </a:ext>
              </a:extLst>
            </p:cNvPr>
            <p:cNvCxnSpPr>
              <a:cxnSpLocks/>
              <a:stCxn id="35" idx="2"/>
            </p:cNvCxnSpPr>
            <p:nvPr/>
          </p:nvCxnSpPr>
          <p:spPr>
            <a:xfrm flipH="1">
              <a:off x="8907988" y="2173005"/>
              <a:ext cx="871412" cy="483875"/>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F3F6593-EAEF-4DEF-BA60-6D0BF001F771}"/>
                </a:ext>
              </a:extLst>
            </p:cNvPr>
            <p:cNvCxnSpPr>
              <a:cxnSpLocks/>
              <a:stCxn id="27" idx="2"/>
            </p:cNvCxnSpPr>
            <p:nvPr/>
          </p:nvCxnSpPr>
          <p:spPr>
            <a:xfrm>
              <a:off x="7112768" y="2173005"/>
              <a:ext cx="918640" cy="483875"/>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1201FB6-CD35-4C2D-9041-4BD945390D98}"/>
                </a:ext>
              </a:extLst>
            </p:cNvPr>
            <p:cNvCxnSpPr>
              <a:cxnSpLocks/>
              <a:stCxn id="34" idx="2"/>
              <a:endCxn id="60" idx="0"/>
            </p:cNvCxnSpPr>
            <p:nvPr/>
          </p:nvCxnSpPr>
          <p:spPr>
            <a:xfrm flipH="1">
              <a:off x="8464686" y="2173005"/>
              <a:ext cx="9108" cy="473559"/>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A2996279-3275-4510-863B-CFDEFBF21504}"/>
                </a:ext>
                <a:ext uri="{C183D7F6-B498-43B3-948B-1728B52AA6E4}">
                  <adec:decorative xmlns:adec="http://schemas.microsoft.com/office/drawing/2017/decorative" val="1"/>
                </a:ext>
              </a:extLst>
            </p:cNvPr>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6646460" y="1524228"/>
              <a:ext cx="932616" cy="648777"/>
            </a:xfrm>
            <a:prstGeom prst="rect">
              <a:avLst/>
            </a:prstGeom>
          </p:spPr>
        </p:pic>
        <p:cxnSp>
          <p:nvCxnSpPr>
            <p:cNvPr id="28" name="Straight Arrow Connector 27">
              <a:extLst>
                <a:ext uri="{FF2B5EF4-FFF2-40B4-BE49-F238E27FC236}">
                  <a16:creationId xmlns:a16="http://schemas.microsoft.com/office/drawing/2014/main" id="{9089C951-FE02-417E-AF37-37912722075F}"/>
                </a:ext>
              </a:extLst>
            </p:cNvPr>
            <p:cNvCxnSpPr>
              <a:cxnSpLocks/>
              <a:stCxn id="60" idx="2"/>
            </p:cNvCxnSpPr>
            <p:nvPr/>
          </p:nvCxnSpPr>
          <p:spPr>
            <a:xfrm flipH="1">
              <a:off x="6618704" y="3560964"/>
              <a:ext cx="1845982" cy="640157"/>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B289307-90E1-448E-82B6-2CB9748115FD}"/>
                </a:ext>
              </a:extLst>
            </p:cNvPr>
            <p:cNvCxnSpPr>
              <a:cxnSpLocks/>
              <a:stCxn id="60" idx="2"/>
            </p:cNvCxnSpPr>
            <p:nvPr/>
          </p:nvCxnSpPr>
          <p:spPr>
            <a:xfrm>
              <a:off x="8464686" y="3560964"/>
              <a:ext cx="425485" cy="525069"/>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92D5D65-B637-4269-85E2-440558C1B341}"/>
                </a:ext>
              </a:extLst>
            </p:cNvPr>
            <p:cNvCxnSpPr>
              <a:cxnSpLocks/>
              <a:stCxn id="60" idx="2"/>
            </p:cNvCxnSpPr>
            <p:nvPr/>
          </p:nvCxnSpPr>
          <p:spPr>
            <a:xfrm>
              <a:off x="8464686" y="3560964"/>
              <a:ext cx="2083698" cy="669942"/>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F2836EF-9AB8-4C91-AE72-E74B2DA15681}"/>
                </a:ext>
              </a:extLst>
            </p:cNvPr>
            <p:cNvCxnSpPr>
              <a:cxnSpLocks/>
              <a:stCxn id="60" idx="2"/>
            </p:cNvCxnSpPr>
            <p:nvPr/>
          </p:nvCxnSpPr>
          <p:spPr>
            <a:xfrm flipH="1">
              <a:off x="7800247" y="3560964"/>
              <a:ext cx="664439" cy="483875"/>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34" name="Picture 33">
              <a:extLst>
                <a:ext uri="{FF2B5EF4-FFF2-40B4-BE49-F238E27FC236}">
                  <a16:creationId xmlns:a16="http://schemas.microsoft.com/office/drawing/2014/main" id="{DCB84D34-1B73-490A-88D5-3970885FE435}"/>
                </a:ext>
                <a:ext uri="{C183D7F6-B498-43B3-948B-1728B52AA6E4}">
                  <adec:decorative xmlns:adec="http://schemas.microsoft.com/office/drawing/2017/decorative" val="1"/>
                </a:ext>
              </a:extLst>
            </p:cNvPr>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007486" y="1524228"/>
              <a:ext cx="932616" cy="648777"/>
            </a:xfrm>
            <a:prstGeom prst="rect">
              <a:avLst/>
            </a:prstGeom>
          </p:spPr>
        </p:pic>
        <p:pic>
          <p:nvPicPr>
            <p:cNvPr id="35" name="Picture 34">
              <a:extLst>
                <a:ext uri="{FF2B5EF4-FFF2-40B4-BE49-F238E27FC236}">
                  <a16:creationId xmlns:a16="http://schemas.microsoft.com/office/drawing/2014/main" id="{A1C6E569-58FE-4C59-A75C-819C1F6B9494}"/>
                </a:ext>
                <a:ext uri="{C183D7F6-B498-43B3-948B-1728B52AA6E4}">
                  <adec:decorative xmlns:adec="http://schemas.microsoft.com/office/drawing/2017/decorative" val="1"/>
                </a:ext>
              </a:extLst>
            </p:cNvPr>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313092" y="1524228"/>
              <a:ext cx="932616" cy="648777"/>
            </a:xfrm>
            <a:prstGeom prst="rect">
              <a:avLst/>
            </a:prstGeom>
          </p:spPr>
        </p:pic>
        <p:sp>
          <p:nvSpPr>
            <p:cNvPr id="36" name="Rectangle 35">
              <a:extLst>
                <a:ext uri="{FF2B5EF4-FFF2-40B4-BE49-F238E27FC236}">
                  <a16:creationId xmlns:a16="http://schemas.microsoft.com/office/drawing/2014/main" id="{47CFADCE-F311-4731-860B-17B9DD0A84CC}"/>
                </a:ext>
              </a:extLst>
            </p:cNvPr>
            <p:cNvSpPr/>
            <p:nvPr/>
          </p:nvSpPr>
          <p:spPr>
            <a:xfrm>
              <a:off x="8919914" y="2794329"/>
              <a:ext cx="1380506" cy="646331"/>
            </a:xfrm>
            <a:prstGeom prst="rect">
              <a:avLst/>
            </a:prstGeom>
            <a:solidFill>
              <a:schemeClr val="bg1"/>
            </a:solidFill>
          </p:spPr>
          <p:txBody>
            <a:bodyPr wrap="none">
              <a:spAutoFit/>
            </a:bodyPr>
            <a:lstStyle/>
            <a:p>
              <a:r>
                <a:rPr lang="en-US" dirty="0">
                  <a:solidFill>
                    <a:srgbClr val="000000"/>
                  </a:solidFill>
                  <a:latin typeface="+mj-lt"/>
                </a:rPr>
                <a:t>Elastic Load</a:t>
              </a:r>
            </a:p>
            <a:p>
              <a:pPr algn="ctr"/>
              <a:r>
                <a:rPr lang="en-US" dirty="0">
                  <a:solidFill>
                    <a:srgbClr val="000000"/>
                  </a:solidFill>
                  <a:latin typeface="+mj-lt"/>
                </a:rPr>
                <a:t>Balancing</a:t>
              </a:r>
            </a:p>
          </p:txBody>
        </p:sp>
        <p:pic>
          <p:nvPicPr>
            <p:cNvPr id="60" name="Graphic 59">
              <a:extLst>
                <a:ext uri="{FF2B5EF4-FFF2-40B4-BE49-F238E27FC236}">
                  <a16:creationId xmlns:a16="http://schemas.microsoft.com/office/drawing/2014/main" id="{F7B89FED-6541-43E3-B290-8F48EB19EF23}"/>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7486" y="2646564"/>
              <a:ext cx="914400" cy="914400"/>
            </a:xfrm>
            <a:prstGeom prst="rect">
              <a:avLst/>
            </a:prstGeom>
          </p:spPr>
        </p:pic>
        <p:pic>
          <p:nvPicPr>
            <p:cNvPr id="37" name="Graphic 36">
              <a:extLst>
                <a:ext uri="{FF2B5EF4-FFF2-40B4-BE49-F238E27FC236}">
                  <a16:creationId xmlns:a16="http://schemas.microsoft.com/office/drawing/2014/main" id="{DA7695A5-424D-417D-9135-99C5B30CC8B8}"/>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51607" y="4233684"/>
              <a:ext cx="548640" cy="548640"/>
            </a:xfrm>
            <a:prstGeom prst="rect">
              <a:avLst/>
            </a:prstGeom>
          </p:spPr>
        </p:pic>
        <p:sp>
          <p:nvSpPr>
            <p:cNvPr id="5" name="TextBox 4">
              <a:extLst>
                <a:ext uri="{FF2B5EF4-FFF2-40B4-BE49-F238E27FC236}">
                  <a16:creationId xmlns:a16="http://schemas.microsoft.com/office/drawing/2014/main" id="{DDA1501C-0F40-4DBC-AC1B-EDF87D9EC22D}"/>
                </a:ext>
                <a:ext uri="{C183D7F6-B498-43B3-948B-1728B52AA6E4}">
                  <adec:decorative xmlns:adec="http://schemas.microsoft.com/office/drawing/2017/decorative" val="1"/>
                </a:ext>
              </a:extLst>
            </p:cNvPr>
            <p:cNvSpPr txBox="1"/>
            <p:nvPr/>
          </p:nvSpPr>
          <p:spPr>
            <a:xfrm>
              <a:off x="8487986" y="4233684"/>
              <a:ext cx="1430200" cy="369332"/>
            </a:xfrm>
            <a:prstGeom prst="rect">
              <a:avLst/>
            </a:prstGeom>
            <a:noFill/>
            <a:ln>
              <a:solidFill>
                <a:schemeClr val="accent1"/>
              </a:solidFill>
            </a:ln>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IP addresses</a:t>
              </a:r>
            </a:p>
          </p:txBody>
        </p:sp>
        <p:pic>
          <p:nvPicPr>
            <p:cNvPr id="38" name="Graphic 37">
              <a:extLst>
                <a:ext uri="{FF2B5EF4-FFF2-40B4-BE49-F238E27FC236}">
                  <a16:creationId xmlns:a16="http://schemas.microsoft.com/office/drawing/2014/main" id="{34D50767-BB21-4508-929C-0EBE27B3116C}"/>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05926" y="4233684"/>
              <a:ext cx="548640" cy="548640"/>
            </a:xfrm>
            <a:prstGeom prst="rect">
              <a:avLst/>
            </a:prstGeom>
          </p:spPr>
        </p:pic>
        <p:sp>
          <p:nvSpPr>
            <p:cNvPr id="7" name="TextBox 6">
              <a:extLst>
                <a:ext uri="{FF2B5EF4-FFF2-40B4-BE49-F238E27FC236}">
                  <a16:creationId xmlns:a16="http://schemas.microsoft.com/office/drawing/2014/main" id="{659B4097-EFD4-4131-BEFD-7290B6DB6115}"/>
                </a:ext>
              </a:extLst>
            </p:cNvPr>
            <p:cNvSpPr txBox="1"/>
            <p:nvPr/>
          </p:nvSpPr>
          <p:spPr>
            <a:xfrm>
              <a:off x="5454189" y="4906868"/>
              <a:ext cx="1579278"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EC2 instances</a:t>
              </a:r>
            </a:p>
          </p:txBody>
        </p:sp>
        <p:pic>
          <p:nvPicPr>
            <p:cNvPr id="39" name="Graphic 38">
              <a:extLst>
                <a:ext uri="{FF2B5EF4-FFF2-40B4-BE49-F238E27FC236}">
                  <a16:creationId xmlns:a16="http://schemas.microsoft.com/office/drawing/2014/main" id="{7D6B7648-3AA7-4B28-863C-74E675706834}"/>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923788" y="4233684"/>
              <a:ext cx="640080" cy="640080"/>
            </a:xfrm>
            <a:prstGeom prst="rect">
              <a:avLst/>
            </a:prstGeom>
          </p:spPr>
        </p:pic>
        <p:sp>
          <p:nvSpPr>
            <p:cNvPr id="40" name="TextBox 39">
              <a:extLst>
                <a:ext uri="{FF2B5EF4-FFF2-40B4-BE49-F238E27FC236}">
                  <a16:creationId xmlns:a16="http://schemas.microsoft.com/office/drawing/2014/main" id="{2896C2FB-722A-4602-B738-2A93909B721D}"/>
                </a:ext>
              </a:extLst>
            </p:cNvPr>
            <p:cNvSpPr txBox="1"/>
            <p:nvPr/>
          </p:nvSpPr>
          <p:spPr>
            <a:xfrm>
              <a:off x="6955573" y="4672721"/>
              <a:ext cx="1266693"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Containers</a:t>
              </a:r>
            </a:p>
          </p:txBody>
        </p:sp>
        <p:sp>
          <p:nvSpPr>
            <p:cNvPr id="41" name="TextBox 40">
              <a:extLst>
                <a:ext uri="{FF2B5EF4-FFF2-40B4-BE49-F238E27FC236}">
                  <a16:creationId xmlns:a16="http://schemas.microsoft.com/office/drawing/2014/main" id="{103F96F8-79D8-4CB1-87B6-AB2960079A7F}"/>
                </a:ext>
              </a:extLst>
            </p:cNvPr>
            <p:cNvSpPr txBox="1"/>
            <p:nvPr/>
          </p:nvSpPr>
          <p:spPr>
            <a:xfrm>
              <a:off x="9878208" y="4809842"/>
              <a:ext cx="2004075"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Lambda functions</a:t>
              </a:r>
            </a:p>
          </p:txBody>
        </p:sp>
      </p:grpSp>
      <p:sp>
        <p:nvSpPr>
          <p:cNvPr id="4" name="Footer Placeholder 3">
            <a:extLst>
              <a:ext uri="{FF2B5EF4-FFF2-40B4-BE49-F238E27FC236}">
                <a16:creationId xmlns:a16="http://schemas.microsoft.com/office/drawing/2014/main" id="{39FAEF61-8992-4E61-9EA1-6E2CDBA0EAED}"/>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FF2B5EF4-FFF2-40B4-BE49-F238E27FC236}">
                <a16:creationId xmlns:a16="http://schemas.microsoft.com/office/drawing/2014/main" id="{F47B1589-B3FB-474D-AFF8-555C3BFDE501}"/>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a:t>
            </a:fld>
            <a:endParaRPr lang="en-US" dirty="0"/>
          </a:p>
        </p:txBody>
      </p:sp>
    </p:spTree>
    <p:custDataLst>
      <p:tags r:id="rId1"/>
    </p:custDataLst>
    <p:extLst>
      <p:ext uri="{BB962C8B-B14F-4D97-AF65-F5344CB8AC3E}">
        <p14:creationId xmlns:p14="http://schemas.microsoft.com/office/powerpoint/2010/main" val="944948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311C3026-77E2-078E-8C70-03E09554E8D8}"/>
              </a:ext>
            </a:extLst>
          </p:cNvPr>
          <p:cNvSpPr>
            <a:spLocks noGrp="1"/>
          </p:cNvSpPr>
          <p:nvPr>
            <p:ph type="title"/>
          </p:nvPr>
        </p:nvSpPr>
        <p:spPr>
          <a:xfrm>
            <a:off x="419100" y="365125"/>
            <a:ext cx="9034272" cy="474119"/>
          </a:xfrm>
        </p:spPr>
        <p:txBody>
          <a:bodyPr/>
          <a:lstStyle/>
          <a:p>
            <a:r>
              <a:rPr lang="en-US" dirty="0"/>
              <a:t>Elastic Load Balancing </a:t>
            </a:r>
          </a:p>
        </p:txBody>
      </p:sp>
      <p:pic>
        <p:nvPicPr>
          <p:cNvPr id="8" name="Content Placeholder 7">
            <a:extLst>
              <a:ext uri="{FF2B5EF4-FFF2-40B4-BE49-F238E27FC236}">
                <a16:creationId xmlns:a16="http://schemas.microsoft.com/office/drawing/2014/main" id="{5B32AC5C-AC5B-DB8B-5AB9-BCCFB66AA209}"/>
              </a:ext>
            </a:extLst>
          </p:cNvPr>
          <p:cNvPicPr>
            <a:picLocks noGrp="1" noChangeAspect="1"/>
          </p:cNvPicPr>
          <p:nvPr>
            <p:ph idx="1"/>
          </p:nvPr>
        </p:nvPicPr>
        <p:blipFill>
          <a:blip r:embed="rId2"/>
          <a:stretch>
            <a:fillRect/>
          </a:stretch>
        </p:blipFill>
        <p:spPr>
          <a:xfrm>
            <a:off x="1474912" y="1528175"/>
            <a:ext cx="9251320" cy="4648788"/>
          </a:xfrm>
          <a:noFill/>
        </p:spPr>
      </p:pic>
      <p:sp>
        <p:nvSpPr>
          <p:cNvPr id="4" name="Slide Number Placeholder 3">
            <a:extLst>
              <a:ext uri="{FF2B5EF4-FFF2-40B4-BE49-F238E27FC236}">
                <a16:creationId xmlns:a16="http://schemas.microsoft.com/office/drawing/2014/main" id="{7689554C-B32F-5656-8877-78D44C2450A6}"/>
              </a:ext>
            </a:extLst>
          </p:cNvPr>
          <p:cNvSpPr>
            <a:spLocks noGrp="1"/>
          </p:cNvSpPr>
          <p:nvPr>
            <p:ph type="sldNum" sz="quarter" idx="12"/>
          </p:nvPr>
        </p:nvSpPr>
        <p:spPr>
          <a:xfrm>
            <a:off x="9029700" y="6356350"/>
            <a:ext cx="2743200" cy="365125"/>
          </a:xfrm>
        </p:spPr>
        <p:txBody>
          <a:bodyPr anchor="ctr">
            <a:normAutofit lnSpcReduction="10000"/>
          </a:bodyPr>
          <a:lstStyle/>
          <a:p>
            <a:pPr>
              <a:spcAft>
                <a:spcPts val="600"/>
              </a:spcAft>
            </a:pPr>
            <a:r>
              <a:rPr lang="en-US" sz="1800" dirty="0">
                <a:solidFill>
                  <a:srgbClr val="FF0000"/>
                </a:solidFill>
              </a:rPr>
              <a:t>By Stephanie Marek</a:t>
            </a:r>
          </a:p>
        </p:txBody>
      </p:sp>
      <p:sp>
        <p:nvSpPr>
          <p:cNvPr id="6" name="Footer Placeholder 5">
            <a:extLst>
              <a:ext uri="{FF2B5EF4-FFF2-40B4-BE49-F238E27FC236}">
                <a16:creationId xmlns:a16="http://schemas.microsoft.com/office/drawing/2014/main" id="{F937D9F9-B5ED-6DD5-48AB-53D3B5F26987}"/>
              </a:ext>
            </a:extLst>
          </p:cNvPr>
          <p:cNvSpPr>
            <a:spLocks noGrp="1"/>
          </p:cNvSpPr>
          <p:nvPr>
            <p:ph type="ftr" sz="quarter" idx="3"/>
          </p:nvPr>
        </p:nvSpPr>
        <p:spPr>
          <a:xfrm>
            <a:off x="419100" y="6356350"/>
            <a:ext cx="3735457" cy="365125"/>
          </a:xfrm>
        </p:spPr>
        <p:txBody>
          <a:bodyPr anchor="ctr">
            <a:normAutofit/>
          </a:bodyPr>
          <a:lstStyle/>
          <a:p>
            <a:pPr>
              <a:spcAft>
                <a:spcPts val="600"/>
              </a:spcAft>
            </a:pPr>
            <a:r>
              <a:rPr lang="en-US" dirty="0"/>
              <a:t>© 2019, Amazon Web Services, Inc. or its Affiliates. All rights reserved.</a:t>
            </a:r>
          </a:p>
        </p:txBody>
      </p:sp>
    </p:spTree>
    <p:extLst>
      <p:ext uri="{BB962C8B-B14F-4D97-AF65-F5344CB8AC3E}">
        <p14:creationId xmlns:p14="http://schemas.microsoft.com/office/powerpoint/2010/main" val="3263944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2336A-3486-AE32-0FE6-55265219650F}"/>
              </a:ext>
            </a:extLst>
          </p:cNvPr>
          <p:cNvSpPr>
            <a:spLocks noGrp="1"/>
          </p:cNvSpPr>
          <p:nvPr>
            <p:ph type="title"/>
          </p:nvPr>
        </p:nvSpPr>
        <p:spPr/>
        <p:txBody>
          <a:bodyPr/>
          <a:lstStyle/>
          <a:p>
            <a:r>
              <a:rPr lang="en-US" dirty="0"/>
              <a:t>Elastic Load Balancing </a:t>
            </a:r>
            <a:endParaRPr lang="en-MY" dirty="0"/>
          </a:p>
        </p:txBody>
      </p:sp>
      <p:pic>
        <p:nvPicPr>
          <p:cNvPr id="8" name="Content Placeholder 7">
            <a:extLst>
              <a:ext uri="{FF2B5EF4-FFF2-40B4-BE49-F238E27FC236}">
                <a16:creationId xmlns:a16="http://schemas.microsoft.com/office/drawing/2014/main" id="{2DCFD872-5651-EA7A-71B4-34AC560B7679}"/>
              </a:ext>
            </a:extLst>
          </p:cNvPr>
          <p:cNvPicPr>
            <a:picLocks noGrp="1" noChangeAspect="1"/>
          </p:cNvPicPr>
          <p:nvPr>
            <p:ph idx="1"/>
          </p:nvPr>
        </p:nvPicPr>
        <p:blipFill>
          <a:blip r:embed="rId2"/>
          <a:stretch>
            <a:fillRect/>
          </a:stretch>
        </p:blipFill>
        <p:spPr>
          <a:xfrm>
            <a:off x="419100" y="1524229"/>
            <a:ext cx="5505450" cy="4832122"/>
          </a:xfrm>
        </p:spPr>
      </p:pic>
      <p:sp>
        <p:nvSpPr>
          <p:cNvPr id="4" name="Slide Number Placeholder 3">
            <a:extLst>
              <a:ext uri="{FF2B5EF4-FFF2-40B4-BE49-F238E27FC236}">
                <a16:creationId xmlns:a16="http://schemas.microsoft.com/office/drawing/2014/main" id="{9F39FECF-A918-C399-257D-6AB015A06FBB}"/>
              </a:ext>
            </a:extLst>
          </p:cNvPr>
          <p:cNvSpPr>
            <a:spLocks noGrp="1"/>
          </p:cNvSpPr>
          <p:nvPr>
            <p:ph type="sldNum" sz="quarter" idx="12"/>
          </p:nvPr>
        </p:nvSpPr>
        <p:spPr/>
        <p:txBody>
          <a:bodyPr/>
          <a:lstStyle/>
          <a:p>
            <a:fld id="{B6A95138-A96E-2F42-A959-2EFD44FE4AB7}" type="slidenum">
              <a:rPr lang="en-US" smtClean="0"/>
              <a:t>7</a:t>
            </a:fld>
            <a:endParaRPr lang="en-US" dirty="0"/>
          </a:p>
        </p:txBody>
      </p:sp>
      <p:pic>
        <p:nvPicPr>
          <p:cNvPr id="10" name="Content Placeholder 9">
            <a:extLst>
              <a:ext uri="{FF2B5EF4-FFF2-40B4-BE49-F238E27FC236}">
                <a16:creationId xmlns:a16="http://schemas.microsoft.com/office/drawing/2014/main" id="{4767CABD-95BE-BB06-4074-55C3B42BEBC5}"/>
              </a:ext>
            </a:extLst>
          </p:cNvPr>
          <p:cNvPicPr>
            <a:picLocks noGrp="1" noChangeAspect="1"/>
          </p:cNvPicPr>
          <p:nvPr>
            <p:ph idx="13"/>
          </p:nvPr>
        </p:nvPicPr>
        <p:blipFill>
          <a:blip r:embed="rId3"/>
          <a:stretch>
            <a:fillRect/>
          </a:stretch>
        </p:blipFill>
        <p:spPr>
          <a:xfrm>
            <a:off x="6246813" y="1524229"/>
            <a:ext cx="5503862" cy="4968645"/>
          </a:xfrm>
        </p:spPr>
      </p:pic>
      <p:sp>
        <p:nvSpPr>
          <p:cNvPr id="6" name="Footer Placeholder 5">
            <a:extLst>
              <a:ext uri="{FF2B5EF4-FFF2-40B4-BE49-F238E27FC236}">
                <a16:creationId xmlns:a16="http://schemas.microsoft.com/office/drawing/2014/main" id="{04133D7C-3620-4AE1-F511-C66C7A8674E3}"/>
              </a:ext>
            </a:extLst>
          </p:cNvPr>
          <p:cNvSpPr>
            <a:spLocks noGrp="1"/>
          </p:cNvSpPr>
          <p:nvPr>
            <p:ph type="ftr" sz="quarter" idx="3"/>
          </p:nvPr>
        </p:nvSpPr>
        <p:spPr/>
        <p:txBody>
          <a:bodyPr/>
          <a:lstStyle/>
          <a:p>
            <a:r>
              <a:rPr lang="en-US"/>
              <a:t>© 2019, Amazon Web Services, Inc. or its Affiliates. All rights reserved.</a:t>
            </a:r>
            <a:endParaRPr lang="en-US" dirty="0"/>
          </a:p>
        </p:txBody>
      </p:sp>
      <p:sp>
        <p:nvSpPr>
          <p:cNvPr id="11" name="Slide Number Placeholder 3">
            <a:extLst>
              <a:ext uri="{FF2B5EF4-FFF2-40B4-BE49-F238E27FC236}">
                <a16:creationId xmlns:a16="http://schemas.microsoft.com/office/drawing/2014/main" id="{B5272DB8-7956-57D8-D3C3-A2AD7B9C7D7D}"/>
              </a:ext>
            </a:extLst>
          </p:cNvPr>
          <p:cNvSpPr txBox="1">
            <a:spLocks/>
          </p:cNvSpPr>
          <p:nvPr/>
        </p:nvSpPr>
        <p:spPr>
          <a:xfrm>
            <a:off x="9029700" y="6460148"/>
            <a:ext cx="2743200" cy="365125"/>
          </a:xfrm>
          <a:prstGeom prst="rect">
            <a:avLst/>
          </a:prstGeom>
        </p:spPr>
        <p:txBody>
          <a:bodyPr vert="horz" lIns="91440" tIns="45720" rIns="91440" bIns="45720" rtlCol="0" anchor="ctr">
            <a:normAutofit lnSpcReduction="10000"/>
          </a:bodyPr>
          <a:lstStyle>
            <a:defPPr>
              <a:defRPr lang="en-US"/>
            </a:defPPr>
            <a:lvl1pPr marL="0" algn="r"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sz="1800" dirty="0">
                <a:solidFill>
                  <a:srgbClr val="FF0000"/>
                </a:solidFill>
              </a:rPr>
              <a:t>By Stephanie Marek</a:t>
            </a:r>
          </a:p>
        </p:txBody>
      </p:sp>
    </p:spTree>
    <p:extLst>
      <p:ext uri="{BB962C8B-B14F-4D97-AF65-F5344CB8AC3E}">
        <p14:creationId xmlns:p14="http://schemas.microsoft.com/office/powerpoint/2010/main" val="1369466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C99E4-CF8F-BCFC-206A-C5341283D7D0}"/>
              </a:ext>
            </a:extLst>
          </p:cNvPr>
          <p:cNvSpPr>
            <a:spLocks noGrp="1"/>
          </p:cNvSpPr>
          <p:nvPr>
            <p:ph type="title"/>
          </p:nvPr>
        </p:nvSpPr>
        <p:spPr/>
        <p:txBody>
          <a:bodyPr/>
          <a:lstStyle/>
          <a:p>
            <a:endParaRPr lang="en-MY"/>
          </a:p>
        </p:txBody>
      </p:sp>
      <p:pic>
        <p:nvPicPr>
          <p:cNvPr id="8" name="Content Placeholder 7">
            <a:extLst>
              <a:ext uri="{FF2B5EF4-FFF2-40B4-BE49-F238E27FC236}">
                <a16:creationId xmlns:a16="http://schemas.microsoft.com/office/drawing/2014/main" id="{69BA013C-FB4F-E498-C3BC-A0C8990BDA1D}"/>
              </a:ext>
            </a:extLst>
          </p:cNvPr>
          <p:cNvPicPr>
            <a:picLocks noGrp="1" noChangeAspect="1"/>
          </p:cNvPicPr>
          <p:nvPr>
            <p:ph idx="1"/>
          </p:nvPr>
        </p:nvPicPr>
        <p:blipFill>
          <a:blip r:embed="rId2"/>
          <a:stretch>
            <a:fillRect/>
          </a:stretch>
        </p:blipFill>
        <p:spPr>
          <a:xfrm>
            <a:off x="441000" y="1482430"/>
            <a:ext cx="5505450" cy="4873920"/>
          </a:xfrm>
        </p:spPr>
      </p:pic>
      <p:sp>
        <p:nvSpPr>
          <p:cNvPr id="4" name="Slide Number Placeholder 3">
            <a:extLst>
              <a:ext uri="{FF2B5EF4-FFF2-40B4-BE49-F238E27FC236}">
                <a16:creationId xmlns:a16="http://schemas.microsoft.com/office/drawing/2014/main" id="{37F51AA9-836F-0934-F705-E2261A024D2D}"/>
              </a:ext>
            </a:extLst>
          </p:cNvPr>
          <p:cNvSpPr>
            <a:spLocks noGrp="1"/>
          </p:cNvSpPr>
          <p:nvPr>
            <p:ph type="sldNum" sz="quarter" idx="12"/>
          </p:nvPr>
        </p:nvSpPr>
        <p:spPr/>
        <p:txBody>
          <a:bodyPr/>
          <a:lstStyle/>
          <a:p>
            <a:fld id="{B6A95138-A96E-2F42-A959-2EFD44FE4AB7}" type="slidenum">
              <a:rPr lang="en-US" smtClean="0"/>
              <a:t>8</a:t>
            </a:fld>
            <a:endParaRPr lang="en-US" dirty="0"/>
          </a:p>
        </p:txBody>
      </p:sp>
      <p:pic>
        <p:nvPicPr>
          <p:cNvPr id="10" name="Content Placeholder 9">
            <a:extLst>
              <a:ext uri="{FF2B5EF4-FFF2-40B4-BE49-F238E27FC236}">
                <a16:creationId xmlns:a16="http://schemas.microsoft.com/office/drawing/2014/main" id="{9297ABFC-0647-3B15-B15B-C2004E2B3199}"/>
              </a:ext>
            </a:extLst>
          </p:cNvPr>
          <p:cNvPicPr>
            <a:picLocks noGrp="1" noChangeAspect="1"/>
          </p:cNvPicPr>
          <p:nvPr>
            <p:ph idx="13"/>
          </p:nvPr>
        </p:nvPicPr>
        <p:blipFill>
          <a:blip r:embed="rId3"/>
          <a:stretch>
            <a:fillRect/>
          </a:stretch>
        </p:blipFill>
        <p:spPr>
          <a:xfrm>
            <a:off x="6246813" y="1482430"/>
            <a:ext cx="5503862" cy="5239045"/>
          </a:xfrm>
        </p:spPr>
      </p:pic>
      <p:sp>
        <p:nvSpPr>
          <p:cNvPr id="6" name="Footer Placeholder 5">
            <a:extLst>
              <a:ext uri="{FF2B5EF4-FFF2-40B4-BE49-F238E27FC236}">
                <a16:creationId xmlns:a16="http://schemas.microsoft.com/office/drawing/2014/main" id="{C7DB6A92-CB4F-E2A0-DBC8-9F199F4CA321}"/>
              </a:ext>
            </a:extLst>
          </p:cNvPr>
          <p:cNvSpPr>
            <a:spLocks noGrp="1"/>
          </p:cNvSpPr>
          <p:nvPr>
            <p:ph type="ftr" sz="quarter" idx="3"/>
          </p:nvPr>
        </p:nvSpPr>
        <p:spPr/>
        <p:txBody>
          <a:bodyPr/>
          <a:lstStyle/>
          <a:p>
            <a:r>
              <a:rPr lang="en-US"/>
              <a:t>© 2019, Amazon Web Services, Inc. or its Affiliates. All rights reserved.</a:t>
            </a:r>
            <a:endParaRPr lang="en-US" dirty="0"/>
          </a:p>
        </p:txBody>
      </p:sp>
      <p:sp>
        <p:nvSpPr>
          <p:cNvPr id="12" name="TextBox 11">
            <a:extLst>
              <a:ext uri="{FF2B5EF4-FFF2-40B4-BE49-F238E27FC236}">
                <a16:creationId xmlns:a16="http://schemas.microsoft.com/office/drawing/2014/main" id="{735B0F8B-3C68-C339-172E-3DCA394FB4EC}"/>
              </a:ext>
            </a:extLst>
          </p:cNvPr>
          <p:cNvSpPr txBox="1"/>
          <p:nvPr/>
        </p:nvSpPr>
        <p:spPr>
          <a:xfrm>
            <a:off x="9683261" y="6231098"/>
            <a:ext cx="6096000" cy="369332"/>
          </a:xfrm>
          <a:prstGeom prst="rect">
            <a:avLst/>
          </a:prstGeom>
          <a:noFill/>
        </p:spPr>
        <p:txBody>
          <a:bodyPr wrap="square">
            <a:spAutoFit/>
          </a:bodyPr>
          <a:lstStyle/>
          <a:p>
            <a:pPr>
              <a:spcAft>
                <a:spcPts val="600"/>
              </a:spcAft>
            </a:pPr>
            <a:r>
              <a:rPr lang="en-US" sz="1800" dirty="0">
                <a:solidFill>
                  <a:srgbClr val="FF0000"/>
                </a:solidFill>
              </a:rPr>
              <a:t>By Stephanie Marek</a:t>
            </a:r>
          </a:p>
        </p:txBody>
      </p:sp>
    </p:spTree>
    <p:extLst>
      <p:ext uri="{BB962C8B-B14F-4D97-AF65-F5344CB8AC3E}">
        <p14:creationId xmlns:p14="http://schemas.microsoft.com/office/powerpoint/2010/main" val="360075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B83DD-440D-F545-7610-3E1CFD9C393F}"/>
              </a:ext>
            </a:extLst>
          </p:cNvPr>
          <p:cNvSpPr>
            <a:spLocks noGrp="1"/>
          </p:cNvSpPr>
          <p:nvPr>
            <p:ph type="title"/>
          </p:nvPr>
        </p:nvSpPr>
        <p:spPr/>
        <p:txBody>
          <a:bodyPr/>
          <a:lstStyle/>
          <a:p>
            <a:endParaRPr lang="en-MY"/>
          </a:p>
        </p:txBody>
      </p:sp>
      <p:sp>
        <p:nvSpPr>
          <p:cNvPr id="3" name="Slide Number Placeholder 2">
            <a:extLst>
              <a:ext uri="{FF2B5EF4-FFF2-40B4-BE49-F238E27FC236}">
                <a16:creationId xmlns:a16="http://schemas.microsoft.com/office/drawing/2014/main" id="{F35F7F49-FC76-DA4B-E1FB-55CB6BC51989}"/>
              </a:ext>
            </a:extLst>
          </p:cNvPr>
          <p:cNvSpPr>
            <a:spLocks noGrp="1"/>
          </p:cNvSpPr>
          <p:nvPr>
            <p:ph type="sldNum" sz="quarter" idx="12"/>
          </p:nvPr>
        </p:nvSpPr>
        <p:spPr/>
        <p:txBody>
          <a:bodyPr/>
          <a:lstStyle/>
          <a:p>
            <a:fld id="{B6A95138-A96E-2F42-A959-2EFD44FE4AB7}" type="slidenum">
              <a:rPr lang="en-US" smtClean="0"/>
              <a:t>9</a:t>
            </a:fld>
            <a:endParaRPr lang="en-US" dirty="0"/>
          </a:p>
        </p:txBody>
      </p:sp>
      <p:sp>
        <p:nvSpPr>
          <p:cNvPr id="4" name="Footer Placeholder 3">
            <a:extLst>
              <a:ext uri="{FF2B5EF4-FFF2-40B4-BE49-F238E27FC236}">
                <a16:creationId xmlns:a16="http://schemas.microsoft.com/office/drawing/2014/main" id="{7BDF7CAD-E996-67E9-858C-92F2FBC7BC0D}"/>
              </a:ext>
            </a:extLst>
          </p:cNvPr>
          <p:cNvSpPr>
            <a:spLocks noGrp="1"/>
          </p:cNvSpPr>
          <p:nvPr>
            <p:ph type="ftr" sz="quarter" idx="3"/>
          </p:nvPr>
        </p:nvSpPr>
        <p:spPr/>
        <p:txBody>
          <a:bodyPr/>
          <a:lstStyle/>
          <a:p>
            <a:r>
              <a:rPr lang="en-US"/>
              <a:t>© 2019, Amazon Web Services, Inc. or its Affiliates. All rights reserved.</a:t>
            </a:r>
            <a:endParaRPr lang="en-US" dirty="0"/>
          </a:p>
        </p:txBody>
      </p:sp>
      <p:pic>
        <p:nvPicPr>
          <p:cNvPr id="6" name="Picture 5">
            <a:extLst>
              <a:ext uri="{FF2B5EF4-FFF2-40B4-BE49-F238E27FC236}">
                <a16:creationId xmlns:a16="http://schemas.microsoft.com/office/drawing/2014/main" id="{2BA5A3B8-8DA6-BB9B-A15C-2ACDD14CE485}"/>
              </a:ext>
            </a:extLst>
          </p:cNvPr>
          <p:cNvPicPr>
            <a:picLocks noChangeAspect="1"/>
          </p:cNvPicPr>
          <p:nvPr/>
        </p:nvPicPr>
        <p:blipFill>
          <a:blip r:embed="rId2"/>
          <a:stretch>
            <a:fillRect/>
          </a:stretch>
        </p:blipFill>
        <p:spPr>
          <a:xfrm>
            <a:off x="744203" y="1240359"/>
            <a:ext cx="10830176" cy="4750866"/>
          </a:xfrm>
          <a:prstGeom prst="rect">
            <a:avLst/>
          </a:prstGeom>
        </p:spPr>
      </p:pic>
      <p:sp>
        <p:nvSpPr>
          <p:cNvPr id="7" name="Slide Number Placeholder 3">
            <a:extLst>
              <a:ext uri="{FF2B5EF4-FFF2-40B4-BE49-F238E27FC236}">
                <a16:creationId xmlns:a16="http://schemas.microsoft.com/office/drawing/2014/main" id="{FA50CDF6-2AEC-4E17-FEB6-18FD43369179}"/>
              </a:ext>
            </a:extLst>
          </p:cNvPr>
          <p:cNvSpPr txBox="1">
            <a:spLocks/>
          </p:cNvSpPr>
          <p:nvPr/>
        </p:nvSpPr>
        <p:spPr>
          <a:xfrm>
            <a:off x="9182100" y="6310312"/>
            <a:ext cx="2743200" cy="365125"/>
          </a:xfrm>
          <a:prstGeom prst="rect">
            <a:avLst/>
          </a:prstGeom>
        </p:spPr>
        <p:txBody>
          <a:bodyPr vert="horz" lIns="91440" tIns="45720" rIns="91440" bIns="45720" rtlCol="0" anchor="ctr">
            <a:normAutofit lnSpcReduction="10000"/>
          </a:bodyPr>
          <a:lstStyle>
            <a:defPPr>
              <a:defRPr lang="en-US"/>
            </a:defPPr>
            <a:lvl1pPr marL="0" algn="r"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sz="1800">
                <a:solidFill>
                  <a:srgbClr val="FF0000"/>
                </a:solidFill>
              </a:rPr>
              <a:t>By Stephanie Marek</a:t>
            </a:r>
            <a:endParaRPr lang="en-US" sz="1800" dirty="0">
              <a:solidFill>
                <a:srgbClr val="FF0000"/>
              </a:solidFill>
            </a:endParaRPr>
          </a:p>
        </p:txBody>
      </p:sp>
    </p:spTree>
    <p:extLst>
      <p:ext uri="{BB962C8B-B14F-4D97-AF65-F5344CB8AC3E}">
        <p14:creationId xmlns:p14="http://schemas.microsoft.com/office/powerpoint/2010/main" val="2111972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F6EBB-1321-4F31-A2B5-7AE2D1B4358B}"/>
              </a:ext>
            </a:extLst>
          </p:cNvPr>
          <p:cNvSpPr>
            <a:spLocks noGrp="1"/>
          </p:cNvSpPr>
          <p:nvPr>
            <p:ph type="title"/>
          </p:nvPr>
        </p:nvSpPr>
        <p:spPr/>
        <p:txBody>
          <a:bodyPr/>
          <a:lstStyle/>
          <a:p>
            <a:r>
              <a:rPr lang="en-US" dirty="0"/>
              <a:t>How Elastic Load Balancing works</a:t>
            </a:r>
          </a:p>
        </p:txBody>
      </p:sp>
      <p:grpSp>
        <p:nvGrpSpPr>
          <p:cNvPr id="6" name="Group 5" descr="load balancers in different availability zones accepting traffic from clients and routing traffic only to healthy targets.">
            <a:extLst>
              <a:ext uri="{FF2B5EF4-FFF2-40B4-BE49-F238E27FC236}">
                <a16:creationId xmlns:a16="http://schemas.microsoft.com/office/drawing/2014/main" id="{A9F278FF-8208-4372-8A37-A40CF8C1558A}"/>
              </a:ext>
            </a:extLst>
          </p:cNvPr>
          <p:cNvGrpSpPr/>
          <p:nvPr/>
        </p:nvGrpSpPr>
        <p:grpSpPr>
          <a:xfrm>
            <a:off x="1842862" y="1248910"/>
            <a:ext cx="10060925" cy="5071646"/>
            <a:chOff x="1842862" y="1248910"/>
            <a:chExt cx="10060925" cy="5071646"/>
          </a:xfrm>
        </p:grpSpPr>
        <p:sp>
          <p:nvSpPr>
            <p:cNvPr id="7" name="TextBox 6">
              <a:extLst>
                <a:ext uri="{FF2B5EF4-FFF2-40B4-BE49-F238E27FC236}">
                  <a16:creationId xmlns:a16="http://schemas.microsoft.com/office/drawing/2014/main" id="{487C1B2C-B839-4FC6-9462-4AB47F9B8EE5}"/>
                </a:ext>
              </a:extLst>
            </p:cNvPr>
            <p:cNvSpPr txBox="1"/>
            <p:nvPr/>
          </p:nvSpPr>
          <p:spPr>
            <a:xfrm>
              <a:off x="1842862" y="4997117"/>
              <a:ext cx="1949811" cy="1323439"/>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Load balancer performs health checks to monitor health of registered targets.</a:t>
              </a:r>
            </a:p>
          </p:txBody>
        </p:sp>
        <p:sp>
          <p:nvSpPr>
            <p:cNvPr id="8" name="Rounded Rectangle 44">
              <a:extLst>
                <a:ext uri="{FF2B5EF4-FFF2-40B4-BE49-F238E27FC236}">
                  <a16:creationId xmlns:a16="http://schemas.microsoft.com/office/drawing/2014/main" id="{E75814F9-C1B1-45F5-8AF4-33D0DCD8D380}"/>
                </a:ext>
              </a:extLst>
            </p:cNvPr>
            <p:cNvSpPr/>
            <p:nvPr/>
          </p:nvSpPr>
          <p:spPr>
            <a:xfrm>
              <a:off x="4255562" y="3973854"/>
              <a:ext cx="2743200" cy="509829"/>
            </a:xfrm>
            <a:prstGeom prst="roundRect">
              <a:avLst/>
            </a:prstGeom>
            <a:solidFill>
              <a:schemeClr val="accent3"/>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b="1" dirty="0">
                  <a:solidFill>
                    <a:schemeClr val="tx1"/>
                  </a:solidFill>
                </a:rPr>
                <a:t>Listener</a:t>
              </a:r>
              <a:endParaRPr lang="en-US" sz="2133" b="1" dirty="0">
                <a:solidFill>
                  <a:schemeClr val="tx1"/>
                </a:solidFill>
              </a:endParaRPr>
            </a:p>
          </p:txBody>
        </p:sp>
        <p:sp>
          <p:nvSpPr>
            <p:cNvPr id="9" name="Rounded Rectangle 45">
              <a:extLst>
                <a:ext uri="{FF2B5EF4-FFF2-40B4-BE49-F238E27FC236}">
                  <a16:creationId xmlns:a16="http://schemas.microsoft.com/office/drawing/2014/main" id="{D21C91F3-7F44-403D-BC28-4A9678CA5BA9}"/>
                </a:ext>
              </a:extLst>
            </p:cNvPr>
            <p:cNvSpPr/>
            <p:nvPr/>
          </p:nvSpPr>
          <p:spPr>
            <a:xfrm>
              <a:off x="8709093" y="3973854"/>
              <a:ext cx="2743200" cy="509829"/>
            </a:xfrm>
            <a:prstGeom prst="roundRect">
              <a:avLst/>
            </a:prstGeom>
            <a:solidFill>
              <a:schemeClr val="accent3"/>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b="1" dirty="0">
                  <a:solidFill>
                    <a:schemeClr val="tx1"/>
                  </a:solidFill>
                </a:rPr>
                <a:t>Listener</a:t>
              </a:r>
              <a:endParaRPr lang="en-US" sz="2133" b="1" dirty="0">
                <a:solidFill>
                  <a:schemeClr val="tx1"/>
                </a:solidFill>
              </a:endParaRPr>
            </a:p>
          </p:txBody>
        </p:sp>
        <p:sp>
          <p:nvSpPr>
            <p:cNvPr id="10" name="Rounded Rectangle 82">
              <a:extLst>
                <a:ext uri="{FF2B5EF4-FFF2-40B4-BE49-F238E27FC236}">
                  <a16:creationId xmlns:a16="http://schemas.microsoft.com/office/drawing/2014/main" id="{ADDBABE0-91E0-4FF8-B870-2FE0E50C9BB4}"/>
                </a:ext>
              </a:extLst>
            </p:cNvPr>
            <p:cNvSpPr/>
            <p:nvPr/>
          </p:nvSpPr>
          <p:spPr>
            <a:xfrm>
              <a:off x="4335464" y="5515277"/>
              <a:ext cx="883963" cy="387275"/>
            </a:xfrm>
            <a:prstGeom prst="roundRect">
              <a:avLst/>
            </a:prstGeom>
            <a:solidFill>
              <a:schemeClr val="bg1"/>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b="1" dirty="0"/>
                <a:t>Target</a:t>
              </a:r>
            </a:p>
          </p:txBody>
        </p:sp>
        <p:sp>
          <p:nvSpPr>
            <p:cNvPr id="11" name="Rounded Rectangle 83">
              <a:extLst>
                <a:ext uri="{FF2B5EF4-FFF2-40B4-BE49-F238E27FC236}">
                  <a16:creationId xmlns:a16="http://schemas.microsoft.com/office/drawing/2014/main" id="{5A233092-358F-4C71-8EFD-65E3AB5DF388}"/>
                </a:ext>
              </a:extLst>
            </p:cNvPr>
            <p:cNvSpPr/>
            <p:nvPr/>
          </p:nvSpPr>
          <p:spPr>
            <a:xfrm>
              <a:off x="5915066" y="5515277"/>
              <a:ext cx="883963" cy="387275"/>
            </a:xfrm>
            <a:prstGeom prst="roundRect">
              <a:avLst/>
            </a:prstGeom>
            <a:solidFill>
              <a:schemeClr val="bg1"/>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b="1" dirty="0"/>
                <a:t>Target</a:t>
              </a:r>
            </a:p>
          </p:txBody>
        </p:sp>
        <p:sp>
          <p:nvSpPr>
            <p:cNvPr id="12" name="Rounded Rectangle 85">
              <a:extLst>
                <a:ext uri="{FF2B5EF4-FFF2-40B4-BE49-F238E27FC236}">
                  <a16:creationId xmlns:a16="http://schemas.microsoft.com/office/drawing/2014/main" id="{0378F361-D1B9-4DDF-8968-E4EF40A7054E}"/>
                </a:ext>
              </a:extLst>
            </p:cNvPr>
            <p:cNvSpPr/>
            <p:nvPr/>
          </p:nvSpPr>
          <p:spPr>
            <a:xfrm>
              <a:off x="8624374" y="5515277"/>
              <a:ext cx="883963" cy="387275"/>
            </a:xfrm>
            <a:prstGeom prst="roundRect">
              <a:avLst/>
            </a:prstGeom>
            <a:solidFill>
              <a:schemeClr val="bg1"/>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b="1" dirty="0"/>
                <a:t>Target</a:t>
              </a:r>
            </a:p>
          </p:txBody>
        </p:sp>
        <p:sp>
          <p:nvSpPr>
            <p:cNvPr id="13" name="Rounded Rectangle 87">
              <a:extLst>
                <a:ext uri="{FF2B5EF4-FFF2-40B4-BE49-F238E27FC236}">
                  <a16:creationId xmlns:a16="http://schemas.microsoft.com/office/drawing/2014/main" id="{FF5B7D3A-8C61-4412-9B98-05F23CAEFE0A}"/>
                </a:ext>
              </a:extLst>
            </p:cNvPr>
            <p:cNvSpPr/>
            <p:nvPr/>
          </p:nvSpPr>
          <p:spPr>
            <a:xfrm>
              <a:off x="10662408" y="5515277"/>
              <a:ext cx="883963" cy="387275"/>
            </a:xfrm>
            <a:prstGeom prst="roundRect">
              <a:avLst/>
            </a:prstGeom>
            <a:solidFill>
              <a:schemeClr val="bg1"/>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b="1" dirty="0"/>
                <a:t>Target</a:t>
              </a:r>
            </a:p>
          </p:txBody>
        </p:sp>
        <p:pic>
          <p:nvPicPr>
            <p:cNvPr id="14" name="Graphic 13">
              <a:extLst>
                <a:ext uri="{FF2B5EF4-FFF2-40B4-BE49-F238E27FC236}">
                  <a16:creationId xmlns:a16="http://schemas.microsoft.com/office/drawing/2014/main" id="{A55D47C9-7D03-481D-A40D-FC929173A6C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99767" y="1320621"/>
              <a:ext cx="731520" cy="731520"/>
            </a:xfrm>
            <a:prstGeom prst="rect">
              <a:avLst/>
            </a:prstGeom>
          </p:spPr>
        </p:pic>
        <p:cxnSp>
          <p:nvCxnSpPr>
            <p:cNvPr id="15" name="Connector: Elbow 14">
              <a:extLst>
                <a:ext uri="{FF2B5EF4-FFF2-40B4-BE49-F238E27FC236}">
                  <a16:creationId xmlns:a16="http://schemas.microsoft.com/office/drawing/2014/main" id="{66A70AAF-B965-408E-BB4C-D19D3A1857C9}"/>
                </a:ext>
              </a:extLst>
            </p:cNvPr>
            <p:cNvCxnSpPr>
              <a:cxnSpLocks/>
              <a:endCxn id="10" idx="0"/>
            </p:cNvCxnSpPr>
            <p:nvPr/>
          </p:nvCxnSpPr>
          <p:spPr>
            <a:xfrm rot="5400000">
              <a:off x="4542017" y="4644163"/>
              <a:ext cx="1106543" cy="63568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319F25F0-E595-4566-AC09-8BB5EC617A4D}"/>
                </a:ext>
              </a:extLst>
            </p:cNvPr>
            <p:cNvCxnSpPr>
              <a:cxnSpLocks/>
              <a:stCxn id="9" idx="2"/>
              <a:endCxn id="12" idx="0"/>
            </p:cNvCxnSpPr>
            <p:nvPr/>
          </p:nvCxnSpPr>
          <p:spPr>
            <a:xfrm rot="5400000">
              <a:off x="9057728" y="4492312"/>
              <a:ext cx="1031594" cy="10143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DBE75D3B-E1E5-46A2-9A69-32CDAE3B09D2}"/>
                </a:ext>
              </a:extLst>
            </p:cNvPr>
            <p:cNvCxnSpPr>
              <a:stCxn id="9" idx="2"/>
              <a:endCxn id="19" idx="0"/>
            </p:cNvCxnSpPr>
            <p:nvPr/>
          </p:nvCxnSpPr>
          <p:spPr>
            <a:xfrm rot="5400000">
              <a:off x="9564189" y="4998773"/>
              <a:ext cx="1031594" cy="141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EB6B5A75-54A1-464D-8E94-72DA19313C2C}"/>
                </a:ext>
              </a:extLst>
            </p:cNvPr>
            <p:cNvCxnSpPr>
              <a:cxnSpLocks/>
              <a:stCxn id="9" idx="2"/>
              <a:endCxn id="13" idx="0"/>
            </p:cNvCxnSpPr>
            <p:nvPr/>
          </p:nvCxnSpPr>
          <p:spPr>
            <a:xfrm rot="16200000" flipH="1">
              <a:off x="10076744" y="4487631"/>
              <a:ext cx="1031594" cy="102369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ounded Rectangle 86">
              <a:extLst>
                <a:ext uri="{FF2B5EF4-FFF2-40B4-BE49-F238E27FC236}">
                  <a16:creationId xmlns:a16="http://schemas.microsoft.com/office/drawing/2014/main" id="{45D5F7FD-7433-439B-A9C1-6FEBE2F87274}"/>
                </a:ext>
              </a:extLst>
            </p:cNvPr>
            <p:cNvSpPr/>
            <p:nvPr/>
          </p:nvSpPr>
          <p:spPr>
            <a:xfrm>
              <a:off x="9637296" y="5515277"/>
              <a:ext cx="883963" cy="387275"/>
            </a:xfrm>
            <a:prstGeom prst="roundRect">
              <a:avLst/>
            </a:prstGeom>
            <a:solidFill>
              <a:schemeClr val="bg1"/>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b="1" dirty="0"/>
                <a:t>Target</a:t>
              </a:r>
            </a:p>
          </p:txBody>
        </p:sp>
        <p:sp>
          <p:nvSpPr>
            <p:cNvPr id="20" name="Rectangle 19">
              <a:extLst>
                <a:ext uri="{FF2B5EF4-FFF2-40B4-BE49-F238E27FC236}">
                  <a16:creationId xmlns:a16="http://schemas.microsoft.com/office/drawing/2014/main" id="{DC133BD8-F21A-44CD-A95B-C29B43B74BAC}"/>
                </a:ext>
              </a:extLst>
            </p:cNvPr>
            <p:cNvSpPr/>
            <p:nvPr/>
          </p:nvSpPr>
          <p:spPr>
            <a:xfrm>
              <a:off x="3975783" y="2656759"/>
              <a:ext cx="3200400" cy="3360542"/>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Availability Zone A</a:t>
              </a:r>
            </a:p>
          </p:txBody>
        </p:sp>
        <p:sp>
          <p:nvSpPr>
            <p:cNvPr id="21" name="Rectangle 20">
              <a:extLst>
                <a:ext uri="{FF2B5EF4-FFF2-40B4-BE49-F238E27FC236}">
                  <a16:creationId xmlns:a16="http://schemas.microsoft.com/office/drawing/2014/main" id="{7B274339-2FDF-495C-8FA8-66AA9B5BD636}"/>
                </a:ext>
              </a:extLst>
            </p:cNvPr>
            <p:cNvSpPr/>
            <p:nvPr/>
          </p:nvSpPr>
          <p:spPr>
            <a:xfrm>
              <a:off x="8447408" y="2656760"/>
              <a:ext cx="3291840" cy="3360542"/>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Availability Zone B</a:t>
              </a:r>
            </a:p>
          </p:txBody>
        </p:sp>
        <p:pic>
          <p:nvPicPr>
            <p:cNvPr id="22" name="Graphic 21">
              <a:extLst>
                <a:ext uri="{FF2B5EF4-FFF2-40B4-BE49-F238E27FC236}">
                  <a16:creationId xmlns:a16="http://schemas.microsoft.com/office/drawing/2014/main" id="{F8C3179F-F610-476C-A857-75FAC3B4BFE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44574" y="2130468"/>
              <a:ext cx="457200" cy="457200"/>
            </a:xfrm>
            <a:prstGeom prst="rect">
              <a:avLst/>
            </a:prstGeom>
          </p:spPr>
        </p:pic>
        <p:sp>
          <p:nvSpPr>
            <p:cNvPr id="23" name="Rectangle 22">
              <a:extLst>
                <a:ext uri="{FF2B5EF4-FFF2-40B4-BE49-F238E27FC236}">
                  <a16:creationId xmlns:a16="http://schemas.microsoft.com/office/drawing/2014/main" id="{5DE9604E-CDEB-478C-B1A7-CEB0EEE94F7C}"/>
                </a:ext>
              </a:extLst>
            </p:cNvPr>
            <p:cNvSpPr/>
            <p:nvPr/>
          </p:nvSpPr>
          <p:spPr>
            <a:xfrm>
              <a:off x="3844572" y="2130466"/>
              <a:ext cx="8059215" cy="39776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ln w="0"/>
                  <a:solidFill>
                    <a:sysClr val="windowText" lastClr="000000"/>
                  </a:solidFill>
                </a:rPr>
                <a:t> AWS Cloud</a:t>
              </a:r>
            </a:p>
          </p:txBody>
        </p:sp>
        <p:pic>
          <p:nvPicPr>
            <p:cNvPr id="24" name="Graphic 23">
              <a:extLst>
                <a:ext uri="{FF2B5EF4-FFF2-40B4-BE49-F238E27FC236}">
                  <a16:creationId xmlns:a16="http://schemas.microsoft.com/office/drawing/2014/main" id="{3BDD4E48-2D32-4783-8498-86E9FBAA068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93120" y="3133752"/>
              <a:ext cx="457200" cy="457200"/>
            </a:xfrm>
            <a:prstGeom prst="rect">
              <a:avLst/>
            </a:prstGeom>
          </p:spPr>
        </p:pic>
        <p:pic>
          <p:nvPicPr>
            <p:cNvPr id="25" name="Graphic 24">
              <a:extLst>
                <a:ext uri="{FF2B5EF4-FFF2-40B4-BE49-F238E27FC236}">
                  <a16:creationId xmlns:a16="http://schemas.microsoft.com/office/drawing/2014/main" id="{B0C8EAC2-1BFC-4398-8599-A61E5A4A216F}"/>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9738" y="3133752"/>
              <a:ext cx="457200" cy="457200"/>
            </a:xfrm>
            <a:prstGeom prst="rect">
              <a:avLst/>
            </a:prstGeom>
          </p:spPr>
        </p:pic>
        <p:cxnSp>
          <p:nvCxnSpPr>
            <p:cNvPr id="26" name="Straight Arrow Connector 25">
              <a:extLst>
                <a:ext uri="{FF2B5EF4-FFF2-40B4-BE49-F238E27FC236}">
                  <a16:creationId xmlns:a16="http://schemas.microsoft.com/office/drawing/2014/main" id="{92F191E2-2A19-4FBF-BAD1-E15E68B1E3C0}"/>
                </a:ext>
              </a:extLst>
            </p:cNvPr>
            <p:cNvCxnSpPr>
              <a:stCxn id="24" idx="2"/>
              <a:endCxn id="8" idx="0"/>
            </p:cNvCxnSpPr>
            <p:nvPr/>
          </p:nvCxnSpPr>
          <p:spPr>
            <a:xfrm>
              <a:off x="5621720" y="3590952"/>
              <a:ext cx="5442" cy="382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D5599C5-9878-4B4F-A742-A3C86D5F63C6}"/>
                </a:ext>
              </a:extLst>
            </p:cNvPr>
            <p:cNvCxnSpPr>
              <a:stCxn id="25" idx="2"/>
              <a:endCxn id="9" idx="0"/>
            </p:cNvCxnSpPr>
            <p:nvPr/>
          </p:nvCxnSpPr>
          <p:spPr>
            <a:xfrm>
              <a:off x="10078338" y="3590952"/>
              <a:ext cx="2355" cy="382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DC9864A2-5830-48B8-B82B-E7DF5116668D}"/>
                </a:ext>
              </a:extLst>
            </p:cNvPr>
            <p:cNvCxnSpPr>
              <a:cxnSpLocks/>
              <a:endCxn id="24" idx="3"/>
            </p:cNvCxnSpPr>
            <p:nvPr/>
          </p:nvCxnSpPr>
          <p:spPr>
            <a:xfrm rot="5400000">
              <a:off x="6232799" y="1729623"/>
              <a:ext cx="1250251" cy="201520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432DDC19-B167-4256-9B8D-721B06ABBE35}"/>
                </a:ext>
              </a:extLst>
            </p:cNvPr>
            <p:cNvCxnSpPr>
              <a:cxnSpLocks/>
              <a:endCxn id="25" idx="1"/>
            </p:cNvCxnSpPr>
            <p:nvPr/>
          </p:nvCxnSpPr>
          <p:spPr>
            <a:xfrm rot="16200000" flipH="1">
              <a:off x="8232507" y="1745120"/>
              <a:ext cx="1250251" cy="198421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250E675-822B-480F-8592-45AF2485791E}"/>
                </a:ext>
              </a:extLst>
            </p:cNvPr>
            <p:cNvSpPr txBox="1"/>
            <p:nvPr/>
          </p:nvSpPr>
          <p:spPr>
            <a:xfrm>
              <a:off x="6839904" y="4770654"/>
              <a:ext cx="2066591" cy="830997"/>
            </a:xfrm>
            <a:prstGeom prst="rect">
              <a:avLst/>
            </a:prstGeom>
            <a:solidFill>
              <a:schemeClr val="bg1"/>
            </a:solid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Load balancer routes</a:t>
              </a:r>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traffic only to </a:t>
              </a:r>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healthy targets.</a:t>
              </a:r>
            </a:p>
          </p:txBody>
        </p:sp>
        <p:sp>
          <p:nvSpPr>
            <p:cNvPr id="31" name="TextBox 30">
              <a:extLst>
                <a:ext uri="{FF2B5EF4-FFF2-40B4-BE49-F238E27FC236}">
                  <a16:creationId xmlns:a16="http://schemas.microsoft.com/office/drawing/2014/main" id="{EB85954C-B4EB-47E0-B660-0A2820E57001}"/>
                </a:ext>
              </a:extLst>
            </p:cNvPr>
            <p:cNvSpPr txBox="1"/>
            <p:nvPr/>
          </p:nvSpPr>
          <p:spPr>
            <a:xfrm>
              <a:off x="6052115" y="5218201"/>
              <a:ext cx="631904" cy="1015663"/>
            </a:xfrm>
            <a:prstGeom prst="rect">
              <a:avLst/>
            </a:prstGeom>
            <a:noFill/>
          </p:spPr>
          <p:txBody>
            <a:bodyPr wrap="none" rtlCol="0">
              <a:spAutoFit/>
            </a:bodyPr>
            <a:lstStyle/>
            <a:p>
              <a:r>
                <a:rPr lang="en-US" sz="6000" dirty="0">
                  <a:solidFill>
                    <a:srgbClr val="FF0000"/>
                  </a:solidFill>
                  <a:latin typeface="Amazon Ember Light" panose="020B0403020204020204" pitchFamily="34" charset="0"/>
                  <a:ea typeface="Amazon Ember Light" panose="020B0403020204020204" pitchFamily="34" charset="0"/>
                  <a:cs typeface="Amazon Ember Light" panose="020B0403020204020204" pitchFamily="34" charset="0"/>
                </a:rPr>
                <a:t>X</a:t>
              </a:r>
            </a:p>
          </p:txBody>
        </p:sp>
        <p:sp>
          <p:nvSpPr>
            <p:cNvPr id="32" name="TextBox 31">
              <a:extLst>
                <a:ext uri="{FF2B5EF4-FFF2-40B4-BE49-F238E27FC236}">
                  <a16:creationId xmlns:a16="http://schemas.microsoft.com/office/drawing/2014/main" id="{E885CE8E-573B-4C52-81B5-A47A1C35FC80}"/>
                </a:ext>
              </a:extLst>
            </p:cNvPr>
            <p:cNvSpPr txBox="1"/>
            <p:nvPr/>
          </p:nvSpPr>
          <p:spPr>
            <a:xfrm>
              <a:off x="4796083" y="5131229"/>
              <a:ext cx="723275" cy="523220"/>
            </a:xfrm>
            <a:prstGeom prst="rect">
              <a:avLst/>
            </a:prstGeom>
            <a:noFill/>
          </p:spPr>
          <p:txBody>
            <a:bodyPr wrap="none" rtlCol="0">
              <a:spAutoFit/>
            </a:bodyPr>
            <a:lstStyle/>
            <a:p>
              <a:pPr marL="457200" indent="-457200">
                <a:buClr>
                  <a:schemeClr val="tx1"/>
                </a:buClr>
                <a:buFont typeface="Wingdings" panose="05000000000000000000" pitchFamily="2" charset="2"/>
                <a:buChar char="ü"/>
              </a:pPr>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33" name="TextBox 32">
              <a:extLst>
                <a:ext uri="{FF2B5EF4-FFF2-40B4-BE49-F238E27FC236}">
                  <a16:creationId xmlns:a16="http://schemas.microsoft.com/office/drawing/2014/main" id="{B715F7DB-ADBB-4BE2-8030-341568A292A0}"/>
                </a:ext>
              </a:extLst>
            </p:cNvPr>
            <p:cNvSpPr txBox="1"/>
            <p:nvPr/>
          </p:nvSpPr>
          <p:spPr>
            <a:xfrm>
              <a:off x="9086092" y="5131229"/>
              <a:ext cx="723275" cy="523220"/>
            </a:xfrm>
            <a:prstGeom prst="rect">
              <a:avLst/>
            </a:prstGeom>
            <a:noFill/>
          </p:spPr>
          <p:txBody>
            <a:bodyPr wrap="none" rtlCol="0">
              <a:spAutoFit/>
            </a:bodyPr>
            <a:lstStyle/>
            <a:p>
              <a:pPr marL="457200" indent="-457200">
                <a:buClr>
                  <a:schemeClr val="tx1"/>
                </a:buClr>
                <a:buFont typeface="Wingdings" panose="05000000000000000000" pitchFamily="2" charset="2"/>
                <a:buChar char="ü"/>
              </a:pPr>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34" name="TextBox 33">
              <a:extLst>
                <a:ext uri="{FF2B5EF4-FFF2-40B4-BE49-F238E27FC236}">
                  <a16:creationId xmlns:a16="http://schemas.microsoft.com/office/drawing/2014/main" id="{1A79B84B-D1D8-410C-ACCD-050258113C1C}"/>
                </a:ext>
              </a:extLst>
            </p:cNvPr>
            <p:cNvSpPr txBox="1"/>
            <p:nvPr/>
          </p:nvSpPr>
          <p:spPr>
            <a:xfrm>
              <a:off x="10092932" y="5131229"/>
              <a:ext cx="723275" cy="523220"/>
            </a:xfrm>
            <a:prstGeom prst="rect">
              <a:avLst/>
            </a:prstGeom>
            <a:noFill/>
          </p:spPr>
          <p:txBody>
            <a:bodyPr wrap="none" rtlCol="0">
              <a:spAutoFit/>
            </a:bodyPr>
            <a:lstStyle/>
            <a:p>
              <a:pPr marL="457200" indent="-457200">
                <a:buClr>
                  <a:schemeClr val="tx1"/>
                </a:buClr>
                <a:buFont typeface="Wingdings" panose="05000000000000000000" pitchFamily="2" charset="2"/>
                <a:buChar char="ü"/>
              </a:pPr>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35" name="TextBox 34">
              <a:extLst>
                <a:ext uri="{FF2B5EF4-FFF2-40B4-BE49-F238E27FC236}">
                  <a16:creationId xmlns:a16="http://schemas.microsoft.com/office/drawing/2014/main" id="{E7E99EEF-1BA8-4A17-AC96-738737BC3363}"/>
                </a:ext>
              </a:extLst>
            </p:cNvPr>
            <p:cNvSpPr txBox="1"/>
            <p:nvPr/>
          </p:nvSpPr>
          <p:spPr>
            <a:xfrm>
              <a:off x="11114761" y="5131229"/>
              <a:ext cx="723275" cy="523220"/>
            </a:xfrm>
            <a:prstGeom prst="rect">
              <a:avLst/>
            </a:prstGeom>
            <a:noFill/>
          </p:spPr>
          <p:txBody>
            <a:bodyPr wrap="none" rtlCol="0">
              <a:spAutoFit/>
            </a:bodyPr>
            <a:lstStyle/>
            <a:p>
              <a:pPr marL="457200" indent="-457200">
                <a:buClr>
                  <a:schemeClr val="tx1"/>
                </a:buClr>
                <a:buFont typeface="Wingdings" panose="05000000000000000000" pitchFamily="2" charset="2"/>
                <a:buChar char="ü"/>
              </a:pPr>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t>
              </a:r>
            </a:p>
          </p:txBody>
        </p:sp>
        <p:pic>
          <p:nvPicPr>
            <p:cNvPr id="36" name="Graphic 35">
              <a:extLst>
                <a:ext uri="{FF2B5EF4-FFF2-40B4-BE49-F238E27FC236}">
                  <a16:creationId xmlns:a16="http://schemas.microsoft.com/office/drawing/2014/main" id="{D9B3DD2C-854C-4581-98A6-3C46604F7636}"/>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84019" y="1248910"/>
              <a:ext cx="731520" cy="731520"/>
            </a:xfrm>
            <a:prstGeom prst="rect">
              <a:avLst/>
            </a:prstGeom>
          </p:spPr>
        </p:pic>
        <p:pic>
          <p:nvPicPr>
            <p:cNvPr id="37" name="Graphic 36">
              <a:extLst>
                <a:ext uri="{FF2B5EF4-FFF2-40B4-BE49-F238E27FC236}">
                  <a16:creationId xmlns:a16="http://schemas.microsoft.com/office/drawing/2014/main" id="{007B5CE4-6DBC-4980-B5DA-6707F3425DC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15515" y="1248910"/>
              <a:ext cx="731520" cy="731520"/>
            </a:xfrm>
            <a:prstGeom prst="rect">
              <a:avLst/>
            </a:prstGeom>
          </p:spPr>
        </p:pic>
        <p:sp>
          <p:nvSpPr>
            <p:cNvPr id="38" name="TextBox 37">
              <a:extLst>
                <a:ext uri="{FF2B5EF4-FFF2-40B4-BE49-F238E27FC236}">
                  <a16:creationId xmlns:a16="http://schemas.microsoft.com/office/drawing/2014/main" id="{3D180862-C298-4591-9FBF-35CCC86D8AA1}"/>
                </a:ext>
              </a:extLst>
            </p:cNvPr>
            <p:cNvSpPr txBox="1"/>
            <p:nvPr/>
          </p:nvSpPr>
          <p:spPr>
            <a:xfrm>
              <a:off x="6760842" y="2335553"/>
              <a:ext cx="2226892" cy="830997"/>
            </a:xfrm>
            <a:prstGeom prst="rect">
              <a:avLst/>
            </a:prstGeom>
            <a:solidFill>
              <a:schemeClr val="bg1"/>
            </a:solid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Load balancer accepts </a:t>
              </a:r>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incoming traffic </a:t>
              </a:r>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from clients.</a:t>
              </a:r>
            </a:p>
          </p:txBody>
        </p:sp>
        <p:sp>
          <p:nvSpPr>
            <p:cNvPr id="39" name="TextBox 38">
              <a:extLst>
                <a:ext uri="{FF2B5EF4-FFF2-40B4-BE49-F238E27FC236}">
                  <a16:creationId xmlns:a16="http://schemas.microsoft.com/office/drawing/2014/main" id="{FDF9BCF4-1003-4CC6-BF14-EAB9A1E63E7A}"/>
                </a:ext>
              </a:extLst>
            </p:cNvPr>
            <p:cNvSpPr txBox="1"/>
            <p:nvPr/>
          </p:nvSpPr>
          <p:spPr>
            <a:xfrm>
              <a:off x="6843073" y="3915038"/>
              <a:ext cx="2037737" cy="584775"/>
            </a:xfrm>
            <a:prstGeom prst="rect">
              <a:avLst/>
            </a:prstGeom>
            <a:solidFill>
              <a:schemeClr val="bg1"/>
            </a:solid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Listener checks for </a:t>
              </a:r>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connection requests.</a:t>
              </a:r>
            </a:p>
          </p:txBody>
        </p:sp>
      </p:grpSp>
      <p:sp>
        <p:nvSpPr>
          <p:cNvPr id="5" name="TextBox 4">
            <a:extLst>
              <a:ext uri="{FF2B5EF4-FFF2-40B4-BE49-F238E27FC236}">
                <a16:creationId xmlns:a16="http://schemas.microsoft.com/office/drawing/2014/main" id="{6697CCEF-94CE-4953-8A26-5CBF3CAC5CA3}"/>
              </a:ext>
            </a:extLst>
          </p:cNvPr>
          <p:cNvSpPr txBox="1"/>
          <p:nvPr/>
        </p:nvSpPr>
        <p:spPr>
          <a:xfrm>
            <a:off x="50978" y="1166292"/>
            <a:ext cx="3509725" cy="3477875"/>
          </a:xfrm>
          <a:prstGeom prst="rect">
            <a:avLst/>
          </a:prstGeom>
          <a:noFill/>
          <a:ln>
            <a:solidFill>
              <a:schemeClr val="accent5"/>
            </a:solidFill>
          </a:ln>
        </p:spPr>
        <p:txBody>
          <a:bodyPr wrap="square" rtlCol="0">
            <a:spAutoFit/>
          </a:bodyPr>
          <a:lstStyle/>
          <a:p>
            <a:pPr marL="342900" indent="-342900">
              <a:buFont typeface="Arial" panose="020B0604020202020204" pitchFamily="34" charset="0"/>
              <a:buChar char="•"/>
            </a:pPr>
            <a:r>
              <a:rPr lang="en-US" sz="2000" dirty="0"/>
              <a:t>With Application Load Balancers and Network Load Balancers, you </a:t>
            </a:r>
            <a:r>
              <a:rPr lang="en-US" sz="2000" dirty="0">
                <a:solidFill>
                  <a:schemeClr val="accent5"/>
                </a:solidFill>
              </a:rPr>
              <a:t>register targets in target groups</a:t>
            </a:r>
            <a:r>
              <a:rPr lang="en-US" sz="2000" dirty="0"/>
              <a:t>, and route traffic to the target groups.</a:t>
            </a:r>
            <a:br>
              <a:rPr lang="en-US" sz="2000" dirty="0"/>
            </a:br>
            <a:endParaRPr lang="en-US" sz="2000" dirty="0"/>
          </a:p>
          <a:p>
            <a:pPr marL="342900" indent="-342900">
              <a:buFont typeface="Arial" panose="020B0604020202020204" pitchFamily="34" charset="0"/>
              <a:buChar char="•"/>
            </a:pPr>
            <a:r>
              <a:rPr lang="en-US" sz="2000" dirty="0"/>
              <a:t>With Classic Load Balancers, you </a:t>
            </a:r>
            <a:r>
              <a:rPr lang="en-US" sz="2000" dirty="0">
                <a:solidFill>
                  <a:schemeClr val="accent5"/>
                </a:solidFill>
              </a:rPr>
              <a:t>register instances with the load balancer</a:t>
            </a:r>
            <a:r>
              <a:rPr lang="en-US" sz="2000" dirty="0"/>
              <a:t>.</a:t>
            </a:r>
          </a:p>
        </p:txBody>
      </p:sp>
      <p:sp>
        <p:nvSpPr>
          <p:cNvPr id="4" name="Footer Placeholder 3">
            <a:extLst>
              <a:ext uri="{FF2B5EF4-FFF2-40B4-BE49-F238E27FC236}">
                <a16:creationId xmlns:a16="http://schemas.microsoft.com/office/drawing/2014/main" id="{85E848ED-6ABB-4DC3-A843-E115471F5D9B}"/>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00A08750-8043-4652-AA99-601FC2A6186B}"/>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10</a:t>
            </a:fld>
            <a:endParaRPr lang="en-US" dirty="0"/>
          </a:p>
        </p:txBody>
      </p:sp>
    </p:spTree>
    <p:custDataLst>
      <p:tags r:id="rId1"/>
    </p:custDataLst>
    <p:extLst>
      <p:ext uri="{BB962C8B-B14F-4D97-AF65-F5344CB8AC3E}">
        <p14:creationId xmlns:p14="http://schemas.microsoft.com/office/powerpoint/2010/main" val="2745400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 balancer monitoring</a:t>
            </a:r>
          </a:p>
        </p:txBody>
      </p:sp>
      <p:pic>
        <p:nvPicPr>
          <p:cNvPr id="6" name="Picture 5">
            <a:extLst>
              <a:ext uri="{FF2B5EF4-FFF2-40B4-BE49-F238E27FC236}">
                <a16:creationId xmlns:a16="http://schemas.microsoft.com/office/drawing/2014/main" id="{5DEC5C0A-3A32-8540-A2ED-01EEDE9A023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348" y="1720771"/>
            <a:ext cx="4203700" cy="4025900"/>
          </a:xfrm>
          <a:prstGeom prst="rect">
            <a:avLst/>
          </a:prstGeom>
        </p:spPr>
      </p:pic>
      <p:sp>
        <p:nvSpPr>
          <p:cNvPr id="9" name="Content Placeholder 8">
            <a:extLst>
              <a:ext uri="{FF2B5EF4-FFF2-40B4-BE49-F238E27FC236}">
                <a16:creationId xmlns:a16="http://schemas.microsoft.com/office/drawing/2014/main" id="{8E621796-891F-412A-B643-F135D78635E1}"/>
              </a:ext>
            </a:extLst>
          </p:cNvPr>
          <p:cNvSpPr>
            <a:spLocks noGrp="1"/>
          </p:cNvSpPr>
          <p:nvPr>
            <p:ph idx="13"/>
          </p:nvPr>
        </p:nvSpPr>
        <p:spPr>
          <a:xfrm>
            <a:off x="5936343" y="1524228"/>
            <a:ext cx="5814657" cy="4832122"/>
          </a:xfrm>
        </p:spPr>
        <p:txBody>
          <a:bodyPr/>
          <a:lstStyle/>
          <a:p>
            <a:r>
              <a:rPr lang="en-US" b="1" dirty="0">
                <a:solidFill>
                  <a:schemeClr val="accent5"/>
                </a:solidFill>
              </a:rPr>
              <a:t>Amazon CloudWatch metrics</a:t>
            </a:r>
            <a:r>
              <a:rPr lang="en-US" dirty="0"/>
              <a:t> – Used to verify that the system is performing as expected and creates an alarm to initiate an action if a metric goes outside an acceptable range.</a:t>
            </a:r>
          </a:p>
          <a:p>
            <a:r>
              <a:rPr lang="en-US" b="1" dirty="0">
                <a:solidFill>
                  <a:schemeClr val="accent5"/>
                </a:solidFill>
              </a:rPr>
              <a:t>Access logs</a:t>
            </a:r>
            <a:r>
              <a:rPr lang="en-US" dirty="0"/>
              <a:t> – Capture detailed information about requests sent to your load balancer.</a:t>
            </a:r>
          </a:p>
          <a:p>
            <a:r>
              <a:rPr lang="en-US" b="1" dirty="0">
                <a:solidFill>
                  <a:schemeClr val="accent5"/>
                </a:solidFill>
              </a:rPr>
              <a:t>AWS CloudTrail logs</a:t>
            </a:r>
            <a:r>
              <a:rPr lang="en-US" dirty="0"/>
              <a:t> – Capture the who, what, when, and where of API interactions in AWS services. </a:t>
            </a:r>
          </a:p>
        </p:txBody>
      </p:sp>
      <p:sp>
        <p:nvSpPr>
          <p:cNvPr id="3" name="Footer Placeholder 2">
            <a:extLst>
              <a:ext uri="{FF2B5EF4-FFF2-40B4-BE49-F238E27FC236}">
                <a16:creationId xmlns:a16="http://schemas.microsoft.com/office/drawing/2014/main" id="{86F2AD60-59BC-4D20-B66A-5A85231E1033}"/>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26CAC427-9351-4828-8FC8-9F6650F5F0A7}"/>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11</a:t>
            </a:fld>
            <a:endParaRPr lang="en-US" dirty="0"/>
          </a:p>
        </p:txBody>
      </p:sp>
    </p:spTree>
    <p:custDataLst>
      <p:tags r:id="rId1"/>
    </p:custDataLst>
    <p:extLst>
      <p:ext uri="{BB962C8B-B14F-4D97-AF65-F5344CB8AC3E}">
        <p14:creationId xmlns:p14="http://schemas.microsoft.com/office/powerpoint/2010/main" val="1519515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lstStyle/>
          <a:p>
            <a:r>
              <a:rPr lang="en-US" dirty="0">
                <a:latin typeface="+mj-lt"/>
              </a:rPr>
              <a:t>Section 1 key takeaways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597222" y="2835670"/>
            <a:ext cx="3931314" cy="3104201"/>
          </a:xfrm>
          <a:prstGeom prst="rect">
            <a:avLst/>
          </a:prstGeom>
        </p:spPr>
      </p:pic>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r>
              <a:rPr lang="en-US" dirty="0">
                <a:latin typeface="+mn-lt"/>
              </a:rPr>
              <a:t>Elastic Load Balancing distributes incoming application or network traffic across multiple targets in one or more Availability Zones. </a:t>
            </a:r>
          </a:p>
          <a:p>
            <a:r>
              <a:rPr lang="en-US" dirty="0">
                <a:latin typeface="+mn-lt"/>
              </a:rPr>
              <a:t>Elastic Load Balancing supports three types of load balancers:</a:t>
            </a:r>
          </a:p>
          <a:p>
            <a:pPr lvl="1"/>
            <a:r>
              <a:rPr lang="en-US" dirty="0">
                <a:latin typeface="+mn-lt"/>
              </a:rPr>
              <a:t>Application Load Balancer</a:t>
            </a:r>
          </a:p>
          <a:p>
            <a:pPr lvl="1"/>
            <a:r>
              <a:rPr lang="en-US" dirty="0">
                <a:latin typeface="+mn-lt"/>
              </a:rPr>
              <a:t>Network Load Balancer</a:t>
            </a:r>
          </a:p>
          <a:p>
            <a:pPr lvl="1"/>
            <a:r>
              <a:rPr lang="en-US" dirty="0">
                <a:latin typeface="+mn-lt"/>
              </a:rPr>
              <a:t>Classic Load Balancer</a:t>
            </a:r>
          </a:p>
          <a:p>
            <a:r>
              <a:rPr lang="en-US" dirty="0">
                <a:latin typeface="+mn-lt"/>
              </a:rPr>
              <a:t>ELB offers instance health checks, security, and monitoring.</a:t>
            </a:r>
          </a:p>
        </p:txBody>
      </p:sp>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12</a:t>
            </a:fld>
            <a:endParaRPr lang="en-US" dirty="0"/>
          </a:p>
        </p:txBody>
      </p:sp>
      <p:sp>
        <p:nvSpPr>
          <p:cNvPr id="2" name="Footer Placeholder 1">
            <a:extLst>
              <a:ext uri="{FF2B5EF4-FFF2-40B4-BE49-F238E27FC236}">
                <a16:creationId xmlns:a16="http://schemas.microsoft.com/office/drawing/2014/main" id="{46C0DCB9-C0D6-2842-8ED0-F06821F23D2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748972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body" sz="quarter" idx="10"/>
          </p:nvPr>
        </p:nvSpPr>
        <p:spPr>
          <a:xfrm>
            <a:off x="419100" y="2554356"/>
            <a:ext cx="9129634" cy="488498"/>
          </a:xfrm>
        </p:spPr>
        <p:txBody>
          <a:bodyPr>
            <a:normAutofit/>
          </a:bodyPr>
          <a:lstStyle/>
          <a:p>
            <a:r>
              <a:rPr lang="en-US" b="1" dirty="0">
                <a:latin typeface="+mn-lt"/>
              </a:rPr>
              <a:t>Module 10: Automatic Scaling and Monitoring</a:t>
            </a:r>
          </a:p>
        </p:txBody>
      </p:sp>
      <p:sp>
        <p:nvSpPr>
          <p:cNvPr id="2" name="Title 1"/>
          <p:cNvSpPr>
            <a:spLocks noGrp="1"/>
          </p:cNvSpPr>
          <p:nvPr>
            <p:ph type="title"/>
          </p:nvPr>
        </p:nvSpPr>
        <p:spPr/>
        <p:txBody>
          <a:bodyPr>
            <a:noAutofit/>
          </a:bodyPr>
          <a:lstStyle/>
          <a:p>
            <a:r>
              <a:rPr lang="en-US" sz="4000" dirty="0">
                <a:latin typeface="+mj-lt"/>
              </a:rPr>
              <a:t>Section 2: Amazon CloudWatch</a:t>
            </a:r>
          </a:p>
        </p:txBody>
      </p:sp>
      <p:sp>
        <p:nvSpPr>
          <p:cNvPr id="4" name="Footer Placeholder 3">
            <a:extLst>
              <a:ext uri="{FF2B5EF4-FFF2-40B4-BE49-F238E27FC236}">
                <a16:creationId xmlns:a16="http://schemas.microsoft.com/office/drawing/2014/main" id="{7BB800D0-90B8-1345-9CCB-7EA2E508C14A}"/>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224624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Autofit/>
          </a:bodyPr>
          <a:lstStyle/>
          <a:p>
            <a:r>
              <a:rPr lang="en-US" dirty="0"/>
              <a:t>Monitoring AWS resources</a:t>
            </a:r>
          </a:p>
        </p:txBody>
      </p:sp>
      <p:sp>
        <p:nvSpPr>
          <p:cNvPr id="8" name="Content Placeholder 7">
            <a:extLst>
              <a:ext uri="{FF2B5EF4-FFF2-40B4-BE49-F238E27FC236}">
                <a16:creationId xmlns:a16="http://schemas.microsoft.com/office/drawing/2014/main" id="{6C781481-908B-48DE-9976-9DF732895416}"/>
              </a:ext>
            </a:extLst>
          </p:cNvPr>
          <p:cNvSpPr>
            <a:spLocks noGrp="1"/>
          </p:cNvSpPr>
          <p:nvPr>
            <p:ph idx="1"/>
          </p:nvPr>
        </p:nvSpPr>
        <p:spPr/>
        <p:txBody>
          <a:bodyPr/>
          <a:lstStyle/>
          <a:p>
            <a:pPr marL="0" indent="0">
              <a:buNone/>
            </a:pPr>
            <a:r>
              <a:rPr lang="en-US" dirty="0">
                <a:latin typeface="+mj-lt"/>
              </a:rPr>
              <a:t>To use AWS efficiently, you need insight into your AWS resources:</a:t>
            </a:r>
            <a:br>
              <a:rPr lang="en-US" dirty="0">
                <a:latin typeface="+mj-lt"/>
              </a:rPr>
            </a:br>
            <a:endParaRPr lang="en-US" dirty="0">
              <a:latin typeface="+mj-lt"/>
            </a:endParaRPr>
          </a:p>
          <a:p>
            <a:r>
              <a:rPr lang="en-US" dirty="0">
                <a:latin typeface="+mj-lt"/>
                <a:ea typeface="Amazon Ember Light" charset="0"/>
                <a:cs typeface="Amazon Ember Light" charset="0"/>
              </a:rPr>
              <a:t>How do you know when you should </a:t>
            </a:r>
            <a:r>
              <a:rPr lang="en-US" b="1" dirty="0">
                <a:solidFill>
                  <a:schemeClr val="accent5"/>
                </a:solidFill>
                <a:latin typeface="+mj-lt"/>
                <a:ea typeface="Amazon Ember Light" charset="0"/>
                <a:cs typeface="Amazon Ember Light" charset="0"/>
              </a:rPr>
              <a:t>launch more</a:t>
            </a:r>
            <a:r>
              <a:rPr lang="en-US" b="1" dirty="0">
                <a:solidFill>
                  <a:schemeClr val="accent5"/>
                </a:solidFill>
                <a:latin typeface="+mj-lt"/>
                <a:ea typeface="Amazon Ember" panose="020B0603020204020204" pitchFamily="34" charset="0"/>
                <a:cs typeface="Amazon Ember" panose="020B0603020204020204" pitchFamily="34" charset="0"/>
              </a:rPr>
              <a:t> Amazon EC2 instances</a:t>
            </a:r>
            <a:r>
              <a:rPr lang="en-US" dirty="0">
                <a:latin typeface="+mj-lt"/>
                <a:ea typeface="Amazon Ember" panose="020B0603020204020204" pitchFamily="34" charset="0"/>
                <a:cs typeface="Amazon Ember" panose="020B0603020204020204" pitchFamily="34" charset="0"/>
              </a:rPr>
              <a:t>?</a:t>
            </a:r>
            <a:r>
              <a:rPr lang="en-US" dirty="0">
                <a:latin typeface="+mj-lt"/>
                <a:ea typeface="Amazon Ember Light" charset="0"/>
                <a:cs typeface="Amazon Ember Light" charset="0"/>
              </a:rPr>
              <a:t> </a:t>
            </a:r>
            <a:br>
              <a:rPr lang="en-US" dirty="0">
                <a:latin typeface="+mj-lt"/>
                <a:ea typeface="Amazon Ember Light" charset="0"/>
                <a:cs typeface="Amazon Ember Light" charset="0"/>
              </a:rPr>
            </a:br>
            <a:endParaRPr lang="en-US" dirty="0">
              <a:latin typeface="+mj-lt"/>
              <a:ea typeface="Amazon Ember Light" charset="0"/>
              <a:cs typeface="Amazon Ember Light" charset="0"/>
            </a:endParaRPr>
          </a:p>
          <a:p>
            <a:r>
              <a:rPr lang="en-US" dirty="0">
                <a:latin typeface="+mj-lt"/>
                <a:ea typeface="Amazon Ember Light" charset="0"/>
                <a:cs typeface="Amazon Ember Light" charset="0"/>
              </a:rPr>
              <a:t>Is your </a:t>
            </a:r>
            <a:r>
              <a:rPr lang="en-US" b="1" dirty="0">
                <a:solidFill>
                  <a:schemeClr val="accent5"/>
                </a:solidFill>
                <a:latin typeface="+mj-lt"/>
                <a:ea typeface="Amazon Ember" panose="020B0603020204020204" pitchFamily="34" charset="0"/>
                <a:cs typeface="Amazon Ember" panose="020B0603020204020204" pitchFamily="34" charset="0"/>
              </a:rPr>
              <a:t>application's performance </a:t>
            </a:r>
            <a:r>
              <a:rPr lang="en-US" b="1" dirty="0">
                <a:solidFill>
                  <a:schemeClr val="accent5"/>
                </a:solidFill>
                <a:latin typeface="+mj-lt"/>
                <a:ea typeface="Amazon Ember Light" charset="0"/>
                <a:cs typeface="Amazon Ember Light" charset="0"/>
              </a:rPr>
              <a:t>or </a:t>
            </a:r>
            <a:r>
              <a:rPr lang="en-US" b="1" dirty="0">
                <a:solidFill>
                  <a:schemeClr val="accent5"/>
                </a:solidFill>
                <a:latin typeface="+mj-lt"/>
                <a:ea typeface="Amazon Ember" panose="020B0603020204020204" pitchFamily="34" charset="0"/>
                <a:cs typeface="Amazon Ember" panose="020B0603020204020204" pitchFamily="34" charset="0"/>
              </a:rPr>
              <a:t>availability</a:t>
            </a:r>
            <a:r>
              <a:rPr lang="en-US" dirty="0">
                <a:solidFill>
                  <a:schemeClr val="accent5"/>
                </a:solidFill>
                <a:latin typeface="+mj-lt"/>
                <a:ea typeface="Amazon Ember Light" charset="0"/>
                <a:cs typeface="Amazon Ember Light" charset="0"/>
              </a:rPr>
              <a:t> </a:t>
            </a:r>
            <a:r>
              <a:rPr lang="en-US" dirty="0">
                <a:latin typeface="+mj-lt"/>
                <a:ea typeface="Amazon Ember Light" charset="0"/>
                <a:cs typeface="Amazon Ember Light" charset="0"/>
              </a:rPr>
              <a:t>being affected by a lack of sufficient capacity?</a:t>
            </a:r>
            <a:br>
              <a:rPr lang="en-US" dirty="0">
                <a:latin typeface="+mj-lt"/>
                <a:ea typeface="Amazon Ember Light" charset="0"/>
                <a:cs typeface="Amazon Ember Light" charset="0"/>
              </a:rPr>
            </a:br>
            <a:endParaRPr lang="en-US" dirty="0">
              <a:latin typeface="+mj-lt"/>
              <a:ea typeface="Amazon Ember Light" charset="0"/>
              <a:cs typeface="Amazon Ember Light" charset="0"/>
            </a:endParaRPr>
          </a:p>
          <a:p>
            <a:r>
              <a:rPr lang="en-US" dirty="0">
                <a:latin typeface="+mj-lt"/>
                <a:ea typeface="Amazon Ember Light" charset="0"/>
                <a:cs typeface="Amazon Ember Light" charset="0"/>
              </a:rPr>
              <a:t>How much of your infrastructure is actually </a:t>
            </a:r>
            <a:r>
              <a:rPr lang="en-US" b="1" dirty="0">
                <a:solidFill>
                  <a:schemeClr val="accent5"/>
                </a:solidFill>
                <a:latin typeface="+mj-lt"/>
                <a:ea typeface="Amazon Ember" panose="020B0603020204020204" pitchFamily="34" charset="0"/>
                <a:cs typeface="Amazon Ember" panose="020B0603020204020204" pitchFamily="34" charset="0"/>
              </a:rPr>
              <a:t>being used</a:t>
            </a:r>
            <a:r>
              <a:rPr lang="en-US" dirty="0">
                <a:latin typeface="+mj-lt"/>
                <a:ea typeface="Amazon Ember Light" charset="0"/>
                <a:cs typeface="Amazon Ember Light" charset="0"/>
              </a:rPr>
              <a:t>?</a:t>
            </a:r>
          </a:p>
        </p:txBody>
      </p:sp>
      <p:sp>
        <p:nvSpPr>
          <p:cNvPr id="6" name="Slide Number Placeholder 5">
            <a:extLst>
              <a:ext uri="{FF2B5EF4-FFF2-40B4-BE49-F238E27FC236}">
                <a16:creationId xmlns:a16="http://schemas.microsoft.com/office/drawing/2014/main" id="{F44288C2-D13D-4432-921B-DA6B514ACF21}"/>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14</a:t>
            </a:fld>
            <a:endParaRPr lang="en-US" dirty="0"/>
          </a:p>
        </p:txBody>
      </p:sp>
      <p:sp>
        <p:nvSpPr>
          <p:cNvPr id="3" name="Footer Placeholder 2">
            <a:extLst>
              <a:ext uri="{FF2B5EF4-FFF2-40B4-BE49-F238E27FC236}">
                <a16:creationId xmlns:a16="http://schemas.microsoft.com/office/drawing/2014/main" id="{F158B8E4-3577-4190-9E93-112DB5EF7BB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395042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CloudWatch</a:t>
            </a:r>
          </a:p>
        </p:txBody>
      </p:sp>
      <p:pic>
        <p:nvPicPr>
          <p:cNvPr id="11" name="Graphic 10">
            <a:extLst>
              <a:ext uri="{FF2B5EF4-FFF2-40B4-BE49-F238E27FC236}">
                <a16:creationId xmlns:a16="http://schemas.microsoft.com/office/drawing/2014/main" id="{7CA04BB1-1F67-4ACC-860D-7CCC767038A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2971" y="1729991"/>
            <a:ext cx="914400" cy="914400"/>
          </a:xfrm>
          <a:prstGeom prst="rect">
            <a:avLst/>
          </a:prstGeom>
        </p:spPr>
      </p:pic>
      <p:sp>
        <p:nvSpPr>
          <p:cNvPr id="9" name="TextBox 8">
            <a:extLst>
              <a:ext uri="{FF2B5EF4-FFF2-40B4-BE49-F238E27FC236}">
                <a16:creationId xmlns:a16="http://schemas.microsoft.com/office/drawing/2014/main" id="{694E21D3-538B-42C2-BB4D-EBF63C7E5EAA}"/>
              </a:ext>
            </a:extLst>
          </p:cNvPr>
          <p:cNvSpPr txBox="1"/>
          <p:nvPr/>
        </p:nvSpPr>
        <p:spPr>
          <a:xfrm>
            <a:off x="495498" y="2766799"/>
            <a:ext cx="1829347" cy="830997"/>
          </a:xfrm>
          <a:prstGeom prst="rect">
            <a:avLst/>
          </a:prstGeom>
          <a:noFill/>
        </p:spPr>
        <p:txBody>
          <a:bodyPr wrap="none" rtlCol="0">
            <a:spAutoFit/>
          </a:bodyPr>
          <a:lstStyle/>
          <a:p>
            <a:pPr algn="ctr"/>
            <a:r>
              <a:rPr lang="en-US" sz="2400" b="1" dirty="0">
                <a:latin typeface="+mj-lt"/>
                <a:ea typeface="Amazon Ember Medium" panose="020B0603020204020204" pitchFamily="34" charset="0"/>
                <a:cs typeface="Amazon Ember Medium" panose="020B0603020204020204" pitchFamily="34" charset="0"/>
              </a:rPr>
              <a:t>Amazon</a:t>
            </a:r>
          </a:p>
          <a:p>
            <a:pPr algn="ctr"/>
            <a:r>
              <a:rPr lang="en-US" sz="2400" b="1" dirty="0">
                <a:latin typeface="+mj-lt"/>
                <a:ea typeface="Amazon Ember Medium" panose="020B0603020204020204" pitchFamily="34" charset="0"/>
                <a:cs typeface="Amazon Ember Medium" panose="020B0603020204020204" pitchFamily="34" charset="0"/>
              </a:rPr>
              <a:t>CloudWatch</a:t>
            </a:r>
          </a:p>
        </p:txBody>
      </p:sp>
      <p:pic>
        <p:nvPicPr>
          <p:cNvPr id="10" name="Picture 9">
            <a:extLst>
              <a:ext uri="{C183D7F6-B498-43B3-948B-1728B52AA6E4}">
                <adec:decorative xmlns:adec="http://schemas.microsoft.com/office/drawing/2017/decorative" val="1"/>
              </a:ext>
            </a:extLst>
          </p:cNvPr>
          <p:cNvPicPr>
            <a:picLocks noChangeAspect="1"/>
          </p:cNvPicPr>
          <p:nvPr/>
        </p:nvPicPr>
        <p:blipFill>
          <a:blip r:embed="rId6">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162038" y="1287395"/>
            <a:ext cx="2743200" cy="2743200"/>
          </a:xfrm>
          <a:prstGeom prst="rect">
            <a:avLst/>
          </a:prstGeom>
        </p:spPr>
      </p:pic>
      <p:pic>
        <p:nvPicPr>
          <p:cNvPr id="14" name="Picture 13">
            <a:extLst>
              <a:ext uri="{C183D7F6-B498-43B3-948B-1728B52AA6E4}">
                <adec:decorative xmlns:adec="http://schemas.microsoft.com/office/drawing/2017/decorative" val="1"/>
              </a:ext>
            </a:extLst>
          </p:cNvPr>
          <p:cNvPicPr>
            <a:picLocks noChangeAspect="1"/>
          </p:cNvPicPr>
          <p:nvPr/>
        </p:nvPicPr>
        <p:blipFill>
          <a:blip r:embed="rId7">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4162038" y="3404081"/>
            <a:ext cx="2743200" cy="2743200"/>
          </a:xfrm>
          <a:prstGeom prst="rect">
            <a:avLst/>
          </a:prstGeom>
        </p:spPr>
      </p:pic>
      <p:sp>
        <p:nvSpPr>
          <p:cNvPr id="3" name="Content Placeholder 2"/>
          <p:cNvSpPr>
            <a:spLocks noGrp="1"/>
          </p:cNvSpPr>
          <p:nvPr>
            <p:ph idx="4294967295"/>
          </p:nvPr>
        </p:nvSpPr>
        <p:spPr>
          <a:xfrm>
            <a:off x="6916061" y="1730836"/>
            <a:ext cx="4953000" cy="4572000"/>
          </a:xfrm>
        </p:spPr>
        <p:txBody>
          <a:bodyPr>
            <a:normAutofit fontScale="92500" lnSpcReduction="20000"/>
          </a:bodyPr>
          <a:lstStyle/>
          <a:p>
            <a:r>
              <a:rPr lang="en-US" sz="2600" dirty="0"/>
              <a:t>Monitors</a:t>
            </a:r>
            <a:r>
              <a:rPr lang="en-US" sz="2400" dirty="0"/>
              <a:t> – </a:t>
            </a:r>
            <a:endParaRPr lang="en-US" dirty="0"/>
          </a:p>
          <a:p>
            <a:pPr lvl="1"/>
            <a:r>
              <a:rPr lang="en-US" sz="2200" dirty="0">
                <a:solidFill>
                  <a:srgbClr val="000000"/>
                </a:solidFill>
              </a:rPr>
              <a:t>AWS resources</a:t>
            </a:r>
            <a:r>
              <a:rPr lang="en-US" sz="2200" dirty="0"/>
              <a:t> </a:t>
            </a:r>
          </a:p>
          <a:p>
            <a:pPr lvl="1"/>
            <a:r>
              <a:rPr lang="en-US" sz="2200" dirty="0">
                <a:solidFill>
                  <a:srgbClr val="000000"/>
                </a:solidFill>
              </a:rPr>
              <a:t>Applications</a:t>
            </a:r>
            <a:r>
              <a:rPr lang="en-US" sz="2200" dirty="0"/>
              <a:t> that run on AWS</a:t>
            </a:r>
          </a:p>
          <a:p>
            <a:r>
              <a:rPr lang="en-US" sz="2600" dirty="0"/>
              <a:t>Collects and tracks</a:t>
            </a:r>
            <a:r>
              <a:rPr lang="en-US" sz="2400" dirty="0"/>
              <a:t> – </a:t>
            </a:r>
            <a:endParaRPr lang="en-US" sz="2600" dirty="0"/>
          </a:p>
          <a:p>
            <a:pPr lvl="1"/>
            <a:r>
              <a:rPr lang="en-US" sz="2200" dirty="0">
                <a:solidFill>
                  <a:srgbClr val="000000"/>
                </a:solidFill>
              </a:rPr>
              <a:t>Standard metrics</a:t>
            </a:r>
            <a:endParaRPr lang="en-US" sz="2200" dirty="0">
              <a:solidFill>
                <a:srgbClr val="000000"/>
              </a:solidFill>
              <a:latin typeface="Amazon Ember Light" panose="020B0403020204020204"/>
            </a:endParaRPr>
          </a:p>
          <a:p>
            <a:pPr lvl="1"/>
            <a:r>
              <a:rPr lang="en-US" sz="2200" dirty="0">
                <a:solidFill>
                  <a:srgbClr val="000000"/>
                </a:solidFill>
              </a:rPr>
              <a:t>Custom metrics</a:t>
            </a:r>
            <a:endParaRPr lang="en-US" sz="2200" dirty="0">
              <a:solidFill>
                <a:srgbClr val="000000"/>
              </a:solidFill>
              <a:latin typeface="Amazon Ember Light" panose="020B0403020204020204"/>
            </a:endParaRPr>
          </a:p>
          <a:p>
            <a:r>
              <a:rPr lang="en-US" sz="2600" dirty="0"/>
              <a:t>Alarms</a:t>
            </a:r>
            <a:r>
              <a:rPr lang="en-US" sz="2400" dirty="0"/>
              <a:t> – </a:t>
            </a:r>
            <a:r>
              <a:rPr lang="en-US" sz="2600" dirty="0"/>
              <a:t> </a:t>
            </a:r>
          </a:p>
          <a:p>
            <a:pPr lvl="1"/>
            <a:r>
              <a:rPr lang="en-US" sz="2200" dirty="0">
                <a:solidFill>
                  <a:srgbClr val="000000"/>
                </a:solidFill>
              </a:rPr>
              <a:t>Send notifications</a:t>
            </a:r>
            <a:r>
              <a:rPr lang="en-US" sz="2200" dirty="0"/>
              <a:t> to an Amazon SNS topic</a:t>
            </a:r>
          </a:p>
          <a:p>
            <a:pPr lvl="1"/>
            <a:r>
              <a:rPr lang="en-US" sz="2200" dirty="0"/>
              <a:t>Perform Amazon EC2 Auto Scaling or Amazon EC2 actions</a:t>
            </a:r>
          </a:p>
          <a:p>
            <a:r>
              <a:rPr lang="en-US" sz="2600" dirty="0"/>
              <a:t>Events</a:t>
            </a:r>
            <a:r>
              <a:rPr lang="en-US" sz="2400" dirty="0"/>
              <a:t> – </a:t>
            </a:r>
            <a:endParaRPr lang="en-US" sz="2600" dirty="0"/>
          </a:p>
          <a:p>
            <a:pPr lvl="1"/>
            <a:r>
              <a:rPr lang="en-US" sz="2200" dirty="0">
                <a:solidFill>
                  <a:srgbClr val="000000"/>
                </a:solidFill>
              </a:rPr>
              <a:t>Define rules to match changes in AWS environment and route these events to one or more target functions or streams for processing</a:t>
            </a:r>
            <a:endParaRPr lang="en-US" sz="2200" dirty="0">
              <a:solidFill>
                <a:srgbClr val="000000"/>
              </a:solidFill>
              <a:latin typeface="Amazon Ember Light" panose="020B0403020204020204"/>
            </a:endParaRPr>
          </a:p>
        </p:txBody>
      </p:sp>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t>
            </a:r>
            <a:r>
              <a:rPr lang="en-US" dirty="0">
                <a:solidFill>
                  <a:srgbClr val="898989"/>
                </a:solidFill>
              </a:rPr>
              <a:t>Amazon Web Services</a:t>
            </a:r>
            <a:r>
              <a:rPr lang="en-US" dirty="0"/>
              <a:t>, Inc. or its Affiliates. </a:t>
            </a:r>
            <a:r>
              <a:rPr lang="en-US" dirty="0">
                <a:solidFill>
                  <a:srgbClr val="898989"/>
                </a:solidFill>
              </a:rPr>
              <a:t>All</a:t>
            </a:r>
            <a:r>
              <a:rPr lang="en-US" dirty="0"/>
              <a:t> rights </a:t>
            </a:r>
            <a:r>
              <a:rPr lang="en-US" dirty="0">
                <a:solidFill>
                  <a:srgbClr val="898989"/>
                </a:solidFill>
              </a:rPr>
              <a:t>reserved</a:t>
            </a:r>
            <a:r>
              <a:rPr lang="en-US" dirty="0"/>
              <a:t>.</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15</a:t>
            </a:fld>
            <a:endParaRPr lang="en-US" dirty="0"/>
          </a:p>
        </p:txBody>
      </p:sp>
    </p:spTree>
    <p:custDataLst>
      <p:tags r:id="rId1"/>
    </p:custDataLst>
    <p:extLst>
      <p:ext uri="{BB962C8B-B14F-4D97-AF65-F5344CB8AC3E}">
        <p14:creationId xmlns:p14="http://schemas.microsoft.com/office/powerpoint/2010/main" val="775258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FDE1B-AA08-4266-AA32-78678923FAD3}"/>
              </a:ext>
            </a:extLst>
          </p:cNvPr>
          <p:cNvSpPr>
            <a:spLocks noGrp="1"/>
          </p:cNvSpPr>
          <p:nvPr>
            <p:ph type="title"/>
          </p:nvPr>
        </p:nvSpPr>
        <p:spPr/>
        <p:txBody>
          <a:bodyPr/>
          <a:lstStyle/>
          <a:p>
            <a:r>
              <a:rPr lang="en-US" dirty="0"/>
              <a:t>CloudWatch alarms</a:t>
            </a:r>
          </a:p>
        </p:txBody>
      </p:sp>
      <p:sp>
        <p:nvSpPr>
          <p:cNvPr id="13" name="Content Placeholder 12">
            <a:extLst>
              <a:ext uri="{FF2B5EF4-FFF2-40B4-BE49-F238E27FC236}">
                <a16:creationId xmlns:a16="http://schemas.microsoft.com/office/drawing/2014/main" id="{27E5411F-8F21-4807-92AD-D07B0818C096}"/>
              </a:ext>
            </a:extLst>
          </p:cNvPr>
          <p:cNvSpPr>
            <a:spLocks noGrp="1"/>
          </p:cNvSpPr>
          <p:nvPr>
            <p:ph idx="1"/>
          </p:nvPr>
        </p:nvSpPr>
        <p:spPr>
          <a:xfrm>
            <a:off x="419100" y="1528175"/>
            <a:ext cx="5504688" cy="4964700"/>
          </a:xfrm>
        </p:spPr>
        <p:txBody>
          <a:bodyPr/>
          <a:lstStyle/>
          <a:p>
            <a:r>
              <a:rPr lang="en-US" dirty="0"/>
              <a:t>Create alarms based on – </a:t>
            </a:r>
          </a:p>
          <a:p>
            <a:pPr lvl="1"/>
            <a:r>
              <a:rPr lang="en-US" dirty="0"/>
              <a:t>Static threshold</a:t>
            </a:r>
          </a:p>
          <a:p>
            <a:pPr lvl="1"/>
            <a:r>
              <a:rPr lang="en-US" dirty="0"/>
              <a:t>Anomaly detection</a:t>
            </a:r>
          </a:p>
          <a:p>
            <a:pPr lvl="1"/>
            <a:r>
              <a:rPr lang="en-US" dirty="0"/>
              <a:t>Metric math expression</a:t>
            </a:r>
          </a:p>
          <a:p>
            <a:r>
              <a:rPr lang="en-US" dirty="0"/>
              <a:t>Specify – </a:t>
            </a:r>
          </a:p>
          <a:p>
            <a:pPr lvl="1"/>
            <a:r>
              <a:rPr lang="en-US" dirty="0"/>
              <a:t>Namespace</a:t>
            </a:r>
          </a:p>
          <a:p>
            <a:pPr lvl="1"/>
            <a:r>
              <a:rPr lang="en-US" dirty="0"/>
              <a:t>Metric</a:t>
            </a:r>
          </a:p>
          <a:p>
            <a:pPr lvl="1"/>
            <a:r>
              <a:rPr lang="en-US" dirty="0"/>
              <a:t>Statistic</a:t>
            </a:r>
          </a:p>
          <a:p>
            <a:pPr lvl="1"/>
            <a:r>
              <a:rPr lang="en-US" dirty="0"/>
              <a:t>Period</a:t>
            </a:r>
          </a:p>
          <a:p>
            <a:pPr lvl="1"/>
            <a:r>
              <a:rPr lang="en-US" dirty="0"/>
              <a:t>Conditions</a:t>
            </a:r>
          </a:p>
          <a:p>
            <a:pPr lvl="1"/>
            <a:r>
              <a:rPr lang="en-US" dirty="0"/>
              <a:t>Additional configuration</a:t>
            </a:r>
          </a:p>
          <a:p>
            <a:pPr lvl="1"/>
            <a:r>
              <a:rPr lang="en-US" dirty="0"/>
              <a:t>Actions</a:t>
            </a:r>
          </a:p>
          <a:p>
            <a:pPr lvl="1"/>
            <a:endParaRPr lang="en-US" dirty="0"/>
          </a:p>
        </p:txBody>
      </p:sp>
      <p:pic>
        <p:nvPicPr>
          <p:cNvPr id="17" name="Picture 16">
            <a:extLst>
              <a:ext uri="{FF2B5EF4-FFF2-40B4-BE49-F238E27FC236}">
                <a16:creationId xmlns:a16="http://schemas.microsoft.com/office/drawing/2014/main" id="{BB817143-7143-41AC-8F19-CE7C86DC7FC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40580" y="1216429"/>
            <a:ext cx="3973690" cy="1550230"/>
          </a:xfrm>
          <a:prstGeom prst="rect">
            <a:avLst/>
          </a:prstGeom>
        </p:spPr>
      </p:pic>
      <p:pic>
        <p:nvPicPr>
          <p:cNvPr id="12" name="Picture 11">
            <a:extLst>
              <a:ext uri="{FF2B5EF4-FFF2-40B4-BE49-F238E27FC236}">
                <a16:creationId xmlns:a16="http://schemas.microsoft.com/office/drawing/2014/main" id="{B5140747-79EB-4499-BF0E-5D070E1A896F}"/>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240580" y="2873449"/>
            <a:ext cx="6799951" cy="3482901"/>
          </a:xfrm>
          <a:prstGeom prst="rect">
            <a:avLst/>
          </a:prstGeom>
        </p:spPr>
      </p:pic>
      <p:sp>
        <p:nvSpPr>
          <p:cNvPr id="4" name="Footer Placeholder 3">
            <a:extLst>
              <a:ext uri="{FF2B5EF4-FFF2-40B4-BE49-F238E27FC236}">
                <a16:creationId xmlns:a16="http://schemas.microsoft.com/office/drawing/2014/main" id="{9292C717-DBCB-466E-9B2C-93DAB200F366}"/>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25EDA6C7-90D3-4137-8A75-F27570AE070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16</a:t>
            </a:fld>
            <a:endParaRPr lang="en-US" dirty="0"/>
          </a:p>
        </p:txBody>
      </p:sp>
    </p:spTree>
    <p:custDataLst>
      <p:tags r:id="rId1"/>
    </p:custDataLst>
    <p:extLst>
      <p:ext uri="{BB962C8B-B14F-4D97-AF65-F5344CB8AC3E}">
        <p14:creationId xmlns:p14="http://schemas.microsoft.com/office/powerpoint/2010/main" val="4193766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Activity: Amazon CloudWatch</a:t>
            </a:r>
          </a:p>
        </p:txBody>
      </p:sp>
      <p:grpSp>
        <p:nvGrpSpPr>
          <p:cNvPr id="41" name="Group 40" descr="If average CPU utilization is greater than 60% for five minutes.">
            <a:extLst>
              <a:ext uri="{FF2B5EF4-FFF2-40B4-BE49-F238E27FC236}">
                <a16:creationId xmlns:a16="http://schemas.microsoft.com/office/drawing/2014/main" id="{D2723620-3662-4CC0-BBA6-2EE1D412A82C}"/>
              </a:ext>
            </a:extLst>
          </p:cNvPr>
          <p:cNvGrpSpPr/>
          <p:nvPr/>
        </p:nvGrpSpPr>
        <p:grpSpPr>
          <a:xfrm>
            <a:off x="638967" y="1394760"/>
            <a:ext cx="6808119" cy="917972"/>
            <a:chOff x="638967" y="1394760"/>
            <a:chExt cx="6808119" cy="917972"/>
          </a:xfrm>
        </p:grpSpPr>
        <p:grpSp>
          <p:nvGrpSpPr>
            <p:cNvPr id="9" name="Group 8">
              <a:extLst>
                <a:ext uri="{FF2B5EF4-FFF2-40B4-BE49-F238E27FC236}">
                  <a16:creationId xmlns:a16="http://schemas.microsoft.com/office/drawing/2014/main" id="{B318F69F-BB77-4480-9ADE-A8A91FA36A2F}"/>
                </a:ext>
              </a:extLst>
            </p:cNvPr>
            <p:cNvGrpSpPr/>
            <p:nvPr/>
          </p:nvGrpSpPr>
          <p:grpSpPr>
            <a:xfrm>
              <a:off x="638967" y="1394760"/>
              <a:ext cx="1478289" cy="917972"/>
              <a:chOff x="8707407" y="1591989"/>
              <a:chExt cx="1478289" cy="917972"/>
            </a:xfrm>
          </p:grpSpPr>
          <p:pic>
            <p:nvPicPr>
              <p:cNvPr id="8" name="Graphic 7">
                <a:extLst>
                  <a:ext uri="{FF2B5EF4-FFF2-40B4-BE49-F238E27FC236}">
                    <a16:creationId xmlns:a16="http://schemas.microsoft.com/office/drawing/2014/main" id="{B5293A45-0AEF-47E8-A786-C413640E9944}"/>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72231" y="1591989"/>
                <a:ext cx="548640" cy="548640"/>
              </a:xfrm>
              <a:prstGeom prst="rect">
                <a:avLst/>
              </a:prstGeom>
            </p:spPr>
          </p:pic>
          <p:sp>
            <p:nvSpPr>
              <p:cNvPr id="6" name="TextBox 5">
                <a:extLst>
                  <a:ext uri="{FF2B5EF4-FFF2-40B4-BE49-F238E27FC236}">
                    <a16:creationId xmlns:a16="http://schemas.microsoft.com/office/drawing/2014/main" id="{F93ED312-9C51-4DCB-92C6-788E95D07906}"/>
                  </a:ext>
                </a:extLst>
              </p:cNvPr>
              <p:cNvSpPr txBox="1"/>
              <p:nvPr/>
            </p:nvSpPr>
            <p:spPr>
              <a:xfrm>
                <a:off x="8707407" y="2140629"/>
                <a:ext cx="1478289" cy="369332"/>
              </a:xfrm>
              <a:prstGeom prst="rect">
                <a:avLst/>
              </a:prstGeom>
              <a:noFill/>
            </p:spPr>
            <p:txBody>
              <a:bodyPr wrap="non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Amazon EC2</a:t>
                </a:r>
              </a:p>
            </p:txBody>
          </p:sp>
        </p:grpSp>
        <p:sp>
          <p:nvSpPr>
            <p:cNvPr id="7" name="Rectangle 6">
              <a:extLst>
                <a:ext uri="{FF2B5EF4-FFF2-40B4-BE49-F238E27FC236}">
                  <a16:creationId xmlns:a16="http://schemas.microsoft.com/office/drawing/2014/main" id="{693D162E-2ED4-4DAC-8D12-32C6E3333F65}"/>
                </a:ext>
              </a:extLst>
            </p:cNvPr>
            <p:cNvSpPr/>
            <p:nvPr/>
          </p:nvSpPr>
          <p:spPr>
            <a:xfrm>
              <a:off x="2875086" y="1394760"/>
              <a:ext cx="4572000" cy="6400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chemeClr val="tx1"/>
                  </a:solidFill>
                  <a:ea typeface="Amazon Ember Light" charset="0"/>
                  <a:cs typeface="Amazon Ember Light" charset="0"/>
                </a:rPr>
                <a:t>If average CPU utilization is </a:t>
              </a:r>
              <a:r>
                <a:rPr lang="en-US" dirty="0">
                  <a:solidFill>
                    <a:schemeClr val="tx1"/>
                  </a:solidFill>
                  <a:ea typeface="Amazon Ember" panose="020B0603020204020204" pitchFamily="34" charset="0"/>
                  <a:cs typeface="Amazon Ember" panose="020B0603020204020204" pitchFamily="34" charset="0"/>
                </a:rPr>
                <a:t>&gt; 60% </a:t>
              </a:r>
              <a:r>
                <a:rPr lang="en-US" dirty="0">
                  <a:solidFill>
                    <a:schemeClr val="tx1"/>
                  </a:solidFill>
                  <a:ea typeface="Amazon Ember Light" charset="0"/>
                  <a:cs typeface="Amazon Ember Light" charset="0"/>
                </a:rPr>
                <a:t>for </a:t>
              </a:r>
              <a:r>
                <a:rPr lang="en-US" dirty="0">
                  <a:solidFill>
                    <a:schemeClr val="tx1"/>
                  </a:solidFill>
                  <a:ea typeface="Amazon Ember" panose="020B0603020204020204" pitchFamily="34" charset="0"/>
                  <a:cs typeface="Amazon Ember" panose="020B0603020204020204" pitchFamily="34" charset="0"/>
                </a:rPr>
                <a:t>5 </a:t>
              </a:r>
              <a:r>
                <a:rPr lang="en-US" dirty="0">
                  <a:solidFill>
                    <a:schemeClr val="tx1"/>
                  </a:solidFill>
                  <a:ea typeface="Amazon Ember Light" charset="0"/>
                  <a:cs typeface="Amazon Ember Light" charset="0"/>
                </a:rPr>
                <a:t>minutes…</a:t>
              </a:r>
            </a:p>
            <a:p>
              <a:endParaRPr lang="en-US" dirty="0">
                <a:solidFill>
                  <a:schemeClr val="tx1"/>
                </a:solidFill>
              </a:endParaRPr>
            </a:p>
          </p:txBody>
        </p:sp>
      </p:grpSp>
      <p:sp>
        <p:nvSpPr>
          <p:cNvPr id="32" name="Rectangle 31">
            <a:extLst>
              <a:ext uri="{FF2B5EF4-FFF2-40B4-BE49-F238E27FC236}">
                <a16:creationId xmlns:a16="http://schemas.microsoft.com/office/drawing/2014/main" id="{A54D1B7F-0183-4B94-8273-2FC62192FD22}"/>
              </a:ext>
            </a:extLst>
          </p:cNvPr>
          <p:cNvSpPr/>
          <p:nvPr/>
        </p:nvSpPr>
        <p:spPr>
          <a:xfrm>
            <a:off x="7569506" y="1394760"/>
            <a:ext cx="1097280" cy="6400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ea typeface="Amazon Ember Light" charset="0"/>
                <a:cs typeface="Amazon Ember Light" charset="0"/>
              </a:rPr>
              <a:t>Correct!</a:t>
            </a:r>
          </a:p>
        </p:txBody>
      </p:sp>
      <p:grpSp>
        <p:nvGrpSpPr>
          <p:cNvPr id="42" name="Group 41" descr="If the number of simultaneous connections is greater than 10 for 1 minute.">
            <a:extLst>
              <a:ext uri="{FF2B5EF4-FFF2-40B4-BE49-F238E27FC236}">
                <a16:creationId xmlns:a16="http://schemas.microsoft.com/office/drawing/2014/main" id="{051B272A-493F-4B46-B4C2-128B696C2150}"/>
              </a:ext>
            </a:extLst>
          </p:cNvPr>
          <p:cNvGrpSpPr/>
          <p:nvPr/>
        </p:nvGrpSpPr>
        <p:grpSpPr>
          <a:xfrm>
            <a:off x="628547" y="2391910"/>
            <a:ext cx="6818539" cy="917972"/>
            <a:chOff x="628547" y="2391910"/>
            <a:chExt cx="6818539" cy="917972"/>
          </a:xfrm>
        </p:grpSpPr>
        <p:grpSp>
          <p:nvGrpSpPr>
            <p:cNvPr id="10" name="Group 9">
              <a:extLst>
                <a:ext uri="{FF2B5EF4-FFF2-40B4-BE49-F238E27FC236}">
                  <a16:creationId xmlns:a16="http://schemas.microsoft.com/office/drawing/2014/main" id="{72D87F66-CFBB-42B8-9285-B8DD42F131E1}"/>
                </a:ext>
              </a:extLst>
            </p:cNvPr>
            <p:cNvGrpSpPr/>
            <p:nvPr/>
          </p:nvGrpSpPr>
          <p:grpSpPr>
            <a:xfrm>
              <a:off x="628547" y="2391910"/>
              <a:ext cx="1499128" cy="917972"/>
              <a:chOff x="8792199" y="3197641"/>
              <a:chExt cx="1499128" cy="917972"/>
            </a:xfrm>
          </p:grpSpPr>
          <p:sp>
            <p:nvSpPr>
              <p:cNvPr id="11" name="TextBox 10">
                <a:extLst>
                  <a:ext uri="{FF2B5EF4-FFF2-40B4-BE49-F238E27FC236}">
                    <a16:creationId xmlns:a16="http://schemas.microsoft.com/office/drawing/2014/main" id="{692BCF40-E7DD-42ED-89AD-AE65C9928D4B}"/>
                  </a:ext>
                </a:extLst>
              </p:cNvPr>
              <p:cNvSpPr txBox="1"/>
              <p:nvPr/>
            </p:nvSpPr>
            <p:spPr>
              <a:xfrm>
                <a:off x="8792199" y="3746281"/>
                <a:ext cx="1499128" cy="369332"/>
              </a:xfrm>
              <a:prstGeom prst="rect">
                <a:avLst/>
              </a:prstGeom>
              <a:noFill/>
            </p:spPr>
            <p:txBody>
              <a:bodyPr wrap="non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Amazon RDS</a:t>
                </a:r>
              </a:p>
            </p:txBody>
          </p:sp>
          <p:pic>
            <p:nvPicPr>
              <p:cNvPr id="13" name="Graphic 12">
                <a:extLst>
                  <a:ext uri="{FF2B5EF4-FFF2-40B4-BE49-F238E27FC236}">
                    <a16:creationId xmlns:a16="http://schemas.microsoft.com/office/drawing/2014/main" id="{05788520-4629-42EC-ABDB-6E35B75E5DC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31376" y="3197641"/>
                <a:ext cx="548640" cy="548640"/>
              </a:xfrm>
              <a:prstGeom prst="rect">
                <a:avLst/>
              </a:prstGeom>
            </p:spPr>
          </p:pic>
        </p:grpSp>
        <p:sp>
          <p:nvSpPr>
            <p:cNvPr id="23" name="Rectangle 22">
              <a:extLst>
                <a:ext uri="{FF2B5EF4-FFF2-40B4-BE49-F238E27FC236}">
                  <a16:creationId xmlns:a16="http://schemas.microsoft.com/office/drawing/2014/main" id="{9C6A170A-2F86-4C34-978A-A55A36D491A9}"/>
                </a:ext>
              </a:extLst>
            </p:cNvPr>
            <p:cNvSpPr/>
            <p:nvPr/>
          </p:nvSpPr>
          <p:spPr>
            <a:xfrm>
              <a:off x="2875086" y="2391910"/>
              <a:ext cx="4572000" cy="6400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chemeClr val="tx1"/>
                  </a:solidFill>
                  <a:ea typeface="Amazon Ember Light" charset="0"/>
                  <a:cs typeface="Amazon Ember Light" charset="0"/>
                </a:rPr>
                <a:t>If the number of simultaneous connections is &gt; 10 for 1 minute…</a:t>
              </a:r>
              <a:endParaRPr lang="en-US" b="1" dirty="0">
                <a:solidFill>
                  <a:schemeClr val="tx1"/>
                </a:solidFill>
                <a:ea typeface="Amazon Ember Light" charset="0"/>
                <a:cs typeface="Amazon Ember Light" charset="0"/>
              </a:endParaRPr>
            </a:p>
            <a:p>
              <a:endParaRPr lang="en-US" dirty="0">
                <a:solidFill>
                  <a:schemeClr val="tx1"/>
                </a:solidFill>
              </a:endParaRPr>
            </a:p>
          </p:txBody>
        </p:sp>
      </p:grpSp>
      <p:sp>
        <p:nvSpPr>
          <p:cNvPr id="33" name="Rectangle 32">
            <a:extLst>
              <a:ext uri="{FF2B5EF4-FFF2-40B4-BE49-F238E27FC236}">
                <a16:creationId xmlns:a16="http://schemas.microsoft.com/office/drawing/2014/main" id="{2198109B-DAF3-43AB-A598-25BF2957BC3D}"/>
              </a:ext>
            </a:extLst>
          </p:cNvPr>
          <p:cNvSpPr/>
          <p:nvPr/>
        </p:nvSpPr>
        <p:spPr>
          <a:xfrm>
            <a:off x="7569506" y="2391910"/>
            <a:ext cx="1097280" cy="6400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ea typeface="Amazon Ember Light" charset="0"/>
                <a:cs typeface="Amazon Ember Light" charset="0"/>
              </a:rPr>
              <a:t>Correct!</a:t>
            </a:r>
          </a:p>
        </p:txBody>
      </p:sp>
      <p:grpSp>
        <p:nvGrpSpPr>
          <p:cNvPr id="43" name="Group 42" descr="If the maximum bucket size bytes is around 3 for 1 day.">
            <a:extLst>
              <a:ext uri="{FF2B5EF4-FFF2-40B4-BE49-F238E27FC236}">
                <a16:creationId xmlns:a16="http://schemas.microsoft.com/office/drawing/2014/main" id="{FE545EDB-A848-4D12-BFC7-C7D43BE721DC}"/>
              </a:ext>
            </a:extLst>
          </p:cNvPr>
          <p:cNvGrpSpPr/>
          <p:nvPr/>
        </p:nvGrpSpPr>
        <p:grpSpPr>
          <a:xfrm>
            <a:off x="707094" y="3389060"/>
            <a:ext cx="6739992" cy="902540"/>
            <a:chOff x="707094" y="3389060"/>
            <a:chExt cx="6739992" cy="902540"/>
          </a:xfrm>
        </p:grpSpPr>
        <p:sp>
          <p:nvSpPr>
            <p:cNvPr id="27" name="Rectangle 26">
              <a:extLst>
                <a:ext uri="{FF2B5EF4-FFF2-40B4-BE49-F238E27FC236}">
                  <a16:creationId xmlns:a16="http://schemas.microsoft.com/office/drawing/2014/main" id="{9F7B43AD-495F-4B5F-BB48-8C0C1D68F7AE}"/>
                </a:ext>
              </a:extLst>
            </p:cNvPr>
            <p:cNvSpPr/>
            <p:nvPr/>
          </p:nvSpPr>
          <p:spPr>
            <a:xfrm>
              <a:off x="2875086" y="3389060"/>
              <a:ext cx="4572000" cy="6400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chemeClr val="tx1"/>
                  </a:solidFill>
                  <a:ea typeface="Amazon Ember Light" charset="0"/>
                  <a:cs typeface="Amazon Ember Light" charset="0"/>
                </a:rPr>
                <a:t>If the maximum bucket size in bytes is around 3 for 1 day…</a:t>
              </a:r>
              <a:endParaRPr lang="en-US" b="1" dirty="0">
                <a:solidFill>
                  <a:schemeClr val="tx1"/>
                </a:solidFill>
                <a:ea typeface="Amazon Ember Light" charset="0"/>
                <a:cs typeface="Amazon Ember Light" charset="0"/>
              </a:endParaRPr>
            </a:p>
            <a:p>
              <a:endParaRPr lang="en-US" dirty="0">
                <a:solidFill>
                  <a:schemeClr val="tx1"/>
                </a:solidFill>
              </a:endParaRPr>
            </a:p>
          </p:txBody>
        </p:sp>
        <p:grpSp>
          <p:nvGrpSpPr>
            <p:cNvPr id="31" name="Group 30">
              <a:extLst>
                <a:ext uri="{FF2B5EF4-FFF2-40B4-BE49-F238E27FC236}">
                  <a16:creationId xmlns:a16="http://schemas.microsoft.com/office/drawing/2014/main" id="{4A627CDF-2476-4759-9117-0227DB0369C0}"/>
                </a:ext>
              </a:extLst>
            </p:cNvPr>
            <p:cNvGrpSpPr/>
            <p:nvPr/>
          </p:nvGrpSpPr>
          <p:grpSpPr>
            <a:xfrm>
              <a:off x="707094" y="3389060"/>
              <a:ext cx="1342034" cy="902540"/>
              <a:chOff x="488629" y="3675790"/>
              <a:chExt cx="1342034" cy="902540"/>
            </a:xfrm>
          </p:grpSpPr>
          <p:pic>
            <p:nvPicPr>
              <p:cNvPr id="29" name="Graphic 28">
                <a:extLst>
                  <a:ext uri="{FF2B5EF4-FFF2-40B4-BE49-F238E27FC236}">
                    <a16:creationId xmlns:a16="http://schemas.microsoft.com/office/drawing/2014/main" id="{F5EDEC53-E236-41C6-B3A4-64FB7EACB92E}"/>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5326" y="3675790"/>
                <a:ext cx="548640" cy="548640"/>
              </a:xfrm>
              <a:prstGeom prst="rect">
                <a:avLst/>
              </a:prstGeom>
            </p:spPr>
          </p:pic>
          <p:sp>
            <p:nvSpPr>
              <p:cNvPr id="30" name="TextBox 29">
                <a:extLst>
                  <a:ext uri="{FF2B5EF4-FFF2-40B4-BE49-F238E27FC236}">
                    <a16:creationId xmlns:a16="http://schemas.microsoft.com/office/drawing/2014/main" id="{4F666FCF-C63B-473D-9D3B-8FB121AEF079}"/>
                  </a:ext>
                </a:extLst>
              </p:cNvPr>
              <p:cNvSpPr txBox="1"/>
              <p:nvPr/>
            </p:nvSpPr>
            <p:spPr>
              <a:xfrm>
                <a:off x="488629" y="4208998"/>
                <a:ext cx="1342034"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Amazon S3</a:t>
                </a:r>
              </a:p>
            </p:txBody>
          </p:sp>
        </p:grpSp>
      </p:grpSp>
      <p:sp>
        <p:nvSpPr>
          <p:cNvPr id="35" name="Rectangle 34">
            <a:extLst>
              <a:ext uri="{FF2B5EF4-FFF2-40B4-BE49-F238E27FC236}">
                <a16:creationId xmlns:a16="http://schemas.microsoft.com/office/drawing/2014/main" id="{BEF5A464-DD57-496B-A36E-5B797C30FAE9}"/>
              </a:ext>
            </a:extLst>
          </p:cNvPr>
          <p:cNvSpPr/>
          <p:nvPr/>
        </p:nvSpPr>
        <p:spPr>
          <a:xfrm>
            <a:off x="7569506" y="3389060"/>
            <a:ext cx="4572000" cy="9025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chemeClr val="tx1"/>
                </a:solidFill>
                <a:ea typeface="Amazon Ember Light" charset="0"/>
                <a:cs typeface="Amazon Ember Light" charset="0"/>
              </a:rPr>
              <a:t>Incorrect. </a:t>
            </a:r>
            <a:r>
              <a:rPr lang="en-US" i="1" dirty="0">
                <a:solidFill>
                  <a:schemeClr val="tx1"/>
                </a:solidFill>
                <a:ea typeface="Amazon Ember Light" charset="0"/>
                <a:cs typeface="Amazon Ember Light" charset="0"/>
              </a:rPr>
              <a:t>Around</a:t>
            </a:r>
            <a:r>
              <a:rPr lang="en-US" dirty="0">
                <a:solidFill>
                  <a:schemeClr val="tx1"/>
                </a:solidFill>
                <a:ea typeface="Amazon Ember Light" charset="0"/>
                <a:cs typeface="Amazon Ember Light" charset="0"/>
              </a:rPr>
              <a:t> is not a threshold option. You must specify a threshold of &gt;, &gt;=, &lt;=, or &lt;.</a:t>
            </a:r>
          </a:p>
        </p:txBody>
      </p:sp>
      <p:grpSp>
        <p:nvGrpSpPr>
          <p:cNvPr id="44" name="Group 43" descr="If the number of healthy hosts is less than 5 for 10 minutes.">
            <a:extLst>
              <a:ext uri="{FF2B5EF4-FFF2-40B4-BE49-F238E27FC236}">
                <a16:creationId xmlns:a16="http://schemas.microsoft.com/office/drawing/2014/main" id="{597069C7-65B4-4FC4-9531-17F52F7C68E0}"/>
              </a:ext>
            </a:extLst>
          </p:cNvPr>
          <p:cNvGrpSpPr/>
          <p:nvPr/>
        </p:nvGrpSpPr>
        <p:grpSpPr>
          <a:xfrm>
            <a:off x="137226" y="4370778"/>
            <a:ext cx="7309860" cy="917972"/>
            <a:chOff x="137226" y="4370778"/>
            <a:chExt cx="7309860" cy="917972"/>
          </a:xfrm>
        </p:grpSpPr>
        <p:grpSp>
          <p:nvGrpSpPr>
            <p:cNvPr id="28" name="Group 27">
              <a:extLst>
                <a:ext uri="{FF2B5EF4-FFF2-40B4-BE49-F238E27FC236}">
                  <a16:creationId xmlns:a16="http://schemas.microsoft.com/office/drawing/2014/main" id="{7A70060C-6817-4611-9DE4-F58559FD790B}"/>
                </a:ext>
              </a:extLst>
            </p:cNvPr>
            <p:cNvGrpSpPr/>
            <p:nvPr/>
          </p:nvGrpSpPr>
          <p:grpSpPr>
            <a:xfrm>
              <a:off x="137226" y="4370778"/>
              <a:ext cx="2481770" cy="917972"/>
              <a:chOff x="8264811" y="4772130"/>
              <a:chExt cx="2481770" cy="917972"/>
            </a:xfrm>
          </p:grpSpPr>
          <p:sp>
            <p:nvSpPr>
              <p:cNvPr id="12" name="TextBox 11">
                <a:extLst>
                  <a:ext uri="{FF2B5EF4-FFF2-40B4-BE49-F238E27FC236}">
                    <a16:creationId xmlns:a16="http://schemas.microsoft.com/office/drawing/2014/main" id="{57FDA70F-1F87-4FC9-BD35-7DABA277A5E4}"/>
                  </a:ext>
                </a:extLst>
              </p:cNvPr>
              <p:cNvSpPr txBox="1"/>
              <p:nvPr/>
            </p:nvSpPr>
            <p:spPr>
              <a:xfrm>
                <a:off x="8264811" y="5320770"/>
                <a:ext cx="2481770" cy="369332"/>
              </a:xfrm>
              <a:prstGeom prst="rect">
                <a:avLst/>
              </a:prstGeom>
              <a:noFill/>
            </p:spPr>
            <p:txBody>
              <a:bodyPr wrap="non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Elastic Load Balancing</a:t>
                </a:r>
              </a:p>
            </p:txBody>
          </p:sp>
          <p:pic>
            <p:nvPicPr>
              <p:cNvPr id="14" name="Graphic 13">
                <a:extLst>
                  <a:ext uri="{FF2B5EF4-FFF2-40B4-BE49-F238E27FC236}">
                    <a16:creationId xmlns:a16="http://schemas.microsoft.com/office/drawing/2014/main" id="{8F246674-232F-45A6-B5CC-84D41A2036CE}"/>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264920" y="4772130"/>
                <a:ext cx="548640" cy="548640"/>
              </a:xfrm>
              <a:prstGeom prst="rect">
                <a:avLst/>
              </a:prstGeom>
            </p:spPr>
          </p:pic>
        </p:grpSp>
        <p:sp>
          <p:nvSpPr>
            <p:cNvPr id="25" name="Rectangle 24">
              <a:extLst>
                <a:ext uri="{FF2B5EF4-FFF2-40B4-BE49-F238E27FC236}">
                  <a16:creationId xmlns:a16="http://schemas.microsoft.com/office/drawing/2014/main" id="{D761EC04-6750-4510-892C-A4DC5842268B}"/>
                </a:ext>
              </a:extLst>
            </p:cNvPr>
            <p:cNvSpPr/>
            <p:nvPr/>
          </p:nvSpPr>
          <p:spPr>
            <a:xfrm>
              <a:off x="2875086" y="4370778"/>
              <a:ext cx="4572000" cy="6400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chemeClr val="tx1"/>
                  </a:solidFill>
                  <a:ea typeface="Amazon Ember Light" charset="0"/>
                  <a:cs typeface="Amazon Ember Light" charset="0"/>
                </a:rPr>
                <a:t>If the number of healthy hosts is &lt; 5 for 10 minutes…</a:t>
              </a:r>
              <a:endParaRPr lang="en-US" b="1" dirty="0">
                <a:solidFill>
                  <a:schemeClr val="tx1"/>
                </a:solidFill>
                <a:ea typeface="Amazon Ember Light" charset="0"/>
                <a:cs typeface="Amazon Ember Light" charset="0"/>
              </a:endParaRPr>
            </a:p>
          </p:txBody>
        </p:sp>
      </p:grpSp>
      <p:sp>
        <p:nvSpPr>
          <p:cNvPr id="34" name="Rectangle 33">
            <a:extLst>
              <a:ext uri="{FF2B5EF4-FFF2-40B4-BE49-F238E27FC236}">
                <a16:creationId xmlns:a16="http://schemas.microsoft.com/office/drawing/2014/main" id="{A3A8A388-9542-476B-A6C1-E667E65C67B1}"/>
              </a:ext>
            </a:extLst>
          </p:cNvPr>
          <p:cNvSpPr/>
          <p:nvPr/>
        </p:nvSpPr>
        <p:spPr>
          <a:xfrm>
            <a:off x="7569506" y="4370778"/>
            <a:ext cx="1097280" cy="6400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ea typeface="Amazon Ember Light" charset="0"/>
                <a:cs typeface="Amazon Ember Light" charset="0"/>
              </a:rPr>
              <a:t>Correct!</a:t>
            </a:r>
          </a:p>
        </p:txBody>
      </p:sp>
      <p:grpSp>
        <p:nvGrpSpPr>
          <p:cNvPr id="45" name="Group 44" descr="If the volume of read operations is greater than 1,000 for 10 seconds.">
            <a:extLst>
              <a:ext uri="{FF2B5EF4-FFF2-40B4-BE49-F238E27FC236}">
                <a16:creationId xmlns:a16="http://schemas.microsoft.com/office/drawing/2014/main" id="{258BBCF3-A862-428E-9858-A43F0EF55721}"/>
              </a:ext>
            </a:extLst>
          </p:cNvPr>
          <p:cNvGrpSpPr/>
          <p:nvPr/>
        </p:nvGrpSpPr>
        <p:grpSpPr>
          <a:xfrm>
            <a:off x="489086" y="5367928"/>
            <a:ext cx="6958000" cy="1186805"/>
            <a:chOff x="489086" y="5367928"/>
            <a:chExt cx="6958000" cy="1186805"/>
          </a:xfrm>
        </p:grpSpPr>
        <p:grpSp>
          <p:nvGrpSpPr>
            <p:cNvPr id="38" name="Group 37">
              <a:extLst>
                <a:ext uri="{FF2B5EF4-FFF2-40B4-BE49-F238E27FC236}">
                  <a16:creationId xmlns:a16="http://schemas.microsoft.com/office/drawing/2014/main" id="{709562AE-3CD2-4A4D-BB47-C6D51E1A86BE}"/>
                </a:ext>
              </a:extLst>
            </p:cNvPr>
            <p:cNvGrpSpPr/>
            <p:nvPr/>
          </p:nvGrpSpPr>
          <p:grpSpPr>
            <a:xfrm>
              <a:off x="489086" y="5367928"/>
              <a:ext cx="1778051" cy="1186805"/>
              <a:chOff x="-226429" y="5712698"/>
              <a:chExt cx="1778051" cy="1186805"/>
            </a:xfrm>
          </p:grpSpPr>
          <p:pic>
            <p:nvPicPr>
              <p:cNvPr id="36" name="Graphic 35">
                <a:extLst>
                  <a:ext uri="{FF2B5EF4-FFF2-40B4-BE49-F238E27FC236}">
                    <a16:creationId xmlns:a16="http://schemas.microsoft.com/office/drawing/2014/main" id="{05A20CE8-EDB4-483A-B3E9-EA0F83FD3CA6}"/>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88276" y="5712698"/>
                <a:ext cx="548640" cy="548640"/>
              </a:xfrm>
              <a:prstGeom prst="rect">
                <a:avLst/>
              </a:prstGeom>
            </p:spPr>
          </p:pic>
          <p:sp>
            <p:nvSpPr>
              <p:cNvPr id="37" name="TextBox 36">
                <a:extLst>
                  <a:ext uri="{FF2B5EF4-FFF2-40B4-BE49-F238E27FC236}">
                    <a16:creationId xmlns:a16="http://schemas.microsoft.com/office/drawing/2014/main" id="{5F0D9CA4-A476-4DB4-BB0E-7B358C216E8A}"/>
                  </a:ext>
                </a:extLst>
              </p:cNvPr>
              <p:cNvSpPr txBox="1"/>
              <p:nvPr/>
            </p:nvSpPr>
            <p:spPr>
              <a:xfrm>
                <a:off x="-226429" y="6253172"/>
                <a:ext cx="1778051" cy="646331"/>
              </a:xfrm>
              <a:prstGeom prst="rect">
                <a:avLst/>
              </a:prstGeom>
              <a:noFill/>
            </p:spPr>
            <p:txBody>
              <a:bodyPr wrap="non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Amazon Elastic </a:t>
                </a:r>
                <a:br>
                  <a:rPr lang="en-US"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dirty="0">
                    <a:latin typeface="Amazon Ember Light" panose="020B0403020204020204" pitchFamily="34" charset="0"/>
                    <a:ea typeface="Amazon Ember Light" panose="020B0403020204020204" pitchFamily="34" charset="0"/>
                    <a:cs typeface="Amazon Ember Light" panose="020B0403020204020204" pitchFamily="34" charset="0"/>
                  </a:rPr>
                  <a:t>Block Store</a:t>
                </a:r>
              </a:p>
            </p:txBody>
          </p:sp>
        </p:grpSp>
        <p:sp>
          <p:nvSpPr>
            <p:cNvPr id="39" name="Rectangle 38">
              <a:extLst>
                <a:ext uri="{FF2B5EF4-FFF2-40B4-BE49-F238E27FC236}">
                  <a16:creationId xmlns:a16="http://schemas.microsoft.com/office/drawing/2014/main" id="{5B0D8872-2021-43C0-A465-638E15BC476F}"/>
                </a:ext>
              </a:extLst>
            </p:cNvPr>
            <p:cNvSpPr/>
            <p:nvPr/>
          </p:nvSpPr>
          <p:spPr>
            <a:xfrm>
              <a:off x="2875086" y="5367928"/>
              <a:ext cx="4572000" cy="6400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chemeClr val="tx1"/>
                  </a:solidFill>
                  <a:ea typeface="Amazon Ember Light" charset="0"/>
                  <a:cs typeface="Amazon Ember Light" charset="0"/>
                </a:rPr>
                <a:t>If the volume of read operations is &gt; 1,000 for 10 seconds…</a:t>
              </a:r>
              <a:endParaRPr lang="en-US" b="1" dirty="0">
                <a:solidFill>
                  <a:schemeClr val="tx1"/>
                </a:solidFill>
                <a:ea typeface="Amazon Ember Light" charset="0"/>
                <a:cs typeface="Amazon Ember Light" charset="0"/>
              </a:endParaRPr>
            </a:p>
          </p:txBody>
        </p:sp>
      </p:grpSp>
      <p:sp>
        <p:nvSpPr>
          <p:cNvPr id="40" name="Rectangle 39">
            <a:extLst>
              <a:ext uri="{FF2B5EF4-FFF2-40B4-BE49-F238E27FC236}">
                <a16:creationId xmlns:a16="http://schemas.microsoft.com/office/drawing/2014/main" id="{00DF7D62-0BDA-4049-A1FE-2488C6060C23}"/>
              </a:ext>
            </a:extLst>
          </p:cNvPr>
          <p:cNvSpPr/>
          <p:nvPr/>
        </p:nvSpPr>
        <p:spPr>
          <a:xfrm>
            <a:off x="7569506" y="5352496"/>
            <a:ext cx="4572000" cy="6400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chemeClr val="tx1"/>
                </a:solidFill>
                <a:ea typeface="Amazon Ember Light" charset="0"/>
                <a:cs typeface="Amazon Ember Light" charset="0"/>
              </a:rPr>
              <a:t>Incorrect. You must specify a statistic (for example, </a:t>
            </a:r>
            <a:r>
              <a:rPr lang="en-US" i="1" dirty="0">
                <a:solidFill>
                  <a:schemeClr val="tx1"/>
                </a:solidFill>
                <a:ea typeface="Amazon Ember Light" charset="0"/>
                <a:cs typeface="Amazon Ember Light" charset="0"/>
              </a:rPr>
              <a:t>average volume</a:t>
            </a:r>
            <a:r>
              <a:rPr lang="en-US" dirty="0">
                <a:solidFill>
                  <a:schemeClr val="tx1"/>
                </a:solidFill>
                <a:ea typeface="Amazon Ember Light" charset="0"/>
                <a:cs typeface="Amazon Ember Light" charset="0"/>
              </a:rPr>
              <a:t>).</a:t>
            </a:r>
          </a:p>
        </p:txBody>
      </p:sp>
      <p:sp>
        <p:nvSpPr>
          <p:cNvPr id="3" name="Footer Placeholder 2">
            <a:extLst>
              <a:ext uri="{FF2B5EF4-FFF2-40B4-BE49-F238E27FC236}">
                <a16:creationId xmlns:a16="http://schemas.microsoft.com/office/drawing/2014/main" id="{F37715D4-2684-471A-8AE7-C0D151C86B0F}"/>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FF2B5EF4-FFF2-40B4-BE49-F238E27FC236}">
                <a16:creationId xmlns:a16="http://schemas.microsoft.com/office/drawing/2014/main" id="{9D696A33-F046-4815-8E79-36E4AA0E565A}"/>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17</a:t>
            </a:fld>
            <a:endParaRPr lang="en-US" dirty="0"/>
          </a:p>
        </p:txBody>
      </p:sp>
    </p:spTree>
    <p:custDataLst>
      <p:tags r:id="rId1"/>
    </p:custDataLst>
    <p:extLst>
      <p:ext uri="{BB962C8B-B14F-4D97-AF65-F5344CB8AC3E}">
        <p14:creationId xmlns:p14="http://schemas.microsoft.com/office/powerpoint/2010/main" val="4113570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5" grpId="0" animBg="1"/>
      <p:bldP spid="34" grpId="0" animBg="1"/>
      <p:bldP spid="4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lstStyle/>
          <a:p>
            <a:r>
              <a:rPr lang="en-US" dirty="0">
                <a:latin typeface="+mj-lt"/>
              </a:rPr>
              <a:t>Section 2 key takeaways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597222" y="2835670"/>
            <a:ext cx="3931314" cy="3104201"/>
          </a:xfrm>
          <a:prstGeom prst="rect">
            <a:avLst/>
          </a:prstGeom>
        </p:spPr>
      </p:pic>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a:xfrm>
            <a:off x="5714474" y="982427"/>
            <a:ext cx="6058426" cy="5369381"/>
          </a:xfrm>
        </p:spPr>
        <p:txBody>
          <a:bodyPr/>
          <a:lstStyle/>
          <a:p>
            <a:r>
              <a:rPr lang="en-US" dirty="0">
                <a:latin typeface="+mn-lt"/>
              </a:rPr>
              <a:t>Amazon CloudWatch helps you monitor your AWS resources—and the applications that you run on AWS—in real time.</a:t>
            </a:r>
          </a:p>
          <a:p>
            <a:r>
              <a:rPr lang="en-US" dirty="0">
                <a:latin typeface="+mn-lt"/>
              </a:rPr>
              <a:t>CloudWatch enables you to – </a:t>
            </a:r>
          </a:p>
          <a:p>
            <a:pPr lvl="1"/>
            <a:r>
              <a:rPr lang="en-US" dirty="0">
                <a:latin typeface="+mn-lt"/>
              </a:rPr>
              <a:t>Collect and track standard and custom metrics.</a:t>
            </a:r>
          </a:p>
          <a:p>
            <a:pPr lvl="1"/>
            <a:r>
              <a:rPr lang="en-US" dirty="0">
                <a:latin typeface="+mn-lt"/>
              </a:rPr>
              <a:t>Set alarms to automatically send notifications to SNS topics, or perform Amazon EC2 Auto Scaling or Amazon EC2 actions.</a:t>
            </a:r>
          </a:p>
          <a:p>
            <a:pPr lvl="1"/>
            <a:r>
              <a:rPr lang="en-US" dirty="0">
                <a:latin typeface="+mn-lt"/>
              </a:rPr>
              <a:t>Define rules that match changes in your AWS environment and route these events to targets for processing.</a:t>
            </a:r>
          </a:p>
        </p:txBody>
      </p:sp>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18</a:t>
            </a:fld>
            <a:endParaRPr lang="en-US" dirty="0"/>
          </a:p>
        </p:txBody>
      </p:sp>
      <p:sp>
        <p:nvSpPr>
          <p:cNvPr id="2" name="Footer Placeholder 1">
            <a:extLst>
              <a:ext uri="{FF2B5EF4-FFF2-40B4-BE49-F238E27FC236}">
                <a16:creationId xmlns:a16="http://schemas.microsoft.com/office/drawing/2014/main" id="{46C0DCB9-C0D6-2842-8ED0-F06821F23D2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2412981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body" sz="quarter" idx="10"/>
          </p:nvPr>
        </p:nvSpPr>
        <p:spPr>
          <a:xfrm>
            <a:off x="419100" y="2554356"/>
            <a:ext cx="9129634" cy="488498"/>
          </a:xfrm>
        </p:spPr>
        <p:txBody>
          <a:bodyPr>
            <a:normAutofit/>
          </a:bodyPr>
          <a:lstStyle/>
          <a:p>
            <a:r>
              <a:rPr lang="en-US" b="1" dirty="0">
                <a:latin typeface="+mn-lt"/>
              </a:rPr>
              <a:t>Module 10: Automatic Scaling and Monitoring</a:t>
            </a:r>
          </a:p>
        </p:txBody>
      </p:sp>
      <p:sp>
        <p:nvSpPr>
          <p:cNvPr id="2" name="Title 1"/>
          <p:cNvSpPr>
            <a:spLocks noGrp="1"/>
          </p:cNvSpPr>
          <p:nvPr>
            <p:ph type="title"/>
          </p:nvPr>
        </p:nvSpPr>
        <p:spPr/>
        <p:txBody>
          <a:bodyPr>
            <a:noAutofit/>
          </a:bodyPr>
          <a:lstStyle/>
          <a:p>
            <a:r>
              <a:rPr lang="en-US" sz="4000" dirty="0">
                <a:latin typeface="+mj-lt"/>
              </a:rPr>
              <a:t>Section 3: Amazon EC2 Auto Scaling</a:t>
            </a:r>
          </a:p>
        </p:txBody>
      </p:sp>
      <p:sp>
        <p:nvSpPr>
          <p:cNvPr id="4" name="Footer Placeholder 3">
            <a:extLst>
              <a:ext uri="{FF2B5EF4-FFF2-40B4-BE49-F238E27FC236}">
                <a16:creationId xmlns:a16="http://schemas.microsoft.com/office/drawing/2014/main" id="{7BB800D0-90B8-1345-9CCB-7EA2E508C14A}"/>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724806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Why is scaling important?</a:t>
            </a:r>
          </a:p>
        </p:txBody>
      </p:sp>
      <p:grpSp>
        <p:nvGrpSpPr>
          <p:cNvPr id="5" name="Group 4" descr="used capacity falls below provisioned capacity.">
            <a:extLst>
              <a:ext uri="{FF2B5EF4-FFF2-40B4-BE49-F238E27FC236}">
                <a16:creationId xmlns:a16="http://schemas.microsoft.com/office/drawing/2014/main" id="{C9960E0E-31F9-41A5-9F75-367CD39AE3E6}"/>
              </a:ext>
              <a:ext uri="{C183D7F6-B498-43B3-948B-1728B52AA6E4}">
                <adec:decorative xmlns:adec="http://schemas.microsoft.com/office/drawing/2017/decorative" val="0"/>
              </a:ext>
            </a:extLst>
          </p:cNvPr>
          <p:cNvGrpSpPr/>
          <p:nvPr/>
        </p:nvGrpSpPr>
        <p:grpSpPr>
          <a:xfrm>
            <a:off x="1125810" y="2094064"/>
            <a:ext cx="4015782" cy="2529347"/>
            <a:chOff x="1125810" y="2094064"/>
            <a:chExt cx="4015782" cy="2529347"/>
          </a:xfrm>
        </p:grpSpPr>
        <p:grpSp>
          <p:nvGrpSpPr>
            <p:cNvPr id="54" name="Group 53">
              <a:extLst>
                <a:ext uri="{C183D7F6-B498-43B3-948B-1728B52AA6E4}">
                  <adec:decorative xmlns:adec="http://schemas.microsoft.com/office/drawing/2017/decorative" val="1"/>
                </a:ext>
              </a:extLst>
            </p:cNvPr>
            <p:cNvGrpSpPr/>
            <p:nvPr/>
          </p:nvGrpSpPr>
          <p:grpSpPr>
            <a:xfrm>
              <a:off x="1125810" y="2094064"/>
              <a:ext cx="3795606" cy="2167008"/>
              <a:chOff x="7346959" y="2040069"/>
              <a:chExt cx="3795606" cy="2167008"/>
            </a:xfrm>
            <a:solidFill>
              <a:srgbClr val="BDCADA"/>
            </a:solidFill>
          </p:grpSpPr>
          <p:sp>
            <p:nvSpPr>
              <p:cNvPr id="47" name="Rectangle 46"/>
              <p:cNvSpPr/>
              <p:nvPr/>
            </p:nvSpPr>
            <p:spPr>
              <a:xfrm>
                <a:off x="7346959" y="3853813"/>
                <a:ext cx="767905" cy="3367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48" name="Rectangle 47"/>
              <p:cNvSpPr/>
              <p:nvPr/>
            </p:nvSpPr>
            <p:spPr>
              <a:xfrm>
                <a:off x="7893069" y="3080626"/>
                <a:ext cx="711562" cy="10999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49" name="Rectangle 48"/>
              <p:cNvSpPr/>
              <p:nvPr/>
            </p:nvSpPr>
            <p:spPr>
              <a:xfrm>
                <a:off x="8437942" y="2867392"/>
                <a:ext cx="701630" cy="13231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50" name="Rectangle 49"/>
              <p:cNvSpPr/>
              <p:nvPr/>
            </p:nvSpPr>
            <p:spPr>
              <a:xfrm>
                <a:off x="8945575" y="2040069"/>
                <a:ext cx="616559" cy="21312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51" name="Rectangle 50"/>
              <p:cNvSpPr/>
              <p:nvPr/>
            </p:nvSpPr>
            <p:spPr>
              <a:xfrm>
                <a:off x="9454355" y="2696217"/>
                <a:ext cx="647451" cy="1477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52" name="Rectangle 51"/>
              <p:cNvSpPr/>
              <p:nvPr/>
            </p:nvSpPr>
            <p:spPr>
              <a:xfrm>
                <a:off x="9940326" y="3229838"/>
                <a:ext cx="663941" cy="9652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53" name="Rectangle 52"/>
              <p:cNvSpPr/>
              <p:nvPr/>
            </p:nvSpPr>
            <p:spPr>
              <a:xfrm>
                <a:off x="10438693" y="3645862"/>
                <a:ext cx="703872" cy="5612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grpSp>
        <p:sp>
          <p:nvSpPr>
            <p:cNvPr id="38" name="Rectangle 37">
              <a:extLst>
                <a:ext uri="{C183D7F6-B498-43B3-948B-1728B52AA6E4}">
                  <adec:decorative xmlns:adec="http://schemas.microsoft.com/office/drawing/2017/decorative" val="1"/>
                </a:ext>
              </a:extLst>
            </p:cNvPr>
            <p:cNvSpPr/>
            <p:nvPr/>
          </p:nvSpPr>
          <p:spPr>
            <a:xfrm>
              <a:off x="1158392" y="2107537"/>
              <a:ext cx="3842795" cy="2128041"/>
            </a:xfrm>
            <a:prstGeom prst="rect">
              <a:avLst/>
            </a:prstGeom>
            <a:solidFill>
              <a:schemeClr val="accent1">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cxnSp>
          <p:nvCxnSpPr>
            <p:cNvPr id="7" name="Straight Connector 6">
              <a:extLst>
                <a:ext uri="{C183D7F6-B498-43B3-948B-1728B52AA6E4}">
                  <adec:decorative xmlns:adec="http://schemas.microsoft.com/office/drawing/2017/decorative" val="1"/>
                </a:ext>
              </a:extLst>
            </p:cNvPr>
            <p:cNvCxnSpPr/>
            <p:nvPr/>
          </p:nvCxnSpPr>
          <p:spPr>
            <a:xfrm>
              <a:off x="1143995" y="2107537"/>
              <a:ext cx="0" cy="21228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C183D7F6-B498-43B3-948B-1728B52AA6E4}">
                  <adec:decorative xmlns:adec="http://schemas.microsoft.com/office/drawing/2017/decorative" val="1"/>
                </a:ext>
              </a:extLst>
            </p:cNvPr>
            <p:cNvCxnSpPr/>
            <p:nvPr/>
          </p:nvCxnSpPr>
          <p:spPr>
            <a:xfrm>
              <a:off x="1143995" y="4230383"/>
              <a:ext cx="384279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249811" y="4223301"/>
              <a:ext cx="376577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Su    M     T     W     Th     F     Sa</a:t>
              </a:r>
            </a:p>
          </p:txBody>
        </p:sp>
        <p:sp>
          <p:nvSpPr>
            <p:cNvPr id="17" name="Rectangle 16"/>
            <p:cNvSpPr/>
            <p:nvPr/>
          </p:nvSpPr>
          <p:spPr>
            <a:xfrm>
              <a:off x="1211249" y="3958886"/>
              <a:ext cx="465181" cy="270458"/>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23" name="Rectangle 22"/>
            <p:cNvSpPr/>
            <p:nvPr/>
          </p:nvSpPr>
          <p:spPr>
            <a:xfrm>
              <a:off x="1743683" y="3211812"/>
              <a:ext cx="465181" cy="101857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24" name="Rectangle 23"/>
            <p:cNvSpPr/>
            <p:nvPr/>
          </p:nvSpPr>
          <p:spPr>
            <a:xfrm>
              <a:off x="2276117" y="3009003"/>
              <a:ext cx="465181" cy="122242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25" name="Rectangle 24"/>
            <p:cNvSpPr/>
            <p:nvPr/>
          </p:nvSpPr>
          <p:spPr>
            <a:xfrm>
              <a:off x="2808551" y="2107537"/>
              <a:ext cx="465181" cy="2124925"/>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30" name="Rectangle 29"/>
            <p:cNvSpPr/>
            <p:nvPr/>
          </p:nvSpPr>
          <p:spPr>
            <a:xfrm>
              <a:off x="3340985" y="2848237"/>
              <a:ext cx="465181" cy="1385264"/>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31" name="Rectangle 30"/>
            <p:cNvSpPr/>
            <p:nvPr/>
          </p:nvSpPr>
          <p:spPr>
            <a:xfrm>
              <a:off x="3873419" y="3368619"/>
              <a:ext cx="465181" cy="86592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32" name="Rectangle 31"/>
            <p:cNvSpPr/>
            <p:nvPr/>
          </p:nvSpPr>
          <p:spPr>
            <a:xfrm>
              <a:off x="4405853" y="3763385"/>
              <a:ext cx="465181" cy="47219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grpSp>
          <p:nvGrpSpPr>
            <p:cNvPr id="39" name="Group 38"/>
            <p:cNvGrpSpPr/>
            <p:nvPr/>
          </p:nvGrpSpPr>
          <p:grpSpPr>
            <a:xfrm>
              <a:off x="3569524" y="2114058"/>
              <a:ext cx="1572068" cy="724131"/>
              <a:chOff x="9516688" y="2000450"/>
              <a:chExt cx="1572068" cy="724131"/>
            </a:xfrm>
          </p:grpSpPr>
          <p:sp>
            <p:nvSpPr>
              <p:cNvPr id="40" name="TextBox 39"/>
              <p:cNvSpPr txBox="1"/>
              <p:nvPr/>
            </p:nvSpPr>
            <p:spPr>
              <a:xfrm>
                <a:off x="9895074" y="2000450"/>
                <a:ext cx="1193682"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Unused</a:t>
                </a:r>
                <a:endParaRPr kumimoji="0" lang="en-US" sz="1800" b="0" i="0" u="none" strike="noStrike" kern="1200" cap="none" spc="0" normalizeH="0" baseline="0" noProof="0" dirty="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capacity</a:t>
                </a:r>
                <a:endParaRPr kumimoji="0" lang="en-US" sz="1800" b="0" i="0" u="none" strike="noStrike" kern="1200" cap="none" spc="0" normalizeH="0" baseline="0" noProof="0" dirty="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p:txBody>
          </p:sp>
          <p:sp>
            <p:nvSpPr>
              <p:cNvPr id="41" name="Right Brace 40"/>
              <p:cNvSpPr/>
              <p:nvPr/>
            </p:nvSpPr>
            <p:spPr>
              <a:xfrm>
                <a:off x="9516688" y="2011192"/>
                <a:ext cx="414390" cy="713389"/>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mazon Ember Light"/>
                  <a:ea typeface="+mn-ea"/>
                  <a:cs typeface="+mn-cs"/>
                </a:endParaRPr>
              </a:p>
            </p:txBody>
          </p:sp>
        </p:grpSp>
      </p:grpSp>
      <p:grpSp>
        <p:nvGrpSpPr>
          <p:cNvPr id="37" name="Group 36" descr="used capacity exceeds provisioned capacity.">
            <a:extLst>
              <a:ext uri="{FF2B5EF4-FFF2-40B4-BE49-F238E27FC236}">
                <a16:creationId xmlns:a16="http://schemas.microsoft.com/office/drawing/2014/main" id="{8CAB5DBD-B045-48B3-BD2C-B20D71BBD2DD}"/>
              </a:ext>
              <a:ext uri="{C183D7F6-B498-43B3-948B-1728B52AA6E4}">
                <adec:decorative xmlns:adec="http://schemas.microsoft.com/office/drawing/2017/decorative" val="0"/>
              </a:ext>
            </a:extLst>
          </p:cNvPr>
          <p:cNvGrpSpPr/>
          <p:nvPr/>
        </p:nvGrpSpPr>
        <p:grpSpPr>
          <a:xfrm>
            <a:off x="6768558" y="2054449"/>
            <a:ext cx="3889775" cy="2568966"/>
            <a:chOff x="1125810" y="2054445"/>
            <a:chExt cx="3889775" cy="2568966"/>
          </a:xfrm>
        </p:grpSpPr>
        <p:grpSp>
          <p:nvGrpSpPr>
            <p:cNvPr id="42" name="Group 41">
              <a:extLst>
                <a:ext uri="{FF2B5EF4-FFF2-40B4-BE49-F238E27FC236}">
                  <a16:creationId xmlns:a16="http://schemas.microsoft.com/office/drawing/2014/main" id="{658C09E3-0075-4CC8-BA62-8C5547110151}"/>
                </a:ext>
              </a:extLst>
            </p:cNvPr>
            <p:cNvGrpSpPr/>
            <p:nvPr/>
          </p:nvGrpSpPr>
          <p:grpSpPr>
            <a:xfrm>
              <a:off x="1125810" y="2750212"/>
              <a:ext cx="3795606" cy="1510860"/>
              <a:chOff x="7346959" y="2696217"/>
              <a:chExt cx="3795606" cy="1510860"/>
            </a:xfrm>
            <a:solidFill>
              <a:srgbClr val="BDCADA"/>
            </a:solidFill>
          </p:grpSpPr>
          <p:sp>
            <p:nvSpPr>
              <p:cNvPr id="69" name="Rectangle 68">
                <a:extLst>
                  <a:ext uri="{FF2B5EF4-FFF2-40B4-BE49-F238E27FC236}">
                    <a16:creationId xmlns:a16="http://schemas.microsoft.com/office/drawing/2014/main" id="{2B749B2A-4515-47A6-A661-0ABFB65BBDF0}"/>
                  </a:ext>
                </a:extLst>
              </p:cNvPr>
              <p:cNvSpPr/>
              <p:nvPr/>
            </p:nvSpPr>
            <p:spPr>
              <a:xfrm>
                <a:off x="7346959" y="3853813"/>
                <a:ext cx="767905" cy="3367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70" name="Rectangle 69">
                <a:extLst>
                  <a:ext uri="{FF2B5EF4-FFF2-40B4-BE49-F238E27FC236}">
                    <a16:creationId xmlns:a16="http://schemas.microsoft.com/office/drawing/2014/main" id="{ACEA9A7F-CA31-488D-B652-AE43A8D3DFEB}"/>
                  </a:ext>
                </a:extLst>
              </p:cNvPr>
              <p:cNvSpPr/>
              <p:nvPr/>
            </p:nvSpPr>
            <p:spPr>
              <a:xfrm>
                <a:off x="7893069" y="3080626"/>
                <a:ext cx="711562" cy="10999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71" name="Rectangle 70">
                <a:extLst>
                  <a:ext uri="{FF2B5EF4-FFF2-40B4-BE49-F238E27FC236}">
                    <a16:creationId xmlns:a16="http://schemas.microsoft.com/office/drawing/2014/main" id="{BF0034DE-C6C9-47BA-A71E-BEAF3FFCF3FE}"/>
                  </a:ext>
                </a:extLst>
              </p:cNvPr>
              <p:cNvSpPr/>
              <p:nvPr/>
            </p:nvSpPr>
            <p:spPr>
              <a:xfrm>
                <a:off x="8437942" y="2867392"/>
                <a:ext cx="701630" cy="13231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72" name="Rectangle 71">
                <a:extLst>
                  <a:ext uri="{FF2B5EF4-FFF2-40B4-BE49-F238E27FC236}">
                    <a16:creationId xmlns:a16="http://schemas.microsoft.com/office/drawing/2014/main" id="{8DAB2CB1-1611-48F9-B0F9-5B6E50266858}"/>
                  </a:ext>
                </a:extLst>
              </p:cNvPr>
              <p:cNvSpPr/>
              <p:nvPr/>
            </p:nvSpPr>
            <p:spPr>
              <a:xfrm>
                <a:off x="9454355" y="2696217"/>
                <a:ext cx="647451" cy="1477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73" name="Rectangle 72">
                <a:extLst>
                  <a:ext uri="{FF2B5EF4-FFF2-40B4-BE49-F238E27FC236}">
                    <a16:creationId xmlns:a16="http://schemas.microsoft.com/office/drawing/2014/main" id="{C4FB163E-9117-49FC-BC2A-3D696AD7A222}"/>
                  </a:ext>
                </a:extLst>
              </p:cNvPr>
              <p:cNvSpPr/>
              <p:nvPr/>
            </p:nvSpPr>
            <p:spPr>
              <a:xfrm>
                <a:off x="9940326" y="3229838"/>
                <a:ext cx="663941" cy="9652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74" name="Rectangle 73">
                <a:extLst>
                  <a:ext uri="{FF2B5EF4-FFF2-40B4-BE49-F238E27FC236}">
                    <a16:creationId xmlns:a16="http://schemas.microsoft.com/office/drawing/2014/main" id="{3EDC9C36-F3D7-420C-B2D6-8E2932116F63}"/>
                  </a:ext>
                </a:extLst>
              </p:cNvPr>
              <p:cNvSpPr/>
              <p:nvPr/>
            </p:nvSpPr>
            <p:spPr>
              <a:xfrm>
                <a:off x="10438693" y="3645862"/>
                <a:ext cx="703872" cy="5612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grpSp>
        <p:sp>
          <p:nvSpPr>
            <p:cNvPr id="43" name="Rectangle 42">
              <a:extLst>
                <a:ext uri="{FF2B5EF4-FFF2-40B4-BE49-F238E27FC236}">
                  <a16:creationId xmlns:a16="http://schemas.microsoft.com/office/drawing/2014/main" id="{D7D3444E-A9BA-49B3-8196-8856909F0E07}"/>
                </a:ext>
              </a:extLst>
            </p:cNvPr>
            <p:cNvSpPr/>
            <p:nvPr/>
          </p:nvSpPr>
          <p:spPr>
            <a:xfrm>
              <a:off x="1143995" y="2748114"/>
              <a:ext cx="3842795" cy="1475187"/>
            </a:xfrm>
            <a:prstGeom prst="rect">
              <a:avLst/>
            </a:prstGeom>
            <a:solidFill>
              <a:schemeClr val="accent1">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cxnSp>
          <p:nvCxnSpPr>
            <p:cNvPr id="44" name="Straight Connector 43">
              <a:extLst>
                <a:ext uri="{FF2B5EF4-FFF2-40B4-BE49-F238E27FC236}">
                  <a16:creationId xmlns:a16="http://schemas.microsoft.com/office/drawing/2014/main" id="{95788B8F-1720-4183-9534-FB36D85FDDA8}"/>
                </a:ext>
              </a:extLst>
            </p:cNvPr>
            <p:cNvCxnSpPr/>
            <p:nvPr/>
          </p:nvCxnSpPr>
          <p:spPr>
            <a:xfrm>
              <a:off x="1143995" y="2107537"/>
              <a:ext cx="0" cy="21228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10D4DBF-86D7-4D31-9A1C-01D7C66E807E}"/>
                </a:ext>
              </a:extLst>
            </p:cNvPr>
            <p:cNvCxnSpPr/>
            <p:nvPr/>
          </p:nvCxnSpPr>
          <p:spPr>
            <a:xfrm>
              <a:off x="1143995" y="4230383"/>
              <a:ext cx="384279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5DDDD0E1-DBE1-409E-9BB6-F9B024BF4133}"/>
                </a:ext>
              </a:extLst>
            </p:cNvPr>
            <p:cNvSpPr txBox="1"/>
            <p:nvPr/>
          </p:nvSpPr>
          <p:spPr>
            <a:xfrm>
              <a:off x="1249811" y="4223301"/>
              <a:ext cx="376577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Su    M     T     W     Th     F     Sa</a:t>
              </a:r>
            </a:p>
          </p:txBody>
        </p:sp>
        <p:sp>
          <p:nvSpPr>
            <p:cNvPr id="55" name="Rectangle 54">
              <a:extLst>
                <a:ext uri="{FF2B5EF4-FFF2-40B4-BE49-F238E27FC236}">
                  <a16:creationId xmlns:a16="http://schemas.microsoft.com/office/drawing/2014/main" id="{0C13FA8A-A293-490F-81ED-C2A9622D4964}"/>
                </a:ext>
              </a:extLst>
            </p:cNvPr>
            <p:cNvSpPr/>
            <p:nvPr/>
          </p:nvSpPr>
          <p:spPr>
            <a:xfrm>
              <a:off x="1211249" y="3958886"/>
              <a:ext cx="465181" cy="270458"/>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56" name="Rectangle 55">
              <a:extLst>
                <a:ext uri="{FF2B5EF4-FFF2-40B4-BE49-F238E27FC236}">
                  <a16:creationId xmlns:a16="http://schemas.microsoft.com/office/drawing/2014/main" id="{9DF67BC7-691C-46B3-BFB7-487897DF4174}"/>
                </a:ext>
              </a:extLst>
            </p:cNvPr>
            <p:cNvSpPr/>
            <p:nvPr/>
          </p:nvSpPr>
          <p:spPr>
            <a:xfrm>
              <a:off x="1743683" y="3211812"/>
              <a:ext cx="465181" cy="101857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57" name="Rectangle 56">
              <a:extLst>
                <a:ext uri="{FF2B5EF4-FFF2-40B4-BE49-F238E27FC236}">
                  <a16:creationId xmlns:a16="http://schemas.microsoft.com/office/drawing/2014/main" id="{DAF6510A-A544-4A1C-9F04-CD27EAA3FAB2}"/>
                </a:ext>
              </a:extLst>
            </p:cNvPr>
            <p:cNvSpPr/>
            <p:nvPr/>
          </p:nvSpPr>
          <p:spPr>
            <a:xfrm>
              <a:off x="2276117" y="3009003"/>
              <a:ext cx="465181" cy="122242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58" name="Rectangle 57">
              <a:extLst>
                <a:ext uri="{FF2B5EF4-FFF2-40B4-BE49-F238E27FC236}">
                  <a16:creationId xmlns:a16="http://schemas.microsoft.com/office/drawing/2014/main" id="{B77D143C-4FB0-4F90-AA7B-BAE6D7CEA386}"/>
                </a:ext>
              </a:extLst>
            </p:cNvPr>
            <p:cNvSpPr/>
            <p:nvPr/>
          </p:nvSpPr>
          <p:spPr>
            <a:xfrm>
              <a:off x="2808551" y="2107537"/>
              <a:ext cx="465181" cy="2124925"/>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59" name="Rectangle 58">
              <a:extLst>
                <a:ext uri="{FF2B5EF4-FFF2-40B4-BE49-F238E27FC236}">
                  <a16:creationId xmlns:a16="http://schemas.microsoft.com/office/drawing/2014/main" id="{7DC30907-9F58-4AF4-86AE-FDAC4C84013C}"/>
                </a:ext>
              </a:extLst>
            </p:cNvPr>
            <p:cNvSpPr/>
            <p:nvPr/>
          </p:nvSpPr>
          <p:spPr>
            <a:xfrm>
              <a:off x="3340985" y="2848237"/>
              <a:ext cx="465181" cy="1385264"/>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60" name="Rectangle 59">
              <a:extLst>
                <a:ext uri="{FF2B5EF4-FFF2-40B4-BE49-F238E27FC236}">
                  <a16:creationId xmlns:a16="http://schemas.microsoft.com/office/drawing/2014/main" id="{F4B17C92-8B08-4896-B2EC-B52D96C695DA}"/>
                </a:ext>
              </a:extLst>
            </p:cNvPr>
            <p:cNvSpPr/>
            <p:nvPr/>
          </p:nvSpPr>
          <p:spPr>
            <a:xfrm>
              <a:off x="3873419" y="3368619"/>
              <a:ext cx="465181" cy="86592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61" name="Rectangle 60">
              <a:extLst>
                <a:ext uri="{FF2B5EF4-FFF2-40B4-BE49-F238E27FC236}">
                  <a16:creationId xmlns:a16="http://schemas.microsoft.com/office/drawing/2014/main" id="{4337D0D9-FDF4-4B87-B4C0-BB163FE14556}"/>
                </a:ext>
              </a:extLst>
            </p:cNvPr>
            <p:cNvSpPr/>
            <p:nvPr/>
          </p:nvSpPr>
          <p:spPr>
            <a:xfrm>
              <a:off x="4405853" y="3763385"/>
              <a:ext cx="465181" cy="47219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grpSp>
          <p:nvGrpSpPr>
            <p:cNvPr id="66" name="Group 65">
              <a:extLst>
                <a:ext uri="{FF2B5EF4-FFF2-40B4-BE49-F238E27FC236}">
                  <a16:creationId xmlns:a16="http://schemas.microsoft.com/office/drawing/2014/main" id="{1B1C9046-D529-46A5-A42B-FB06ADA717B7}"/>
                </a:ext>
              </a:extLst>
            </p:cNvPr>
            <p:cNvGrpSpPr/>
            <p:nvPr/>
          </p:nvGrpSpPr>
          <p:grpSpPr>
            <a:xfrm>
              <a:off x="3340985" y="2054445"/>
              <a:ext cx="1526622" cy="668173"/>
              <a:chOff x="9562134" y="2000450"/>
              <a:chExt cx="1526622" cy="668173"/>
            </a:xfrm>
          </p:grpSpPr>
          <p:sp>
            <p:nvSpPr>
              <p:cNvPr id="67" name="TextBox 66">
                <a:extLst>
                  <a:ext uri="{FF2B5EF4-FFF2-40B4-BE49-F238E27FC236}">
                    <a16:creationId xmlns:a16="http://schemas.microsoft.com/office/drawing/2014/main" id="{1C0DD5BA-F060-4709-8C6B-46C4703234F2}"/>
                  </a:ext>
                </a:extLst>
              </p:cNvPr>
              <p:cNvSpPr txBox="1"/>
              <p:nvPr/>
            </p:nvSpPr>
            <p:spPr>
              <a:xfrm>
                <a:off x="9895074" y="2000450"/>
                <a:ext cx="1193682"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Over</a:t>
                </a:r>
                <a:endParaRPr kumimoji="0" lang="en-US" sz="1800" b="0" i="0" u="none" strike="noStrike" kern="1200" cap="none" spc="0" normalizeH="0" baseline="0" noProof="0" dirty="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capacity</a:t>
                </a:r>
                <a:endParaRPr kumimoji="0" lang="en-US" sz="1800" b="0" i="0" u="none" strike="noStrike" kern="1200" cap="none" spc="0" normalizeH="0" baseline="0" noProof="0" dirty="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p:txBody>
          </p:sp>
          <p:sp>
            <p:nvSpPr>
              <p:cNvPr id="68" name="Right Brace 67">
                <a:extLst>
                  <a:ext uri="{FF2B5EF4-FFF2-40B4-BE49-F238E27FC236}">
                    <a16:creationId xmlns:a16="http://schemas.microsoft.com/office/drawing/2014/main" id="{EE45ECA1-B63E-4109-AA57-293C17EB8FD3}"/>
                  </a:ext>
                </a:extLst>
              </p:cNvPr>
              <p:cNvSpPr/>
              <p:nvPr/>
            </p:nvSpPr>
            <p:spPr>
              <a:xfrm>
                <a:off x="9562134" y="2053542"/>
                <a:ext cx="368944" cy="615081"/>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mazon Ember Light"/>
                  <a:ea typeface="+mn-ea"/>
                  <a:cs typeface="+mn-cs"/>
                </a:endParaRPr>
              </a:p>
            </p:txBody>
          </p:sp>
        </p:grpSp>
      </p:grpSp>
      <p:grpSp>
        <p:nvGrpSpPr>
          <p:cNvPr id="6" name="Group 5">
            <a:extLst>
              <a:ext uri="{FF2B5EF4-FFF2-40B4-BE49-F238E27FC236}">
                <a16:creationId xmlns:a16="http://schemas.microsoft.com/office/drawing/2014/main" id="{60E326D1-1F48-4CB4-99B0-F5C2D8D16454}"/>
              </a:ext>
              <a:ext uri="{C183D7F6-B498-43B3-948B-1728B52AA6E4}">
                <adec:decorative xmlns:adec="http://schemas.microsoft.com/office/drawing/2017/decorative" val="1"/>
              </a:ext>
            </a:extLst>
          </p:cNvPr>
          <p:cNvGrpSpPr/>
          <p:nvPr/>
        </p:nvGrpSpPr>
        <p:grpSpPr>
          <a:xfrm>
            <a:off x="3659670" y="5191378"/>
            <a:ext cx="4838997" cy="646331"/>
            <a:chOff x="1281501" y="5040778"/>
            <a:chExt cx="4838997" cy="646331"/>
          </a:xfrm>
        </p:grpSpPr>
        <p:sp>
          <p:nvSpPr>
            <p:cNvPr id="33" name="TextBox 32"/>
            <p:cNvSpPr txBox="1"/>
            <p:nvPr/>
          </p:nvSpPr>
          <p:spPr>
            <a:xfrm>
              <a:off x="1492198" y="5040778"/>
              <a:ext cx="157607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Used </a:t>
              </a:r>
              <a:r>
                <a:rPr lang="en-US"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capacity</a:t>
              </a:r>
              <a:br>
                <a:rPr kumimoji="0" lang="en-US" sz="18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8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(demand)</a:t>
              </a:r>
              <a:endParaRPr kumimoji="0" lang="en-US" sz="1800" b="0" i="0" u="none" strike="noStrike" kern="1200" cap="none" spc="0" normalizeH="0" baseline="0" noProof="0" dirty="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p:txBody>
        </p:sp>
        <p:sp>
          <p:nvSpPr>
            <p:cNvPr id="34" name="Rectangle 33"/>
            <p:cNvSpPr/>
            <p:nvPr/>
          </p:nvSpPr>
          <p:spPr>
            <a:xfrm>
              <a:off x="1281501" y="5090215"/>
              <a:ext cx="239492" cy="270458"/>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35" name="TextBox 34"/>
            <p:cNvSpPr txBox="1"/>
            <p:nvPr/>
          </p:nvSpPr>
          <p:spPr>
            <a:xfrm>
              <a:off x="3818265" y="5040778"/>
              <a:ext cx="23022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Provisioned capacity</a:t>
              </a:r>
              <a:endParaRPr kumimoji="0" lang="en-US" sz="1800" b="0" i="0" u="none" strike="noStrike" kern="1200" cap="none" spc="0" normalizeH="0" baseline="0" noProof="0" dirty="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p:txBody>
        </p:sp>
        <p:sp>
          <p:nvSpPr>
            <p:cNvPr id="36" name="Rectangle 35"/>
            <p:cNvSpPr/>
            <p:nvPr/>
          </p:nvSpPr>
          <p:spPr>
            <a:xfrm>
              <a:off x="3607568" y="5090215"/>
              <a:ext cx="239492" cy="270458"/>
            </a:xfrm>
            <a:prstGeom prst="rect">
              <a:avLst/>
            </a:prstGeom>
            <a:solidFill>
              <a:srgbClr val="BDCAD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grpSp>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t>
            </a:r>
            <a:r>
              <a:rPr kumimoji="0" lang="en-US" sz="900" b="0" i="0" u="none" strike="noStrike" kern="1200" cap="none" spc="0" normalizeH="0" baseline="0" noProof="0" dirty="0">
                <a:ln>
                  <a:noFill/>
                </a:ln>
                <a:solidFill>
                  <a:srgbClr val="898989"/>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 Web Services</a:t>
            </a:r>
            <a:r>
              <a:rPr kumimoji="0" lang="en-US" sz="900" b="0" i="0" u="none" strike="noStrike" kern="1200" cap="none" spc="0" normalizeH="0" baseline="0" noProof="0" dirty="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Inc. or its Affiliates. </a:t>
            </a:r>
            <a:r>
              <a:rPr kumimoji="0" lang="en-US" sz="900" b="0" i="0" u="none" strike="noStrike" kern="1200" cap="none" spc="0" normalizeH="0" baseline="0" noProof="0" dirty="0">
                <a:ln>
                  <a:noFill/>
                </a:ln>
                <a:solidFill>
                  <a:srgbClr val="898989"/>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All</a:t>
            </a:r>
            <a:r>
              <a:rPr kumimoji="0" lang="en-US" sz="900" b="0" i="0" u="none" strike="noStrike" kern="1200" cap="none" spc="0" normalizeH="0" baseline="0" noProof="0" dirty="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rights </a:t>
            </a:r>
            <a:r>
              <a:rPr kumimoji="0" lang="en-US" sz="900" b="0" i="0" u="none" strike="noStrike" kern="1200" cap="none" spc="0" normalizeH="0" baseline="0" noProof="0" dirty="0">
                <a:ln>
                  <a:noFill/>
                </a:ln>
                <a:solidFill>
                  <a:srgbClr val="898989"/>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reserved</a:t>
            </a:r>
            <a:r>
              <a:rPr kumimoji="0" lang="en-US" sz="900" b="0" i="0" u="none" strike="noStrike" kern="1200" cap="none" spc="0" normalizeH="0" baseline="0" noProof="0" dirty="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dirty="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3536132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Amazon EC2 Auto Scaling</a:t>
            </a:r>
          </a:p>
        </p:txBody>
      </p:sp>
      <p:grpSp>
        <p:nvGrpSpPr>
          <p:cNvPr id="5" name="Group 4" descr="provisioned capacity matches used capacity.">
            <a:extLst>
              <a:ext uri="{FF2B5EF4-FFF2-40B4-BE49-F238E27FC236}">
                <a16:creationId xmlns:a16="http://schemas.microsoft.com/office/drawing/2014/main" id="{427C1226-3EEA-4FBE-B34B-E5DCCB163C03}"/>
              </a:ext>
              <a:ext uri="{C183D7F6-B498-43B3-948B-1728B52AA6E4}">
                <adec:decorative xmlns:adec="http://schemas.microsoft.com/office/drawing/2017/decorative" val="0"/>
              </a:ext>
            </a:extLst>
          </p:cNvPr>
          <p:cNvGrpSpPr/>
          <p:nvPr/>
        </p:nvGrpSpPr>
        <p:grpSpPr>
          <a:xfrm>
            <a:off x="1125810" y="1993864"/>
            <a:ext cx="4933774" cy="3693245"/>
            <a:chOff x="1125810" y="1993864"/>
            <a:chExt cx="4933774" cy="3693245"/>
          </a:xfrm>
        </p:grpSpPr>
        <p:grpSp>
          <p:nvGrpSpPr>
            <p:cNvPr id="54" name="Group 53"/>
            <p:cNvGrpSpPr/>
            <p:nvPr/>
          </p:nvGrpSpPr>
          <p:grpSpPr>
            <a:xfrm>
              <a:off x="1125810" y="1993864"/>
              <a:ext cx="3795606" cy="2267208"/>
              <a:chOff x="7346959" y="1939869"/>
              <a:chExt cx="3795606" cy="2267208"/>
            </a:xfrm>
            <a:solidFill>
              <a:srgbClr val="BDCADA"/>
            </a:solidFill>
          </p:grpSpPr>
          <p:sp>
            <p:nvSpPr>
              <p:cNvPr id="47" name="Rectangle 46"/>
              <p:cNvSpPr/>
              <p:nvPr/>
            </p:nvSpPr>
            <p:spPr>
              <a:xfrm>
                <a:off x="7346959" y="3853813"/>
                <a:ext cx="767905" cy="3367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48" name="Rectangle 47"/>
              <p:cNvSpPr/>
              <p:nvPr/>
            </p:nvSpPr>
            <p:spPr>
              <a:xfrm>
                <a:off x="7893069" y="3080626"/>
                <a:ext cx="711562" cy="10999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49" name="Rectangle 48"/>
              <p:cNvSpPr/>
              <p:nvPr/>
            </p:nvSpPr>
            <p:spPr>
              <a:xfrm>
                <a:off x="8437942" y="2867392"/>
                <a:ext cx="701630" cy="13231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50" name="Rectangle 49"/>
              <p:cNvSpPr/>
              <p:nvPr/>
            </p:nvSpPr>
            <p:spPr>
              <a:xfrm>
                <a:off x="8945575" y="1939869"/>
                <a:ext cx="616559" cy="223149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51" name="Rectangle 50"/>
              <p:cNvSpPr/>
              <p:nvPr/>
            </p:nvSpPr>
            <p:spPr>
              <a:xfrm>
                <a:off x="9454355" y="2696217"/>
                <a:ext cx="647451" cy="1477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52" name="Rectangle 51"/>
              <p:cNvSpPr/>
              <p:nvPr/>
            </p:nvSpPr>
            <p:spPr>
              <a:xfrm>
                <a:off x="9940326" y="3229838"/>
                <a:ext cx="663941" cy="9652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53" name="Rectangle 52"/>
              <p:cNvSpPr/>
              <p:nvPr/>
            </p:nvSpPr>
            <p:spPr>
              <a:xfrm>
                <a:off x="10438693" y="3645862"/>
                <a:ext cx="703872" cy="5612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grpSp>
        <p:cxnSp>
          <p:nvCxnSpPr>
            <p:cNvPr id="7" name="Straight Connector 6"/>
            <p:cNvCxnSpPr/>
            <p:nvPr/>
          </p:nvCxnSpPr>
          <p:spPr>
            <a:xfrm>
              <a:off x="1143995" y="2107537"/>
              <a:ext cx="0" cy="21228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143995" y="4230383"/>
              <a:ext cx="384279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249811" y="4223301"/>
              <a:ext cx="376577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Su    M     T     W     Th     F     Sa</a:t>
              </a:r>
            </a:p>
          </p:txBody>
        </p:sp>
        <p:sp>
          <p:nvSpPr>
            <p:cNvPr id="17" name="Rectangle 16"/>
            <p:cNvSpPr/>
            <p:nvPr/>
          </p:nvSpPr>
          <p:spPr>
            <a:xfrm>
              <a:off x="1211249" y="3958886"/>
              <a:ext cx="465181" cy="270458"/>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23" name="Rectangle 22"/>
            <p:cNvSpPr/>
            <p:nvPr/>
          </p:nvSpPr>
          <p:spPr>
            <a:xfrm>
              <a:off x="1743683" y="3211812"/>
              <a:ext cx="465181" cy="101857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24" name="Rectangle 23"/>
            <p:cNvSpPr/>
            <p:nvPr/>
          </p:nvSpPr>
          <p:spPr>
            <a:xfrm>
              <a:off x="2276117" y="3009003"/>
              <a:ext cx="465181" cy="122242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25" name="Rectangle 24"/>
            <p:cNvSpPr/>
            <p:nvPr/>
          </p:nvSpPr>
          <p:spPr>
            <a:xfrm>
              <a:off x="2808551" y="2107537"/>
              <a:ext cx="465181" cy="2124925"/>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30" name="Rectangle 29"/>
            <p:cNvSpPr/>
            <p:nvPr/>
          </p:nvSpPr>
          <p:spPr>
            <a:xfrm>
              <a:off x="3340985" y="2848237"/>
              <a:ext cx="465181" cy="1385264"/>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31" name="Rectangle 30"/>
            <p:cNvSpPr/>
            <p:nvPr/>
          </p:nvSpPr>
          <p:spPr>
            <a:xfrm>
              <a:off x="3873419" y="3368619"/>
              <a:ext cx="465181" cy="86592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32" name="Rectangle 31"/>
            <p:cNvSpPr/>
            <p:nvPr/>
          </p:nvSpPr>
          <p:spPr>
            <a:xfrm>
              <a:off x="4405853" y="3763385"/>
              <a:ext cx="465181" cy="47219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33" name="TextBox 32"/>
            <p:cNvSpPr txBox="1"/>
            <p:nvPr/>
          </p:nvSpPr>
          <p:spPr>
            <a:xfrm>
              <a:off x="1492198" y="5040778"/>
              <a:ext cx="157607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Used capacity</a:t>
              </a:r>
              <a:br>
                <a:rPr kumimoji="0" lang="en-US" sz="18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8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(demand)</a:t>
              </a:r>
              <a:endParaRPr kumimoji="0" lang="en-US" sz="1800" b="0" i="0" u="none" strike="noStrike" kern="1200" cap="none" spc="0" normalizeH="0" baseline="0" noProof="0" dirty="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p:txBody>
        </p:sp>
        <p:sp>
          <p:nvSpPr>
            <p:cNvPr id="34" name="Rectangle 33"/>
            <p:cNvSpPr/>
            <p:nvPr/>
          </p:nvSpPr>
          <p:spPr>
            <a:xfrm>
              <a:off x="1281501" y="5090215"/>
              <a:ext cx="239492" cy="270458"/>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35" name="TextBox 34"/>
            <p:cNvSpPr txBox="1"/>
            <p:nvPr/>
          </p:nvSpPr>
          <p:spPr>
            <a:xfrm>
              <a:off x="3818265" y="5040778"/>
              <a:ext cx="224131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Provisioned c</a:t>
              </a:r>
              <a:r>
                <a:rPr kumimoji="0" lang="en-US" sz="1800" b="0" i="0" u="none" strike="noStrike" kern="1200" cap="none" spc="0" normalizeH="0" baseline="0" noProof="0" dirty="0" err="1">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apacity</a:t>
              </a:r>
              <a:endParaRPr kumimoji="0" lang="en-US" sz="1800" b="0" i="0" u="none" strike="noStrike" kern="1200" cap="none" spc="0" normalizeH="0" baseline="0" noProof="0" dirty="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p:txBody>
        </p:sp>
        <p:sp>
          <p:nvSpPr>
            <p:cNvPr id="36" name="Rectangle 35"/>
            <p:cNvSpPr/>
            <p:nvPr/>
          </p:nvSpPr>
          <p:spPr>
            <a:xfrm>
              <a:off x="3607568" y="5090215"/>
              <a:ext cx="239492" cy="270458"/>
            </a:xfrm>
            <a:prstGeom prst="rect">
              <a:avLst/>
            </a:prstGeom>
            <a:solidFill>
              <a:srgbClr val="BDCAD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grpSp>
      <p:sp>
        <p:nvSpPr>
          <p:cNvPr id="6" name="Content Placeholder 5">
            <a:extLst>
              <a:ext uri="{FF2B5EF4-FFF2-40B4-BE49-F238E27FC236}">
                <a16:creationId xmlns:a16="http://schemas.microsoft.com/office/drawing/2014/main" id="{BC7E4906-F324-49BF-AFE8-324DF555E999}"/>
              </a:ext>
            </a:extLst>
          </p:cNvPr>
          <p:cNvSpPr>
            <a:spLocks noGrp="1"/>
          </p:cNvSpPr>
          <p:nvPr>
            <p:ph idx="13"/>
          </p:nvPr>
        </p:nvSpPr>
        <p:spPr/>
        <p:txBody>
          <a:bodyPr/>
          <a:lstStyle/>
          <a:p>
            <a:r>
              <a:rPr lang="en-US" sz="2400" dirty="0"/>
              <a:t>Helps you maintain application availability</a:t>
            </a:r>
          </a:p>
          <a:p>
            <a:r>
              <a:rPr lang="en-US" sz="2400" dirty="0"/>
              <a:t>Enables you to automatically add or remove EC2 instances according to conditions that you define</a:t>
            </a:r>
          </a:p>
          <a:p>
            <a:r>
              <a:rPr lang="en-US" sz="2400" dirty="0"/>
              <a:t>Detects impaired EC2 instances and unhealthy applications, and replaces the instances without your intervention</a:t>
            </a:r>
          </a:p>
          <a:p>
            <a:r>
              <a:rPr lang="en-US" sz="2400" dirty="0"/>
              <a:t>Provides several scaling options – Manual, scheduled, dynamic or on-demand, and predictive</a:t>
            </a:r>
          </a:p>
          <a:p>
            <a:endParaRPr lang="en-US" sz="2400" dirty="0"/>
          </a:p>
        </p:txBody>
      </p:sp>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t>
            </a:r>
            <a:r>
              <a:rPr kumimoji="0" lang="en-US" sz="900" b="0" i="0" u="none" strike="noStrike" kern="1200" cap="none" spc="0" normalizeH="0" baseline="0" noProof="0" dirty="0">
                <a:ln>
                  <a:noFill/>
                </a:ln>
                <a:solidFill>
                  <a:srgbClr val="898989"/>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 Web Services</a:t>
            </a:r>
            <a:r>
              <a:rPr kumimoji="0" lang="en-US" sz="900" b="0" i="0" u="none" strike="noStrike" kern="1200" cap="none" spc="0" normalizeH="0" baseline="0" noProof="0" dirty="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Inc. or its Affiliates. </a:t>
            </a:r>
            <a:r>
              <a:rPr kumimoji="0" lang="en-US" sz="900" b="0" i="0" u="none" strike="noStrike" kern="1200" cap="none" spc="0" normalizeH="0" baseline="0" noProof="0" dirty="0">
                <a:ln>
                  <a:noFill/>
                </a:ln>
                <a:solidFill>
                  <a:srgbClr val="898989"/>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All</a:t>
            </a:r>
            <a:r>
              <a:rPr kumimoji="0" lang="en-US" sz="900" b="0" i="0" u="none" strike="noStrike" kern="1200" cap="none" spc="0" normalizeH="0" baseline="0" noProof="0" dirty="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rights </a:t>
            </a:r>
            <a:r>
              <a:rPr kumimoji="0" lang="en-US" sz="900" b="0" i="0" u="none" strike="noStrike" kern="1200" cap="none" spc="0" normalizeH="0" baseline="0" noProof="0" dirty="0">
                <a:ln>
                  <a:noFill/>
                </a:ln>
                <a:solidFill>
                  <a:srgbClr val="898989"/>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reserved</a:t>
            </a:r>
            <a:r>
              <a:rPr kumimoji="0" lang="en-US" sz="900" b="0" i="0" u="none" strike="noStrike" kern="1200" cap="none" spc="0" normalizeH="0" baseline="0" noProof="0" dirty="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900" b="0" i="0" u="none" strike="noStrike" kern="1200" cap="none" spc="0" normalizeH="0" baseline="0" noProof="0" dirty="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3929280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Typical weekly traffic at Amazon.com</a:t>
            </a:r>
          </a:p>
        </p:txBody>
      </p:sp>
      <p:grpSp>
        <p:nvGrpSpPr>
          <p:cNvPr id="16" name="Group 15" descr="regular oscillation in demand over a week.">
            <a:extLst>
              <a:ext uri="{FF2B5EF4-FFF2-40B4-BE49-F238E27FC236}">
                <a16:creationId xmlns:a16="http://schemas.microsoft.com/office/drawing/2014/main" id="{58F4A453-B62F-42AA-9A14-25D47B799E2B}"/>
              </a:ext>
              <a:ext uri="{C183D7F6-B498-43B3-948B-1728B52AA6E4}">
                <adec:decorative xmlns:adec="http://schemas.microsoft.com/office/drawing/2017/decorative" val="0"/>
              </a:ext>
            </a:extLst>
          </p:cNvPr>
          <p:cNvGrpSpPr/>
          <p:nvPr/>
        </p:nvGrpSpPr>
        <p:grpSpPr>
          <a:xfrm>
            <a:off x="-10584" y="2342871"/>
            <a:ext cx="12202585" cy="3536828"/>
            <a:chOff x="-10584" y="2342871"/>
            <a:chExt cx="12202585" cy="3536828"/>
          </a:xfrm>
        </p:grpSpPr>
        <p:pic>
          <p:nvPicPr>
            <p:cNvPr id="5" name="Picture 4">
              <a:extLs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2" y="2888592"/>
              <a:ext cx="12192000" cy="1941053"/>
            </a:xfrm>
            <a:prstGeom prst="rect">
              <a:avLst/>
            </a:prstGeom>
          </p:spPr>
        </p:pic>
        <p:sp>
          <p:nvSpPr>
            <p:cNvPr id="6" name="TextBox 5"/>
            <p:cNvSpPr txBox="1"/>
            <p:nvPr/>
          </p:nvSpPr>
          <p:spPr>
            <a:xfrm>
              <a:off x="131458" y="5419347"/>
              <a:ext cx="1709716" cy="460352"/>
            </a:xfrm>
            <a:prstGeom prst="rect">
              <a:avLst/>
            </a:prstGeom>
          </p:spPr>
          <p:txBody>
            <a:bodyPr vert="horz" wrap="none" lIns="0" tIns="0" rIns="0" bIns="0" rtlCol="0">
              <a:noAutofit/>
            </a:bodyPr>
            <a:lstStyle/>
            <a:p>
              <a:pPr algn="ctr"/>
              <a:r>
                <a:rPr lang="en-US" sz="2133" dirty="0">
                  <a:latin typeface="Amazon Ember" panose="020B0603020204020204" pitchFamily="34" charset="0"/>
                  <a:ea typeface="Amazon Ember" panose="020B0603020204020204" pitchFamily="34" charset="0"/>
                  <a:cs typeface="Amazon Ember" panose="020B0603020204020204" pitchFamily="34" charset="0"/>
                </a:rPr>
                <a:t>Sunday</a:t>
              </a:r>
            </a:p>
          </p:txBody>
        </p:sp>
        <p:sp>
          <p:nvSpPr>
            <p:cNvPr id="7" name="TextBox 6"/>
            <p:cNvSpPr txBox="1"/>
            <p:nvPr/>
          </p:nvSpPr>
          <p:spPr>
            <a:xfrm>
              <a:off x="1856590" y="5419347"/>
              <a:ext cx="1709716" cy="460352"/>
            </a:xfrm>
            <a:prstGeom prst="rect">
              <a:avLst/>
            </a:prstGeom>
          </p:spPr>
          <p:txBody>
            <a:bodyPr vert="horz" wrap="none" lIns="0" tIns="0" rIns="0" bIns="0" rtlCol="0">
              <a:noAutofit/>
            </a:bodyPr>
            <a:lstStyle/>
            <a:p>
              <a:pPr algn="ctr"/>
              <a:r>
                <a:rPr lang="en-US" sz="2133" dirty="0">
                  <a:latin typeface="Amazon Ember" panose="020B0603020204020204" pitchFamily="34" charset="0"/>
                  <a:ea typeface="Amazon Ember" panose="020B0603020204020204" pitchFamily="34" charset="0"/>
                  <a:cs typeface="Amazon Ember" panose="020B0603020204020204" pitchFamily="34" charset="0"/>
                </a:rPr>
                <a:t>Monday</a:t>
              </a:r>
            </a:p>
          </p:txBody>
        </p:sp>
        <p:sp>
          <p:nvSpPr>
            <p:cNvPr id="8" name="TextBox 7"/>
            <p:cNvSpPr txBox="1"/>
            <p:nvPr/>
          </p:nvSpPr>
          <p:spPr>
            <a:xfrm>
              <a:off x="3581710" y="5419347"/>
              <a:ext cx="1709716" cy="460352"/>
            </a:xfrm>
            <a:prstGeom prst="rect">
              <a:avLst/>
            </a:prstGeom>
          </p:spPr>
          <p:txBody>
            <a:bodyPr vert="horz" wrap="none" lIns="0" tIns="0" rIns="0" bIns="0" rtlCol="0">
              <a:noAutofit/>
            </a:bodyPr>
            <a:lstStyle/>
            <a:p>
              <a:pPr algn="ctr"/>
              <a:r>
                <a:rPr lang="en-US" sz="2133" dirty="0">
                  <a:latin typeface="Amazon Ember" panose="020B0603020204020204" pitchFamily="34" charset="0"/>
                  <a:ea typeface="Amazon Ember" panose="020B0603020204020204" pitchFamily="34" charset="0"/>
                  <a:cs typeface="Amazon Ember" panose="020B0603020204020204" pitchFamily="34" charset="0"/>
                </a:rPr>
                <a:t>Tuesday</a:t>
              </a:r>
            </a:p>
          </p:txBody>
        </p:sp>
        <p:sp>
          <p:nvSpPr>
            <p:cNvPr id="9" name="TextBox 8"/>
            <p:cNvSpPr txBox="1"/>
            <p:nvPr/>
          </p:nvSpPr>
          <p:spPr>
            <a:xfrm>
              <a:off x="5306858" y="5419347"/>
              <a:ext cx="1709716" cy="460352"/>
            </a:xfrm>
            <a:prstGeom prst="rect">
              <a:avLst/>
            </a:prstGeom>
          </p:spPr>
          <p:txBody>
            <a:bodyPr vert="horz" wrap="none" lIns="0" tIns="0" rIns="0" bIns="0" rtlCol="0">
              <a:noAutofit/>
            </a:bodyPr>
            <a:lstStyle/>
            <a:p>
              <a:pPr algn="ctr"/>
              <a:r>
                <a:rPr lang="en-US" sz="2133" dirty="0">
                  <a:latin typeface="Amazon Ember" panose="020B0603020204020204" pitchFamily="34" charset="0"/>
                  <a:ea typeface="Amazon Ember" panose="020B0603020204020204" pitchFamily="34" charset="0"/>
                  <a:cs typeface="Amazon Ember" panose="020B0603020204020204" pitchFamily="34" charset="0"/>
                </a:rPr>
                <a:t>Wednesday</a:t>
              </a:r>
            </a:p>
          </p:txBody>
        </p:sp>
        <p:sp>
          <p:nvSpPr>
            <p:cNvPr id="10" name="TextBox 9"/>
            <p:cNvSpPr txBox="1"/>
            <p:nvPr/>
          </p:nvSpPr>
          <p:spPr>
            <a:xfrm>
              <a:off x="7031967" y="5419347"/>
              <a:ext cx="1709716" cy="460352"/>
            </a:xfrm>
            <a:prstGeom prst="rect">
              <a:avLst/>
            </a:prstGeom>
          </p:spPr>
          <p:txBody>
            <a:bodyPr vert="horz" wrap="none" lIns="0" tIns="0" rIns="0" bIns="0" rtlCol="0">
              <a:noAutofit/>
            </a:bodyPr>
            <a:lstStyle/>
            <a:p>
              <a:pPr algn="ctr"/>
              <a:r>
                <a:rPr lang="en-US" sz="2133" dirty="0">
                  <a:latin typeface="Amazon Ember" panose="020B0603020204020204" pitchFamily="34" charset="0"/>
                  <a:ea typeface="Amazon Ember" panose="020B0603020204020204" pitchFamily="34" charset="0"/>
                  <a:cs typeface="Amazon Ember" panose="020B0603020204020204" pitchFamily="34" charset="0"/>
                </a:rPr>
                <a:t>Thursday</a:t>
              </a:r>
            </a:p>
          </p:txBody>
        </p:sp>
        <p:sp>
          <p:nvSpPr>
            <p:cNvPr id="11" name="TextBox 10"/>
            <p:cNvSpPr txBox="1"/>
            <p:nvPr/>
          </p:nvSpPr>
          <p:spPr>
            <a:xfrm>
              <a:off x="8757111" y="5419347"/>
              <a:ext cx="1709716" cy="460352"/>
            </a:xfrm>
            <a:prstGeom prst="rect">
              <a:avLst/>
            </a:prstGeom>
          </p:spPr>
          <p:txBody>
            <a:bodyPr vert="horz" wrap="none" lIns="0" tIns="0" rIns="0" bIns="0" rtlCol="0">
              <a:noAutofit/>
            </a:bodyPr>
            <a:lstStyle/>
            <a:p>
              <a:pPr algn="ctr"/>
              <a:r>
                <a:rPr lang="en-US" sz="2133" dirty="0">
                  <a:latin typeface="Amazon Ember" panose="020B0603020204020204" pitchFamily="34" charset="0"/>
                  <a:ea typeface="Amazon Ember" panose="020B0603020204020204" pitchFamily="34" charset="0"/>
                  <a:cs typeface="Amazon Ember" panose="020B0603020204020204" pitchFamily="34" charset="0"/>
                </a:rPr>
                <a:t>Friday</a:t>
              </a:r>
            </a:p>
          </p:txBody>
        </p:sp>
        <p:sp>
          <p:nvSpPr>
            <p:cNvPr id="12" name="TextBox 11"/>
            <p:cNvSpPr txBox="1"/>
            <p:nvPr/>
          </p:nvSpPr>
          <p:spPr>
            <a:xfrm>
              <a:off x="10482285" y="5419347"/>
              <a:ext cx="1709716" cy="460352"/>
            </a:xfrm>
            <a:prstGeom prst="rect">
              <a:avLst/>
            </a:prstGeom>
          </p:spPr>
          <p:txBody>
            <a:bodyPr vert="horz" wrap="none" lIns="0" tIns="0" rIns="0" bIns="0" rtlCol="0">
              <a:noAutofit/>
            </a:bodyPr>
            <a:lstStyle/>
            <a:p>
              <a:pPr algn="ctr"/>
              <a:r>
                <a:rPr lang="en-US" sz="2133" dirty="0">
                  <a:latin typeface="Amazon Ember" panose="020B0603020204020204" pitchFamily="34" charset="0"/>
                  <a:ea typeface="Amazon Ember" panose="020B0603020204020204" pitchFamily="34" charset="0"/>
                  <a:cs typeface="Amazon Ember" panose="020B0603020204020204" pitchFamily="34" charset="0"/>
                </a:rPr>
                <a:t>Saturday</a:t>
              </a:r>
            </a:p>
          </p:txBody>
        </p:sp>
        <p:cxnSp>
          <p:nvCxnSpPr>
            <p:cNvPr id="13" name="Straight Connector 12">
              <a:extLst>
                <a:ext uri="{C183D7F6-B498-43B3-948B-1728B52AA6E4}">
                  <adec:decorative xmlns:adec="http://schemas.microsoft.com/office/drawing/2017/decorative" val="1"/>
                </a:ext>
              </a:extLst>
            </p:cNvPr>
            <p:cNvCxnSpPr/>
            <p:nvPr/>
          </p:nvCxnSpPr>
          <p:spPr>
            <a:xfrm>
              <a:off x="-72" y="5205609"/>
              <a:ext cx="121920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C183D7F6-B498-43B3-948B-1728B52AA6E4}">
                  <adec:decorative xmlns:adec="http://schemas.microsoft.com/office/drawing/2017/decorative" val="1"/>
                </a:ext>
              </a:extLst>
            </p:cNvPr>
            <p:cNvCxnSpPr/>
            <p:nvPr/>
          </p:nvCxnSpPr>
          <p:spPr>
            <a:xfrm>
              <a:off x="-10584" y="2821109"/>
              <a:ext cx="12192000" cy="0"/>
            </a:xfrm>
            <a:prstGeom prst="line">
              <a:avLst/>
            </a:prstGeom>
            <a:ln w="57150"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83743" y="2342871"/>
              <a:ext cx="2806096" cy="499936"/>
            </a:xfrm>
            <a:prstGeom prst="rect">
              <a:avLst/>
            </a:prstGeom>
            <a:noFill/>
          </p:spPr>
          <p:txBody>
            <a:bodyPr vert="horz" wrap="none" lIns="0" tIns="0" rIns="0" bIns="0" rtlCol="0">
              <a:noAutofit/>
            </a:bodyPr>
            <a:lstStyle/>
            <a:p>
              <a:r>
                <a:rPr lang="en-US" sz="24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Provisioned capacity</a:t>
              </a:r>
            </a:p>
          </p:txBody>
        </p:sp>
      </p:grpSp>
      <p:sp>
        <p:nvSpPr>
          <p:cNvPr id="3" name="Footer Placeholder 2">
            <a:extLst>
              <a:ext uri="{FF2B5EF4-FFF2-40B4-BE49-F238E27FC236}">
                <a16:creationId xmlns:a16="http://schemas.microsoft.com/office/drawing/2014/main" id="{0A7E3218-17C5-46EB-B0DC-3A59C349E80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D0F79E98-9374-492F-BB9A-A138C258FD3D}"/>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22</a:t>
            </a:fld>
            <a:endParaRPr lang="en-US" dirty="0"/>
          </a:p>
        </p:txBody>
      </p:sp>
    </p:spTree>
    <p:custDataLst>
      <p:tags r:id="rId1"/>
    </p:custDataLst>
    <p:extLst>
      <p:ext uri="{BB962C8B-B14F-4D97-AF65-F5344CB8AC3E}">
        <p14:creationId xmlns:p14="http://schemas.microsoft.com/office/powerpoint/2010/main" val="292829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November traffic to Amazon.com</a:t>
            </a:r>
          </a:p>
        </p:txBody>
      </p:sp>
      <p:grpSp>
        <p:nvGrpSpPr>
          <p:cNvPr id="6" name="Group 5" descr="demand for month of november, with increase in demand near end of month on black friday and cyber monday.">
            <a:extLst>
              <a:ext uri="{FF2B5EF4-FFF2-40B4-BE49-F238E27FC236}">
                <a16:creationId xmlns:a16="http://schemas.microsoft.com/office/drawing/2014/main" id="{B1A8ED51-4752-47DE-86E9-856787BFF173}"/>
              </a:ext>
              <a:ext uri="{C183D7F6-B498-43B3-948B-1728B52AA6E4}">
                <adec:decorative xmlns:adec="http://schemas.microsoft.com/office/drawing/2017/decorative" val="0"/>
              </a:ext>
            </a:extLst>
          </p:cNvPr>
          <p:cNvGrpSpPr/>
          <p:nvPr/>
        </p:nvGrpSpPr>
        <p:grpSpPr>
          <a:xfrm>
            <a:off x="-18288" y="1179091"/>
            <a:ext cx="12210288" cy="4901569"/>
            <a:chOff x="-18288" y="1179091"/>
            <a:chExt cx="12210288" cy="4901569"/>
          </a:xfrm>
        </p:grpSpPr>
        <p:pic>
          <p:nvPicPr>
            <p:cNvPr id="16" name="Picture 15">
              <a:extLs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0" y="2150829"/>
              <a:ext cx="12192000" cy="3129747"/>
            </a:xfrm>
            <a:prstGeom prst="rect">
              <a:avLst/>
            </a:prstGeom>
          </p:spPr>
        </p:pic>
        <p:pic>
          <p:nvPicPr>
            <p:cNvPr id="19" name="Picture 18">
              <a:extLst>
                <a:ext uri="{C183D7F6-B498-43B3-948B-1728B52AA6E4}">
                  <adec:decorative xmlns:adec="http://schemas.microsoft.com/office/drawing/2017/decorative" val="1"/>
                </a:ext>
              </a:extLst>
            </p:cNvPr>
            <p:cNvPicPr>
              <a:picLocks noChangeAspect="1"/>
            </p:cNvPicPr>
            <p:nvPr/>
          </p:nvPicPr>
          <p:blipFill>
            <a:blip r:embed="rId5" cstate="screen">
              <a:alphaModFix amt="62000"/>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18288" y="1948858"/>
              <a:ext cx="12192000" cy="3073351"/>
            </a:xfrm>
            <a:prstGeom prst="rect">
              <a:avLst/>
            </a:prstGeom>
          </p:spPr>
        </p:pic>
        <p:sp>
          <p:nvSpPr>
            <p:cNvPr id="21" name="TextBox 20"/>
            <p:cNvSpPr txBox="1"/>
            <p:nvPr/>
          </p:nvSpPr>
          <p:spPr>
            <a:xfrm>
              <a:off x="303191" y="1478349"/>
              <a:ext cx="2806096" cy="499936"/>
            </a:xfrm>
            <a:prstGeom prst="rect">
              <a:avLst/>
            </a:prstGeom>
            <a:noFill/>
          </p:spPr>
          <p:txBody>
            <a:bodyPr vert="horz" wrap="none" lIns="0" tIns="0" rIns="0" bIns="0" rtlCol="0">
              <a:noAutofit/>
            </a:bodyPr>
            <a:lstStyle/>
            <a:p>
              <a:r>
                <a:rPr lang="en-US" sz="24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Provisioned capacity</a:t>
              </a:r>
            </a:p>
          </p:txBody>
        </p:sp>
        <p:sp>
          <p:nvSpPr>
            <p:cNvPr id="24" name="TextBox 23"/>
            <p:cNvSpPr txBox="1"/>
            <p:nvPr/>
          </p:nvSpPr>
          <p:spPr>
            <a:xfrm>
              <a:off x="5839049" y="5278567"/>
              <a:ext cx="904177" cy="436391"/>
            </a:xfrm>
            <a:prstGeom prst="rect">
              <a:avLst/>
            </a:prstGeom>
          </p:spPr>
          <p:txBody>
            <a:bodyPr vert="horz" wrap="none" lIns="0" tIns="0" rIns="0" bIns="0" rtlCol="0">
              <a:noAutofit/>
            </a:bodyPr>
            <a:lstStyle/>
            <a:p>
              <a:r>
                <a:rPr lang="en-US" sz="3733" b="1"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24 percent</a:t>
              </a:r>
            </a:p>
          </p:txBody>
        </p:sp>
        <p:sp>
          <p:nvSpPr>
            <p:cNvPr id="27" name="TextBox 26"/>
            <p:cNvSpPr txBox="1"/>
            <p:nvPr/>
          </p:nvSpPr>
          <p:spPr>
            <a:xfrm>
              <a:off x="449052" y="2506316"/>
              <a:ext cx="5099987" cy="1200329"/>
            </a:xfrm>
            <a:prstGeom prst="rect">
              <a:avLst/>
            </a:prstGeom>
            <a:noFill/>
            <a:ln>
              <a:noFill/>
            </a:ln>
          </p:spPr>
          <p:txBody>
            <a:bodyPr wrap="square" rtlCol="0">
              <a:spAutoFit/>
            </a:bodyPr>
            <a:lstStyle/>
            <a:p>
              <a:pPr algn="ctr"/>
              <a:r>
                <a:rPr lang="en-US" sz="2400" dirty="0">
                  <a:latin typeface="Amazon Ember" panose="020B0603020204020204" pitchFamily="34" charset="0"/>
                  <a:ea typeface="Amazon Ember" panose="020B0603020204020204" pitchFamily="34" charset="0"/>
                  <a:cs typeface="Amazon Ember" panose="020B0603020204020204" pitchFamily="34" charset="0"/>
                </a:rPr>
                <a:t>The challenge is to efficiently guess the unknown quantity of how much compute capacity you need.</a:t>
              </a:r>
            </a:p>
          </p:txBody>
        </p:sp>
        <p:sp>
          <p:nvSpPr>
            <p:cNvPr id="15" name="TextBox 14"/>
            <p:cNvSpPr txBox="1"/>
            <p:nvPr/>
          </p:nvSpPr>
          <p:spPr>
            <a:xfrm>
              <a:off x="6978955" y="1179091"/>
              <a:ext cx="904177" cy="436391"/>
            </a:xfrm>
            <a:prstGeom prst="rect">
              <a:avLst/>
            </a:prstGeom>
          </p:spPr>
          <p:txBody>
            <a:bodyPr vert="horz" wrap="none" lIns="0" tIns="0" rIns="0" bIns="0" rtlCol="0">
              <a:noAutofit/>
            </a:bodyPr>
            <a:lstStyle/>
            <a:p>
              <a:r>
                <a:rPr lang="en-US" sz="3733" b="1"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76 percent</a:t>
              </a:r>
            </a:p>
          </p:txBody>
        </p:sp>
        <p:cxnSp>
          <p:nvCxnSpPr>
            <p:cNvPr id="5" name="Curved Connector 4">
              <a:extLst>
                <a:ext uri="{C183D7F6-B498-43B3-948B-1728B52AA6E4}">
                  <adec:decorative xmlns:adec="http://schemas.microsoft.com/office/drawing/2017/decorative" val="1"/>
                </a:ext>
              </a:extLst>
            </p:cNvPr>
            <p:cNvCxnSpPr/>
            <p:nvPr/>
          </p:nvCxnSpPr>
          <p:spPr>
            <a:xfrm rot="10800000">
              <a:off x="4093053" y="5125478"/>
              <a:ext cx="1682497" cy="435141"/>
            </a:xfrm>
            <a:prstGeom prst="curvedConnector3">
              <a:avLst>
                <a:gd name="adj1" fmla="val 34783"/>
              </a:avLst>
            </a:prstGeom>
            <a:ln w="571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urved Connector 27">
              <a:extLst>
                <a:ext uri="{C183D7F6-B498-43B3-948B-1728B52AA6E4}">
                  <adec:decorative xmlns:adec="http://schemas.microsoft.com/office/drawing/2017/decorative" val="1"/>
                </a:ext>
              </a:extLst>
            </p:cNvPr>
            <p:cNvCxnSpPr/>
            <p:nvPr/>
          </p:nvCxnSpPr>
          <p:spPr>
            <a:xfrm rot="5400000">
              <a:off x="6173897" y="1661047"/>
              <a:ext cx="922298" cy="687818"/>
            </a:xfrm>
            <a:prstGeom prst="curvedConnector3">
              <a:avLst/>
            </a:prstGeom>
            <a:ln w="571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6FCD902-1778-44CB-B218-27A4E9952C49}"/>
                </a:ext>
              </a:extLst>
            </p:cNvPr>
            <p:cNvSpPr txBox="1"/>
            <p:nvPr/>
          </p:nvSpPr>
          <p:spPr>
            <a:xfrm>
              <a:off x="303191" y="5618995"/>
              <a:ext cx="1638590" cy="461665"/>
            </a:xfrm>
            <a:prstGeom prst="rect">
              <a:avLst/>
            </a:prstGeom>
            <a:noFill/>
          </p:spPr>
          <p:txBody>
            <a:bodyPr wrap="none" rtlCol="0">
              <a:spAutoFit/>
            </a:bodyPr>
            <a:lstStyle/>
            <a:p>
              <a:r>
                <a:rPr lang="en-US" sz="2400" dirty="0">
                  <a:latin typeface="Amazon Ember" panose="020B0603020204020204" pitchFamily="34" charset="0"/>
                  <a:ea typeface="Amazon Ember" panose="020B0603020204020204" pitchFamily="34" charset="0"/>
                  <a:cs typeface="Amazon Ember" panose="020B0603020204020204" pitchFamily="34" charset="0"/>
                </a:rPr>
                <a:t>November</a:t>
              </a:r>
            </a:p>
          </p:txBody>
        </p:sp>
      </p:grpSp>
      <p:sp>
        <p:nvSpPr>
          <p:cNvPr id="3" name="Footer Placeholder 2">
            <a:extLst>
              <a:ext uri="{FF2B5EF4-FFF2-40B4-BE49-F238E27FC236}">
                <a16:creationId xmlns:a16="http://schemas.microsoft.com/office/drawing/2014/main" id="{3C38B5DF-FA19-4803-9354-6A8DBA0A5BB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D7485EFD-AC83-49B7-A1C0-D67875D11BCE}"/>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23</a:t>
            </a:fld>
            <a:endParaRPr lang="en-US" dirty="0"/>
          </a:p>
        </p:txBody>
      </p:sp>
    </p:spTree>
    <p:custDataLst>
      <p:tags r:id="rId1"/>
    </p:custDataLst>
    <p:extLst>
      <p:ext uri="{BB962C8B-B14F-4D97-AF65-F5344CB8AC3E}">
        <p14:creationId xmlns:p14="http://schemas.microsoft.com/office/powerpoint/2010/main" val="3309250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8DAF2-EB4B-4534-9AC3-88F685F85E3B}"/>
              </a:ext>
            </a:extLst>
          </p:cNvPr>
          <p:cNvSpPr>
            <a:spLocks noGrp="1"/>
          </p:cNvSpPr>
          <p:nvPr>
            <p:ph type="title"/>
          </p:nvPr>
        </p:nvSpPr>
        <p:spPr/>
        <p:txBody>
          <a:bodyPr/>
          <a:lstStyle/>
          <a:p>
            <a:r>
              <a:rPr lang="en-US" dirty="0"/>
              <a:t>Auto Scaling groups</a:t>
            </a:r>
          </a:p>
        </p:txBody>
      </p:sp>
      <p:grpSp>
        <p:nvGrpSpPr>
          <p:cNvPr id="3" name="Group 2" descr="auto scaling group with four ec2 instances.">
            <a:extLst>
              <a:ext uri="{FF2B5EF4-FFF2-40B4-BE49-F238E27FC236}">
                <a16:creationId xmlns:a16="http://schemas.microsoft.com/office/drawing/2014/main" id="{93CF9629-AFAC-40DA-BFBB-70E161A6DF3A}"/>
              </a:ext>
              <a:ext uri="{C183D7F6-B498-43B3-948B-1728B52AA6E4}">
                <adec:decorative xmlns:adec="http://schemas.microsoft.com/office/drawing/2017/decorative" val="0"/>
              </a:ext>
            </a:extLst>
          </p:cNvPr>
          <p:cNvGrpSpPr/>
          <p:nvPr/>
        </p:nvGrpSpPr>
        <p:grpSpPr>
          <a:xfrm>
            <a:off x="944835" y="2051892"/>
            <a:ext cx="4848982" cy="4276915"/>
            <a:chOff x="944835" y="2051892"/>
            <a:chExt cx="4848982" cy="4276915"/>
          </a:xfrm>
        </p:grpSpPr>
        <p:grpSp>
          <p:nvGrpSpPr>
            <p:cNvPr id="22" name="Group 21">
              <a:extLst>
                <a:ext uri="{FF2B5EF4-FFF2-40B4-BE49-F238E27FC236}">
                  <a16:creationId xmlns:a16="http://schemas.microsoft.com/office/drawing/2014/main" id="{2365FA4C-05D6-44F3-B102-D75013055DAA}"/>
                </a:ext>
                <a:ext uri="{C183D7F6-B498-43B3-948B-1728B52AA6E4}">
                  <adec:decorative xmlns:adec="http://schemas.microsoft.com/office/drawing/2017/decorative" val="1"/>
                </a:ext>
              </a:extLst>
            </p:cNvPr>
            <p:cNvGrpSpPr/>
            <p:nvPr/>
          </p:nvGrpSpPr>
          <p:grpSpPr>
            <a:xfrm>
              <a:off x="962890" y="2051892"/>
              <a:ext cx="4731327" cy="1847648"/>
              <a:chOff x="962890" y="2051892"/>
              <a:chExt cx="4731327" cy="1847648"/>
            </a:xfrm>
          </p:grpSpPr>
          <p:sp>
            <p:nvSpPr>
              <p:cNvPr id="7" name="Rectangle 6">
                <a:extLst>
                  <a:ext uri="{FF2B5EF4-FFF2-40B4-BE49-F238E27FC236}">
                    <a16:creationId xmlns:a16="http://schemas.microsoft.com/office/drawing/2014/main" id="{B25227A6-2F90-42DF-88D0-DEC434102BF2}"/>
                  </a:ext>
                </a:extLst>
              </p:cNvPr>
              <p:cNvSpPr/>
              <p:nvPr/>
            </p:nvSpPr>
            <p:spPr>
              <a:xfrm>
                <a:off x="962890" y="2051892"/>
                <a:ext cx="4731327" cy="1847648"/>
              </a:xfrm>
              <a:prstGeom prst="rect">
                <a:avLst/>
              </a:prstGeom>
              <a:noFill/>
              <a:ln w="12700" cap="flat" cmpd="sng" algn="ctr">
                <a:solidFill>
                  <a:srgbClr val="D86613"/>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D86613"/>
                  </a:solidFill>
                  <a:effectLst/>
                  <a:uLnTx/>
                  <a:uFillTx/>
                  <a:latin typeface="Arial" panose="020B06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D86613"/>
                  </a:solidFill>
                  <a:effectLst/>
                  <a:uLnTx/>
                  <a:uFillTx/>
                  <a:latin typeface="Arial" panose="020B06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613"/>
                    </a:solidFill>
                    <a:effectLst/>
                    <a:uLnTx/>
                    <a:uFillTx/>
                    <a:ea typeface="+mn-ea"/>
                    <a:cs typeface="+mn-cs"/>
                  </a:rPr>
                  <a:t>Auto Scaling group</a:t>
                </a:r>
              </a:p>
            </p:txBody>
          </p:sp>
          <p:pic>
            <p:nvPicPr>
              <p:cNvPr id="8" name="Graphic 7">
                <a:extLst>
                  <a:ext uri="{FF2B5EF4-FFF2-40B4-BE49-F238E27FC236}">
                    <a16:creationId xmlns:a16="http://schemas.microsoft.com/office/drawing/2014/main" id="{4212F4CF-AFE5-40FE-9AED-717562232BC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63453" y="2051892"/>
                <a:ext cx="457200" cy="457200"/>
              </a:xfrm>
              <a:prstGeom prst="rect">
                <a:avLst/>
              </a:prstGeom>
            </p:spPr>
          </p:pic>
          <p:pic>
            <p:nvPicPr>
              <p:cNvPr id="9" name="Graphic 8">
                <a:extLst>
                  <a:ext uri="{FF2B5EF4-FFF2-40B4-BE49-F238E27FC236}">
                    <a16:creationId xmlns:a16="http://schemas.microsoft.com/office/drawing/2014/main" id="{D6DFB617-D31A-42D9-B51A-AC08A4C5D11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14898" y="2905388"/>
                <a:ext cx="731520" cy="731520"/>
              </a:xfrm>
              <a:prstGeom prst="rect">
                <a:avLst/>
              </a:prstGeom>
            </p:spPr>
          </p:pic>
          <p:pic>
            <p:nvPicPr>
              <p:cNvPr id="10" name="Graphic 9">
                <a:extLst>
                  <a:ext uri="{FF2B5EF4-FFF2-40B4-BE49-F238E27FC236}">
                    <a16:creationId xmlns:a16="http://schemas.microsoft.com/office/drawing/2014/main" id="{F94BADFA-A5D4-4A17-B1D5-F1E3D304237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22511" y="2905388"/>
                <a:ext cx="731520" cy="731520"/>
              </a:xfrm>
              <a:prstGeom prst="rect">
                <a:avLst/>
              </a:prstGeom>
            </p:spPr>
          </p:pic>
          <p:pic>
            <p:nvPicPr>
              <p:cNvPr id="11" name="Graphic 10">
                <a:extLst>
                  <a:ext uri="{FF2B5EF4-FFF2-40B4-BE49-F238E27FC236}">
                    <a16:creationId xmlns:a16="http://schemas.microsoft.com/office/drawing/2014/main" id="{7EE1B474-AB45-4C15-9499-0EE3C9CAFC52}"/>
                  </a:ext>
                  <a:ext uri="{C183D7F6-B498-43B3-948B-1728B52AA6E4}">
                    <adec:decorative xmlns:adec="http://schemas.microsoft.com/office/drawing/2017/decorative" val="1"/>
                  </a:ext>
                </a:extLst>
              </p:cNvPr>
              <p:cNvPicPr>
                <a:picLocks noChangeAspect="1"/>
              </p:cNvPicPr>
              <p:nvPr/>
            </p:nvPicPr>
            <p:blipFill>
              <a:blip r:embed="rId6">
                <a:grayscl/>
                <a:extLst>
                  <a:ext uri="{96DAC541-7B7A-43D3-8B79-37D633B846F1}">
                    <asvg:svgBlip xmlns:asvg="http://schemas.microsoft.com/office/drawing/2016/SVG/main" r:embed="rId7"/>
                  </a:ext>
                </a:extLst>
              </a:blip>
              <a:stretch>
                <a:fillRect/>
              </a:stretch>
            </p:blipFill>
            <p:spPr>
              <a:xfrm>
                <a:off x="3630124" y="2927237"/>
                <a:ext cx="731520" cy="731520"/>
              </a:xfrm>
              <a:prstGeom prst="rect">
                <a:avLst/>
              </a:prstGeom>
            </p:spPr>
          </p:pic>
          <p:pic>
            <p:nvPicPr>
              <p:cNvPr id="12" name="Graphic 11">
                <a:extLst>
                  <a:ext uri="{FF2B5EF4-FFF2-40B4-BE49-F238E27FC236}">
                    <a16:creationId xmlns:a16="http://schemas.microsoft.com/office/drawing/2014/main" id="{64F51BC5-7B70-463D-85C2-80F8E4B1B69F}"/>
                  </a:ext>
                  <a:ext uri="{C183D7F6-B498-43B3-948B-1728B52AA6E4}">
                    <adec:decorative xmlns:adec="http://schemas.microsoft.com/office/drawing/2017/decorative" val="1"/>
                  </a:ext>
                </a:extLst>
              </p:cNvPr>
              <p:cNvPicPr>
                <a:picLocks noChangeAspect="1"/>
              </p:cNvPicPr>
              <p:nvPr/>
            </p:nvPicPr>
            <p:blipFill>
              <a:blip r:embed="rId6">
                <a:grayscl/>
                <a:extLst>
                  <a:ext uri="{96DAC541-7B7A-43D3-8B79-37D633B846F1}">
                    <asvg:svgBlip xmlns:asvg="http://schemas.microsoft.com/office/drawing/2016/SVG/main" r:embed="rId7"/>
                  </a:ext>
                </a:extLst>
              </a:blip>
              <a:stretch>
                <a:fillRect/>
              </a:stretch>
            </p:blipFill>
            <p:spPr>
              <a:xfrm>
                <a:off x="4737737" y="2905388"/>
                <a:ext cx="731520" cy="731520"/>
              </a:xfrm>
              <a:prstGeom prst="rect">
                <a:avLst/>
              </a:prstGeom>
            </p:spPr>
          </p:pic>
        </p:grpSp>
        <p:sp>
          <p:nvSpPr>
            <p:cNvPr id="13" name="Left Brace 12">
              <a:extLst>
                <a:ext uri="{FF2B5EF4-FFF2-40B4-BE49-F238E27FC236}">
                  <a16:creationId xmlns:a16="http://schemas.microsoft.com/office/drawing/2014/main" id="{4C041770-5B58-4F42-98BA-3D4E345FD838}"/>
                </a:ext>
                <a:ext uri="{C183D7F6-B498-43B3-948B-1728B52AA6E4}">
                  <adec:decorative xmlns:adec="http://schemas.microsoft.com/office/drawing/2017/decorative" val="1"/>
                </a:ext>
              </a:extLst>
            </p:cNvPr>
            <p:cNvSpPr/>
            <p:nvPr/>
          </p:nvSpPr>
          <p:spPr>
            <a:xfrm rot="16200000">
              <a:off x="1567467" y="3743082"/>
              <a:ext cx="365760" cy="82296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TextBox 13">
              <a:extLst>
                <a:ext uri="{FF2B5EF4-FFF2-40B4-BE49-F238E27FC236}">
                  <a16:creationId xmlns:a16="http://schemas.microsoft.com/office/drawing/2014/main" id="{D61386B8-CD84-4978-82FA-8E1E6C38BA9A}"/>
                </a:ext>
              </a:extLst>
            </p:cNvPr>
            <p:cNvSpPr txBox="1"/>
            <p:nvPr/>
          </p:nvSpPr>
          <p:spPr>
            <a:xfrm>
              <a:off x="944835" y="4358992"/>
              <a:ext cx="1577676"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Minimum size</a:t>
              </a:r>
            </a:p>
          </p:txBody>
        </p:sp>
        <p:sp>
          <p:nvSpPr>
            <p:cNvPr id="15" name="Left Brace 14">
              <a:extLst>
                <a:ext uri="{FF2B5EF4-FFF2-40B4-BE49-F238E27FC236}">
                  <a16:creationId xmlns:a16="http://schemas.microsoft.com/office/drawing/2014/main" id="{35E59993-4ABD-4CB5-8231-5F6E325EA3D4}"/>
                </a:ext>
                <a:ext uri="{C183D7F6-B498-43B3-948B-1728B52AA6E4}">
                  <adec:decorative xmlns:adec="http://schemas.microsoft.com/office/drawing/2017/decorative" val="1"/>
                </a:ext>
              </a:extLst>
            </p:cNvPr>
            <p:cNvSpPr/>
            <p:nvPr/>
          </p:nvSpPr>
          <p:spPr>
            <a:xfrm rot="16200000">
              <a:off x="2116108" y="4013592"/>
              <a:ext cx="365760" cy="192024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TextBox 15">
              <a:extLst>
                <a:ext uri="{FF2B5EF4-FFF2-40B4-BE49-F238E27FC236}">
                  <a16:creationId xmlns:a16="http://schemas.microsoft.com/office/drawing/2014/main" id="{86E68E94-D77A-454D-9C48-B12D774541E9}"/>
                </a:ext>
              </a:extLst>
            </p:cNvPr>
            <p:cNvSpPr txBox="1"/>
            <p:nvPr/>
          </p:nvSpPr>
          <p:spPr>
            <a:xfrm>
              <a:off x="1386718" y="5157986"/>
              <a:ext cx="1824538"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Desired capacity</a:t>
              </a:r>
            </a:p>
          </p:txBody>
        </p:sp>
        <p:sp>
          <p:nvSpPr>
            <p:cNvPr id="17" name="Left Brace 16">
              <a:extLst>
                <a:ext uri="{FF2B5EF4-FFF2-40B4-BE49-F238E27FC236}">
                  <a16:creationId xmlns:a16="http://schemas.microsoft.com/office/drawing/2014/main" id="{BEA73B3A-C215-42D4-968E-00F2F9378B23}"/>
                </a:ext>
                <a:ext uri="{C183D7F6-B498-43B3-948B-1728B52AA6E4}">
                  <adec:decorative xmlns:adec="http://schemas.microsoft.com/office/drawing/2017/decorative" val="1"/>
                </a:ext>
              </a:extLst>
            </p:cNvPr>
            <p:cNvSpPr/>
            <p:nvPr/>
          </p:nvSpPr>
          <p:spPr>
            <a:xfrm rot="16200000">
              <a:off x="3167667" y="3744471"/>
              <a:ext cx="365760" cy="402336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TextBox 17">
              <a:extLst>
                <a:ext uri="{FF2B5EF4-FFF2-40B4-BE49-F238E27FC236}">
                  <a16:creationId xmlns:a16="http://schemas.microsoft.com/office/drawing/2014/main" id="{516C4309-3E3C-4F82-9B68-21E171EE6805}"/>
                </a:ext>
              </a:extLst>
            </p:cNvPr>
            <p:cNvSpPr txBox="1"/>
            <p:nvPr/>
          </p:nvSpPr>
          <p:spPr>
            <a:xfrm>
              <a:off x="2541672" y="5959475"/>
              <a:ext cx="1617751"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Maximum size</a:t>
              </a:r>
            </a:p>
          </p:txBody>
        </p:sp>
        <p:sp>
          <p:nvSpPr>
            <p:cNvPr id="19" name="Left Brace 18">
              <a:extLst>
                <a:ext uri="{FF2B5EF4-FFF2-40B4-BE49-F238E27FC236}">
                  <a16:creationId xmlns:a16="http://schemas.microsoft.com/office/drawing/2014/main" id="{CCDA662C-07F6-4A39-A901-4FE50D943F9C}"/>
                </a:ext>
                <a:ext uri="{C183D7F6-B498-43B3-948B-1728B52AA6E4}">
                  <adec:decorative xmlns:adec="http://schemas.microsoft.com/office/drawing/2017/decorative" val="1"/>
                </a:ext>
              </a:extLst>
            </p:cNvPr>
            <p:cNvSpPr/>
            <p:nvPr/>
          </p:nvSpPr>
          <p:spPr>
            <a:xfrm rot="16200000">
              <a:off x="4417341" y="3194442"/>
              <a:ext cx="365760" cy="192024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 name="TextBox 19">
              <a:extLst>
                <a:ext uri="{FF2B5EF4-FFF2-40B4-BE49-F238E27FC236}">
                  <a16:creationId xmlns:a16="http://schemas.microsoft.com/office/drawing/2014/main" id="{DBE40833-A863-4295-B9AC-C641405B69D5}"/>
                </a:ext>
              </a:extLst>
            </p:cNvPr>
            <p:cNvSpPr txBox="1"/>
            <p:nvPr/>
          </p:nvSpPr>
          <p:spPr>
            <a:xfrm>
              <a:off x="3496393" y="4358992"/>
              <a:ext cx="2297424" cy="646331"/>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Launch or terminate </a:t>
              </a:r>
              <a:br>
                <a:rPr lang="en-US"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dirty="0">
                  <a:latin typeface="Amazon Ember Light" panose="020B0403020204020204" pitchFamily="34" charset="0"/>
                  <a:ea typeface="Amazon Ember Light" panose="020B0403020204020204" pitchFamily="34" charset="0"/>
                  <a:cs typeface="Amazon Ember Light" panose="020B0403020204020204" pitchFamily="34" charset="0"/>
                </a:rPr>
                <a:t>instances as needed</a:t>
              </a:r>
            </a:p>
          </p:txBody>
        </p:sp>
      </p:grpSp>
      <p:sp>
        <p:nvSpPr>
          <p:cNvPr id="21" name="TextBox 20">
            <a:extLst>
              <a:ext uri="{FF2B5EF4-FFF2-40B4-BE49-F238E27FC236}">
                <a16:creationId xmlns:a16="http://schemas.microsoft.com/office/drawing/2014/main" id="{232616B7-539D-4C3E-9BB5-F907722C123C}"/>
              </a:ext>
            </a:extLst>
          </p:cNvPr>
          <p:cNvSpPr txBox="1"/>
          <p:nvPr/>
        </p:nvSpPr>
        <p:spPr>
          <a:xfrm>
            <a:off x="6631661" y="2317041"/>
            <a:ext cx="5239037" cy="2246769"/>
          </a:xfrm>
          <a:prstGeom prst="rect">
            <a:avLst/>
          </a:prstGeom>
          <a:noFill/>
        </p:spPr>
        <p:txBody>
          <a:bodyPr wrap="square" rtlCol="0">
            <a:spAutoFit/>
          </a:bodyPr>
          <a:lstStyle/>
          <a:p>
            <a:r>
              <a:rPr lang="en-US" sz="2800" dirty="0"/>
              <a:t>An </a:t>
            </a:r>
            <a:r>
              <a:rPr lang="en-US" sz="2800" b="1" dirty="0">
                <a:solidFill>
                  <a:schemeClr val="accent5"/>
                </a:solidFill>
              </a:rPr>
              <a:t>Auto Scaling group </a:t>
            </a:r>
            <a:r>
              <a:rPr lang="en-US" sz="2800" dirty="0"/>
              <a:t>is a collection of EC2 instances that are treated as a logical grouping for the purposes of automatic scaling and management.</a:t>
            </a:r>
          </a:p>
        </p:txBody>
      </p:sp>
      <p:sp>
        <p:nvSpPr>
          <p:cNvPr id="5" name="Footer Placeholder 4">
            <a:extLst>
              <a:ext uri="{FF2B5EF4-FFF2-40B4-BE49-F238E27FC236}">
                <a16:creationId xmlns:a16="http://schemas.microsoft.com/office/drawing/2014/main" id="{CC7C422B-E315-4972-A0C1-ACD46D8E2667}"/>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4CC7E798-0435-44D7-B088-6E7FA60E23CE}"/>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24</a:t>
            </a:fld>
            <a:endParaRPr lang="en-US" dirty="0"/>
          </a:p>
        </p:txBody>
      </p:sp>
    </p:spTree>
    <p:custDataLst>
      <p:tags r:id="rId1"/>
    </p:custDataLst>
    <p:extLst>
      <p:ext uri="{BB962C8B-B14F-4D97-AF65-F5344CB8AC3E}">
        <p14:creationId xmlns:p14="http://schemas.microsoft.com/office/powerpoint/2010/main" val="742283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38539" y="263527"/>
            <a:ext cx="9387123" cy="779463"/>
          </a:xfrm>
        </p:spPr>
        <p:txBody>
          <a:bodyPr>
            <a:normAutofit/>
          </a:bodyPr>
          <a:lstStyle/>
          <a:p>
            <a:r>
              <a:rPr lang="en-US" dirty="0"/>
              <a:t>Scaling out versus scaling in</a:t>
            </a:r>
          </a:p>
        </p:txBody>
      </p:sp>
      <p:grpSp>
        <p:nvGrpSpPr>
          <p:cNvPr id="6" name="Group 5" descr="elastic load balancing distributing traffic to ec2 instances in an auto scaling group.">
            <a:extLst>
              <a:ext uri="{FF2B5EF4-FFF2-40B4-BE49-F238E27FC236}">
                <a16:creationId xmlns:a16="http://schemas.microsoft.com/office/drawing/2014/main" id="{D1D6E0CF-15FC-40BE-A67A-D4DF054C9135}"/>
              </a:ext>
              <a:ext uri="{C183D7F6-B498-43B3-948B-1728B52AA6E4}">
                <adec:decorative xmlns:adec="http://schemas.microsoft.com/office/drawing/2017/decorative" val="0"/>
              </a:ext>
            </a:extLst>
          </p:cNvPr>
          <p:cNvGrpSpPr/>
          <p:nvPr/>
        </p:nvGrpSpPr>
        <p:grpSpPr>
          <a:xfrm>
            <a:off x="595745" y="1740825"/>
            <a:ext cx="10904859" cy="4473543"/>
            <a:chOff x="595745" y="1740825"/>
            <a:chExt cx="10904859" cy="4473543"/>
          </a:xfrm>
        </p:grpSpPr>
        <p:sp>
          <p:nvSpPr>
            <p:cNvPr id="84" name="Rectangle 83">
              <a:extLst>
                <a:ext uri="{FF2B5EF4-FFF2-40B4-BE49-F238E27FC236}">
                  <a16:creationId xmlns:a16="http://schemas.microsoft.com/office/drawing/2014/main" id="{95ED0EEA-C3A9-46E6-BA0E-5769156F7336}"/>
                </a:ext>
                <a:ext uri="{C183D7F6-B498-43B3-948B-1728B52AA6E4}">
                  <adec:decorative xmlns:adec="http://schemas.microsoft.com/office/drawing/2017/decorative" val="1"/>
                </a:ext>
              </a:extLst>
            </p:cNvPr>
            <p:cNvSpPr/>
            <p:nvPr/>
          </p:nvSpPr>
          <p:spPr>
            <a:xfrm>
              <a:off x="6115450" y="3759200"/>
              <a:ext cx="903464" cy="9708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8" name="Connector: Elbow 77">
              <a:extLst>
                <a:ext uri="{FF2B5EF4-FFF2-40B4-BE49-F238E27FC236}">
                  <a16:creationId xmlns:a16="http://schemas.microsoft.com/office/drawing/2014/main" id="{7FAF36AD-E2C6-42DF-9B06-970CDF4E536D}"/>
                </a:ext>
                <a:ext uri="{C183D7F6-B498-43B3-948B-1728B52AA6E4}">
                  <adec:decorative xmlns:adec="http://schemas.microsoft.com/office/drawing/2017/decorative" val="1"/>
                </a:ext>
              </a:extLst>
            </p:cNvPr>
            <p:cNvCxnSpPr>
              <a:stCxn id="47" idx="2"/>
              <a:endCxn id="57" idx="0"/>
            </p:cNvCxnSpPr>
            <p:nvPr/>
          </p:nvCxnSpPr>
          <p:spPr>
            <a:xfrm rot="5400000">
              <a:off x="8651992" y="2798134"/>
              <a:ext cx="1442997" cy="79141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FD1B6EFC-C538-4913-9F5F-614B93CB60CD}"/>
                </a:ext>
                <a:ext uri="{C183D7F6-B498-43B3-948B-1728B52AA6E4}">
                  <adec:decorative xmlns:adec="http://schemas.microsoft.com/office/drawing/2017/decorative" val="1"/>
                </a:ext>
              </a:extLst>
            </p:cNvPr>
            <p:cNvCxnSpPr>
              <a:stCxn id="47" idx="2"/>
              <a:endCxn id="58" idx="0"/>
            </p:cNvCxnSpPr>
            <p:nvPr/>
          </p:nvCxnSpPr>
          <p:spPr>
            <a:xfrm rot="16200000" flipH="1">
              <a:off x="9473144" y="2768399"/>
              <a:ext cx="1442997" cy="8508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6208C48F-D8D3-47BB-9B11-46C39EECE033}"/>
                </a:ext>
                <a:ext uri="{C183D7F6-B498-43B3-948B-1728B52AA6E4}">
                  <adec:decorative xmlns:adec="http://schemas.microsoft.com/office/drawing/2017/decorative" val="1"/>
                </a:ext>
              </a:extLst>
            </p:cNvPr>
            <p:cNvCxnSpPr>
              <a:stCxn id="46" idx="2"/>
              <a:endCxn id="61" idx="0"/>
            </p:cNvCxnSpPr>
            <p:nvPr/>
          </p:nvCxnSpPr>
          <p:spPr>
            <a:xfrm rot="5400000">
              <a:off x="5438769" y="2783267"/>
              <a:ext cx="1442997" cy="8211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nector: Elbow 75">
              <a:extLst>
                <a:ext uri="{FF2B5EF4-FFF2-40B4-BE49-F238E27FC236}">
                  <a16:creationId xmlns:a16="http://schemas.microsoft.com/office/drawing/2014/main" id="{14A02D08-E4D5-482F-9BAA-83F6AE915EB6}"/>
                </a:ext>
                <a:ext uri="{C183D7F6-B498-43B3-948B-1728B52AA6E4}">
                  <adec:decorative xmlns:adec="http://schemas.microsoft.com/office/drawing/2017/decorative" val="1"/>
                </a:ext>
              </a:extLst>
            </p:cNvPr>
            <p:cNvCxnSpPr>
              <a:stCxn id="46" idx="2"/>
              <a:endCxn id="62" idx="0"/>
            </p:cNvCxnSpPr>
            <p:nvPr/>
          </p:nvCxnSpPr>
          <p:spPr>
            <a:xfrm rot="16200000" flipH="1">
              <a:off x="6259921" y="2783267"/>
              <a:ext cx="1442997" cy="8211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DFDB816C-C729-4C3E-9F3B-365403A29AB0}"/>
                </a:ext>
                <a:ext uri="{C183D7F6-B498-43B3-948B-1728B52AA6E4}">
                  <adec:decorative xmlns:adec="http://schemas.microsoft.com/office/drawing/2017/decorative" val="1"/>
                </a:ext>
              </a:extLst>
            </p:cNvPr>
            <p:cNvCxnSpPr>
              <a:cxnSpLocks/>
              <a:stCxn id="46" idx="2"/>
              <a:endCxn id="65" idx="0"/>
            </p:cNvCxnSpPr>
            <p:nvPr/>
          </p:nvCxnSpPr>
          <p:spPr>
            <a:xfrm rot="5400000">
              <a:off x="5849345" y="3193843"/>
              <a:ext cx="1442997" cy="12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45" name="Graphic 44">
              <a:extLst>
                <a:ext uri="{FF2B5EF4-FFF2-40B4-BE49-F238E27FC236}">
                  <a16:creationId xmlns:a16="http://schemas.microsoft.com/office/drawing/2014/main" id="{9D3E7ED8-8288-4CF5-B914-FE63B447364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63114" y="1740825"/>
              <a:ext cx="731520" cy="731520"/>
            </a:xfrm>
            <a:prstGeom prst="rect">
              <a:avLst/>
            </a:prstGeom>
          </p:spPr>
        </p:pic>
        <p:pic>
          <p:nvPicPr>
            <p:cNvPr id="46" name="Graphic 45">
              <a:extLst>
                <a:ext uri="{FF2B5EF4-FFF2-40B4-BE49-F238E27FC236}">
                  <a16:creationId xmlns:a16="http://schemas.microsoft.com/office/drawing/2014/main" id="{C89C7438-6569-4BF6-B6FF-C808F7425CE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05083" y="1740825"/>
              <a:ext cx="731520" cy="731520"/>
            </a:xfrm>
            <a:prstGeom prst="rect">
              <a:avLst/>
            </a:prstGeom>
          </p:spPr>
        </p:pic>
        <p:pic>
          <p:nvPicPr>
            <p:cNvPr id="47" name="Graphic 46">
              <a:extLst>
                <a:ext uri="{FF2B5EF4-FFF2-40B4-BE49-F238E27FC236}">
                  <a16:creationId xmlns:a16="http://schemas.microsoft.com/office/drawing/2014/main" id="{A69D547B-7881-47A7-9725-008FBCCD373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03439" y="1740825"/>
              <a:ext cx="731520" cy="731520"/>
            </a:xfrm>
            <a:prstGeom prst="rect">
              <a:avLst/>
            </a:prstGeom>
          </p:spPr>
        </p:pic>
        <p:sp>
          <p:nvSpPr>
            <p:cNvPr id="4" name="TextBox 3">
              <a:extLst>
                <a:ext uri="{FF2B5EF4-FFF2-40B4-BE49-F238E27FC236}">
                  <a16:creationId xmlns:a16="http://schemas.microsoft.com/office/drawing/2014/main" id="{6173B502-52D9-4AF7-A5F9-13229286C922}"/>
                </a:ext>
              </a:extLst>
            </p:cNvPr>
            <p:cNvSpPr txBox="1"/>
            <p:nvPr/>
          </p:nvSpPr>
          <p:spPr>
            <a:xfrm>
              <a:off x="595745" y="1744765"/>
              <a:ext cx="1577676" cy="707886"/>
            </a:xfrm>
            <a:prstGeom prst="rect">
              <a:avLst/>
            </a:prstGeom>
            <a:noFill/>
          </p:spPr>
          <p:txBody>
            <a:bodyPr wrap="non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Elastic Load </a:t>
              </a:r>
              <a:b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Balancing</a:t>
              </a:r>
            </a:p>
          </p:txBody>
        </p:sp>
        <p:pic>
          <p:nvPicPr>
            <p:cNvPr id="48" name="Graphic 47">
              <a:extLst>
                <a:ext uri="{FF2B5EF4-FFF2-40B4-BE49-F238E27FC236}">
                  <a16:creationId xmlns:a16="http://schemas.microsoft.com/office/drawing/2014/main" id="{7115B24A-5EED-49A7-B6CA-B024323FA9B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41961" y="3915342"/>
              <a:ext cx="731520" cy="731520"/>
            </a:xfrm>
            <a:prstGeom prst="rect">
              <a:avLst/>
            </a:prstGeom>
          </p:spPr>
        </p:pic>
        <p:pic>
          <p:nvPicPr>
            <p:cNvPr id="49" name="Graphic 48">
              <a:extLst>
                <a:ext uri="{FF2B5EF4-FFF2-40B4-BE49-F238E27FC236}">
                  <a16:creationId xmlns:a16="http://schemas.microsoft.com/office/drawing/2014/main" id="{96D8CCF6-628A-44BA-9AF7-7BE8E3E31DB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84266" y="3915342"/>
              <a:ext cx="731520" cy="731520"/>
            </a:xfrm>
            <a:prstGeom prst="rect">
              <a:avLst/>
            </a:prstGeom>
          </p:spPr>
        </p:pic>
        <p:sp>
          <p:nvSpPr>
            <p:cNvPr id="55" name="Rectangle 54">
              <a:extLst>
                <a:ext uri="{FF2B5EF4-FFF2-40B4-BE49-F238E27FC236}">
                  <a16:creationId xmlns:a16="http://schemas.microsoft.com/office/drawing/2014/main" id="{12448AC0-F7B7-4442-B0DB-CA8844C1B4F3}"/>
                </a:ext>
                <a:ext uri="{C183D7F6-B498-43B3-948B-1728B52AA6E4}">
                  <adec:decorative xmlns:adec="http://schemas.microsoft.com/office/drawing/2017/decorative" val="1"/>
                </a:ext>
              </a:extLst>
            </p:cNvPr>
            <p:cNvSpPr/>
            <p:nvPr/>
          </p:nvSpPr>
          <p:spPr>
            <a:xfrm>
              <a:off x="1825400" y="3429000"/>
              <a:ext cx="3006949" cy="1658106"/>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rgbClr val="D86613"/>
                </a:solidFill>
              </a:endParaRPr>
            </a:p>
            <a:p>
              <a:pPr algn="ctr"/>
              <a:endParaRPr lang="en-US" sz="1200" dirty="0">
                <a:solidFill>
                  <a:srgbClr val="D86613"/>
                </a:solidFill>
              </a:endParaRPr>
            </a:p>
          </p:txBody>
        </p:sp>
        <p:pic>
          <p:nvPicPr>
            <p:cNvPr id="57" name="Graphic 56">
              <a:extLst>
                <a:ext uri="{FF2B5EF4-FFF2-40B4-BE49-F238E27FC236}">
                  <a16:creationId xmlns:a16="http://schemas.microsoft.com/office/drawing/2014/main" id="{36CD7D27-EFAA-41A0-B60E-4A3D3866D25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12021" y="3915342"/>
              <a:ext cx="731520" cy="731520"/>
            </a:xfrm>
            <a:prstGeom prst="rect">
              <a:avLst/>
            </a:prstGeom>
          </p:spPr>
        </p:pic>
        <p:pic>
          <p:nvPicPr>
            <p:cNvPr id="58" name="Graphic 57">
              <a:extLst>
                <a:ext uri="{FF2B5EF4-FFF2-40B4-BE49-F238E27FC236}">
                  <a16:creationId xmlns:a16="http://schemas.microsoft.com/office/drawing/2014/main" id="{D92E754E-1A14-4CAA-A7A1-3BDA700F1EF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254326" y="3915342"/>
              <a:ext cx="731520" cy="731520"/>
            </a:xfrm>
            <a:prstGeom prst="rect">
              <a:avLst/>
            </a:prstGeom>
          </p:spPr>
        </p:pic>
        <p:sp>
          <p:nvSpPr>
            <p:cNvPr id="59" name="Rectangle 58">
              <a:extLst>
                <a:ext uri="{FF2B5EF4-FFF2-40B4-BE49-F238E27FC236}">
                  <a16:creationId xmlns:a16="http://schemas.microsoft.com/office/drawing/2014/main" id="{C119356B-0D8A-4A90-83C7-C29B3F9AE79C}"/>
                </a:ext>
                <a:ext uri="{C183D7F6-B498-43B3-948B-1728B52AA6E4}">
                  <adec:decorative xmlns:adec="http://schemas.microsoft.com/office/drawing/2017/decorative" val="1"/>
                </a:ext>
              </a:extLst>
            </p:cNvPr>
            <p:cNvSpPr/>
            <p:nvPr/>
          </p:nvSpPr>
          <p:spPr>
            <a:xfrm>
              <a:off x="8295460" y="3429000"/>
              <a:ext cx="3006949" cy="1658104"/>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rgbClr val="D86613"/>
                </a:solidFill>
              </a:endParaRPr>
            </a:p>
            <a:p>
              <a:pPr algn="ctr"/>
              <a:endParaRPr lang="en-US" sz="1200" dirty="0">
                <a:solidFill>
                  <a:srgbClr val="D86613"/>
                </a:solidFill>
              </a:endParaRPr>
            </a:p>
          </p:txBody>
        </p:sp>
        <p:pic>
          <p:nvPicPr>
            <p:cNvPr id="60" name="Graphic 59">
              <a:extLst>
                <a:ext uri="{FF2B5EF4-FFF2-40B4-BE49-F238E27FC236}">
                  <a16:creationId xmlns:a16="http://schemas.microsoft.com/office/drawing/2014/main" id="{37CF1BEF-6D7E-4D39-8D94-4D67A9C70F4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33834" y="3429000"/>
              <a:ext cx="330200" cy="330200"/>
            </a:xfrm>
            <a:prstGeom prst="rect">
              <a:avLst/>
            </a:prstGeom>
          </p:spPr>
        </p:pic>
        <p:pic>
          <p:nvPicPr>
            <p:cNvPr id="61" name="Graphic 60">
              <a:extLst>
                <a:ext uri="{FF2B5EF4-FFF2-40B4-BE49-F238E27FC236}">
                  <a16:creationId xmlns:a16="http://schemas.microsoft.com/office/drawing/2014/main" id="{46299D71-2C44-482D-BC67-386AA4F75E6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83930" y="3915342"/>
              <a:ext cx="731520" cy="731520"/>
            </a:xfrm>
            <a:prstGeom prst="rect">
              <a:avLst/>
            </a:prstGeom>
          </p:spPr>
        </p:pic>
        <p:pic>
          <p:nvPicPr>
            <p:cNvPr id="62" name="Graphic 61">
              <a:extLst>
                <a:ext uri="{FF2B5EF4-FFF2-40B4-BE49-F238E27FC236}">
                  <a16:creationId xmlns:a16="http://schemas.microsoft.com/office/drawing/2014/main" id="{B6F3F626-60F4-4777-8FB6-DE55A5D6AF0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26235" y="3915342"/>
              <a:ext cx="731520" cy="731520"/>
            </a:xfrm>
            <a:prstGeom prst="rect">
              <a:avLst/>
            </a:prstGeom>
          </p:spPr>
        </p:pic>
        <p:sp>
          <p:nvSpPr>
            <p:cNvPr id="63" name="Rectangle 62">
              <a:extLst>
                <a:ext uri="{FF2B5EF4-FFF2-40B4-BE49-F238E27FC236}">
                  <a16:creationId xmlns:a16="http://schemas.microsoft.com/office/drawing/2014/main" id="{916F304B-53E7-463C-B37C-245D9987B941}"/>
                </a:ext>
                <a:ext uri="{C183D7F6-B498-43B3-948B-1728B52AA6E4}">
                  <adec:decorative xmlns:adec="http://schemas.microsoft.com/office/drawing/2017/decorative" val="1"/>
                </a:ext>
              </a:extLst>
            </p:cNvPr>
            <p:cNvSpPr/>
            <p:nvPr/>
          </p:nvSpPr>
          <p:spPr>
            <a:xfrm>
              <a:off x="5067369" y="3458367"/>
              <a:ext cx="3006949" cy="1628739"/>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rgbClr val="D86613"/>
                </a:solidFill>
              </a:endParaRPr>
            </a:p>
            <a:p>
              <a:pPr algn="ctr"/>
              <a:endParaRPr lang="en-US" sz="1200" dirty="0">
                <a:solidFill>
                  <a:srgbClr val="D86613"/>
                </a:solidFill>
              </a:endParaRPr>
            </a:p>
          </p:txBody>
        </p:sp>
        <p:pic>
          <p:nvPicPr>
            <p:cNvPr id="64" name="Graphic 63">
              <a:extLst>
                <a:ext uri="{FF2B5EF4-FFF2-40B4-BE49-F238E27FC236}">
                  <a16:creationId xmlns:a16="http://schemas.microsoft.com/office/drawing/2014/main" id="{ED80AA98-1D52-4D4B-8A56-33005A25B19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05743" y="3429000"/>
              <a:ext cx="330200" cy="330200"/>
            </a:xfrm>
            <a:prstGeom prst="rect">
              <a:avLst/>
            </a:prstGeom>
          </p:spPr>
        </p:pic>
        <p:pic>
          <p:nvPicPr>
            <p:cNvPr id="65" name="Graphic 64">
              <a:extLst>
                <a:ext uri="{FF2B5EF4-FFF2-40B4-BE49-F238E27FC236}">
                  <a16:creationId xmlns:a16="http://schemas.microsoft.com/office/drawing/2014/main" id="{43E0B55F-6A6C-4D9B-B0A4-A0558AA0518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05083" y="3915342"/>
              <a:ext cx="731520" cy="731520"/>
            </a:xfrm>
            <a:prstGeom prst="rect">
              <a:avLst/>
            </a:prstGeom>
          </p:spPr>
        </p:pic>
        <p:cxnSp>
          <p:nvCxnSpPr>
            <p:cNvPr id="67" name="Connector: Elbow 66">
              <a:extLst>
                <a:ext uri="{FF2B5EF4-FFF2-40B4-BE49-F238E27FC236}">
                  <a16:creationId xmlns:a16="http://schemas.microsoft.com/office/drawing/2014/main" id="{9BA6695B-1875-45D8-ADE2-AB9B76AEF352}"/>
                </a:ext>
                <a:ext uri="{C183D7F6-B498-43B3-948B-1728B52AA6E4}">
                  <adec:decorative xmlns:adec="http://schemas.microsoft.com/office/drawing/2017/decorative" val="1"/>
                </a:ext>
              </a:extLst>
            </p:cNvPr>
            <p:cNvCxnSpPr>
              <a:stCxn id="45" idx="2"/>
              <a:endCxn id="48" idx="0"/>
            </p:cNvCxnSpPr>
            <p:nvPr/>
          </p:nvCxnSpPr>
          <p:spPr>
            <a:xfrm rot="5400000">
              <a:off x="2196800" y="2783267"/>
              <a:ext cx="1442997" cy="8211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087FC4C8-3BCB-46E6-9C66-0503B5DF30E3}"/>
                </a:ext>
                <a:ext uri="{C183D7F6-B498-43B3-948B-1728B52AA6E4}">
                  <adec:decorative xmlns:adec="http://schemas.microsoft.com/office/drawing/2017/decorative" val="1"/>
                </a:ext>
              </a:extLst>
            </p:cNvPr>
            <p:cNvCxnSpPr>
              <a:stCxn id="45" idx="2"/>
              <a:endCxn id="49" idx="0"/>
            </p:cNvCxnSpPr>
            <p:nvPr/>
          </p:nvCxnSpPr>
          <p:spPr>
            <a:xfrm rot="16200000" flipH="1">
              <a:off x="3017952" y="2783267"/>
              <a:ext cx="1442997" cy="8211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51E1A57-AD85-4720-BCA8-90D5EF793046}"/>
                </a:ext>
              </a:extLst>
            </p:cNvPr>
            <p:cNvSpPr txBox="1"/>
            <p:nvPr/>
          </p:nvSpPr>
          <p:spPr>
            <a:xfrm>
              <a:off x="5579073" y="4742417"/>
              <a:ext cx="1903085" cy="338554"/>
            </a:xfrm>
            <a:prstGeom prst="rect">
              <a:avLst/>
            </a:prstGeom>
            <a:noFill/>
          </p:spPr>
          <p:txBody>
            <a:bodyPr wrap="none" rtlCol="0">
              <a:spAutoFit/>
            </a:bodyPr>
            <a:lstStyle/>
            <a:p>
              <a:r>
                <a:rPr lang="en-US" sz="1600" dirty="0">
                  <a:solidFill>
                    <a:srgbClr val="D86613"/>
                  </a:solidFill>
                  <a:latin typeface="Amazon Ember Light" panose="020B0403020204020204" pitchFamily="34" charset="0"/>
                  <a:ea typeface="Amazon Ember Light" panose="020B0403020204020204" pitchFamily="34" charset="0"/>
                  <a:cs typeface="Amazon Ember Light" panose="020B0403020204020204" pitchFamily="34" charset="0"/>
                </a:rPr>
                <a:t>Auto Scaling group</a:t>
              </a:r>
            </a:p>
          </p:txBody>
        </p:sp>
        <p:pic>
          <p:nvPicPr>
            <p:cNvPr id="56" name="Graphic 55">
              <a:extLst>
                <a:ext uri="{FF2B5EF4-FFF2-40B4-BE49-F238E27FC236}">
                  <a16:creationId xmlns:a16="http://schemas.microsoft.com/office/drawing/2014/main" id="{DDB1438A-1933-45DC-9CA9-5D18C95941F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63774" y="3429000"/>
              <a:ext cx="330200" cy="330200"/>
            </a:xfrm>
            <a:prstGeom prst="rect">
              <a:avLst/>
            </a:prstGeom>
          </p:spPr>
        </p:pic>
        <p:sp>
          <p:nvSpPr>
            <p:cNvPr id="82" name="TextBox 81">
              <a:extLst>
                <a:ext uri="{FF2B5EF4-FFF2-40B4-BE49-F238E27FC236}">
                  <a16:creationId xmlns:a16="http://schemas.microsoft.com/office/drawing/2014/main" id="{F40911D4-51EA-48AD-9CEE-ECD702CD1FE1}"/>
                </a:ext>
              </a:extLst>
            </p:cNvPr>
            <p:cNvSpPr txBox="1"/>
            <p:nvPr/>
          </p:nvSpPr>
          <p:spPr>
            <a:xfrm>
              <a:off x="2374052" y="4742417"/>
              <a:ext cx="1903085" cy="338554"/>
            </a:xfrm>
            <a:prstGeom prst="rect">
              <a:avLst/>
            </a:prstGeom>
            <a:noFill/>
          </p:spPr>
          <p:txBody>
            <a:bodyPr wrap="none" rtlCol="0">
              <a:spAutoFit/>
            </a:bodyPr>
            <a:lstStyle/>
            <a:p>
              <a:r>
                <a:rPr lang="en-US" sz="1600" dirty="0">
                  <a:solidFill>
                    <a:srgbClr val="D86613"/>
                  </a:solidFill>
                  <a:latin typeface="Amazon Ember Light" panose="020B0403020204020204" pitchFamily="34" charset="0"/>
                  <a:ea typeface="Amazon Ember Light" panose="020B0403020204020204" pitchFamily="34" charset="0"/>
                  <a:cs typeface="Amazon Ember Light" panose="020B0403020204020204" pitchFamily="34" charset="0"/>
                </a:rPr>
                <a:t>Auto Scaling group</a:t>
              </a:r>
            </a:p>
          </p:txBody>
        </p:sp>
        <p:sp>
          <p:nvSpPr>
            <p:cNvPr id="83" name="TextBox 82">
              <a:extLst>
                <a:ext uri="{FF2B5EF4-FFF2-40B4-BE49-F238E27FC236}">
                  <a16:creationId xmlns:a16="http://schemas.microsoft.com/office/drawing/2014/main" id="{DD3D1B39-94B6-4818-995D-D057203EAFEA}"/>
                </a:ext>
              </a:extLst>
            </p:cNvPr>
            <p:cNvSpPr txBox="1"/>
            <p:nvPr/>
          </p:nvSpPr>
          <p:spPr>
            <a:xfrm>
              <a:off x="8847391" y="4742417"/>
              <a:ext cx="1903085" cy="338554"/>
            </a:xfrm>
            <a:prstGeom prst="rect">
              <a:avLst/>
            </a:prstGeom>
            <a:noFill/>
          </p:spPr>
          <p:txBody>
            <a:bodyPr wrap="none" rtlCol="0">
              <a:spAutoFit/>
            </a:bodyPr>
            <a:lstStyle/>
            <a:p>
              <a:r>
                <a:rPr lang="en-US" sz="1600" dirty="0">
                  <a:solidFill>
                    <a:srgbClr val="D86613"/>
                  </a:solidFill>
                  <a:latin typeface="Amazon Ember Light" panose="020B0403020204020204" pitchFamily="34" charset="0"/>
                  <a:ea typeface="Amazon Ember Light" panose="020B0403020204020204" pitchFamily="34" charset="0"/>
                  <a:cs typeface="Amazon Ember Light" panose="020B0403020204020204" pitchFamily="34" charset="0"/>
                </a:rPr>
                <a:t>Auto Scaling group</a:t>
              </a:r>
            </a:p>
          </p:txBody>
        </p:sp>
        <p:sp>
          <p:nvSpPr>
            <p:cNvPr id="85" name="TextBox 84">
              <a:extLst>
                <a:ext uri="{FF2B5EF4-FFF2-40B4-BE49-F238E27FC236}">
                  <a16:creationId xmlns:a16="http://schemas.microsoft.com/office/drawing/2014/main" id="{5A291974-7D8A-4EDA-95E8-E9E70FC2CB5F}"/>
                </a:ext>
              </a:extLst>
            </p:cNvPr>
            <p:cNvSpPr txBox="1"/>
            <p:nvPr/>
          </p:nvSpPr>
          <p:spPr>
            <a:xfrm>
              <a:off x="1771397" y="5260261"/>
              <a:ext cx="3114955" cy="523220"/>
            </a:xfrm>
            <a:prstGeom prst="rect">
              <a:avLst/>
            </a:prstGeom>
            <a:noFill/>
          </p:spPr>
          <p:txBody>
            <a:bodyPr wrap="non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Base configuration</a:t>
              </a:r>
            </a:p>
          </p:txBody>
        </p:sp>
        <p:sp>
          <p:nvSpPr>
            <p:cNvPr id="86" name="TextBox 85">
              <a:extLst>
                <a:ext uri="{FF2B5EF4-FFF2-40B4-BE49-F238E27FC236}">
                  <a16:creationId xmlns:a16="http://schemas.microsoft.com/office/drawing/2014/main" id="{20AE84F6-0442-4B77-8816-C240D603D2C7}"/>
                </a:ext>
              </a:extLst>
            </p:cNvPr>
            <p:cNvSpPr txBox="1"/>
            <p:nvPr/>
          </p:nvSpPr>
          <p:spPr>
            <a:xfrm>
              <a:off x="5093455" y="5260261"/>
              <a:ext cx="2967479" cy="954107"/>
            </a:xfrm>
            <a:prstGeom prst="rect">
              <a:avLst/>
            </a:prstGeom>
            <a:noFill/>
          </p:spPr>
          <p:txBody>
            <a:bodyPr wrap="non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Scale out</a:t>
              </a:r>
              <a:b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(launch instances)</a:t>
              </a:r>
            </a:p>
          </p:txBody>
        </p:sp>
        <p:sp>
          <p:nvSpPr>
            <p:cNvPr id="87" name="TextBox 86">
              <a:extLst>
                <a:ext uri="{FF2B5EF4-FFF2-40B4-BE49-F238E27FC236}">
                  <a16:creationId xmlns:a16="http://schemas.microsoft.com/office/drawing/2014/main" id="{9E4C9153-20AB-441D-82C3-9BA5C4A184F0}"/>
                </a:ext>
              </a:extLst>
            </p:cNvPr>
            <p:cNvSpPr txBox="1"/>
            <p:nvPr/>
          </p:nvSpPr>
          <p:spPr>
            <a:xfrm>
              <a:off x="8037797" y="5260261"/>
              <a:ext cx="3462807" cy="954107"/>
            </a:xfrm>
            <a:prstGeom prst="rect">
              <a:avLst/>
            </a:prstGeom>
            <a:noFill/>
          </p:spPr>
          <p:txBody>
            <a:bodyPr wrap="non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Scale in</a:t>
              </a:r>
              <a:b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(terminate instances)</a:t>
              </a:r>
            </a:p>
          </p:txBody>
        </p:sp>
      </p:grpSp>
      <p:sp>
        <p:nvSpPr>
          <p:cNvPr id="2" name="Footer Placeholder 1">
            <a:extLst>
              <a:ext uri="{FF2B5EF4-FFF2-40B4-BE49-F238E27FC236}">
                <a16:creationId xmlns:a16="http://schemas.microsoft.com/office/drawing/2014/main" id="{9356CE04-B288-4C3F-A13E-24BB37F8160A}"/>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948E676D-FFDD-4C3A-9A1E-470CE1F2BF00}"/>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25</a:t>
            </a:fld>
            <a:endParaRPr lang="en-US" dirty="0"/>
          </a:p>
        </p:txBody>
      </p:sp>
    </p:spTree>
    <p:custDataLst>
      <p:tags r:id="rId1"/>
    </p:custDataLst>
    <p:extLst>
      <p:ext uri="{BB962C8B-B14F-4D97-AF65-F5344CB8AC3E}">
        <p14:creationId xmlns:p14="http://schemas.microsoft.com/office/powerpoint/2010/main" val="12853227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D491A007-1E7D-D811-5AD3-7AF2F916CF4B}"/>
              </a:ext>
            </a:extLst>
          </p:cNvPr>
          <p:cNvSpPr>
            <a:spLocks noGrp="1"/>
          </p:cNvSpPr>
          <p:nvPr>
            <p:ph type="title"/>
          </p:nvPr>
        </p:nvSpPr>
        <p:spPr>
          <a:xfrm>
            <a:off x="419100" y="365125"/>
            <a:ext cx="9034272" cy="474119"/>
          </a:xfrm>
        </p:spPr>
        <p:txBody>
          <a:bodyPr/>
          <a:lstStyle/>
          <a:p>
            <a:endParaRPr lang="en-US"/>
          </a:p>
        </p:txBody>
      </p:sp>
      <p:pic>
        <p:nvPicPr>
          <p:cNvPr id="8" name="Content Placeholder 7">
            <a:extLst>
              <a:ext uri="{FF2B5EF4-FFF2-40B4-BE49-F238E27FC236}">
                <a16:creationId xmlns:a16="http://schemas.microsoft.com/office/drawing/2014/main" id="{AD224A3E-5835-9429-AB74-2990703D8CFD}"/>
              </a:ext>
            </a:extLst>
          </p:cNvPr>
          <p:cNvPicPr>
            <a:picLocks noGrp="1" noChangeAspect="1"/>
          </p:cNvPicPr>
          <p:nvPr>
            <p:ph idx="1"/>
          </p:nvPr>
        </p:nvPicPr>
        <p:blipFill>
          <a:blip r:embed="rId3"/>
          <a:stretch>
            <a:fillRect/>
          </a:stretch>
        </p:blipFill>
        <p:spPr>
          <a:xfrm>
            <a:off x="357435" y="1528174"/>
            <a:ext cx="11548624" cy="4828175"/>
          </a:xfrm>
          <a:noFill/>
        </p:spPr>
      </p:pic>
      <p:sp>
        <p:nvSpPr>
          <p:cNvPr id="4" name="Slide Number Placeholder 3">
            <a:extLst>
              <a:ext uri="{FF2B5EF4-FFF2-40B4-BE49-F238E27FC236}">
                <a16:creationId xmlns:a16="http://schemas.microsoft.com/office/drawing/2014/main" id="{185E4A51-523A-1B50-6EBF-D9EB0C033F83}"/>
              </a:ext>
            </a:extLst>
          </p:cNvPr>
          <p:cNvSpPr>
            <a:spLocks noGrp="1"/>
          </p:cNvSpPr>
          <p:nvPr>
            <p:ph type="sldNum" sz="quarter" idx="12"/>
          </p:nvPr>
        </p:nvSpPr>
        <p:spPr>
          <a:xfrm>
            <a:off x="9204010" y="6310312"/>
            <a:ext cx="2743200" cy="365125"/>
          </a:xfrm>
        </p:spPr>
        <p:txBody>
          <a:bodyPr anchor="ctr">
            <a:normAutofit/>
          </a:bodyPr>
          <a:lstStyle/>
          <a:p>
            <a:pPr>
              <a:spcAft>
                <a:spcPts val="600"/>
              </a:spcAft>
            </a:pPr>
            <a:fld id="{B6A95138-A96E-2F42-A959-2EFD44FE4AB7}" type="slidenum">
              <a:rPr lang="en-US" smtClean="0"/>
              <a:pPr>
                <a:spcAft>
                  <a:spcPts val="600"/>
                </a:spcAft>
              </a:pPr>
              <a:t>26</a:t>
            </a:fld>
            <a:endParaRPr lang="en-US"/>
          </a:p>
        </p:txBody>
      </p:sp>
      <p:sp>
        <p:nvSpPr>
          <p:cNvPr id="6" name="Footer Placeholder 5">
            <a:extLst>
              <a:ext uri="{FF2B5EF4-FFF2-40B4-BE49-F238E27FC236}">
                <a16:creationId xmlns:a16="http://schemas.microsoft.com/office/drawing/2014/main" id="{93EA04A6-8A42-E4C8-DF80-B0817B06C1D1}"/>
              </a:ext>
            </a:extLst>
          </p:cNvPr>
          <p:cNvSpPr>
            <a:spLocks noGrp="1"/>
          </p:cNvSpPr>
          <p:nvPr>
            <p:ph type="ftr" sz="quarter" idx="3"/>
          </p:nvPr>
        </p:nvSpPr>
        <p:spPr>
          <a:xfrm>
            <a:off x="419100" y="6356350"/>
            <a:ext cx="3735457" cy="365125"/>
          </a:xfrm>
        </p:spPr>
        <p:txBody>
          <a:bodyPr anchor="ctr">
            <a:normAutofit/>
          </a:bodyPr>
          <a:lstStyle/>
          <a:p>
            <a:pPr>
              <a:spcAft>
                <a:spcPts val="600"/>
              </a:spcAft>
            </a:pPr>
            <a:r>
              <a:rPr lang="en-US"/>
              <a:t>© 2019, Amazon Web Services, Inc. or its Affiliates. All rights reserved.</a:t>
            </a:r>
          </a:p>
        </p:txBody>
      </p:sp>
      <p:sp>
        <p:nvSpPr>
          <p:cNvPr id="11" name="TextBox 10">
            <a:extLst>
              <a:ext uri="{FF2B5EF4-FFF2-40B4-BE49-F238E27FC236}">
                <a16:creationId xmlns:a16="http://schemas.microsoft.com/office/drawing/2014/main" id="{F74CB9AC-8FEB-4924-676B-B1979F04B6EE}"/>
              </a:ext>
            </a:extLst>
          </p:cNvPr>
          <p:cNvSpPr txBox="1"/>
          <p:nvPr/>
        </p:nvSpPr>
        <p:spPr>
          <a:xfrm>
            <a:off x="9691437" y="6356350"/>
            <a:ext cx="6100010" cy="369332"/>
          </a:xfrm>
          <a:prstGeom prst="rect">
            <a:avLst/>
          </a:prstGeom>
          <a:noFill/>
        </p:spPr>
        <p:txBody>
          <a:bodyPr wrap="square">
            <a:spAutoFit/>
          </a:bodyPr>
          <a:lstStyle/>
          <a:p>
            <a:pPr>
              <a:spcAft>
                <a:spcPts val="600"/>
              </a:spcAft>
            </a:pPr>
            <a:r>
              <a:rPr lang="en-US" sz="1800" dirty="0">
                <a:solidFill>
                  <a:srgbClr val="FF0000"/>
                </a:solidFill>
              </a:rPr>
              <a:t>By Stephanie Marek</a:t>
            </a:r>
          </a:p>
        </p:txBody>
      </p:sp>
    </p:spTree>
    <p:extLst>
      <p:ext uri="{BB962C8B-B14F-4D97-AF65-F5344CB8AC3E}">
        <p14:creationId xmlns:p14="http://schemas.microsoft.com/office/powerpoint/2010/main" val="1704807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6EE8AEF-F9E7-46C4-B898-94B3E02A09F4}"/>
              </a:ext>
            </a:extLst>
          </p:cNvPr>
          <p:cNvSpPr>
            <a:spLocks noGrp="1"/>
          </p:cNvSpPr>
          <p:nvPr>
            <p:ph type="title"/>
          </p:nvPr>
        </p:nvSpPr>
        <p:spPr/>
        <p:txBody>
          <a:bodyPr/>
          <a:lstStyle/>
          <a:p>
            <a:r>
              <a:rPr lang="en-US" dirty="0"/>
              <a:t>How Amazon EC2 Auto Scaling works</a:t>
            </a:r>
          </a:p>
        </p:txBody>
      </p:sp>
      <p:grpSp>
        <p:nvGrpSpPr>
          <p:cNvPr id="66" name="Group 65">
            <a:extLst>
              <a:ext uri="{FF2B5EF4-FFF2-40B4-BE49-F238E27FC236}">
                <a16:creationId xmlns:a16="http://schemas.microsoft.com/office/drawing/2014/main" id="{FB39DB56-2E0E-495B-9FFF-079395C2B668}"/>
              </a:ext>
              <a:ext uri="{C183D7F6-B498-43B3-948B-1728B52AA6E4}">
                <adec:decorative xmlns:adec="http://schemas.microsoft.com/office/drawing/2017/decorative" val="1"/>
              </a:ext>
            </a:extLst>
          </p:cNvPr>
          <p:cNvGrpSpPr/>
          <p:nvPr/>
        </p:nvGrpSpPr>
        <p:grpSpPr>
          <a:xfrm>
            <a:off x="845127" y="1278309"/>
            <a:ext cx="2468880" cy="4841650"/>
            <a:chOff x="845127" y="1278309"/>
            <a:chExt cx="2468880" cy="4841650"/>
          </a:xfrm>
        </p:grpSpPr>
        <p:sp>
          <p:nvSpPr>
            <p:cNvPr id="15" name="TextBox 14">
              <a:extLst>
                <a:ext uri="{FF2B5EF4-FFF2-40B4-BE49-F238E27FC236}">
                  <a16:creationId xmlns:a16="http://schemas.microsoft.com/office/drawing/2014/main" id="{E5CED393-7788-488F-A91B-6590A01E2920}"/>
                </a:ext>
              </a:extLst>
            </p:cNvPr>
            <p:cNvSpPr txBox="1"/>
            <p:nvPr/>
          </p:nvSpPr>
          <p:spPr>
            <a:xfrm>
              <a:off x="1566446" y="1278309"/>
              <a:ext cx="1026243" cy="523220"/>
            </a:xfrm>
            <a:prstGeom prst="rect">
              <a:avLst/>
            </a:prstGeom>
            <a:noFill/>
          </p:spPr>
          <p:txBody>
            <a:bodyPr wrap="non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What</a:t>
              </a:r>
            </a:p>
          </p:txBody>
        </p:sp>
        <p:grpSp>
          <p:nvGrpSpPr>
            <p:cNvPr id="26" name="Group 25">
              <a:extLst>
                <a:ext uri="{FF2B5EF4-FFF2-40B4-BE49-F238E27FC236}">
                  <a16:creationId xmlns:a16="http://schemas.microsoft.com/office/drawing/2014/main" id="{7AE4C5F1-D55E-4634-A355-872BD9BA7690}"/>
                </a:ext>
                <a:ext uri="{C183D7F6-B498-43B3-948B-1728B52AA6E4}">
                  <adec:decorative xmlns:adec="http://schemas.microsoft.com/office/drawing/2017/decorative" val="1"/>
                </a:ext>
              </a:extLst>
            </p:cNvPr>
            <p:cNvGrpSpPr/>
            <p:nvPr/>
          </p:nvGrpSpPr>
          <p:grpSpPr>
            <a:xfrm>
              <a:off x="1104748" y="1801529"/>
              <a:ext cx="1949638" cy="1668507"/>
              <a:chOff x="1005003" y="1898512"/>
              <a:chExt cx="1949638" cy="1668507"/>
            </a:xfrm>
          </p:grpSpPr>
          <p:pic>
            <p:nvPicPr>
              <p:cNvPr id="7" name="Graphic 6">
                <a:extLst>
                  <a:ext uri="{FF2B5EF4-FFF2-40B4-BE49-F238E27FC236}">
                    <a16:creationId xmlns:a16="http://schemas.microsoft.com/office/drawing/2014/main" id="{7225EB3F-BAE6-4E01-8BD7-ECA6B977F34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5003" y="1898512"/>
                <a:ext cx="640080" cy="640080"/>
              </a:xfrm>
              <a:prstGeom prst="rect">
                <a:avLst/>
              </a:prstGeom>
            </p:spPr>
          </p:pic>
          <p:pic>
            <p:nvPicPr>
              <p:cNvPr id="8" name="Graphic 7">
                <a:extLst>
                  <a:ext uri="{FF2B5EF4-FFF2-40B4-BE49-F238E27FC236}">
                    <a16:creationId xmlns:a16="http://schemas.microsoft.com/office/drawing/2014/main" id="{D74BDC09-86DE-4936-92A1-9D28A621A9F6}"/>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66788" y="2538592"/>
                <a:ext cx="640080" cy="640080"/>
              </a:xfrm>
              <a:prstGeom prst="rect">
                <a:avLst/>
              </a:prstGeom>
            </p:spPr>
          </p:pic>
          <p:sp>
            <p:nvSpPr>
              <p:cNvPr id="18" name="TextBox 17">
                <a:extLst>
                  <a:ext uri="{FF2B5EF4-FFF2-40B4-BE49-F238E27FC236}">
                    <a16:creationId xmlns:a16="http://schemas.microsoft.com/office/drawing/2014/main" id="{B23D93BE-34D8-43F7-B916-ACB7343FE6B2}"/>
                  </a:ext>
                </a:extLst>
              </p:cNvPr>
              <p:cNvSpPr txBox="1"/>
              <p:nvPr/>
            </p:nvSpPr>
            <p:spPr>
              <a:xfrm>
                <a:off x="1059585" y="2557712"/>
                <a:ext cx="530915" cy="338554"/>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AMI</a:t>
                </a:r>
              </a:p>
            </p:txBody>
          </p:sp>
          <p:sp>
            <p:nvSpPr>
              <p:cNvPr id="19" name="TextBox 18">
                <a:extLst>
                  <a:ext uri="{FF2B5EF4-FFF2-40B4-BE49-F238E27FC236}">
                    <a16:creationId xmlns:a16="http://schemas.microsoft.com/office/drawing/2014/main" id="{897A2362-B2D2-490C-A08C-1E1A46C076ED}"/>
                  </a:ext>
                </a:extLst>
              </p:cNvPr>
              <p:cNvSpPr txBox="1"/>
              <p:nvPr/>
            </p:nvSpPr>
            <p:spPr>
              <a:xfrm>
                <a:off x="1619019" y="3228465"/>
                <a:ext cx="1335622" cy="338554"/>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EC2 instance</a:t>
                </a:r>
              </a:p>
            </p:txBody>
          </p:sp>
          <p:cxnSp>
            <p:nvCxnSpPr>
              <p:cNvPr id="24" name="Connector: Elbow 23">
                <a:extLst>
                  <a:ext uri="{FF2B5EF4-FFF2-40B4-BE49-F238E27FC236}">
                    <a16:creationId xmlns:a16="http://schemas.microsoft.com/office/drawing/2014/main" id="{2969F6D9-C711-4E4E-98FD-12B1C0031452}"/>
                  </a:ext>
                </a:extLst>
              </p:cNvPr>
              <p:cNvCxnSpPr>
                <a:stCxn id="7" idx="3"/>
                <a:endCxn id="8" idx="0"/>
              </p:cNvCxnSpPr>
              <p:nvPr/>
            </p:nvCxnSpPr>
            <p:spPr>
              <a:xfrm>
                <a:off x="1645083" y="2218552"/>
                <a:ext cx="641745" cy="32004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0DAECBEB-2C35-4EF4-883F-7C131854F806}"/>
                </a:ext>
                <a:ext uri="{C183D7F6-B498-43B3-948B-1728B52AA6E4}">
                  <adec:decorative xmlns:adec="http://schemas.microsoft.com/office/drawing/2017/decorative" val="1"/>
                </a:ext>
              </a:extLst>
            </p:cNvPr>
            <p:cNvGrpSpPr/>
            <p:nvPr/>
          </p:nvGrpSpPr>
          <p:grpSpPr>
            <a:xfrm>
              <a:off x="845127" y="4100589"/>
              <a:ext cx="2468880" cy="2019370"/>
              <a:chOff x="845127" y="4100589"/>
              <a:chExt cx="2468880" cy="2019370"/>
            </a:xfrm>
          </p:grpSpPr>
          <p:sp>
            <p:nvSpPr>
              <p:cNvPr id="22" name="Rectangle 21">
                <a:extLst>
                  <a:ext uri="{FF2B5EF4-FFF2-40B4-BE49-F238E27FC236}">
                    <a16:creationId xmlns:a16="http://schemas.microsoft.com/office/drawing/2014/main" id="{DA70D74D-A163-4F8D-8387-DEA1839A36F7}"/>
                  </a:ext>
                </a:extLst>
              </p:cNvPr>
              <p:cNvSpPr/>
              <p:nvPr/>
            </p:nvSpPr>
            <p:spPr>
              <a:xfrm>
                <a:off x="845127" y="4565479"/>
                <a:ext cx="2468880" cy="1554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rPr>
                  <a:t>AMI</a:t>
                </a:r>
              </a:p>
              <a:p>
                <a:pPr marL="285750" indent="-285750">
                  <a:buFont typeface="Arial" panose="020B0604020202020204" pitchFamily="34" charset="0"/>
                  <a:buChar char="•"/>
                </a:pPr>
                <a:r>
                  <a:rPr lang="en-US" dirty="0">
                    <a:solidFill>
                      <a:schemeClr val="tx1"/>
                    </a:solidFill>
                  </a:rPr>
                  <a:t>Instance type</a:t>
                </a:r>
              </a:p>
              <a:p>
                <a:pPr marL="285750" indent="-285750">
                  <a:buFont typeface="Arial" panose="020B0604020202020204" pitchFamily="34" charset="0"/>
                  <a:buChar char="•"/>
                </a:pPr>
                <a:r>
                  <a:rPr lang="en-US" dirty="0">
                    <a:solidFill>
                      <a:schemeClr val="tx1"/>
                    </a:solidFill>
                  </a:rPr>
                  <a:t>IAM role</a:t>
                </a:r>
              </a:p>
              <a:p>
                <a:pPr marL="285750" indent="-285750">
                  <a:buFont typeface="Arial" panose="020B0604020202020204" pitchFamily="34" charset="0"/>
                  <a:buChar char="•"/>
                </a:pPr>
                <a:r>
                  <a:rPr lang="en-US" dirty="0">
                    <a:solidFill>
                      <a:schemeClr val="tx1"/>
                    </a:solidFill>
                  </a:rPr>
                  <a:t>Security groups</a:t>
                </a:r>
              </a:p>
              <a:p>
                <a:pPr marL="285750" indent="-285750">
                  <a:buFont typeface="Arial" panose="020B0604020202020204" pitchFamily="34" charset="0"/>
                  <a:buChar char="•"/>
                </a:pPr>
                <a:r>
                  <a:rPr lang="en-US" dirty="0">
                    <a:solidFill>
                      <a:schemeClr val="tx1"/>
                    </a:solidFill>
                  </a:rPr>
                  <a:t>EBS volumes</a:t>
                </a:r>
              </a:p>
            </p:txBody>
          </p:sp>
          <p:sp>
            <p:nvSpPr>
              <p:cNvPr id="33" name="Rectangle 32">
                <a:extLst>
                  <a:ext uri="{FF2B5EF4-FFF2-40B4-BE49-F238E27FC236}">
                    <a16:creationId xmlns:a16="http://schemas.microsoft.com/office/drawing/2014/main" id="{7F036BEE-5D26-4627-A126-61726B430F2A}"/>
                  </a:ext>
                </a:extLst>
              </p:cNvPr>
              <p:cNvSpPr/>
              <p:nvPr/>
            </p:nvSpPr>
            <p:spPr>
              <a:xfrm>
                <a:off x="845127" y="4100589"/>
                <a:ext cx="2468880" cy="45720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5"/>
                    </a:solidFill>
                  </a:rPr>
                  <a:t>Launch configuration</a:t>
                </a:r>
              </a:p>
            </p:txBody>
          </p:sp>
        </p:grpSp>
      </p:grpSp>
      <p:grpSp>
        <p:nvGrpSpPr>
          <p:cNvPr id="70" name="Group 69">
            <a:extLst>
              <a:ext uri="{FF2B5EF4-FFF2-40B4-BE49-F238E27FC236}">
                <a16:creationId xmlns:a16="http://schemas.microsoft.com/office/drawing/2014/main" id="{4984ECAB-F2B5-4259-B0E3-7EC16CDD3E61}"/>
              </a:ext>
              <a:ext uri="{C183D7F6-B498-43B3-948B-1728B52AA6E4}">
                <adec:decorative xmlns:adec="http://schemas.microsoft.com/office/drawing/2017/decorative" val="1"/>
              </a:ext>
            </a:extLst>
          </p:cNvPr>
          <p:cNvGrpSpPr/>
          <p:nvPr/>
        </p:nvGrpSpPr>
        <p:grpSpPr>
          <a:xfrm>
            <a:off x="3314007" y="1278309"/>
            <a:ext cx="4496707" cy="4092250"/>
            <a:chOff x="3314007" y="1278309"/>
            <a:chExt cx="4496707" cy="4092250"/>
          </a:xfrm>
        </p:grpSpPr>
        <p:grpSp>
          <p:nvGrpSpPr>
            <p:cNvPr id="67" name="Group 66">
              <a:extLst>
                <a:ext uri="{FF2B5EF4-FFF2-40B4-BE49-F238E27FC236}">
                  <a16:creationId xmlns:a16="http://schemas.microsoft.com/office/drawing/2014/main" id="{842DC58D-37CB-4FE6-8514-944291D44195}"/>
                </a:ext>
              </a:extLst>
            </p:cNvPr>
            <p:cNvGrpSpPr/>
            <p:nvPr/>
          </p:nvGrpSpPr>
          <p:grpSpPr>
            <a:xfrm>
              <a:off x="4332067" y="1278309"/>
              <a:ext cx="3478647" cy="4092250"/>
              <a:chOff x="4332067" y="1278309"/>
              <a:chExt cx="3478647" cy="4092250"/>
            </a:xfrm>
          </p:grpSpPr>
          <p:grpSp>
            <p:nvGrpSpPr>
              <p:cNvPr id="25" name="Group 24">
                <a:extLst>
                  <a:ext uri="{FF2B5EF4-FFF2-40B4-BE49-F238E27FC236}">
                    <a16:creationId xmlns:a16="http://schemas.microsoft.com/office/drawing/2014/main" id="{A170ECA5-556C-4E22-A117-85E6780F2A3A}"/>
                  </a:ext>
                  <a:ext uri="{C183D7F6-B498-43B3-948B-1728B52AA6E4}">
                    <adec:decorative xmlns:adec="http://schemas.microsoft.com/office/drawing/2017/decorative" val="1"/>
                  </a:ext>
                </a:extLst>
              </p:cNvPr>
              <p:cNvGrpSpPr/>
              <p:nvPr/>
            </p:nvGrpSpPr>
            <p:grpSpPr>
              <a:xfrm>
                <a:off x="4332067" y="1801529"/>
                <a:ext cx="3478647" cy="2069610"/>
                <a:chOff x="3878117" y="2165596"/>
                <a:chExt cx="3478647" cy="2069610"/>
              </a:xfrm>
            </p:grpSpPr>
            <p:sp>
              <p:nvSpPr>
                <p:cNvPr id="9" name="Rectangle 8">
                  <a:extLst>
                    <a:ext uri="{FF2B5EF4-FFF2-40B4-BE49-F238E27FC236}">
                      <a16:creationId xmlns:a16="http://schemas.microsoft.com/office/drawing/2014/main" id="{F9B77BFF-74B9-4349-84C2-17056E751922}"/>
                    </a:ext>
                  </a:extLst>
                </p:cNvPr>
                <p:cNvSpPr/>
                <p:nvPr/>
              </p:nvSpPr>
              <p:spPr>
                <a:xfrm>
                  <a:off x="3878117" y="2165596"/>
                  <a:ext cx="3478647" cy="206961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1D8900"/>
                      </a:solidFill>
                      <a:effectLst/>
                      <a:uLnTx/>
                      <a:uFillTx/>
                      <a:ea typeface="+mn-ea"/>
                      <a:cs typeface="+mn-cs"/>
                    </a:rPr>
                    <a:t> VPC</a:t>
                  </a:r>
                </a:p>
              </p:txBody>
            </p:sp>
            <p:sp>
              <p:nvSpPr>
                <p:cNvPr id="10" name="Rectangle 9">
                  <a:extLst>
                    <a:ext uri="{FF2B5EF4-FFF2-40B4-BE49-F238E27FC236}">
                      <a16:creationId xmlns:a16="http://schemas.microsoft.com/office/drawing/2014/main" id="{03CF3428-B0B9-4FC8-A645-6A6C13DE6A2F}"/>
                    </a:ext>
                  </a:extLst>
                </p:cNvPr>
                <p:cNvSpPr/>
                <p:nvPr/>
              </p:nvSpPr>
              <p:spPr>
                <a:xfrm>
                  <a:off x="4390737" y="2601545"/>
                  <a:ext cx="2799772" cy="149940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ea typeface="+mn-ea"/>
                      <a:cs typeface="+mn-cs"/>
                    </a:rPr>
                    <a:t>   Private subnet</a:t>
                  </a:r>
                </a:p>
              </p:txBody>
            </p:sp>
            <p:sp>
              <p:nvSpPr>
                <p:cNvPr id="11" name="Rectangle 10">
                  <a:extLst>
                    <a:ext uri="{FF2B5EF4-FFF2-40B4-BE49-F238E27FC236}">
                      <a16:creationId xmlns:a16="http://schemas.microsoft.com/office/drawing/2014/main" id="{368D97B9-99C5-453F-A25B-BB744805E1E1}"/>
                    </a:ext>
                  </a:extLst>
                </p:cNvPr>
                <p:cNvSpPr/>
                <p:nvPr/>
              </p:nvSpPr>
              <p:spPr>
                <a:xfrm>
                  <a:off x="5041909" y="3007106"/>
                  <a:ext cx="1940782" cy="941439"/>
                </a:xfrm>
                <a:prstGeom prst="rect">
                  <a:avLst/>
                </a:prstGeom>
                <a:noFill/>
                <a:ln w="12700" cap="flat" cmpd="sng" algn="ctr">
                  <a:solidFill>
                    <a:srgbClr val="D86613"/>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D86613"/>
                    </a:solidFill>
                    <a:effectLst/>
                    <a:uLnTx/>
                    <a:uFillTx/>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613"/>
                      </a:solidFill>
                      <a:effectLst/>
                      <a:uLnTx/>
                      <a:uFillTx/>
                      <a:ea typeface="+mn-ea"/>
                      <a:cs typeface="+mn-cs"/>
                    </a:rPr>
                    <a:t>Auto Scaling group</a:t>
                  </a:r>
                </a:p>
              </p:txBody>
            </p:sp>
            <p:pic>
              <p:nvPicPr>
                <p:cNvPr id="12" name="Graphic 11">
                  <a:extLst>
                    <a:ext uri="{FF2B5EF4-FFF2-40B4-BE49-F238E27FC236}">
                      <a16:creationId xmlns:a16="http://schemas.microsoft.com/office/drawing/2014/main" id="{3EA38567-1231-44B6-A05B-A8EAA7177EFE}"/>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75140" y="3007106"/>
                  <a:ext cx="274320" cy="274320"/>
                </a:xfrm>
                <a:prstGeom prst="rect">
                  <a:avLst/>
                </a:prstGeom>
              </p:spPr>
            </p:pic>
            <p:pic>
              <p:nvPicPr>
                <p:cNvPr id="13" name="Graphic 12">
                  <a:extLst>
                    <a:ext uri="{FF2B5EF4-FFF2-40B4-BE49-F238E27FC236}">
                      <a16:creationId xmlns:a16="http://schemas.microsoft.com/office/drawing/2014/main" id="{122D83D9-3550-4785-B2A1-ABAABEEA891B}"/>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878118" y="2165596"/>
                  <a:ext cx="457200" cy="457200"/>
                </a:xfrm>
                <a:prstGeom prst="rect">
                  <a:avLst/>
                </a:prstGeom>
              </p:spPr>
            </p:pic>
            <p:pic>
              <p:nvPicPr>
                <p:cNvPr id="14" name="Graphic 13">
                  <a:extLst>
                    <a:ext uri="{FF2B5EF4-FFF2-40B4-BE49-F238E27FC236}">
                      <a16:creationId xmlns:a16="http://schemas.microsoft.com/office/drawing/2014/main" id="{944A97A9-4F9C-45CD-B59B-6D939F7E4D99}"/>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390738" y="2599186"/>
                  <a:ext cx="457200" cy="457200"/>
                </a:xfrm>
                <a:prstGeom prst="rect">
                  <a:avLst/>
                </a:prstGeom>
              </p:spPr>
            </p:pic>
          </p:grpSp>
          <p:sp>
            <p:nvSpPr>
              <p:cNvPr id="16" name="TextBox 15">
                <a:extLst>
                  <a:ext uri="{FF2B5EF4-FFF2-40B4-BE49-F238E27FC236}">
                    <a16:creationId xmlns:a16="http://schemas.microsoft.com/office/drawing/2014/main" id="{EB02E5CE-B20C-4B7B-A26A-E67FEC77BFF6}"/>
                  </a:ext>
                </a:extLst>
              </p:cNvPr>
              <p:cNvSpPr txBox="1"/>
              <p:nvPr/>
            </p:nvSpPr>
            <p:spPr>
              <a:xfrm>
                <a:off x="5466898" y="1278309"/>
                <a:ext cx="1208985" cy="523220"/>
              </a:xfrm>
              <a:prstGeom prst="rect">
                <a:avLst/>
              </a:prstGeom>
              <a:noFill/>
            </p:spPr>
            <p:txBody>
              <a:bodyPr wrap="none" rtlCol="0">
                <a:spAutoFit/>
              </a:bodyPr>
              <a:lstStyle/>
              <a:p>
                <a:r>
                  <a:rPr lang="en-US" sz="2800" dirty="0">
                    <a:ea typeface="Amazon Ember Light" panose="020B0403020204020204" pitchFamily="34" charset="0"/>
                    <a:cs typeface="Amazon Ember Light" panose="020B0403020204020204" pitchFamily="34" charset="0"/>
                  </a:rPr>
                  <a:t>Where</a:t>
                </a:r>
              </a:p>
            </p:txBody>
          </p:sp>
          <p:grpSp>
            <p:nvGrpSpPr>
              <p:cNvPr id="51" name="Group 50">
                <a:extLst>
                  <a:ext uri="{FF2B5EF4-FFF2-40B4-BE49-F238E27FC236}">
                    <a16:creationId xmlns:a16="http://schemas.microsoft.com/office/drawing/2014/main" id="{5C28FB4F-529D-4A9E-B85C-C6F35BA587E2}"/>
                  </a:ext>
                  <a:ext uri="{C183D7F6-B498-43B3-948B-1728B52AA6E4}">
                    <adec:decorative xmlns:adec="http://schemas.microsoft.com/office/drawing/2017/decorative" val="1"/>
                  </a:ext>
                </a:extLst>
              </p:cNvPr>
              <p:cNvGrpSpPr/>
              <p:nvPr/>
            </p:nvGrpSpPr>
            <p:grpSpPr>
              <a:xfrm>
                <a:off x="4836950" y="4100589"/>
                <a:ext cx="2468880" cy="1269970"/>
                <a:chOff x="4836950" y="4100589"/>
                <a:chExt cx="2468880" cy="1269970"/>
              </a:xfrm>
            </p:grpSpPr>
            <p:sp>
              <p:nvSpPr>
                <p:cNvPr id="27" name="Rectangle 26">
                  <a:extLst>
                    <a:ext uri="{FF2B5EF4-FFF2-40B4-BE49-F238E27FC236}">
                      <a16:creationId xmlns:a16="http://schemas.microsoft.com/office/drawing/2014/main" id="{ABB1126B-15E5-494C-BE73-DE385B4A598D}"/>
                    </a:ext>
                  </a:extLst>
                </p:cNvPr>
                <p:cNvSpPr/>
                <p:nvPr/>
              </p:nvSpPr>
              <p:spPr>
                <a:xfrm>
                  <a:off x="4836950" y="4565479"/>
                  <a:ext cx="2468880" cy="80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rPr>
                    <a:t>VPC and subnets</a:t>
                  </a:r>
                </a:p>
                <a:p>
                  <a:pPr marL="285750" indent="-285750">
                    <a:buFont typeface="Arial" panose="020B0604020202020204" pitchFamily="34" charset="0"/>
                    <a:buChar char="•"/>
                  </a:pPr>
                  <a:r>
                    <a:rPr lang="en-US" dirty="0">
                      <a:solidFill>
                        <a:schemeClr val="tx1"/>
                      </a:solidFill>
                    </a:rPr>
                    <a:t>Load balancer</a:t>
                  </a:r>
                </a:p>
              </p:txBody>
            </p:sp>
            <p:sp>
              <p:nvSpPr>
                <p:cNvPr id="34" name="Rectangle 33">
                  <a:extLst>
                    <a:ext uri="{FF2B5EF4-FFF2-40B4-BE49-F238E27FC236}">
                      <a16:creationId xmlns:a16="http://schemas.microsoft.com/office/drawing/2014/main" id="{DDD14448-CEB0-45B6-934B-6992F5339E8C}"/>
                    </a:ext>
                  </a:extLst>
                </p:cNvPr>
                <p:cNvSpPr/>
                <p:nvPr/>
              </p:nvSpPr>
              <p:spPr>
                <a:xfrm>
                  <a:off x="4836950" y="4100589"/>
                  <a:ext cx="2468880" cy="45720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5"/>
                      </a:solidFill>
                    </a:rPr>
                    <a:t>Auto Scaling group</a:t>
                  </a:r>
                </a:p>
              </p:txBody>
            </p:sp>
          </p:grpSp>
        </p:grpSp>
        <p:cxnSp>
          <p:nvCxnSpPr>
            <p:cNvPr id="44" name="Straight Arrow Connector 43">
              <a:extLst>
                <a:ext uri="{FF2B5EF4-FFF2-40B4-BE49-F238E27FC236}">
                  <a16:creationId xmlns:a16="http://schemas.microsoft.com/office/drawing/2014/main" id="{D0E88870-CA4B-4288-A55D-E9A01E467865}"/>
                </a:ext>
                <a:ext uri="{C183D7F6-B498-43B3-948B-1728B52AA6E4}">
                  <adec:decorative xmlns:adec="http://schemas.microsoft.com/office/drawing/2017/decorative" val="1"/>
                </a:ext>
              </a:extLst>
            </p:cNvPr>
            <p:cNvCxnSpPr>
              <a:stCxn id="33" idx="3"/>
              <a:endCxn id="34" idx="1"/>
            </p:cNvCxnSpPr>
            <p:nvPr/>
          </p:nvCxnSpPr>
          <p:spPr>
            <a:xfrm>
              <a:off x="3314007" y="4329189"/>
              <a:ext cx="15229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26F3B9A3-8D40-45B3-B753-04CEB4CC5123}"/>
              </a:ext>
              <a:ext uri="{C183D7F6-B498-43B3-948B-1728B52AA6E4}">
                <adec:decorative xmlns:adec="http://schemas.microsoft.com/office/drawing/2017/decorative" val="1"/>
              </a:ext>
            </a:extLst>
          </p:cNvPr>
          <p:cNvGrpSpPr/>
          <p:nvPr/>
        </p:nvGrpSpPr>
        <p:grpSpPr>
          <a:xfrm>
            <a:off x="7305830" y="1253595"/>
            <a:ext cx="4732591" cy="5267009"/>
            <a:chOff x="7305830" y="1278309"/>
            <a:chExt cx="4732591" cy="5267009"/>
          </a:xfrm>
        </p:grpSpPr>
        <p:cxnSp>
          <p:nvCxnSpPr>
            <p:cNvPr id="32" name="Connector: Elbow 31">
              <a:extLst>
                <a:ext uri="{FF2B5EF4-FFF2-40B4-BE49-F238E27FC236}">
                  <a16:creationId xmlns:a16="http://schemas.microsoft.com/office/drawing/2014/main" id="{333FA268-2662-4D43-BA85-87FFA959745F}"/>
                </a:ext>
                <a:ext uri="{C183D7F6-B498-43B3-948B-1728B52AA6E4}">
                  <adec:decorative xmlns:adec="http://schemas.microsoft.com/office/drawing/2017/decorative" val="1"/>
                </a:ext>
              </a:extLst>
            </p:cNvPr>
            <p:cNvCxnSpPr>
              <a:stCxn id="34" idx="3"/>
              <a:endCxn id="37" idx="1"/>
            </p:cNvCxnSpPr>
            <p:nvPr/>
          </p:nvCxnSpPr>
          <p:spPr>
            <a:xfrm flipV="1">
              <a:off x="7305830" y="2030129"/>
              <a:ext cx="1532191" cy="229906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0470237D-6BB6-4E14-9337-C710B537EDC1}"/>
                </a:ext>
                <a:ext uri="{C183D7F6-B498-43B3-948B-1728B52AA6E4}">
                  <adec:decorative xmlns:adec="http://schemas.microsoft.com/office/drawing/2017/decorative" val="1"/>
                </a:ext>
              </a:extLst>
            </p:cNvPr>
            <p:cNvCxnSpPr>
              <a:stCxn id="34" idx="3"/>
              <a:endCxn id="38" idx="1"/>
            </p:cNvCxnSpPr>
            <p:nvPr/>
          </p:nvCxnSpPr>
          <p:spPr>
            <a:xfrm flipV="1">
              <a:off x="7305830" y="3028096"/>
              <a:ext cx="1532191" cy="13010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54EBF020-FDFD-4A22-8D76-199A08AC77E0}"/>
                </a:ext>
                <a:ext uri="{C183D7F6-B498-43B3-948B-1728B52AA6E4}">
                  <adec:decorative xmlns:adec="http://schemas.microsoft.com/office/drawing/2017/decorative" val="1"/>
                </a:ext>
              </a:extLst>
            </p:cNvPr>
            <p:cNvCxnSpPr>
              <a:stCxn id="34" idx="3"/>
              <a:endCxn id="36" idx="1"/>
            </p:cNvCxnSpPr>
            <p:nvPr/>
          </p:nvCxnSpPr>
          <p:spPr>
            <a:xfrm flipV="1">
              <a:off x="7305830" y="4017278"/>
              <a:ext cx="1532191" cy="31191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CFB791B8-448D-459E-8558-84B5A27A5FDA}"/>
                </a:ext>
                <a:ext uri="{C183D7F6-B498-43B3-948B-1728B52AA6E4}">
                  <adec:decorative xmlns:adec="http://schemas.microsoft.com/office/drawing/2017/decorative" val="1"/>
                </a:ext>
              </a:extLst>
            </p:cNvPr>
            <p:cNvCxnSpPr>
              <a:stCxn id="34" idx="3"/>
              <a:endCxn id="35" idx="1"/>
            </p:cNvCxnSpPr>
            <p:nvPr/>
          </p:nvCxnSpPr>
          <p:spPr>
            <a:xfrm>
              <a:off x="7305830" y="4329189"/>
              <a:ext cx="1532191" cy="7031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8AC9C805-20F9-48C7-9764-027731C5D4EE}"/>
                </a:ext>
                <a:ext uri="{C183D7F6-B498-43B3-948B-1728B52AA6E4}">
                  <adec:decorative xmlns:adec="http://schemas.microsoft.com/office/drawing/2017/decorative" val="1"/>
                </a:ext>
              </a:extLst>
            </p:cNvPr>
            <p:cNvCxnSpPr>
              <a:stCxn id="34" idx="3"/>
              <a:endCxn id="43" idx="1"/>
            </p:cNvCxnSpPr>
            <p:nvPr/>
          </p:nvCxnSpPr>
          <p:spPr>
            <a:xfrm>
              <a:off x="7305830" y="4329189"/>
              <a:ext cx="1532191" cy="16994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A73640A5-50BA-4D97-A283-712509EF1D85}"/>
                </a:ext>
              </a:extLst>
            </p:cNvPr>
            <p:cNvGrpSpPr/>
            <p:nvPr/>
          </p:nvGrpSpPr>
          <p:grpSpPr>
            <a:xfrm>
              <a:off x="8838021" y="1278309"/>
              <a:ext cx="3200400" cy="5267009"/>
              <a:chOff x="8838021" y="1278309"/>
              <a:chExt cx="3200400" cy="5267009"/>
            </a:xfrm>
          </p:grpSpPr>
          <p:grpSp>
            <p:nvGrpSpPr>
              <p:cNvPr id="62" name="Group 61">
                <a:extLst>
                  <a:ext uri="{FF2B5EF4-FFF2-40B4-BE49-F238E27FC236}">
                    <a16:creationId xmlns:a16="http://schemas.microsoft.com/office/drawing/2014/main" id="{E113EC6E-5B55-4787-822D-876F36DDAD24}"/>
                  </a:ext>
                  <a:ext uri="{C183D7F6-B498-43B3-948B-1728B52AA6E4}">
                    <adec:decorative xmlns:adec="http://schemas.microsoft.com/office/drawing/2017/decorative" val="1"/>
                  </a:ext>
                </a:extLst>
              </p:cNvPr>
              <p:cNvGrpSpPr/>
              <p:nvPr/>
            </p:nvGrpSpPr>
            <p:grpSpPr>
              <a:xfrm>
                <a:off x="8838021" y="3788678"/>
                <a:ext cx="3200400" cy="767339"/>
                <a:chOff x="8838021" y="4015538"/>
                <a:chExt cx="3200400" cy="767339"/>
              </a:xfrm>
            </p:grpSpPr>
            <p:sp>
              <p:nvSpPr>
                <p:cNvPr id="36" name="Rectangle 35">
                  <a:extLst>
                    <a:ext uri="{FF2B5EF4-FFF2-40B4-BE49-F238E27FC236}">
                      <a16:creationId xmlns:a16="http://schemas.microsoft.com/office/drawing/2014/main" id="{DB8D7391-40DA-4FDE-A44D-7DD9CFF7DFB4}"/>
                    </a:ext>
                  </a:extLst>
                </p:cNvPr>
                <p:cNvSpPr/>
                <p:nvPr/>
              </p:nvSpPr>
              <p:spPr>
                <a:xfrm>
                  <a:off x="8838021" y="4015538"/>
                  <a:ext cx="3200400" cy="45720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5"/>
                      </a:solidFill>
                    </a:rPr>
                    <a:t>Scheduled scaling</a:t>
                  </a:r>
                </a:p>
              </p:txBody>
            </p:sp>
            <p:sp>
              <p:nvSpPr>
                <p:cNvPr id="29" name="Rectangle 28">
                  <a:extLst>
                    <a:ext uri="{FF2B5EF4-FFF2-40B4-BE49-F238E27FC236}">
                      <a16:creationId xmlns:a16="http://schemas.microsoft.com/office/drawing/2014/main" id="{F681051A-37BF-4082-A58D-E45D8D84829F}"/>
                    </a:ext>
                  </a:extLst>
                </p:cNvPr>
                <p:cNvSpPr/>
                <p:nvPr/>
              </p:nvSpPr>
              <p:spPr>
                <a:xfrm>
                  <a:off x="8838021" y="4508557"/>
                  <a:ext cx="2743200"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rPr>
                    <a:t>Scheduled actions</a:t>
                  </a:r>
                </a:p>
              </p:txBody>
            </p:sp>
          </p:grpSp>
          <p:sp>
            <p:nvSpPr>
              <p:cNvPr id="17" name="TextBox 16">
                <a:extLst>
                  <a:ext uri="{FF2B5EF4-FFF2-40B4-BE49-F238E27FC236}">
                    <a16:creationId xmlns:a16="http://schemas.microsoft.com/office/drawing/2014/main" id="{12A8967F-41AB-4680-B2B0-80D08E77A037}"/>
                  </a:ext>
                </a:extLst>
              </p:cNvPr>
              <p:cNvSpPr txBox="1"/>
              <p:nvPr/>
            </p:nvSpPr>
            <p:spPr>
              <a:xfrm>
                <a:off x="9658028" y="1278309"/>
                <a:ext cx="1103187" cy="523220"/>
              </a:xfrm>
              <a:prstGeom prst="rect">
                <a:avLst/>
              </a:prstGeom>
              <a:noFill/>
            </p:spPr>
            <p:txBody>
              <a:bodyPr wrap="non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When</a:t>
                </a:r>
              </a:p>
            </p:txBody>
          </p:sp>
          <p:grpSp>
            <p:nvGrpSpPr>
              <p:cNvPr id="63" name="Group 62">
                <a:extLst>
                  <a:ext uri="{FF2B5EF4-FFF2-40B4-BE49-F238E27FC236}">
                    <a16:creationId xmlns:a16="http://schemas.microsoft.com/office/drawing/2014/main" id="{CA987524-ED4C-4481-866C-5BB56F1FA744}"/>
                  </a:ext>
                  <a:ext uri="{C183D7F6-B498-43B3-948B-1728B52AA6E4}">
                    <adec:decorative xmlns:adec="http://schemas.microsoft.com/office/drawing/2017/decorative" val="1"/>
                  </a:ext>
                </a:extLst>
              </p:cNvPr>
              <p:cNvGrpSpPr/>
              <p:nvPr/>
            </p:nvGrpSpPr>
            <p:grpSpPr>
              <a:xfrm>
                <a:off x="8838021" y="4803756"/>
                <a:ext cx="3200400" cy="748557"/>
                <a:chOff x="8838021" y="4907796"/>
                <a:chExt cx="3200400" cy="748557"/>
              </a:xfrm>
            </p:grpSpPr>
            <p:sp>
              <p:nvSpPr>
                <p:cNvPr id="28" name="Rectangle 27">
                  <a:extLst>
                    <a:ext uri="{FF2B5EF4-FFF2-40B4-BE49-F238E27FC236}">
                      <a16:creationId xmlns:a16="http://schemas.microsoft.com/office/drawing/2014/main" id="{34EC3A13-9A94-4204-9A41-107E0B55C1E5}"/>
                    </a:ext>
                  </a:extLst>
                </p:cNvPr>
                <p:cNvSpPr/>
                <p:nvPr/>
              </p:nvSpPr>
              <p:spPr>
                <a:xfrm>
                  <a:off x="8838021" y="5382033"/>
                  <a:ext cx="2743200"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rPr>
                    <a:t>Scaling policies</a:t>
                  </a:r>
                </a:p>
              </p:txBody>
            </p:sp>
            <p:sp>
              <p:nvSpPr>
                <p:cNvPr id="35" name="Rectangle 34">
                  <a:extLst>
                    <a:ext uri="{FF2B5EF4-FFF2-40B4-BE49-F238E27FC236}">
                      <a16:creationId xmlns:a16="http://schemas.microsoft.com/office/drawing/2014/main" id="{FBC525AB-832F-4270-A9F1-BE87C4796614}"/>
                    </a:ext>
                  </a:extLst>
                </p:cNvPr>
                <p:cNvSpPr/>
                <p:nvPr/>
              </p:nvSpPr>
              <p:spPr>
                <a:xfrm>
                  <a:off x="8838021" y="4907796"/>
                  <a:ext cx="3200400" cy="45720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5"/>
                      </a:solidFill>
                    </a:rPr>
                    <a:t>Dynamic scaling</a:t>
                  </a:r>
                </a:p>
              </p:txBody>
            </p:sp>
          </p:grpSp>
          <p:grpSp>
            <p:nvGrpSpPr>
              <p:cNvPr id="64" name="Group 63">
                <a:extLst>
                  <a:ext uri="{FF2B5EF4-FFF2-40B4-BE49-F238E27FC236}">
                    <a16:creationId xmlns:a16="http://schemas.microsoft.com/office/drawing/2014/main" id="{33AB67A0-8677-46F6-9D24-AEF55E2DA9CD}"/>
                  </a:ext>
                  <a:ext uri="{C183D7F6-B498-43B3-948B-1728B52AA6E4}">
                    <adec:decorative xmlns:adec="http://schemas.microsoft.com/office/drawing/2017/decorative" val="1"/>
                  </a:ext>
                </a:extLst>
              </p:cNvPr>
              <p:cNvGrpSpPr/>
              <p:nvPr/>
            </p:nvGrpSpPr>
            <p:grpSpPr>
              <a:xfrm>
                <a:off x="8838021" y="5800052"/>
                <a:ext cx="3200400" cy="745266"/>
                <a:chOff x="8838021" y="5800052"/>
                <a:chExt cx="3200400" cy="745266"/>
              </a:xfrm>
            </p:grpSpPr>
            <p:sp>
              <p:nvSpPr>
                <p:cNvPr id="42" name="Rectangle 41">
                  <a:extLst>
                    <a:ext uri="{FF2B5EF4-FFF2-40B4-BE49-F238E27FC236}">
                      <a16:creationId xmlns:a16="http://schemas.microsoft.com/office/drawing/2014/main" id="{7A6A6D11-AFAB-4473-A6B6-08BCCCD352AA}"/>
                    </a:ext>
                  </a:extLst>
                </p:cNvPr>
                <p:cNvSpPr/>
                <p:nvPr/>
              </p:nvSpPr>
              <p:spPr>
                <a:xfrm>
                  <a:off x="8838021" y="6270998"/>
                  <a:ext cx="2743200"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rPr>
                    <a:t>AWS Auto Scaling</a:t>
                  </a:r>
                </a:p>
              </p:txBody>
            </p:sp>
            <p:sp>
              <p:nvSpPr>
                <p:cNvPr id="43" name="Rectangle 42">
                  <a:extLst>
                    <a:ext uri="{FF2B5EF4-FFF2-40B4-BE49-F238E27FC236}">
                      <a16:creationId xmlns:a16="http://schemas.microsoft.com/office/drawing/2014/main" id="{046B5AC2-8C64-4E5B-B2B9-4B0A627B5420}"/>
                    </a:ext>
                  </a:extLst>
                </p:cNvPr>
                <p:cNvSpPr/>
                <p:nvPr/>
              </p:nvSpPr>
              <p:spPr>
                <a:xfrm>
                  <a:off x="8838021" y="5800052"/>
                  <a:ext cx="3200400" cy="45720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5"/>
                      </a:solidFill>
                    </a:rPr>
                    <a:t>Predictive scaling</a:t>
                  </a:r>
                </a:p>
              </p:txBody>
            </p:sp>
          </p:grpSp>
          <p:grpSp>
            <p:nvGrpSpPr>
              <p:cNvPr id="60" name="Group 59">
                <a:extLst>
                  <a:ext uri="{FF2B5EF4-FFF2-40B4-BE49-F238E27FC236}">
                    <a16:creationId xmlns:a16="http://schemas.microsoft.com/office/drawing/2014/main" id="{C89BC331-3E6F-42C8-AF09-BA87CAABD90B}"/>
                  </a:ext>
                  <a:ext uri="{C183D7F6-B498-43B3-948B-1728B52AA6E4}">
                    <adec:decorative xmlns:adec="http://schemas.microsoft.com/office/drawing/2017/decorative" val="1"/>
                  </a:ext>
                </a:extLst>
              </p:cNvPr>
              <p:cNvGrpSpPr/>
              <p:nvPr/>
            </p:nvGrpSpPr>
            <p:grpSpPr>
              <a:xfrm>
                <a:off x="8838021" y="1801529"/>
                <a:ext cx="3200400" cy="750228"/>
                <a:chOff x="8838021" y="1801529"/>
                <a:chExt cx="3200400" cy="750228"/>
              </a:xfrm>
            </p:grpSpPr>
            <p:sp>
              <p:nvSpPr>
                <p:cNvPr id="37" name="Rectangle 36">
                  <a:extLst>
                    <a:ext uri="{FF2B5EF4-FFF2-40B4-BE49-F238E27FC236}">
                      <a16:creationId xmlns:a16="http://schemas.microsoft.com/office/drawing/2014/main" id="{6B2D00EA-2618-4FEA-8268-907734BD5183}"/>
                    </a:ext>
                  </a:extLst>
                </p:cNvPr>
                <p:cNvSpPr/>
                <p:nvPr/>
              </p:nvSpPr>
              <p:spPr>
                <a:xfrm>
                  <a:off x="8838021" y="1801529"/>
                  <a:ext cx="3200400" cy="45720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5"/>
                      </a:solidFill>
                    </a:rPr>
                    <a:t>Maintain current number</a:t>
                  </a:r>
                </a:p>
              </p:txBody>
            </p:sp>
            <p:sp>
              <p:nvSpPr>
                <p:cNvPr id="56" name="Rectangle 55">
                  <a:extLst>
                    <a:ext uri="{FF2B5EF4-FFF2-40B4-BE49-F238E27FC236}">
                      <a16:creationId xmlns:a16="http://schemas.microsoft.com/office/drawing/2014/main" id="{A46C7D94-EEF6-4041-9A1B-5AD420BFBCDD}"/>
                    </a:ext>
                  </a:extLst>
                </p:cNvPr>
                <p:cNvSpPr/>
                <p:nvPr/>
              </p:nvSpPr>
              <p:spPr>
                <a:xfrm>
                  <a:off x="8838021" y="2277437"/>
                  <a:ext cx="2743200"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rPr>
                    <a:t>Health checks</a:t>
                  </a:r>
                </a:p>
              </p:txBody>
            </p:sp>
          </p:grpSp>
          <p:grpSp>
            <p:nvGrpSpPr>
              <p:cNvPr id="61" name="Group 60">
                <a:extLst>
                  <a:ext uri="{FF2B5EF4-FFF2-40B4-BE49-F238E27FC236}">
                    <a16:creationId xmlns:a16="http://schemas.microsoft.com/office/drawing/2014/main" id="{E65319AC-560F-4A0C-8706-423A5B518B81}"/>
                  </a:ext>
                  <a:ext uri="{C183D7F6-B498-43B3-948B-1728B52AA6E4}">
                    <adec:decorative xmlns:adec="http://schemas.microsoft.com/office/drawing/2017/decorative" val="1"/>
                  </a:ext>
                </a:extLst>
              </p:cNvPr>
              <p:cNvGrpSpPr/>
              <p:nvPr/>
            </p:nvGrpSpPr>
            <p:grpSpPr>
              <a:xfrm>
                <a:off x="8838021" y="2799496"/>
                <a:ext cx="3200400" cy="741443"/>
                <a:chOff x="8838021" y="2915471"/>
                <a:chExt cx="3200400" cy="741443"/>
              </a:xfrm>
            </p:grpSpPr>
            <p:sp>
              <p:nvSpPr>
                <p:cNvPr id="38" name="Rectangle 37">
                  <a:extLst>
                    <a:ext uri="{FF2B5EF4-FFF2-40B4-BE49-F238E27FC236}">
                      <a16:creationId xmlns:a16="http://schemas.microsoft.com/office/drawing/2014/main" id="{B53C9909-74B8-41B8-A560-721447CBA834}"/>
                    </a:ext>
                  </a:extLst>
                </p:cNvPr>
                <p:cNvSpPr/>
                <p:nvPr/>
              </p:nvSpPr>
              <p:spPr>
                <a:xfrm>
                  <a:off x="8838021" y="2915471"/>
                  <a:ext cx="3200400" cy="45720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5"/>
                      </a:solidFill>
                    </a:rPr>
                    <a:t>Manual scaling</a:t>
                  </a:r>
                </a:p>
              </p:txBody>
            </p:sp>
            <p:sp>
              <p:nvSpPr>
                <p:cNvPr id="57" name="Rectangle 56">
                  <a:extLst>
                    <a:ext uri="{FF2B5EF4-FFF2-40B4-BE49-F238E27FC236}">
                      <a16:creationId xmlns:a16="http://schemas.microsoft.com/office/drawing/2014/main" id="{A5F0505D-A9CC-4C17-ADB9-CD4023821978}"/>
                    </a:ext>
                  </a:extLst>
                </p:cNvPr>
                <p:cNvSpPr/>
                <p:nvPr/>
              </p:nvSpPr>
              <p:spPr>
                <a:xfrm>
                  <a:off x="8838021" y="3382594"/>
                  <a:ext cx="3200400"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rPr>
                    <a:t>Min, max, desired capacity</a:t>
                  </a:r>
                </a:p>
              </p:txBody>
            </p:sp>
          </p:grpSp>
        </p:grpSp>
      </p:grpSp>
      <p:sp>
        <p:nvSpPr>
          <p:cNvPr id="5" name="Footer Placeholder 4">
            <a:extLst>
              <a:ext uri="{FF2B5EF4-FFF2-40B4-BE49-F238E27FC236}">
                <a16:creationId xmlns:a16="http://schemas.microsoft.com/office/drawing/2014/main" id="{BA79898D-9902-4BDB-A2F0-236B740717C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850E1A8C-2282-488C-8B5E-2FB2BBEB13F4}"/>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27</a:t>
            </a:fld>
            <a:endParaRPr lang="en-US" dirty="0"/>
          </a:p>
        </p:txBody>
      </p:sp>
    </p:spTree>
    <p:custDataLst>
      <p:tags r:id="rId1"/>
    </p:custDataLst>
    <p:extLst>
      <p:ext uri="{BB962C8B-B14F-4D97-AF65-F5344CB8AC3E}">
        <p14:creationId xmlns:p14="http://schemas.microsoft.com/office/powerpoint/2010/main" val="26645906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latin typeface="Amazon Ember Light" panose="020B0403020204020204" pitchFamily="34" charset="0"/>
                <a:ea typeface="Amazon Ember Light" panose="020B0403020204020204" pitchFamily="34" charset="0"/>
                <a:cs typeface="Amazon Ember Light" panose="020B0403020204020204" pitchFamily="34" charset="0"/>
              </a:rPr>
              <a:t>Implementing dynamic scaling</a:t>
            </a:r>
            <a:endParaRPr lang="en-CA" dirty="0">
              <a:solidFill>
                <a:srgbClr val="FFFFFF"/>
              </a:solidFill>
              <a:latin typeface="Amazon Ember Light" panose="020B0403020204020204"/>
              <a:ea typeface="Amazon Ember Light" panose="020B0403020204020204" pitchFamily="34" charset="0"/>
              <a:cs typeface="Amazon Ember Light" panose="020B0403020204020204" pitchFamily="34" charset="0"/>
            </a:endParaRPr>
          </a:p>
        </p:txBody>
      </p:sp>
      <p:grpSp>
        <p:nvGrpSpPr>
          <p:cNvPr id="16" name="Group 15" descr="elastic load balancing distributing traffic to ec2 instances in auto scaling group. amazon cloudwatch collecting cpu utilization metrics and triggering amazon ec2 auto scaling.">
            <a:extLst>
              <a:ext uri="{FF2B5EF4-FFF2-40B4-BE49-F238E27FC236}">
                <a16:creationId xmlns:a16="http://schemas.microsoft.com/office/drawing/2014/main" id="{36C3DA72-49F2-421B-B6F3-0059FA94A86E}"/>
              </a:ext>
              <a:ext uri="{C183D7F6-B498-43B3-948B-1728B52AA6E4}">
                <adec:decorative xmlns:adec="http://schemas.microsoft.com/office/drawing/2017/decorative" val="0"/>
              </a:ext>
            </a:extLst>
          </p:cNvPr>
          <p:cNvGrpSpPr/>
          <p:nvPr/>
        </p:nvGrpSpPr>
        <p:grpSpPr>
          <a:xfrm>
            <a:off x="1389957" y="1284330"/>
            <a:ext cx="10863174" cy="5021299"/>
            <a:chOff x="1389957" y="1284330"/>
            <a:chExt cx="10863174" cy="5021299"/>
          </a:xfrm>
        </p:grpSpPr>
        <p:pic>
          <p:nvPicPr>
            <p:cNvPr id="35" name="Graphic 34">
              <a:extLst>
                <a:ext uri="{FF2B5EF4-FFF2-40B4-BE49-F238E27FC236}">
                  <a16:creationId xmlns:a16="http://schemas.microsoft.com/office/drawing/2014/main" id="{C4A5B47C-02D5-4B66-A2F7-1C213D71A5B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58419" y="5001954"/>
              <a:ext cx="914400" cy="914400"/>
            </a:xfrm>
            <a:prstGeom prst="rect">
              <a:avLst/>
            </a:prstGeom>
          </p:spPr>
        </p:pic>
        <p:pic>
          <p:nvPicPr>
            <p:cNvPr id="32" name="Graphic 31">
              <a:extLst>
                <a:ext uri="{FF2B5EF4-FFF2-40B4-BE49-F238E27FC236}">
                  <a16:creationId xmlns:a16="http://schemas.microsoft.com/office/drawing/2014/main" id="{4C962543-E6F1-437C-904D-BE91AFE8D15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64201" y="5001954"/>
              <a:ext cx="914400" cy="914400"/>
            </a:xfrm>
            <a:prstGeom prst="rect">
              <a:avLst/>
            </a:prstGeom>
          </p:spPr>
        </p:pic>
        <p:pic>
          <p:nvPicPr>
            <p:cNvPr id="28" name="Graphic 27">
              <a:extLst>
                <a:ext uri="{FF2B5EF4-FFF2-40B4-BE49-F238E27FC236}">
                  <a16:creationId xmlns:a16="http://schemas.microsoft.com/office/drawing/2014/main" id="{E4D1C00D-C6C9-4FA5-8950-959A1C3EC49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76024" y="1284330"/>
              <a:ext cx="914400" cy="914400"/>
            </a:xfrm>
            <a:prstGeom prst="rect">
              <a:avLst/>
            </a:prstGeom>
          </p:spPr>
        </p:pic>
        <p:pic>
          <p:nvPicPr>
            <p:cNvPr id="82" name="Graphic 3">
              <a:extLst>
                <a:ext uri="{FF2B5EF4-FFF2-40B4-BE49-F238E27FC236}">
                  <a16:creationId xmlns:a16="http://schemas.microsoft.com/office/drawing/2014/main" id="{D7A7873E-A1CC-804E-816C-DC0FF152D82D}"/>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26093" y="3043901"/>
              <a:ext cx="455744" cy="455744"/>
            </a:xfrm>
            <a:prstGeom prst="rect">
              <a:avLst/>
            </a:prstGeom>
          </p:spPr>
        </p:pic>
        <p:sp>
          <p:nvSpPr>
            <p:cNvPr id="81" name="Rectangle 80">
              <a:extLst>
                <a:ext uri="{FF2B5EF4-FFF2-40B4-BE49-F238E27FC236}">
                  <a16:creationId xmlns:a16="http://schemas.microsoft.com/office/drawing/2014/main" id="{25B2706C-95D8-A94F-9EC8-6497FA7FB136}"/>
                </a:ext>
              </a:extLst>
            </p:cNvPr>
            <p:cNvSpPr/>
            <p:nvPr/>
          </p:nvSpPr>
          <p:spPr>
            <a:xfrm>
              <a:off x="4119681" y="3027128"/>
              <a:ext cx="3206057" cy="2209656"/>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rgbClr val="D86613"/>
                </a:solidFill>
              </a:endParaRPr>
            </a:p>
            <a:p>
              <a:pPr algn="ctr"/>
              <a:endParaRPr lang="en-US" sz="1200" dirty="0">
                <a:solidFill>
                  <a:srgbClr val="D86613"/>
                </a:solidFill>
              </a:endParaRPr>
            </a:p>
            <a:p>
              <a:pPr algn="ctr"/>
              <a:r>
                <a:rPr lang="en-US" sz="1600" dirty="0">
                  <a:solidFill>
                    <a:srgbClr val="D86613"/>
                  </a:solidFill>
                </a:rPr>
                <a:t>Auto Scaling group</a:t>
              </a:r>
            </a:p>
          </p:txBody>
        </p:sp>
        <p:cxnSp>
          <p:nvCxnSpPr>
            <p:cNvPr id="53" name="Straight Arrow Connector 29"/>
            <p:cNvCxnSpPr>
              <a:cxnSpLocks/>
              <a:stCxn id="28" idx="3"/>
              <a:endCxn id="35" idx="0"/>
            </p:cNvCxnSpPr>
            <p:nvPr/>
          </p:nvCxnSpPr>
          <p:spPr>
            <a:xfrm>
              <a:off x="6190424" y="1741530"/>
              <a:ext cx="3125195" cy="3260424"/>
            </a:xfrm>
            <a:prstGeom prst="bentConnector2">
              <a:avLst/>
            </a:prstGeom>
            <a:ln w="25400">
              <a:solidFill>
                <a:srgbClr val="202936"/>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cxnSpLocks/>
              <a:stCxn id="35" idx="1"/>
              <a:endCxn id="32" idx="3"/>
            </p:cNvCxnSpPr>
            <p:nvPr/>
          </p:nvCxnSpPr>
          <p:spPr>
            <a:xfrm flipH="1">
              <a:off x="3178601" y="5459154"/>
              <a:ext cx="5679818" cy="0"/>
            </a:xfrm>
            <a:prstGeom prst="straightConnector1">
              <a:avLst/>
            </a:prstGeom>
            <a:ln w="25400">
              <a:solidFill>
                <a:srgbClr val="202936"/>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37"/>
            <p:cNvCxnSpPr>
              <a:cxnSpLocks/>
              <a:stCxn id="32" idx="0"/>
              <a:endCxn id="28" idx="1"/>
            </p:cNvCxnSpPr>
            <p:nvPr/>
          </p:nvCxnSpPr>
          <p:spPr>
            <a:xfrm rot="5400000" flipH="1" flipV="1">
              <a:off x="2368500" y="2094431"/>
              <a:ext cx="3260424" cy="2554623"/>
            </a:xfrm>
            <a:prstGeom prst="bentConnector2">
              <a:avLst/>
            </a:prstGeom>
            <a:ln w="25400">
              <a:solidFill>
                <a:srgbClr val="202936"/>
              </a:solidFill>
              <a:prstDash val="sysDash"/>
              <a:tailEnd type="arrow"/>
            </a:ln>
          </p:spPr>
          <p:style>
            <a:lnRef idx="1">
              <a:schemeClr val="accent1"/>
            </a:lnRef>
            <a:fillRef idx="0">
              <a:schemeClr val="accent1"/>
            </a:fillRef>
            <a:effectRef idx="0">
              <a:schemeClr val="accent1"/>
            </a:effectRef>
            <a:fontRef idx="minor">
              <a:schemeClr val="tx1"/>
            </a:fontRef>
          </p:style>
        </p:cxnSp>
        <p:pic>
          <p:nvPicPr>
            <p:cNvPr id="63" name="Picture 62">
              <a:extLst>
                <a:ext uri="{FF2B5EF4-FFF2-40B4-BE49-F238E27FC236}">
                  <a16:creationId xmlns:a16="http://schemas.microsoft.com/office/drawing/2014/main" id="{8A7D3603-178F-A643-986E-3B5ADACFA380}"/>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4416212" y="4074831"/>
              <a:ext cx="635000" cy="635000"/>
            </a:xfrm>
            <a:prstGeom prst="rect">
              <a:avLst/>
            </a:prstGeom>
          </p:spPr>
        </p:pic>
        <p:pic>
          <p:nvPicPr>
            <p:cNvPr id="64" name="Picture 63">
              <a:extLst>
                <a:ext uri="{FF2B5EF4-FFF2-40B4-BE49-F238E27FC236}">
                  <a16:creationId xmlns:a16="http://schemas.microsoft.com/office/drawing/2014/main" id="{A7F3F4FA-01A8-0C49-A036-9DF75790EE78}"/>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6425573" y="4074831"/>
              <a:ext cx="635000" cy="635000"/>
            </a:xfrm>
            <a:prstGeom prst="rect">
              <a:avLst/>
            </a:prstGeom>
          </p:spPr>
        </p:pic>
        <p:grpSp>
          <p:nvGrpSpPr>
            <p:cNvPr id="66" name="Group 65">
              <a:extLst>
                <a:ext uri="{FF2B5EF4-FFF2-40B4-BE49-F238E27FC236}">
                  <a16:creationId xmlns:a16="http://schemas.microsoft.com/office/drawing/2014/main" id="{BDBD4313-0BBD-8844-BCF2-5A29BABDC84F}"/>
                </a:ext>
              </a:extLst>
            </p:cNvPr>
            <p:cNvGrpSpPr/>
            <p:nvPr/>
          </p:nvGrpSpPr>
          <p:grpSpPr>
            <a:xfrm rot="16200000">
              <a:off x="4788331" y="2120078"/>
              <a:ext cx="1898893" cy="2010612"/>
              <a:chOff x="8229758" y="4525307"/>
              <a:chExt cx="1638842" cy="400878"/>
            </a:xfrm>
          </p:grpSpPr>
          <p:sp>
            <p:nvSpPr>
              <p:cNvPr id="73" name="Freeform 72">
                <a:extLst>
                  <a:ext uri="{FF2B5EF4-FFF2-40B4-BE49-F238E27FC236}">
                    <a16:creationId xmlns:a16="http://schemas.microsoft.com/office/drawing/2014/main" id="{4C296EF1-E5AB-BD47-9A1F-E37E7B8FD14A}"/>
                  </a:ext>
                </a:extLst>
              </p:cNvPr>
              <p:cNvSpPr/>
              <p:nvPr/>
            </p:nvSpPr>
            <p:spPr>
              <a:xfrm>
                <a:off x="8229758" y="4525307"/>
                <a:ext cx="1065147" cy="400878"/>
              </a:xfrm>
              <a:custGeom>
                <a:avLst/>
                <a:gdLst>
                  <a:gd name="connsiteX0" fmla="*/ 38637 w 914400"/>
                  <a:gd name="connsiteY0" fmla="*/ 0 h 399245"/>
                  <a:gd name="connsiteX1" fmla="*/ 914400 w 914400"/>
                  <a:gd name="connsiteY1" fmla="*/ 0 h 399245"/>
                  <a:gd name="connsiteX2" fmla="*/ 914400 w 914400"/>
                  <a:gd name="connsiteY2" fmla="*/ 399245 h 399245"/>
                  <a:gd name="connsiteX3" fmla="*/ 0 w 914400"/>
                  <a:gd name="connsiteY3" fmla="*/ 399245 h 399245"/>
                  <a:gd name="connsiteX0" fmla="*/ 9837 w 914400"/>
                  <a:gd name="connsiteY0" fmla="*/ 3600 h 399245"/>
                  <a:gd name="connsiteX1" fmla="*/ 914400 w 914400"/>
                  <a:gd name="connsiteY1" fmla="*/ 0 h 399245"/>
                  <a:gd name="connsiteX2" fmla="*/ 914400 w 914400"/>
                  <a:gd name="connsiteY2" fmla="*/ 399245 h 399245"/>
                  <a:gd name="connsiteX3" fmla="*/ 0 w 914400"/>
                  <a:gd name="connsiteY3" fmla="*/ 399245 h 399245"/>
                  <a:gd name="connsiteX0" fmla="*/ 0 w 922563"/>
                  <a:gd name="connsiteY0" fmla="*/ 7200 h 399245"/>
                  <a:gd name="connsiteX1" fmla="*/ 922563 w 922563"/>
                  <a:gd name="connsiteY1" fmla="*/ 0 h 399245"/>
                  <a:gd name="connsiteX2" fmla="*/ 922563 w 922563"/>
                  <a:gd name="connsiteY2" fmla="*/ 399245 h 399245"/>
                  <a:gd name="connsiteX3" fmla="*/ 8163 w 922563"/>
                  <a:gd name="connsiteY3" fmla="*/ 399245 h 399245"/>
                  <a:gd name="connsiteX0" fmla="*/ 0 w 915363"/>
                  <a:gd name="connsiteY0" fmla="*/ 3600 h 399245"/>
                  <a:gd name="connsiteX1" fmla="*/ 915363 w 915363"/>
                  <a:gd name="connsiteY1" fmla="*/ 0 h 399245"/>
                  <a:gd name="connsiteX2" fmla="*/ 915363 w 915363"/>
                  <a:gd name="connsiteY2" fmla="*/ 399245 h 399245"/>
                  <a:gd name="connsiteX3" fmla="*/ 963 w 915363"/>
                  <a:gd name="connsiteY3" fmla="*/ 399245 h 399245"/>
                  <a:gd name="connsiteX0" fmla="*/ 0 w 924250"/>
                  <a:gd name="connsiteY0" fmla="*/ 0 h 400046"/>
                  <a:gd name="connsiteX1" fmla="*/ 924250 w 924250"/>
                  <a:gd name="connsiteY1" fmla="*/ 801 h 400046"/>
                  <a:gd name="connsiteX2" fmla="*/ 924250 w 924250"/>
                  <a:gd name="connsiteY2" fmla="*/ 400046 h 400046"/>
                  <a:gd name="connsiteX3" fmla="*/ 9850 w 924250"/>
                  <a:gd name="connsiteY3" fmla="*/ 400046 h 400046"/>
                  <a:gd name="connsiteX0" fmla="*/ 0 w 924250"/>
                  <a:gd name="connsiteY0" fmla="*/ 0 h 400046"/>
                  <a:gd name="connsiteX1" fmla="*/ 915363 w 924250"/>
                  <a:gd name="connsiteY1" fmla="*/ 5202 h 400046"/>
                  <a:gd name="connsiteX2" fmla="*/ 924250 w 924250"/>
                  <a:gd name="connsiteY2" fmla="*/ 400046 h 400046"/>
                  <a:gd name="connsiteX3" fmla="*/ 9850 w 924250"/>
                  <a:gd name="connsiteY3" fmla="*/ 400046 h 400046"/>
                  <a:gd name="connsiteX0" fmla="*/ 7923 w 914400"/>
                  <a:gd name="connsiteY0" fmla="*/ 960 h 394844"/>
                  <a:gd name="connsiteX1" fmla="*/ 905513 w 914400"/>
                  <a:gd name="connsiteY1" fmla="*/ 0 h 394844"/>
                  <a:gd name="connsiteX2" fmla="*/ 914400 w 914400"/>
                  <a:gd name="connsiteY2" fmla="*/ 394844 h 394844"/>
                  <a:gd name="connsiteX3" fmla="*/ 0 w 914400"/>
                  <a:gd name="connsiteY3" fmla="*/ 394844 h 394844"/>
                </a:gdLst>
                <a:ahLst/>
                <a:cxnLst>
                  <a:cxn ang="0">
                    <a:pos x="connsiteX0" y="connsiteY0"/>
                  </a:cxn>
                  <a:cxn ang="0">
                    <a:pos x="connsiteX1" y="connsiteY1"/>
                  </a:cxn>
                  <a:cxn ang="0">
                    <a:pos x="connsiteX2" y="connsiteY2"/>
                  </a:cxn>
                  <a:cxn ang="0">
                    <a:pos x="connsiteX3" y="connsiteY3"/>
                  </a:cxn>
                </a:cxnLst>
                <a:rect l="l" t="t" r="r" b="b"/>
                <a:pathLst>
                  <a:path w="914400" h="394844">
                    <a:moveTo>
                      <a:pt x="7923" y="960"/>
                    </a:moveTo>
                    <a:lnTo>
                      <a:pt x="905513" y="0"/>
                    </a:lnTo>
                    <a:lnTo>
                      <a:pt x="914400" y="394844"/>
                    </a:lnTo>
                    <a:lnTo>
                      <a:pt x="0" y="394844"/>
                    </a:lnTo>
                  </a:path>
                </a:pathLst>
              </a:custGeom>
              <a:noFill/>
              <a:ln w="12700">
                <a:solidFill>
                  <a:srgbClr val="202936"/>
                </a:solidFill>
                <a:headEnd type="arrow"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5" name="Straight Arrow Connector 74">
                <a:extLst>
                  <a:ext uri="{FF2B5EF4-FFF2-40B4-BE49-F238E27FC236}">
                    <a16:creationId xmlns:a16="http://schemas.microsoft.com/office/drawing/2014/main" id="{4AADE94C-54BE-8741-B86D-899534AC7056}"/>
                  </a:ext>
                </a:extLst>
              </p:cNvPr>
              <p:cNvCxnSpPr>
                <a:cxnSpLocks/>
              </p:cNvCxnSpPr>
              <p:nvPr/>
            </p:nvCxnSpPr>
            <p:spPr>
              <a:xfrm rot="5400000" flipH="1" flipV="1">
                <a:off x="9581754" y="4443204"/>
                <a:ext cx="0" cy="573693"/>
              </a:xfrm>
              <a:prstGeom prst="straightConnector1">
                <a:avLst/>
              </a:prstGeom>
              <a:ln w="12700">
                <a:solidFill>
                  <a:srgbClr val="202936"/>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grpSp>
        <p:cxnSp>
          <p:nvCxnSpPr>
            <p:cNvPr id="6" name="Straight Arrow Connector 5"/>
            <p:cNvCxnSpPr>
              <a:cxnSpLocks/>
              <a:stCxn id="63" idx="2"/>
            </p:cNvCxnSpPr>
            <p:nvPr/>
          </p:nvCxnSpPr>
          <p:spPr>
            <a:xfrm>
              <a:off x="4733712" y="4709831"/>
              <a:ext cx="4124707" cy="967596"/>
            </a:xfrm>
            <a:prstGeom prst="straightConnector1">
              <a:avLst/>
            </a:prstGeom>
            <a:ln>
              <a:solidFill>
                <a:schemeClr val="accent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64" idx="2"/>
            </p:cNvCxnSpPr>
            <p:nvPr/>
          </p:nvCxnSpPr>
          <p:spPr>
            <a:xfrm>
              <a:off x="6743073" y="4709831"/>
              <a:ext cx="2112612" cy="476635"/>
            </a:xfrm>
            <a:prstGeom prst="straightConnector1">
              <a:avLst/>
            </a:prstGeom>
            <a:ln>
              <a:solidFill>
                <a:schemeClr val="accent6"/>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657580" y="2207116"/>
              <a:ext cx="2172390" cy="338554"/>
            </a:xfrm>
            <a:prstGeom prst="rect">
              <a:avLst/>
            </a:prstGeom>
            <a:solidFill>
              <a:schemeClr val="bg1"/>
            </a:solid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Elastic Load Balancing</a:t>
              </a:r>
            </a:p>
          </p:txBody>
        </p:sp>
        <p:sp>
          <p:nvSpPr>
            <p:cNvPr id="12" name="TextBox 11"/>
            <p:cNvSpPr txBox="1"/>
            <p:nvPr/>
          </p:nvSpPr>
          <p:spPr>
            <a:xfrm>
              <a:off x="10693089" y="4463345"/>
              <a:ext cx="1560042" cy="1077218"/>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If average CPU </a:t>
              </a:r>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utilization is </a:t>
              </a:r>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&gt; 60% for 5 </a:t>
              </a:r>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minutes…</a:t>
              </a:r>
            </a:p>
          </p:txBody>
        </p:sp>
        <p:sp>
          <p:nvSpPr>
            <p:cNvPr id="44" name="TextBox 43"/>
            <p:cNvSpPr txBox="1"/>
            <p:nvPr/>
          </p:nvSpPr>
          <p:spPr>
            <a:xfrm>
              <a:off x="5344884" y="4305612"/>
              <a:ext cx="1064715" cy="584775"/>
            </a:xfrm>
            <a:prstGeom prst="rect">
              <a:avLst/>
            </a:prstGeom>
            <a:noFill/>
            <a:ln>
              <a:noFill/>
            </a:ln>
          </p:spPr>
          <p:txBody>
            <a:bodyPr wrap="none" rtlCol="0">
              <a:spAutoFit/>
            </a:bodyPr>
            <a:lstStyle/>
            <a:p>
              <a:pPr algn="ctr"/>
              <a:r>
                <a:rPr lang="en-US" sz="1600"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CPU </a:t>
              </a:r>
              <a:br>
                <a:rPr lang="en-US" sz="1600"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utilization</a:t>
              </a:r>
            </a:p>
          </p:txBody>
        </p:sp>
        <p:sp>
          <p:nvSpPr>
            <p:cNvPr id="46" name="TextBox 45"/>
            <p:cNvSpPr txBox="1"/>
            <p:nvPr/>
          </p:nvSpPr>
          <p:spPr>
            <a:xfrm>
              <a:off x="4160822" y="5731842"/>
              <a:ext cx="3501280" cy="338554"/>
            </a:xfrm>
            <a:prstGeom prst="rect">
              <a:avLst/>
            </a:prstGeom>
            <a:solidFill>
              <a:schemeClr val="bg1"/>
            </a:solid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Run Amazon EC2 Auto Scaling policy</a:t>
              </a:r>
            </a:p>
          </p:txBody>
        </p:sp>
        <p:sp>
          <p:nvSpPr>
            <p:cNvPr id="47" name="TextBox 46"/>
            <p:cNvSpPr txBox="1"/>
            <p:nvPr/>
          </p:nvSpPr>
          <p:spPr>
            <a:xfrm>
              <a:off x="1389957" y="5948999"/>
              <a:ext cx="2764600" cy="338554"/>
            </a:xfrm>
            <a:prstGeom prst="rect">
              <a:avLst/>
            </a:prstGeom>
            <a:solidFill>
              <a:schemeClr val="bg1"/>
            </a:solid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Amazon EC2 Auto Scaling</a:t>
              </a:r>
            </a:p>
          </p:txBody>
        </p:sp>
        <p:sp>
          <p:nvSpPr>
            <p:cNvPr id="48" name="TextBox 47"/>
            <p:cNvSpPr txBox="1"/>
            <p:nvPr/>
          </p:nvSpPr>
          <p:spPr>
            <a:xfrm>
              <a:off x="8169950" y="5967075"/>
              <a:ext cx="2291337" cy="338554"/>
            </a:xfrm>
            <a:prstGeom prst="rect">
              <a:avLst/>
            </a:prstGeom>
            <a:solidFill>
              <a:schemeClr val="bg1"/>
            </a:solid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Amazon CloudWatch</a:t>
              </a:r>
            </a:p>
          </p:txBody>
        </p:sp>
        <p:pic>
          <p:nvPicPr>
            <p:cNvPr id="38" name="Graphic 37">
              <a:extLst>
                <a:ext uri="{FF2B5EF4-FFF2-40B4-BE49-F238E27FC236}">
                  <a16:creationId xmlns:a16="http://schemas.microsoft.com/office/drawing/2014/main" id="{EF513CE3-6C57-45AB-B258-8836AF96A803}"/>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912914" y="4628108"/>
              <a:ext cx="640080" cy="640080"/>
            </a:xfrm>
            <a:prstGeom prst="rect">
              <a:avLst/>
            </a:prstGeom>
          </p:spPr>
        </p:pic>
      </p:grpSp>
      <p:sp>
        <p:nvSpPr>
          <p:cNvPr id="31" name="Footer Placeholder 4">
            <a:extLs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p:spPr>
        <p:txBody>
          <a:bodyPr/>
          <a:lstStyle/>
          <a:p>
            <a:r>
              <a:rPr lang="en-US" dirty="0"/>
              <a:t>© 2019, Amazon Web Services, Inc. or its Affiliates. All rights reserved.</a:t>
            </a:r>
          </a:p>
        </p:txBody>
      </p:sp>
      <p:sp>
        <p:nvSpPr>
          <p:cNvPr id="2" name="Slide Number Placeholder 1">
            <a:extLst>
              <a:ext uri="{C183D7F6-B498-43B3-948B-1728B52AA6E4}">
                <adec:decorative xmlns:adec="http://schemas.microsoft.com/office/drawing/2017/decorative" val="1"/>
              </a:ext>
            </a:extLst>
          </p:cNvPr>
          <p:cNvSpPr>
            <a:spLocks noGrp="1"/>
          </p:cNvSpPr>
          <p:nvPr>
            <p:ph type="sldNum" sz="quarter" idx="12"/>
          </p:nvPr>
        </p:nvSpPr>
        <p:spPr/>
        <p:txBody>
          <a:bodyPr/>
          <a:lstStyle/>
          <a:p>
            <a:fld id="{9FC43BFD-8FF7-A343-A8A6-E2338FCE8046}" type="slidenum">
              <a:rPr lang="en-US" smtClean="0"/>
              <a:pPr/>
              <a:t>28</a:t>
            </a:fld>
            <a:endParaRPr lang="en-US" dirty="0"/>
          </a:p>
        </p:txBody>
      </p:sp>
    </p:spTree>
    <p:custDataLst>
      <p:tags r:id="rId1"/>
    </p:custDataLst>
    <p:extLst>
      <p:ext uri="{BB962C8B-B14F-4D97-AF65-F5344CB8AC3E}">
        <p14:creationId xmlns:p14="http://schemas.microsoft.com/office/powerpoint/2010/main" val="117535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Autofit/>
          </a:bodyPr>
          <a:lstStyle/>
          <a:p>
            <a:r>
              <a:rPr lang="en-US" dirty="0"/>
              <a:t>AWS Auto Scaling</a:t>
            </a:r>
          </a:p>
        </p:txBody>
      </p:sp>
      <p:pic>
        <p:nvPicPr>
          <p:cNvPr id="10" name="Graphic 9">
            <a:extLst>
              <a:ext uri="{FF2B5EF4-FFF2-40B4-BE49-F238E27FC236}">
                <a16:creationId xmlns:a16="http://schemas.microsoft.com/office/drawing/2014/main" id="{2008014B-CD5A-4C96-88C7-FB44AD01DBB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63272" y="1787850"/>
            <a:ext cx="914400" cy="914400"/>
          </a:xfrm>
          <a:prstGeom prst="rect">
            <a:avLst/>
          </a:prstGeom>
        </p:spPr>
      </p:pic>
      <p:sp>
        <p:nvSpPr>
          <p:cNvPr id="12" name="TextBox 11">
            <a:extLst>
              <a:ext uri="{FF2B5EF4-FFF2-40B4-BE49-F238E27FC236}">
                <a16:creationId xmlns:a16="http://schemas.microsoft.com/office/drawing/2014/main" id="{E2F01E4C-68DA-4726-A36D-88595B79DB83}"/>
              </a:ext>
            </a:extLst>
          </p:cNvPr>
          <p:cNvSpPr txBox="1"/>
          <p:nvPr/>
        </p:nvSpPr>
        <p:spPr>
          <a:xfrm>
            <a:off x="419100" y="2766301"/>
            <a:ext cx="3002745" cy="523220"/>
          </a:xfrm>
          <a:prstGeom prst="rect">
            <a:avLst/>
          </a:prstGeom>
          <a:noFill/>
        </p:spPr>
        <p:txBody>
          <a:bodyPr wrap="non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AWS Auto Scaling</a:t>
            </a:r>
          </a:p>
        </p:txBody>
      </p:sp>
      <p:sp>
        <p:nvSpPr>
          <p:cNvPr id="11" name="Content Placeholder 10">
            <a:extLst>
              <a:ext uri="{FF2B5EF4-FFF2-40B4-BE49-F238E27FC236}">
                <a16:creationId xmlns:a16="http://schemas.microsoft.com/office/drawing/2014/main" id="{44A1BC5B-9F76-4E54-9ADC-FA0FCE3261C7}"/>
              </a:ext>
            </a:extLst>
          </p:cNvPr>
          <p:cNvSpPr>
            <a:spLocks noGrp="1"/>
          </p:cNvSpPr>
          <p:nvPr>
            <p:ph idx="13"/>
          </p:nvPr>
        </p:nvSpPr>
        <p:spPr>
          <a:xfrm>
            <a:off x="3939989" y="1524228"/>
            <a:ext cx="7811012" cy="4648788"/>
          </a:xfrm>
        </p:spPr>
        <p:txBody>
          <a:bodyPr/>
          <a:lstStyle/>
          <a:p>
            <a:r>
              <a:rPr lang="en-US" dirty="0"/>
              <a:t>Monitors your applications and automatically adjusts capacity to maintain steady, predictable performance at the lowest possible cost</a:t>
            </a:r>
          </a:p>
          <a:p>
            <a:r>
              <a:rPr lang="en-US" dirty="0"/>
              <a:t>Provides a simple, powerful user interface that enables you to build scaling plans for resources, including – </a:t>
            </a:r>
          </a:p>
          <a:p>
            <a:pPr lvl="1"/>
            <a:r>
              <a:rPr lang="en-US" dirty="0"/>
              <a:t>Amazon EC2 instances and Spot Fleets</a:t>
            </a:r>
          </a:p>
          <a:p>
            <a:pPr lvl="1"/>
            <a:r>
              <a:rPr lang="en-US" dirty="0"/>
              <a:t>Amazon Elastic Container Service (Amazon ECS) Tasks </a:t>
            </a:r>
          </a:p>
          <a:p>
            <a:pPr lvl="1"/>
            <a:r>
              <a:rPr lang="en-US" dirty="0"/>
              <a:t>Amazon DynamoDB tables and indexes</a:t>
            </a:r>
          </a:p>
          <a:p>
            <a:pPr lvl="1"/>
            <a:r>
              <a:rPr lang="en-US" dirty="0"/>
              <a:t>Amazon Aurora Replicas</a:t>
            </a:r>
          </a:p>
          <a:p>
            <a:pPr marL="0" indent="0">
              <a:buNone/>
            </a:pPr>
            <a:endParaRPr lang="en-US" dirty="0"/>
          </a:p>
        </p:txBody>
      </p:sp>
      <p:sp>
        <p:nvSpPr>
          <p:cNvPr id="2" name="Footer Placeholder 1">
            <a:extLst>
              <a:ext uri="{FF2B5EF4-FFF2-40B4-BE49-F238E27FC236}">
                <a16:creationId xmlns:a16="http://schemas.microsoft.com/office/drawing/2014/main" id="{299EC9B1-D05C-41D9-A2BC-E9618000A129}"/>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8BA287B6-F045-4E4C-91DE-993BB3A8D6F2}"/>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29</a:t>
            </a:fld>
            <a:endParaRPr lang="en-US" dirty="0"/>
          </a:p>
        </p:txBody>
      </p:sp>
    </p:spTree>
    <p:custDataLst>
      <p:tags r:id="rId1"/>
    </p:custDataLst>
    <p:extLst>
      <p:ext uri="{BB962C8B-B14F-4D97-AF65-F5344CB8AC3E}">
        <p14:creationId xmlns:p14="http://schemas.microsoft.com/office/powerpoint/2010/main" val="5081664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lstStyle/>
          <a:p>
            <a:r>
              <a:rPr lang="en-US" dirty="0">
                <a:latin typeface="+mj-lt"/>
              </a:rPr>
              <a:t>Section 3 key takeaways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597222" y="2835670"/>
            <a:ext cx="3931314" cy="3104201"/>
          </a:xfrm>
          <a:prstGeom prst="rect">
            <a:avLst/>
          </a:prstGeom>
        </p:spPr>
      </p:pic>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a:xfrm>
            <a:off x="5714474" y="915131"/>
            <a:ext cx="5767612" cy="5568796"/>
          </a:xfrm>
        </p:spPr>
        <p:txBody>
          <a:bodyPr/>
          <a:lstStyle/>
          <a:p>
            <a:r>
              <a:rPr lang="en-US" sz="2400" dirty="0">
                <a:latin typeface="+mj-lt"/>
              </a:rPr>
              <a:t>Scaling enables you to respond quickly to changes in resource needs.</a:t>
            </a:r>
          </a:p>
          <a:p>
            <a:r>
              <a:rPr lang="en-US" sz="2400" dirty="0">
                <a:latin typeface="+mj-lt"/>
              </a:rPr>
              <a:t>Amazon EC2 Auto Scaling maintains application availability by automatically adding or removing EC2 instances.</a:t>
            </a:r>
          </a:p>
          <a:p>
            <a:r>
              <a:rPr lang="en-US" sz="2400" dirty="0">
                <a:latin typeface="+mj-lt"/>
              </a:rPr>
              <a:t>An Auto Scaling group is a collection of EC2 instances.</a:t>
            </a:r>
          </a:p>
          <a:p>
            <a:r>
              <a:rPr lang="en-US" sz="2400" dirty="0">
                <a:latin typeface="+mj-lt"/>
              </a:rPr>
              <a:t>A launch configuration is an instance configuration template.</a:t>
            </a:r>
          </a:p>
          <a:p>
            <a:r>
              <a:rPr lang="en-US" sz="2400" dirty="0">
                <a:latin typeface="+mj-lt"/>
              </a:rPr>
              <a:t>Dynamic scaling uses Amazon EC2 Auto Scaling, CloudWatch, and Elastic Load Balancing.</a:t>
            </a:r>
          </a:p>
          <a:p>
            <a:r>
              <a:rPr lang="en-US" sz="2400" dirty="0">
                <a:latin typeface="+mj-lt"/>
              </a:rPr>
              <a:t>AWS Auto Scaling is a separate service from Amazon EC2 Auto Scaling.</a:t>
            </a:r>
          </a:p>
        </p:txBody>
      </p:sp>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30</a:t>
            </a:fld>
            <a:endParaRPr lang="en-US" dirty="0"/>
          </a:p>
        </p:txBody>
      </p:sp>
      <p:sp>
        <p:nvSpPr>
          <p:cNvPr id="2" name="Footer Placeholder 1">
            <a:extLst>
              <a:ext uri="{FF2B5EF4-FFF2-40B4-BE49-F238E27FC236}">
                <a16:creationId xmlns:a16="http://schemas.microsoft.com/office/drawing/2014/main" id="{46C0DCB9-C0D6-2842-8ED0-F06821F23D2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27011046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Lab 6: </a:t>
            </a:r>
            <a:br>
              <a:rPr lang="en-US" dirty="0">
                <a:latin typeface="+mj-lt"/>
              </a:rPr>
            </a:br>
            <a:r>
              <a:rPr lang="en-US" dirty="0">
                <a:latin typeface="+mj-lt"/>
              </a:rPr>
              <a:t>Scale and Load Balance Your Architecture</a:t>
            </a:r>
          </a:p>
        </p:txBody>
      </p:sp>
      <p:pic>
        <p:nvPicPr>
          <p:cNvPr id="11" name="Content Placeholder 3">
            <a:extLst>
              <a:ext uri="{FF2B5EF4-FFF2-40B4-BE49-F238E27FC236}">
                <a16:creationId xmlns:a16="http://schemas.microsoft.com/office/drawing/2014/main" id="{6423631E-AD82-9743-8C78-CFE5440F9411}"/>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715000" y="1593453"/>
            <a:ext cx="5767388" cy="3983831"/>
          </a:xfrm>
          <a:prstGeom prst="rect">
            <a:avLst/>
          </a:prstGeom>
        </p:spPr>
      </p:pic>
      <p:sp>
        <p:nvSpPr>
          <p:cNvPr id="10" name="Slide Number Placeholder 9">
            <a:extLst>
              <a:ext uri="{FF2B5EF4-FFF2-40B4-BE49-F238E27FC236}">
                <a16:creationId xmlns:a16="http://schemas.microsoft.com/office/drawing/2014/main" id="{C6DCB4B3-930A-EE42-959B-6BA4FAD5D53A}"/>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31</a:t>
            </a:fld>
            <a:endParaRPr lang="en-US" dirty="0"/>
          </a:p>
        </p:txBody>
      </p:sp>
      <p:sp>
        <p:nvSpPr>
          <p:cNvPr id="3" name="Footer Placeholder 2">
            <a:extLst>
              <a:ext uri="{FF2B5EF4-FFF2-40B4-BE49-F238E27FC236}">
                <a16:creationId xmlns:a16="http://schemas.microsoft.com/office/drawing/2014/main" id="{44F54844-3BED-0743-BC04-00E487D6D06A}"/>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1154587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6: Scenario</a:t>
            </a:r>
          </a:p>
        </p:txBody>
      </p:sp>
      <p:grpSp>
        <p:nvGrpSpPr>
          <p:cNvPr id="6" name="Group 5" descr="starting lab architecture diagram.">
            <a:extLst>
              <a:ext uri="{FF2B5EF4-FFF2-40B4-BE49-F238E27FC236}">
                <a16:creationId xmlns:a16="http://schemas.microsoft.com/office/drawing/2014/main" id="{262C9B1F-3E25-4677-B372-C1F3D12DEEB6}"/>
              </a:ext>
            </a:extLst>
          </p:cNvPr>
          <p:cNvGrpSpPr/>
          <p:nvPr/>
        </p:nvGrpSpPr>
        <p:grpSpPr>
          <a:xfrm>
            <a:off x="2164080" y="1262443"/>
            <a:ext cx="7863840" cy="5120640"/>
            <a:chOff x="2164080" y="1262443"/>
            <a:chExt cx="7863840" cy="5120640"/>
          </a:xfrm>
        </p:grpSpPr>
        <p:grpSp>
          <p:nvGrpSpPr>
            <p:cNvPr id="28" name="Group 27">
              <a:extLst>
                <a:ext uri="{FF2B5EF4-FFF2-40B4-BE49-F238E27FC236}">
                  <a16:creationId xmlns:a16="http://schemas.microsoft.com/office/drawing/2014/main" id="{E32F49DF-BD4C-42A9-BAC6-2635E894143F}"/>
                </a:ext>
              </a:extLst>
            </p:cNvPr>
            <p:cNvGrpSpPr/>
            <p:nvPr/>
          </p:nvGrpSpPr>
          <p:grpSpPr>
            <a:xfrm>
              <a:off x="2164080" y="1262443"/>
              <a:ext cx="7863840" cy="5120640"/>
              <a:chOff x="1784483" y="1150149"/>
              <a:chExt cx="7863840" cy="5120640"/>
            </a:xfrm>
          </p:grpSpPr>
          <p:sp>
            <p:nvSpPr>
              <p:cNvPr id="9" name="Rectangle 8">
                <a:extLst>
                  <a:ext uri="{FF2B5EF4-FFF2-40B4-BE49-F238E27FC236}">
                    <a16:creationId xmlns:a16="http://schemas.microsoft.com/office/drawing/2014/main" id="{514DEFDE-A49F-4562-AA8D-D8665519D573}"/>
                  </a:ext>
                </a:extLst>
              </p:cNvPr>
              <p:cNvSpPr/>
              <p:nvPr/>
            </p:nvSpPr>
            <p:spPr>
              <a:xfrm>
                <a:off x="2227164" y="2231939"/>
                <a:ext cx="7132320" cy="374904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1D8900"/>
                    </a:solidFill>
                    <a:effectLst/>
                    <a:uLnTx/>
                    <a:uFillTx/>
                    <a:latin typeface="Arial" panose="020B0604020202020204"/>
                    <a:ea typeface="+mn-ea"/>
                    <a:cs typeface="+mn-cs"/>
                  </a:rPr>
                  <a:t> VPC: 10.0.0.0/16</a:t>
                </a:r>
                <a:endParaRPr kumimoji="0" lang="en-US" sz="1200" b="0" i="0" u="none" strike="noStrike" kern="0" cap="none" spc="0" normalizeH="0" baseline="0" noProof="0" dirty="0">
                  <a:ln w="0"/>
                  <a:solidFill>
                    <a:srgbClr val="1D8900"/>
                  </a:solidFill>
                  <a:effectLst/>
                  <a:uLnTx/>
                  <a:uFillTx/>
                  <a:latin typeface="Arial" panose="020B0604020202020204"/>
                  <a:ea typeface="+mn-ea"/>
                  <a:cs typeface="+mn-cs"/>
                </a:endParaRPr>
              </a:p>
            </p:txBody>
          </p:sp>
          <p:pic>
            <p:nvPicPr>
              <p:cNvPr id="12" name="Graphic 11">
                <a:extLst>
                  <a:ext uri="{FF2B5EF4-FFF2-40B4-BE49-F238E27FC236}">
                    <a16:creationId xmlns:a16="http://schemas.microsoft.com/office/drawing/2014/main" id="{C4E8DF2C-EAD2-4D65-8B2E-C5E632B559B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4483" y="1150151"/>
                <a:ext cx="457200" cy="457200"/>
              </a:xfrm>
              <a:prstGeom prst="rect">
                <a:avLst/>
              </a:prstGeom>
            </p:spPr>
          </p:pic>
          <p:pic>
            <p:nvPicPr>
              <p:cNvPr id="13" name="Graphic 12">
                <a:extLst>
                  <a:ext uri="{FF2B5EF4-FFF2-40B4-BE49-F238E27FC236}">
                    <a16:creationId xmlns:a16="http://schemas.microsoft.com/office/drawing/2014/main" id="{B138E9FD-83A0-4BF0-8A1E-84E063D00E29}"/>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27164" y="2231939"/>
                <a:ext cx="457200" cy="457200"/>
              </a:xfrm>
              <a:prstGeom prst="rect">
                <a:avLst/>
              </a:prstGeom>
            </p:spPr>
          </p:pic>
          <p:sp>
            <p:nvSpPr>
              <p:cNvPr id="14" name="Rectangle 13">
                <a:extLst>
                  <a:ext uri="{FF2B5EF4-FFF2-40B4-BE49-F238E27FC236}">
                    <a16:creationId xmlns:a16="http://schemas.microsoft.com/office/drawing/2014/main" id="{E8443B38-0ED1-42D2-9942-354F8D6AF3FA}"/>
                  </a:ext>
                </a:extLst>
              </p:cNvPr>
              <p:cNvSpPr/>
              <p:nvPr/>
            </p:nvSpPr>
            <p:spPr>
              <a:xfrm>
                <a:off x="1784483" y="1150149"/>
                <a:ext cx="7863840" cy="5120640"/>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ysClr val="windowText" lastClr="000000"/>
                    </a:solidFill>
                    <a:effectLst/>
                    <a:uLnTx/>
                    <a:uFillTx/>
                    <a:latin typeface="Arial" panose="020B0604020202020204"/>
                    <a:ea typeface="+mn-ea"/>
                    <a:cs typeface="+mn-cs"/>
                  </a:rPr>
                  <a:t> AWS Cloud</a:t>
                </a:r>
              </a:p>
            </p:txBody>
          </p:sp>
          <p:sp>
            <p:nvSpPr>
              <p:cNvPr id="19" name="Rectangle 18">
                <a:extLst>
                  <a:ext uri="{FF2B5EF4-FFF2-40B4-BE49-F238E27FC236}">
                    <a16:creationId xmlns:a16="http://schemas.microsoft.com/office/drawing/2014/main" id="{FC3573FC-1472-4A9B-9DD5-40E2E28D9E1D}"/>
                  </a:ext>
                </a:extLst>
              </p:cNvPr>
              <p:cNvSpPr/>
              <p:nvPr/>
            </p:nvSpPr>
            <p:spPr>
              <a:xfrm>
                <a:off x="2010784" y="1678483"/>
                <a:ext cx="7498080" cy="4480560"/>
              </a:xfrm>
              <a:prstGeom prst="rect">
                <a:avLst/>
              </a:prstGeom>
              <a:noFill/>
              <a:ln w="12700" cap="flat" cmpd="sng" algn="ctr">
                <a:solidFill>
                  <a:srgbClr val="007CBC"/>
                </a:solidFill>
                <a:prstDash val="sys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Region</a:t>
                </a:r>
                <a:endParaRPr kumimoji="0" lang="en-US" sz="1200" b="0" i="0" u="none" strike="noStrike" kern="0" cap="none" spc="0" normalizeH="0" baseline="0" noProof="0" dirty="0">
                  <a:ln>
                    <a:noFill/>
                  </a:ln>
                  <a:solidFill>
                    <a:srgbClr val="007CBC"/>
                  </a:solidFill>
                  <a:effectLst/>
                  <a:uLnTx/>
                  <a:uFillTx/>
                  <a:latin typeface="Arial" panose="020B0604020202020204"/>
                  <a:ea typeface="+mn-ea"/>
                  <a:cs typeface="+mn-cs"/>
                </a:endParaRPr>
              </a:p>
            </p:txBody>
          </p:sp>
          <p:pic>
            <p:nvPicPr>
              <p:cNvPr id="20" name="Graphic 19">
                <a:extLst>
                  <a:ext uri="{FF2B5EF4-FFF2-40B4-BE49-F238E27FC236}">
                    <a16:creationId xmlns:a16="http://schemas.microsoft.com/office/drawing/2014/main" id="{3BDDC857-1710-42F4-B35E-AC1893194C0B}"/>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10784" y="1678486"/>
                <a:ext cx="457200" cy="457200"/>
              </a:xfrm>
              <a:prstGeom prst="rect">
                <a:avLst/>
              </a:prstGeom>
            </p:spPr>
          </p:pic>
          <p:grpSp>
            <p:nvGrpSpPr>
              <p:cNvPr id="8" name="Group 7">
                <a:extLst>
                  <a:ext uri="{FF2B5EF4-FFF2-40B4-BE49-F238E27FC236}">
                    <a16:creationId xmlns:a16="http://schemas.microsoft.com/office/drawing/2014/main" id="{15B8C154-74E0-4850-838F-53D74FA54D37}"/>
                  </a:ext>
                </a:extLst>
              </p:cNvPr>
              <p:cNvGrpSpPr/>
              <p:nvPr/>
            </p:nvGrpSpPr>
            <p:grpSpPr>
              <a:xfrm>
                <a:off x="3188635" y="1847979"/>
                <a:ext cx="2468880" cy="4251960"/>
                <a:chOff x="3188635" y="1847979"/>
                <a:chExt cx="2468880" cy="4251960"/>
              </a:xfrm>
            </p:grpSpPr>
            <p:sp>
              <p:nvSpPr>
                <p:cNvPr id="11" name="Rectangle 10">
                  <a:extLst>
                    <a:ext uri="{FF2B5EF4-FFF2-40B4-BE49-F238E27FC236}">
                      <a16:creationId xmlns:a16="http://schemas.microsoft.com/office/drawing/2014/main" id="{117223B7-202E-438B-958E-34D4738AF053}"/>
                    </a:ext>
                  </a:extLst>
                </p:cNvPr>
                <p:cNvSpPr/>
                <p:nvPr/>
              </p:nvSpPr>
              <p:spPr>
                <a:xfrm>
                  <a:off x="3188635" y="1847979"/>
                  <a:ext cx="2468880" cy="4251960"/>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Availability Zone A</a:t>
                  </a:r>
                </a:p>
              </p:txBody>
            </p:sp>
            <p:sp>
              <p:nvSpPr>
                <p:cNvPr id="15" name="Rectangle 14">
                  <a:extLst>
                    <a:ext uri="{FF2B5EF4-FFF2-40B4-BE49-F238E27FC236}">
                      <a16:creationId xmlns:a16="http://schemas.microsoft.com/office/drawing/2014/main" id="{3BEF9C94-7206-48E9-B18B-05A47BCD3172}"/>
                    </a:ext>
                  </a:extLst>
                </p:cNvPr>
                <p:cNvSpPr/>
                <p:nvPr/>
              </p:nvSpPr>
              <p:spPr>
                <a:xfrm>
                  <a:off x="3325795" y="2595629"/>
                  <a:ext cx="2194560" cy="146304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Public subnet 1: </a:t>
                  </a:r>
                  <a:b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10.0.0.0/24</a:t>
                  </a:r>
                </a:p>
              </p:txBody>
            </p:sp>
            <p:pic>
              <p:nvPicPr>
                <p:cNvPr id="16" name="Graphic 15">
                  <a:extLst>
                    <a:ext uri="{FF2B5EF4-FFF2-40B4-BE49-F238E27FC236}">
                      <a16:creationId xmlns:a16="http://schemas.microsoft.com/office/drawing/2014/main" id="{3D3DE31C-C021-4D2B-90B4-27768B20FEB0}"/>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325797" y="2593270"/>
                  <a:ext cx="457200" cy="457200"/>
                </a:xfrm>
                <a:prstGeom prst="rect">
                  <a:avLst/>
                </a:prstGeom>
              </p:spPr>
            </p:pic>
            <p:pic>
              <p:nvPicPr>
                <p:cNvPr id="26" name="Graphic 25">
                  <a:extLst>
                    <a:ext uri="{FF2B5EF4-FFF2-40B4-BE49-F238E27FC236}">
                      <a16:creationId xmlns:a16="http://schemas.microsoft.com/office/drawing/2014/main" id="{F27D04F1-0D5C-4E89-B0FD-DB4C45BE331A}"/>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288347" y="3177719"/>
                  <a:ext cx="469900" cy="469900"/>
                </a:xfrm>
                <a:prstGeom prst="rect">
                  <a:avLst/>
                </a:prstGeom>
              </p:spPr>
            </p:pic>
            <p:sp>
              <p:nvSpPr>
                <p:cNvPr id="29" name="TextBox 28">
                  <a:extLst>
                    <a:ext uri="{FF2B5EF4-FFF2-40B4-BE49-F238E27FC236}">
                      <a16:creationId xmlns:a16="http://schemas.microsoft.com/office/drawing/2014/main" id="{F7E3375B-6F83-4DCD-B640-D5AA5C921113}"/>
                    </a:ext>
                  </a:extLst>
                </p:cNvPr>
                <p:cNvSpPr txBox="1"/>
                <p:nvPr/>
              </p:nvSpPr>
              <p:spPr>
                <a:xfrm>
                  <a:off x="3833044" y="3619860"/>
                  <a:ext cx="1380506"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NAT gateway</a:t>
                  </a:r>
                </a:p>
              </p:txBody>
            </p:sp>
            <p:sp>
              <p:nvSpPr>
                <p:cNvPr id="10" name="Rectangle 9">
                  <a:extLst>
                    <a:ext uri="{FF2B5EF4-FFF2-40B4-BE49-F238E27FC236}">
                      <a16:creationId xmlns:a16="http://schemas.microsoft.com/office/drawing/2014/main" id="{FD0DB8FB-FD51-4A7B-9C09-C711097B0134}"/>
                    </a:ext>
                  </a:extLst>
                </p:cNvPr>
                <p:cNvSpPr/>
                <p:nvPr/>
              </p:nvSpPr>
              <p:spPr>
                <a:xfrm>
                  <a:off x="3325795" y="4141969"/>
                  <a:ext cx="219456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 1: </a:t>
                  </a:r>
                  <a:b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10.0.1.0/24</a:t>
                  </a:r>
                </a:p>
              </p:txBody>
            </p:sp>
            <p:pic>
              <p:nvPicPr>
                <p:cNvPr id="17" name="Graphic 16">
                  <a:extLst>
                    <a:ext uri="{FF2B5EF4-FFF2-40B4-BE49-F238E27FC236}">
                      <a16:creationId xmlns:a16="http://schemas.microsoft.com/office/drawing/2014/main" id="{02F95070-3DBB-47C3-A1EE-70A993FC61E8}"/>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325795" y="4141969"/>
                  <a:ext cx="457200" cy="457200"/>
                </a:xfrm>
                <a:prstGeom prst="rect">
                  <a:avLst/>
                </a:prstGeom>
              </p:spPr>
            </p:pic>
            <p:pic>
              <p:nvPicPr>
                <p:cNvPr id="30" name="Graphic 29">
                  <a:extLst>
                    <a:ext uri="{FF2B5EF4-FFF2-40B4-BE49-F238E27FC236}">
                      <a16:creationId xmlns:a16="http://schemas.microsoft.com/office/drawing/2014/main" id="{DAE272E9-195A-47ED-9923-F0666304947E}"/>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288345" y="5098809"/>
                  <a:ext cx="457200" cy="457200"/>
                </a:xfrm>
                <a:prstGeom prst="rect">
                  <a:avLst/>
                </a:prstGeom>
              </p:spPr>
            </p:pic>
            <p:sp>
              <p:nvSpPr>
                <p:cNvPr id="35" name="Rectangle 34">
                  <a:extLst>
                    <a:ext uri="{FF2B5EF4-FFF2-40B4-BE49-F238E27FC236}">
                      <a16:creationId xmlns:a16="http://schemas.microsoft.com/office/drawing/2014/main" id="{6D7F6CFE-DA21-41FE-8CA1-81CF442770BB}"/>
                    </a:ext>
                  </a:extLst>
                </p:cNvPr>
                <p:cNvSpPr/>
                <p:nvPr/>
              </p:nvSpPr>
              <p:spPr>
                <a:xfrm>
                  <a:off x="3640645" y="4715493"/>
                  <a:ext cx="1765300" cy="1097280"/>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t>Security group</a:t>
                  </a:r>
                </a:p>
              </p:txBody>
            </p:sp>
            <p:sp>
              <p:nvSpPr>
                <p:cNvPr id="38" name="TextBox 37">
                  <a:extLst>
                    <a:ext uri="{FF2B5EF4-FFF2-40B4-BE49-F238E27FC236}">
                      <a16:creationId xmlns:a16="http://schemas.microsoft.com/office/drawing/2014/main" id="{AE09ED27-2FDC-4A64-82A0-EBE4145A3E86}"/>
                    </a:ext>
                  </a:extLst>
                </p:cNvPr>
                <p:cNvSpPr txBox="1"/>
                <p:nvPr/>
              </p:nvSpPr>
              <p:spPr>
                <a:xfrm>
                  <a:off x="3715223" y="5535174"/>
                  <a:ext cx="1616148"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RDS DB Primary</a:t>
                  </a:r>
                </a:p>
              </p:txBody>
            </p:sp>
          </p:grpSp>
          <p:grpSp>
            <p:nvGrpSpPr>
              <p:cNvPr id="7" name="Group 6">
                <a:extLst>
                  <a:ext uri="{FF2B5EF4-FFF2-40B4-BE49-F238E27FC236}">
                    <a16:creationId xmlns:a16="http://schemas.microsoft.com/office/drawing/2014/main" id="{A917A818-C8DC-4EDD-A27A-A76F8D9C6C7A}"/>
                  </a:ext>
                </a:extLst>
              </p:cNvPr>
              <p:cNvGrpSpPr/>
              <p:nvPr/>
            </p:nvGrpSpPr>
            <p:grpSpPr>
              <a:xfrm>
                <a:off x="6792679" y="1847980"/>
                <a:ext cx="2468880" cy="4251960"/>
                <a:chOff x="7530614" y="1847980"/>
                <a:chExt cx="2468880" cy="4251960"/>
              </a:xfrm>
            </p:grpSpPr>
            <p:sp>
              <p:nvSpPr>
                <p:cNvPr id="18" name="Rectangle 17">
                  <a:extLst>
                    <a:ext uri="{FF2B5EF4-FFF2-40B4-BE49-F238E27FC236}">
                      <a16:creationId xmlns:a16="http://schemas.microsoft.com/office/drawing/2014/main" id="{13588076-E96A-4843-9413-3222EF7010DC}"/>
                    </a:ext>
                  </a:extLst>
                </p:cNvPr>
                <p:cNvSpPr/>
                <p:nvPr/>
              </p:nvSpPr>
              <p:spPr>
                <a:xfrm>
                  <a:off x="7530614" y="1847980"/>
                  <a:ext cx="2468880" cy="4251960"/>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Availability Zone B</a:t>
                  </a:r>
                </a:p>
              </p:txBody>
            </p:sp>
            <p:sp>
              <p:nvSpPr>
                <p:cNvPr id="22" name="Rectangle 21">
                  <a:extLst>
                    <a:ext uri="{FF2B5EF4-FFF2-40B4-BE49-F238E27FC236}">
                      <a16:creationId xmlns:a16="http://schemas.microsoft.com/office/drawing/2014/main" id="{2ED2A53E-E930-4AE3-8C6D-1E39C0D76364}"/>
                    </a:ext>
                  </a:extLst>
                </p:cNvPr>
                <p:cNvSpPr/>
                <p:nvPr/>
              </p:nvSpPr>
              <p:spPr>
                <a:xfrm>
                  <a:off x="7667774" y="4141969"/>
                  <a:ext cx="219456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 2: </a:t>
                  </a:r>
                  <a:b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10.0.3.0/24</a:t>
                  </a:r>
                </a:p>
              </p:txBody>
            </p:sp>
            <p:sp>
              <p:nvSpPr>
                <p:cNvPr id="23" name="Rectangle 22">
                  <a:extLst>
                    <a:ext uri="{FF2B5EF4-FFF2-40B4-BE49-F238E27FC236}">
                      <a16:creationId xmlns:a16="http://schemas.microsoft.com/office/drawing/2014/main" id="{C1F44CE2-5452-45D1-81E2-A03A04C57F51}"/>
                    </a:ext>
                  </a:extLst>
                </p:cNvPr>
                <p:cNvSpPr/>
                <p:nvPr/>
              </p:nvSpPr>
              <p:spPr>
                <a:xfrm>
                  <a:off x="7667774" y="2322915"/>
                  <a:ext cx="2194560" cy="173736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Public subnet 2: </a:t>
                  </a:r>
                  <a:b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10.0.2.0/24</a:t>
                  </a:r>
                </a:p>
              </p:txBody>
            </p:sp>
            <p:pic>
              <p:nvPicPr>
                <p:cNvPr id="24" name="Graphic 23">
                  <a:extLst>
                    <a:ext uri="{FF2B5EF4-FFF2-40B4-BE49-F238E27FC236}">
                      <a16:creationId xmlns:a16="http://schemas.microsoft.com/office/drawing/2014/main" id="{25D80D34-89D9-46CB-BFF6-E1CB86D601A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67774" y="2322915"/>
                  <a:ext cx="457200" cy="457200"/>
                </a:xfrm>
                <a:prstGeom prst="rect">
                  <a:avLst/>
                </a:prstGeom>
              </p:spPr>
            </p:pic>
            <p:pic>
              <p:nvPicPr>
                <p:cNvPr id="25" name="Graphic 24">
                  <a:extLst>
                    <a:ext uri="{FF2B5EF4-FFF2-40B4-BE49-F238E27FC236}">
                      <a16:creationId xmlns:a16="http://schemas.microsoft.com/office/drawing/2014/main" id="{990EF37B-A701-4967-8072-F4CB599E0223}"/>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667774" y="4141969"/>
                  <a:ext cx="457200" cy="457200"/>
                </a:xfrm>
                <a:prstGeom prst="rect">
                  <a:avLst/>
                </a:prstGeom>
              </p:spPr>
            </p:pic>
            <p:pic>
              <p:nvPicPr>
                <p:cNvPr id="31" name="Graphic 30">
                  <a:extLst>
                    <a:ext uri="{FF2B5EF4-FFF2-40B4-BE49-F238E27FC236}">
                      <a16:creationId xmlns:a16="http://schemas.microsoft.com/office/drawing/2014/main" id="{17B5885E-35A2-47DD-9BC3-8D5BCD676379}"/>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530104" y="5086109"/>
                  <a:ext cx="469900" cy="469900"/>
                </a:xfrm>
                <a:prstGeom prst="rect">
                  <a:avLst/>
                </a:prstGeom>
              </p:spPr>
            </p:pic>
            <p:sp>
              <p:nvSpPr>
                <p:cNvPr id="33" name="Rectangle 32">
                  <a:extLst>
                    <a:ext uri="{FF2B5EF4-FFF2-40B4-BE49-F238E27FC236}">
                      <a16:creationId xmlns:a16="http://schemas.microsoft.com/office/drawing/2014/main" id="{D3328EEE-6B67-455B-B351-A7923AAE6CD2}"/>
                    </a:ext>
                  </a:extLst>
                </p:cNvPr>
                <p:cNvSpPr/>
                <p:nvPr/>
              </p:nvSpPr>
              <p:spPr>
                <a:xfrm>
                  <a:off x="7882404" y="2899955"/>
                  <a:ext cx="1765300" cy="1097280"/>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t>Security group</a:t>
                  </a:r>
                </a:p>
              </p:txBody>
            </p:sp>
            <p:sp>
              <p:nvSpPr>
                <p:cNvPr id="34" name="Rectangle 33">
                  <a:extLst>
                    <a:ext uri="{FF2B5EF4-FFF2-40B4-BE49-F238E27FC236}">
                      <a16:creationId xmlns:a16="http://schemas.microsoft.com/office/drawing/2014/main" id="{13FAFCF8-E93F-4FAF-8BE6-D4BA36A14D02}"/>
                    </a:ext>
                  </a:extLst>
                </p:cNvPr>
                <p:cNvSpPr/>
                <p:nvPr/>
              </p:nvSpPr>
              <p:spPr>
                <a:xfrm>
                  <a:off x="7882404" y="4715493"/>
                  <a:ext cx="1765300" cy="1097280"/>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t>Security group</a:t>
                  </a:r>
                </a:p>
              </p:txBody>
            </p:sp>
            <p:pic>
              <p:nvPicPr>
                <p:cNvPr id="36" name="Graphic 35">
                  <a:extLst>
                    <a:ext uri="{FF2B5EF4-FFF2-40B4-BE49-F238E27FC236}">
                      <a16:creationId xmlns:a16="http://schemas.microsoft.com/office/drawing/2014/main" id="{54D39946-AFF9-47E5-99F0-4FFAA8B58860}"/>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530104" y="3304388"/>
                  <a:ext cx="469900" cy="469900"/>
                </a:xfrm>
                <a:prstGeom prst="rect">
                  <a:avLst/>
                </a:prstGeom>
              </p:spPr>
            </p:pic>
            <p:sp>
              <p:nvSpPr>
                <p:cNvPr id="37" name="TextBox 36">
                  <a:extLst>
                    <a:ext uri="{FF2B5EF4-FFF2-40B4-BE49-F238E27FC236}">
                      <a16:creationId xmlns:a16="http://schemas.microsoft.com/office/drawing/2014/main" id="{93DDC669-C173-4813-8443-4876CAD16EE2}"/>
                    </a:ext>
                  </a:extLst>
                </p:cNvPr>
                <p:cNvSpPr txBox="1"/>
                <p:nvPr/>
              </p:nvSpPr>
              <p:spPr>
                <a:xfrm>
                  <a:off x="8070793" y="3724997"/>
                  <a:ext cx="1388522"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Web Server 1</a:t>
                  </a:r>
                </a:p>
              </p:txBody>
            </p:sp>
            <p:sp>
              <p:nvSpPr>
                <p:cNvPr id="39" name="TextBox 38">
                  <a:extLst>
                    <a:ext uri="{FF2B5EF4-FFF2-40B4-BE49-F238E27FC236}">
                      <a16:creationId xmlns:a16="http://schemas.microsoft.com/office/drawing/2014/main" id="{E02DB993-A871-4052-8A14-B1396EDCA962}"/>
                    </a:ext>
                  </a:extLst>
                </p:cNvPr>
                <p:cNvSpPr txBox="1"/>
                <p:nvPr/>
              </p:nvSpPr>
              <p:spPr>
                <a:xfrm>
                  <a:off x="7832748" y="5535174"/>
                  <a:ext cx="186461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RDS DB Secondary</a:t>
                  </a:r>
                </a:p>
              </p:txBody>
            </p:sp>
          </p:grpSp>
          <p:grpSp>
            <p:nvGrpSpPr>
              <p:cNvPr id="27" name="Group 26">
                <a:extLst>
                  <a:ext uri="{FF2B5EF4-FFF2-40B4-BE49-F238E27FC236}">
                    <a16:creationId xmlns:a16="http://schemas.microsoft.com/office/drawing/2014/main" id="{A01D68BE-9E61-4CD9-BD2A-C9CD70505EE7}"/>
                  </a:ext>
                </a:extLst>
              </p:cNvPr>
              <p:cNvGrpSpPr/>
              <p:nvPr/>
            </p:nvGrpSpPr>
            <p:grpSpPr>
              <a:xfrm>
                <a:off x="5754455" y="1991532"/>
                <a:ext cx="941283" cy="936461"/>
                <a:chOff x="5762841" y="1991532"/>
                <a:chExt cx="941283" cy="936461"/>
              </a:xfrm>
            </p:grpSpPr>
            <p:pic>
              <p:nvPicPr>
                <p:cNvPr id="21" name="Graphic 20">
                  <a:extLst>
                    <a:ext uri="{FF2B5EF4-FFF2-40B4-BE49-F238E27FC236}">
                      <a16:creationId xmlns:a16="http://schemas.microsoft.com/office/drawing/2014/main" id="{E5A06A09-DE9C-45C3-BCC2-65DA74C6D025}"/>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011715" y="1991532"/>
                  <a:ext cx="469900" cy="469900"/>
                </a:xfrm>
                <a:prstGeom prst="rect">
                  <a:avLst/>
                </a:prstGeom>
              </p:spPr>
            </p:pic>
            <p:sp>
              <p:nvSpPr>
                <p:cNvPr id="43" name="TextBox 42">
                  <a:extLst>
                    <a:ext uri="{FF2B5EF4-FFF2-40B4-BE49-F238E27FC236}">
                      <a16:creationId xmlns:a16="http://schemas.microsoft.com/office/drawing/2014/main" id="{C40008C5-8D59-4517-9374-F45C9C471801}"/>
                    </a:ext>
                  </a:extLst>
                </p:cNvPr>
                <p:cNvSpPr txBox="1"/>
                <p:nvPr/>
              </p:nvSpPr>
              <p:spPr>
                <a:xfrm>
                  <a:off x="5762841" y="2343218"/>
                  <a:ext cx="941283"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Internet</a:t>
                  </a:r>
                  <a:b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gateway</a:t>
                  </a:r>
                </a:p>
              </p:txBody>
            </p:sp>
          </p:grpSp>
        </p:grpSp>
        <p:cxnSp>
          <p:nvCxnSpPr>
            <p:cNvPr id="40" name="Straight Connector 39">
              <a:extLst>
                <a:ext uri="{FF2B5EF4-FFF2-40B4-BE49-F238E27FC236}">
                  <a16:creationId xmlns:a16="http://schemas.microsoft.com/office/drawing/2014/main" id="{F2B27419-2940-4B87-94FA-1CA72D4AC4A2}"/>
                </a:ext>
              </a:extLst>
            </p:cNvPr>
            <p:cNvCxnSpPr>
              <a:endCxn id="36" idx="1"/>
            </p:cNvCxnSpPr>
            <p:nvPr/>
          </p:nvCxnSpPr>
          <p:spPr>
            <a:xfrm flipV="1">
              <a:off x="5137844" y="3651632"/>
              <a:ext cx="3033922" cy="1802684"/>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7569F22-DED7-403A-9564-46FAAF738844}"/>
                </a:ext>
              </a:extLst>
            </p:cNvPr>
            <p:cNvCxnSpPr>
              <a:endCxn id="31" idx="1"/>
            </p:cNvCxnSpPr>
            <p:nvPr/>
          </p:nvCxnSpPr>
          <p:spPr>
            <a:xfrm flipV="1">
              <a:off x="5137844" y="5433353"/>
              <a:ext cx="3033922" cy="20963"/>
            </a:xfrm>
            <a:prstGeom prst="line">
              <a:avLst/>
            </a:prstGeom>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3C05CFA2-43D8-4A9E-8CCA-A539837C7E23}"/>
              </a:ext>
              <a:ext uri="{C183D7F6-B498-43B3-948B-1728B52AA6E4}">
                <adec:decorative xmlns:adec="http://schemas.microsoft.com/office/drawing/2017/decorative" val="1"/>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5" name="Slide Number Placeholder 4">
            <a:extLst>
              <a:ext uri="{FF2B5EF4-FFF2-40B4-BE49-F238E27FC236}">
                <a16:creationId xmlns:a16="http://schemas.microsoft.com/office/drawing/2014/main" id="{94C3CB44-E8D0-4425-BF92-8A4A76E23146}"/>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4191688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Lab 6: Tasks</a:t>
            </a:r>
          </a:p>
        </p:txBody>
      </p:sp>
      <p:sp>
        <p:nvSpPr>
          <p:cNvPr id="7" name="Content Placeholder 6">
            <a:extLst>
              <a:ext uri="{FF2B5EF4-FFF2-40B4-BE49-F238E27FC236}">
                <a16:creationId xmlns:a16="http://schemas.microsoft.com/office/drawing/2014/main" id="{358653D5-E04B-5646-A879-B4A147607831}"/>
              </a:ext>
            </a:extLst>
          </p:cNvPr>
          <p:cNvSpPr>
            <a:spLocks noGrp="1"/>
          </p:cNvSpPr>
          <p:nvPr>
            <p:ph idx="1"/>
          </p:nvPr>
        </p:nvSpPr>
        <p:spPr/>
        <p:txBody>
          <a:bodyPr/>
          <a:lstStyle/>
          <a:p>
            <a:r>
              <a:rPr lang="en-US" dirty="0">
                <a:latin typeface="+mn-lt"/>
              </a:rPr>
              <a:t>Create an Amazon Machine Image (AMI) from a running instance.</a:t>
            </a:r>
          </a:p>
          <a:p>
            <a:r>
              <a:rPr lang="en-US" dirty="0">
                <a:latin typeface="+mn-lt"/>
              </a:rPr>
              <a:t>Create an Application Load Balancer.</a:t>
            </a:r>
          </a:p>
          <a:p>
            <a:r>
              <a:rPr lang="en-US" dirty="0">
                <a:latin typeface="+mn-lt"/>
              </a:rPr>
              <a:t>Create a launch configuration and an Auto Scaling group.</a:t>
            </a:r>
          </a:p>
          <a:p>
            <a:r>
              <a:rPr lang="en-US" dirty="0">
                <a:latin typeface="+mn-lt"/>
              </a:rPr>
              <a:t>Automatically scale new instances within a private subnet.</a:t>
            </a:r>
          </a:p>
          <a:p>
            <a:r>
              <a:rPr lang="en-US" dirty="0">
                <a:latin typeface="+mn-lt"/>
              </a:rPr>
              <a:t>Create Amazon CloudWatch alarms and monitor performance of your infrastructure.</a:t>
            </a:r>
          </a:p>
        </p:txBody>
      </p:sp>
      <p:sp>
        <p:nvSpPr>
          <p:cNvPr id="3" name="Footer Placeholder 2">
            <a:extLst>
              <a:ext uri="{FF2B5EF4-FFF2-40B4-BE49-F238E27FC236}">
                <a16:creationId xmlns:a16="http://schemas.microsoft.com/office/drawing/2014/main" id="{1548BFDC-1ADC-2D40-95C2-79A18198E99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FF2B5EF4-FFF2-40B4-BE49-F238E27FC236}">
                <a16:creationId xmlns:a16="http://schemas.microsoft.com/office/drawing/2014/main" id="{87F41221-0FFA-CE47-AB11-80D53C8EC541}"/>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33</a:t>
            </a:fld>
            <a:endParaRPr lang="en-US" dirty="0"/>
          </a:p>
        </p:txBody>
      </p:sp>
    </p:spTree>
    <p:custDataLst>
      <p:tags r:id="rId1"/>
    </p:custDataLst>
    <p:extLst>
      <p:ext uri="{BB962C8B-B14F-4D97-AF65-F5344CB8AC3E}">
        <p14:creationId xmlns:p14="http://schemas.microsoft.com/office/powerpoint/2010/main" val="864281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Lab 6: Final product </a:t>
            </a:r>
          </a:p>
        </p:txBody>
      </p:sp>
      <p:grpSp>
        <p:nvGrpSpPr>
          <p:cNvPr id="7" name="Group 6" descr="final lab architecture diagram.">
            <a:extLst>
              <a:ext uri="{FF2B5EF4-FFF2-40B4-BE49-F238E27FC236}">
                <a16:creationId xmlns:a16="http://schemas.microsoft.com/office/drawing/2014/main" id="{2A737A52-9E8E-439E-B174-35E686D4A085}"/>
              </a:ext>
            </a:extLst>
          </p:cNvPr>
          <p:cNvGrpSpPr/>
          <p:nvPr/>
        </p:nvGrpSpPr>
        <p:grpSpPr>
          <a:xfrm>
            <a:off x="1615440" y="1219200"/>
            <a:ext cx="8961120" cy="5202107"/>
            <a:chOff x="1126761" y="1219200"/>
            <a:chExt cx="8961120" cy="5202107"/>
          </a:xfrm>
        </p:grpSpPr>
        <p:sp>
          <p:nvSpPr>
            <p:cNvPr id="30" name="Rectangle 29">
              <a:extLst>
                <a:ext uri="{FF2B5EF4-FFF2-40B4-BE49-F238E27FC236}">
                  <a16:creationId xmlns:a16="http://schemas.microsoft.com/office/drawing/2014/main" id="{17D00107-BA35-4599-9384-6F6496ABF80E}"/>
                </a:ext>
              </a:extLst>
            </p:cNvPr>
            <p:cNvSpPr/>
            <p:nvPr/>
          </p:nvSpPr>
          <p:spPr>
            <a:xfrm>
              <a:off x="2227164" y="2036618"/>
              <a:ext cx="7680960" cy="420624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1D8900"/>
                  </a:solidFill>
                  <a:effectLst/>
                  <a:uLnTx/>
                  <a:uFillTx/>
                  <a:latin typeface="Arial" panose="020B0604020202020204"/>
                  <a:ea typeface="+mn-ea"/>
                  <a:cs typeface="+mn-cs"/>
                </a:rPr>
                <a:t> VPC: 10.0.0.0/16</a:t>
              </a:r>
              <a:endParaRPr kumimoji="0" lang="en-US" sz="1200" b="0" i="0" u="none" strike="noStrike" kern="0" cap="none" spc="0" normalizeH="0" baseline="0" noProof="0" dirty="0">
                <a:ln w="0"/>
                <a:solidFill>
                  <a:srgbClr val="1D8900"/>
                </a:solidFill>
                <a:effectLst/>
                <a:uLnTx/>
                <a:uFillTx/>
                <a:latin typeface="Arial" panose="020B0604020202020204"/>
                <a:ea typeface="+mn-ea"/>
                <a:cs typeface="+mn-cs"/>
              </a:endParaRPr>
            </a:p>
          </p:txBody>
        </p:sp>
        <p:pic>
          <p:nvPicPr>
            <p:cNvPr id="33" name="Graphic 32">
              <a:extLst>
                <a:ext uri="{FF2B5EF4-FFF2-40B4-BE49-F238E27FC236}">
                  <a16:creationId xmlns:a16="http://schemas.microsoft.com/office/drawing/2014/main" id="{7A6B09B2-C627-430C-B753-787D2B194C2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6761" y="1219200"/>
              <a:ext cx="457200" cy="457200"/>
            </a:xfrm>
            <a:prstGeom prst="rect">
              <a:avLst/>
            </a:prstGeom>
          </p:spPr>
        </p:pic>
        <p:pic>
          <p:nvPicPr>
            <p:cNvPr id="34" name="Graphic 33">
              <a:extLst>
                <a:ext uri="{FF2B5EF4-FFF2-40B4-BE49-F238E27FC236}">
                  <a16:creationId xmlns:a16="http://schemas.microsoft.com/office/drawing/2014/main" id="{30B0C4E3-B703-4DB2-8579-C2026B250C1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27164" y="2036618"/>
              <a:ext cx="457200" cy="457200"/>
            </a:xfrm>
            <a:prstGeom prst="rect">
              <a:avLst/>
            </a:prstGeom>
          </p:spPr>
        </p:pic>
        <p:sp>
          <p:nvSpPr>
            <p:cNvPr id="35" name="Rectangle 34">
              <a:extLst>
                <a:ext uri="{FF2B5EF4-FFF2-40B4-BE49-F238E27FC236}">
                  <a16:creationId xmlns:a16="http://schemas.microsoft.com/office/drawing/2014/main" id="{432EFBFF-C4AC-4A55-8610-68F90AC8C8BF}"/>
                </a:ext>
              </a:extLst>
            </p:cNvPr>
            <p:cNvSpPr/>
            <p:nvPr/>
          </p:nvSpPr>
          <p:spPr>
            <a:xfrm>
              <a:off x="1126761" y="1219200"/>
              <a:ext cx="8961120" cy="5202107"/>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ysClr val="windowText" lastClr="000000"/>
                  </a:solidFill>
                  <a:effectLst/>
                  <a:uLnTx/>
                  <a:uFillTx/>
                  <a:latin typeface="Arial" panose="020B0604020202020204"/>
                  <a:ea typeface="+mn-ea"/>
                  <a:cs typeface="+mn-cs"/>
                </a:rPr>
                <a:t> AWS Cloud</a:t>
              </a:r>
            </a:p>
          </p:txBody>
        </p:sp>
        <p:pic>
          <p:nvPicPr>
            <p:cNvPr id="37" name="Graphic 36">
              <a:extLst>
                <a:ext uri="{FF2B5EF4-FFF2-40B4-BE49-F238E27FC236}">
                  <a16:creationId xmlns:a16="http://schemas.microsoft.com/office/drawing/2014/main" id="{F79F6BFC-8872-428F-8525-76C22B06B00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292935" y="2367961"/>
              <a:ext cx="457200" cy="457200"/>
            </a:xfrm>
            <a:prstGeom prst="rect">
              <a:avLst/>
            </a:prstGeom>
          </p:spPr>
        </p:pic>
        <p:pic>
          <p:nvPicPr>
            <p:cNvPr id="38" name="Graphic 37">
              <a:extLst>
                <a:ext uri="{FF2B5EF4-FFF2-40B4-BE49-F238E27FC236}">
                  <a16:creationId xmlns:a16="http://schemas.microsoft.com/office/drawing/2014/main" id="{0E6DA6C3-EBDA-44C1-9EAC-9E0904314947}"/>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92935" y="3721795"/>
              <a:ext cx="457200" cy="457200"/>
            </a:xfrm>
            <a:prstGeom prst="rect">
              <a:avLst/>
            </a:prstGeom>
          </p:spPr>
        </p:pic>
        <p:sp>
          <p:nvSpPr>
            <p:cNvPr id="40" name="Rectangle 39">
              <a:extLst>
                <a:ext uri="{FF2B5EF4-FFF2-40B4-BE49-F238E27FC236}">
                  <a16:creationId xmlns:a16="http://schemas.microsoft.com/office/drawing/2014/main" id="{7A9FC195-4667-4D87-AE26-54C34FCCC971}"/>
                </a:ext>
              </a:extLst>
            </p:cNvPr>
            <p:cNvSpPr/>
            <p:nvPr/>
          </p:nvSpPr>
          <p:spPr>
            <a:xfrm>
              <a:off x="1673902" y="1579418"/>
              <a:ext cx="8321040" cy="4769661"/>
            </a:xfrm>
            <a:prstGeom prst="rect">
              <a:avLst/>
            </a:prstGeom>
            <a:noFill/>
            <a:ln w="12700" cap="flat" cmpd="sng" algn="ctr">
              <a:solidFill>
                <a:srgbClr val="007CBC"/>
              </a:solidFill>
              <a:prstDash val="sys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Region</a:t>
              </a:r>
              <a:endParaRPr kumimoji="0" lang="en-US" sz="1200" b="0" i="0" u="none" strike="noStrike" kern="0" cap="none" spc="0" normalizeH="0" baseline="0" noProof="0" dirty="0">
                <a:ln>
                  <a:noFill/>
                </a:ln>
                <a:solidFill>
                  <a:srgbClr val="007CBC"/>
                </a:solidFill>
                <a:effectLst/>
                <a:uLnTx/>
                <a:uFillTx/>
                <a:latin typeface="Arial" panose="020B0604020202020204"/>
                <a:ea typeface="+mn-ea"/>
                <a:cs typeface="+mn-cs"/>
              </a:endParaRPr>
            </a:p>
          </p:txBody>
        </p:sp>
        <p:pic>
          <p:nvPicPr>
            <p:cNvPr id="41" name="Graphic 40">
              <a:extLst>
                <a:ext uri="{FF2B5EF4-FFF2-40B4-BE49-F238E27FC236}">
                  <a16:creationId xmlns:a16="http://schemas.microsoft.com/office/drawing/2014/main" id="{F3D81113-5EA2-4D00-9387-C80E404ACE31}"/>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673902" y="1579418"/>
              <a:ext cx="457200" cy="457200"/>
            </a:xfrm>
            <a:prstGeom prst="rect">
              <a:avLst/>
            </a:prstGeom>
          </p:spPr>
        </p:pic>
        <p:sp>
          <p:nvSpPr>
            <p:cNvPr id="75" name="Rectangle 74">
              <a:extLst>
                <a:ext uri="{FF2B5EF4-FFF2-40B4-BE49-F238E27FC236}">
                  <a16:creationId xmlns:a16="http://schemas.microsoft.com/office/drawing/2014/main" id="{BAF5F3A9-39C6-4FB3-B778-38DD17210FBD}"/>
                </a:ext>
              </a:extLst>
            </p:cNvPr>
            <p:cNvSpPr/>
            <p:nvPr/>
          </p:nvSpPr>
          <p:spPr>
            <a:xfrm>
              <a:off x="3467835" y="4268338"/>
              <a:ext cx="6217920" cy="997204"/>
            </a:xfrm>
            <a:prstGeom prst="rect">
              <a:avLst/>
            </a:prstGeom>
            <a:noFill/>
            <a:ln w="12700" cap="flat" cmpd="sng" algn="ctr">
              <a:solidFill>
                <a:srgbClr val="D86613"/>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D86613"/>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D86613"/>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613"/>
                  </a:solidFill>
                  <a:effectLst/>
                  <a:uLnTx/>
                  <a:uFillTx/>
                  <a:latin typeface="Arial" panose="020B0604020202020204"/>
                  <a:ea typeface="+mn-ea"/>
                  <a:cs typeface="+mn-cs"/>
                </a:rPr>
                <a:t>Auto Scaling </a:t>
              </a:r>
              <a:br>
                <a:rPr kumimoji="0" lang="en-US" sz="1600" b="0" i="0" u="none" strike="noStrike" kern="0" cap="none" spc="0" normalizeH="0" baseline="0" noProof="0" dirty="0">
                  <a:ln>
                    <a:noFill/>
                  </a:ln>
                  <a:solidFill>
                    <a:srgbClr val="D86613"/>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D86613"/>
                  </a:solidFill>
                  <a:effectLst/>
                  <a:uLnTx/>
                  <a:uFillTx/>
                  <a:latin typeface="Arial" panose="020B0604020202020204"/>
                  <a:ea typeface="+mn-ea"/>
                  <a:cs typeface="+mn-cs"/>
                </a:rPr>
                <a:t>group</a:t>
              </a:r>
            </a:p>
          </p:txBody>
        </p:sp>
        <p:grpSp>
          <p:nvGrpSpPr>
            <p:cNvPr id="6" name="Group 5">
              <a:extLst>
                <a:ext uri="{FF2B5EF4-FFF2-40B4-BE49-F238E27FC236}">
                  <a16:creationId xmlns:a16="http://schemas.microsoft.com/office/drawing/2014/main" id="{B0413FA8-C49A-4336-A2A1-C049E610514E}"/>
                </a:ext>
              </a:extLst>
            </p:cNvPr>
            <p:cNvGrpSpPr/>
            <p:nvPr/>
          </p:nvGrpSpPr>
          <p:grpSpPr>
            <a:xfrm>
              <a:off x="5812729" y="3093086"/>
              <a:ext cx="1449436" cy="1010314"/>
              <a:chOff x="6029339" y="2804330"/>
              <a:chExt cx="1449436" cy="1010314"/>
            </a:xfrm>
          </p:grpSpPr>
          <p:sp>
            <p:nvSpPr>
              <p:cNvPr id="27" name="TextBox 26">
                <a:extLst>
                  <a:ext uri="{FF2B5EF4-FFF2-40B4-BE49-F238E27FC236}">
                    <a16:creationId xmlns:a16="http://schemas.microsoft.com/office/drawing/2014/main" id="{A74380EF-D905-4CA9-A9AB-7D2F78E8B035}"/>
                  </a:ext>
                </a:extLst>
              </p:cNvPr>
              <p:cNvSpPr txBox="1"/>
              <p:nvPr/>
            </p:nvSpPr>
            <p:spPr>
              <a:xfrm>
                <a:off x="6029339" y="3229869"/>
                <a:ext cx="1449436"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Application </a:t>
                </a:r>
                <a:b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Load Balancer</a:t>
                </a:r>
              </a:p>
            </p:txBody>
          </p:sp>
          <p:pic>
            <p:nvPicPr>
              <p:cNvPr id="28" name="Graphic 27">
                <a:extLst>
                  <a:ext uri="{FF2B5EF4-FFF2-40B4-BE49-F238E27FC236}">
                    <a16:creationId xmlns:a16="http://schemas.microsoft.com/office/drawing/2014/main" id="{FA374C61-45EF-46A9-A6AD-B4F3038532D0}"/>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519107" y="2804330"/>
                <a:ext cx="469900" cy="469900"/>
              </a:xfrm>
              <a:prstGeom prst="rect">
                <a:avLst/>
              </a:prstGeom>
            </p:spPr>
          </p:pic>
        </p:grpSp>
        <p:grpSp>
          <p:nvGrpSpPr>
            <p:cNvPr id="5" name="Group 4">
              <a:extLst>
                <a:ext uri="{FF2B5EF4-FFF2-40B4-BE49-F238E27FC236}">
                  <a16:creationId xmlns:a16="http://schemas.microsoft.com/office/drawing/2014/main" id="{FB7E3780-178A-4436-ACBA-4D595180BEBD}"/>
                </a:ext>
              </a:extLst>
            </p:cNvPr>
            <p:cNvGrpSpPr/>
            <p:nvPr/>
          </p:nvGrpSpPr>
          <p:grpSpPr>
            <a:xfrm>
              <a:off x="6066806" y="1788826"/>
              <a:ext cx="941283" cy="936461"/>
              <a:chOff x="6283416" y="1788826"/>
              <a:chExt cx="941283" cy="936461"/>
            </a:xfrm>
          </p:grpSpPr>
          <p:pic>
            <p:nvPicPr>
              <p:cNvPr id="42" name="Graphic 41">
                <a:extLst>
                  <a:ext uri="{FF2B5EF4-FFF2-40B4-BE49-F238E27FC236}">
                    <a16:creationId xmlns:a16="http://schemas.microsoft.com/office/drawing/2014/main" id="{8E78E199-961B-4E50-A92D-A0989F171153}"/>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519107" y="1788826"/>
                <a:ext cx="469900" cy="469900"/>
              </a:xfrm>
              <a:prstGeom prst="rect">
                <a:avLst/>
              </a:prstGeom>
            </p:spPr>
          </p:pic>
          <p:sp>
            <p:nvSpPr>
              <p:cNvPr id="67" name="TextBox 66">
                <a:extLst>
                  <a:ext uri="{FF2B5EF4-FFF2-40B4-BE49-F238E27FC236}">
                    <a16:creationId xmlns:a16="http://schemas.microsoft.com/office/drawing/2014/main" id="{8239E922-98B5-4060-AB64-F3927F511EE9}"/>
                  </a:ext>
                </a:extLst>
              </p:cNvPr>
              <p:cNvSpPr txBox="1"/>
              <p:nvPr/>
            </p:nvSpPr>
            <p:spPr>
              <a:xfrm>
                <a:off x="6283416" y="2140512"/>
                <a:ext cx="941283"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Internet</a:t>
                </a:r>
                <a:b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gateway</a:t>
                </a:r>
              </a:p>
            </p:txBody>
          </p:sp>
        </p:grpSp>
        <p:pic>
          <p:nvPicPr>
            <p:cNvPr id="76" name="Graphic 75">
              <a:extLst>
                <a:ext uri="{FF2B5EF4-FFF2-40B4-BE49-F238E27FC236}">
                  <a16:creationId xmlns:a16="http://schemas.microsoft.com/office/drawing/2014/main" id="{580F21F7-12B9-4B4B-8D03-71D023996B3B}"/>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411695" y="4268338"/>
              <a:ext cx="330200" cy="330200"/>
            </a:xfrm>
            <a:prstGeom prst="rect">
              <a:avLst/>
            </a:prstGeom>
          </p:spPr>
        </p:pic>
        <p:sp>
          <p:nvSpPr>
            <p:cNvPr id="39" name="Rectangle 38">
              <a:extLst>
                <a:ext uri="{FF2B5EF4-FFF2-40B4-BE49-F238E27FC236}">
                  <a16:creationId xmlns:a16="http://schemas.microsoft.com/office/drawing/2014/main" id="{FE96FFBE-918E-4267-B7B4-B316F45E27C7}"/>
                </a:ext>
              </a:extLst>
            </p:cNvPr>
            <p:cNvSpPr/>
            <p:nvPr/>
          </p:nvSpPr>
          <p:spPr>
            <a:xfrm>
              <a:off x="7417379" y="1676400"/>
              <a:ext cx="2560320" cy="4608762"/>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Availability Zone B</a:t>
              </a:r>
            </a:p>
          </p:txBody>
        </p:sp>
        <p:grpSp>
          <p:nvGrpSpPr>
            <p:cNvPr id="54" name="Group 53">
              <a:extLst>
                <a:ext uri="{FF2B5EF4-FFF2-40B4-BE49-F238E27FC236}">
                  <a16:creationId xmlns:a16="http://schemas.microsoft.com/office/drawing/2014/main" id="{5F46C84B-5806-4909-9C8B-59D6FB568BF9}"/>
                </a:ext>
              </a:extLst>
            </p:cNvPr>
            <p:cNvGrpSpPr/>
            <p:nvPr/>
          </p:nvGrpSpPr>
          <p:grpSpPr>
            <a:xfrm>
              <a:off x="7556945" y="2370320"/>
              <a:ext cx="2286000" cy="1280160"/>
              <a:chOff x="7268189" y="2370320"/>
              <a:chExt cx="2286000" cy="1280160"/>
            </a:xfrm>
          </p:grpSpPr>
          <p:sp>
            <p:nvSpPr>
              <p:cNvPr id="44" name="Rectangle 43">
                <a:extLst>
                  <a:ext uri="{FF2B5EF4-FFF2-40B4-BE49-F238E27FC236}">
                    <a16:creationId xmlns:a16="http://schemas.microsoft.com/office/drawing/2014/main" id="{8549B3FA-6EFC-4DAC-8CE5-45AA8DAC246E}"/>
                  </a:ext>
                </a:extLst>
              </p:cNvPr>
              <p:cNvSpPr/>
              <p:nvPr/>
            </p:nvSpPr>
            <p:spPr>
              <a:xfrm>
                <a:off x="7268189" y="2370320"/>
                <a:ext cx="2286000" cy="128016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Public subnet 2: </a:t>
                </a:r>
                <a:b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10.0.2.0/24</a:t>
                </a:r>
              </a:p>
            </p:txBody>
          </p:sp>
          <p:pic>
            <p:nvPicPr>
              <p:cNvPr id="45" name="Graphic 44">
                <a:extLst>
                  <a:ext uri="{FF2B5EF4-FFF2-40B4-BE49-F238E27FC236}">
                    <a16:creationId xmlns:a16="http://schemas.microsoft.com/office/drawing/2014/main" id="{477BC373-2382-4DEB-B9C7-62550D9E1F2A}"/>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68189" y="2370320"/>
                <a:ext cx="457200" cy="457200"/>
              </a:xfrm>
              <a:prstGeom prst="rect">
                <a:avLst/>
              </a:prstGeom>
            </p:spPr>
          </p:pic>
        </p:grpSp>
        <p:sp>
          <p:nvSpPr>
            <p:cNvPr id="32" name="Rectangle 31">
              <a:extLst>
                <a:ext uri="{FF2B5EF4-FFF2-40B4-BE49-F238E27FC236}">
                  <a16:creationId xmlns:a16="http://schemas.microsoft.com/office/drawing/2014/main" id="{8870F0CD-0448-4E22-8A32-4D816E4ABB58}"/>
                </a:ext>
              </a:extLst>
            </p:cNvPr>
            <p:cNvSpPr/>
            <p:nvPr/>
          </p:nvSpPr>
          <p:spPr>
            <a:xfrm>
              <a:off x="3188636" y="1676400"/>
              <a:ext cx="2468880" cy="4608762"/>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Availability Zone A</a:t>
              </a:r>
            </a:p>
          </p:txBody>
        </p:sp>
        <p:sp>
          <p:nvSpPr>
            <p:cNvPr id="36" name="Rectangle 35">
              <a:extLst>
                <a:ext uri="{FF2B5EF4-FFF2-40B4-BE49-F238E27FC236}">
                  <a16:creationId xmlns:a16="http://schemas.microsoft.com/office/drawing/2014/main" id="{51D2BE59-39C3-4DA7-B763-A06FC19C48DF}"/>
                </a:ext>
              </a:extLst>
            </p:cNvPr>
            <p:cNvSpPr/>
            <p:nvPr/>
          </p:nvSpPr>
          <p:spPr>
            <a:xfrm>
              <a:off x="3280075" y="2370320"/>
              <a:ext cx="2286000" cy="128016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Public subnet 1: </a:t>
              </a:r>
              <a:b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10.0.0.0/24</a:t>
              </a:r>
            </a:p>
          </p:txBody>
        </p:sp>
        <p:grpSp>
          <p:nvGrpSpPr>
            <p:cNvPr id="10" name="Group 9">
              <a:extLst>
                <a:ext uri="{FF2B5EF4-FFF2-40B4-BE49-F238E27FC236}">
                  <a16:creationId xmlns:a16="http://schemas.microsoft.com/office/drawing/2014/main" id="{6F09F4D6-D2B6-4D67-B6E0-1A78CFBD14EA}"/>
                </a:ext>
              </a:extLst>
            </p:cNvPr>
            <p:cNvGrpSpPr/>
            <p:nvPr/>
          </p:nvGrpSpPr>
          <p:grpSpPr>
            <a:xfrm>
              <a:off x="3732822" y="2920326"/>
              <a:ext cx="1380506" cy="748611"/>
              <a:chOff x="3745680" y="2920326"/>
              <a:chExt cx="1380506" cy="748611"/>
            </a:xfrm>
          </p:grpSpPr>
          <p:pic>
            <p:nvPicPr>
              <p:cNvPr id="47" name="Graphic 46">
                <a:extLst>
                  <a:ext uri="{FF2B5EF4-FFF2-40B4-BE49-F238E27FC236}">
                    <a16:creationId xmlns:a16="http://schemas.microsoft.com/office/drawing/2014/main" id="{D8F1FEAD-5A9A-4A25-93A9-6D6EA71BEBC3}"/>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200983" y="2920326"/>
                <a:ext cx="469900" cy="469900"/>
              </a:xfrm>
              <a:prstGeom prst="rect">
                <a:avLst/>
              </a:prstGeom>
            </p:spPr>
          </p:pic>
          <p:sp>
            <p:nvSpPr>
              <p:cNvPr id="48" name="TextBox 47">
                <a:extLst>
                  <a:ext uri="{FF2B5EF4-FFF2-40B4-BE49-F238E27FC236}">
                    <a16:creationId xmlns:a16="http://schemas.microsoft.com/office/drawing/2014/main" id="{E0FD4A60-0DBE-4B71-8D2E-D300EF8008A3}"/>
                  </a:ext>
                </a:extLst>
              </p:cNvPr>
              <p:cNvSpPr txBox="1"/>
              <p:nvPr/>
            </p:nvSpPr>
            <p:spPr>
              <a:xfrm>
                <a:off x="3745680" y="3330383"/>
                <a:ext cx="1380506"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NAT gateway</a:t>
                </a:r>
              </a:p>
            </p:txBody>
          </p:sp>
        </p:grpSp>
        <p:sp>
          <p:nvSpPr>
            <p:cNvPr id="31" name="Rectangle 30">
              <a:extLst>
                <a:ext uri="{FF2B5EF4-FFF2-40B4-BE49-F238E27FC236}">
                  <a16:creationId xmlns:a16="http://schemas.microsoft.com/office/drawing/2014/main" id="{3B9AC9FE-9D23-4954-B802-ED697E8C356F}"/>
                </a:ext>
              </a:extLst>
            </p:cNvPr>
            <p:cNvSpPr/>
            <p:nvPr/>
          </p:nvSpPr>
          <p:spPr>
            <a:xfrm>
              <a:off x="3280077" y="3721795"/>
              <a:ext cx="2286000" cy="246888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 1: </a:t>
              </a:r>
              <a:b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10.0.1.0/24</a:t>
              </a:r>
            </a:p>
          </p:txBody>
        </p:sp>
        <p:pic>
          <p:nvPicPr>
            <p:cNvPr id="50" name="Graphic 49">
              <a:extLst>
                <a:ext uri="{FF2B5EF4-FFF2-40B4-BE49-F238E27FC236}">
                  <a16:creationId xmlns:a16="http://schemas.microsoft.com/office/drawing/2014/main" id="{693E2257-1F4F-4E60-940C-098CFC0E4290}"/>
                </a:ext>
                <a:ext uri="{C183D7F6-B498-43B3-948B-1728B52AA6E4}">
                  <adec:decorative xmlns:adec="http://schemas.microsoft.com/office/drawing/2017/decorative" val="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476883" y="5671965"/>
              <a:ext cx="469900" cy="469900"/>
            </a:xfrm>
            <a:prstGeom prst="rect">
              <a:avLst/>
            </a:prstGeom>
          </p:spPr>
        </p:pic>
        <p:sp>
          <p:nvSpPr>
            <p:cNvPr id="55" name="Rectangle 54">
              <a:extLst>
                <a:ext uri="{FF2B5EF4-FFF2-40B4-BE49-F238E27FC236}">
                  <a16:creationId xmlns:a16="http://schemas.microsoft.com/office/drawing/2014/main" id="{37776D21-0D72-4150-B5F2-29F96A03AD88}"/>
                </a:ext>
              </a:extLst>
            </p:cNvPr>
            <p:cNvSpPr/>
            <p:nvPr/>
          </p:nvSpPr>
          <p:spPr>
            <a:xfrm>
              <a:off x="3540427" y="5326491"/>
              <a:ext cx="1765300" cy="822960"/>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t>Security group</a:t>
              </a:r>
            </a:p>
          </p:txBody>
        </p:sp>
        <p:sp>
          <p:nvSpPr>
            <p:cNvPr id="83" name="Rectangle 82">
              <a:extLst>
                <a:ext uri="{FF2B5EF4-FFF2-40B4-BE49-F238E27FC236}">
                  <a16:creationId xmlns:a16="http://schemas.microsoft.com/office/drawing/2014/main" id="{00B44FF7-1221-42B3-9D44-DCCD44211097}"/>
                </a:ext>
              </a:extLst>
            </p:cNvPr>
            <p:cNvSpPr/>
            <p:nvPr/>
          </p:nvSpPr>
          <p:spPr>
            <a:xfrm>
              <a:off x="3540427" y="4373651"/>
              <a:ext cx="1765300" cy="822960"/>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t>Security group</a:t>
              </a:r>
            </a:p>
          </p:txBody>
        </p:sp>
        <p:pic>
          <p:nvPicPr>
            <p:cNvPr id="84" name="Graphic 83">
              <a:extLst>
                <a:ext uri="{FF2B5EF4-FFF2-40B4-BE49-F238E27FC236}">
                  <a16:creationId xmlns:a16="http://schemas.microsoft.com/office/drawing/2014/main" id="{58CB9445-CF11-4345-A4C0-662F1CE7A3AB}"/>
                </a:ext>
                <a:ext uri="{C183D7F6-B498-43B3-948B-1728B52AA6E4}">
                  <adec:decorative xmlns:adec="http://schemas.microsoft.com/office/drawing/2017/decorative" val="1"/>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4476883" y="4708809"/>
              <a:ext cx="469900" cy="469900"/>
            </a:xfrm>
            <a:prstGeom prst="rect">
              <a:avLst/>
            </a:prstGeom>
          </p:spPr>
        </p:pic>
        <p:sp>
          <p:nvSpPr>
            <p:cNvPr id="85" name="TextBox 84">
              <a:extLst>
                <a:ext uri="{FF2B5EF4-FFF2-40B4-BE49-F238E27FC236}">
                  <a16:creationId xmlns:a16="http://schemas.microsoft.com/office/drawing/2014/main" id="{E7716F9A-46AC-4D7F-9DBE-764DE7ADB8F5}"/>
                </a:ext>
              </a:extLst>
            </p:cNvPr>
            <p:cNvSpPr txBox="1"/>
            <p:nvPr/>
          </p:nvSpPr>
          <p:spPr>
            <a:xfrm>
              <a:off x="3553396" y="4677318"/>
              <a:ext cx="931665" cy="58477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Web </a:t>
              </a:r>
              <a:b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Instance</a:t>
              </a:r>
            </a:p>
          </p:txBody>
        </p:sp>
        <p:cxnSp>
          <p:nvCxnSpPr>
            <p:cNvPr id="8" name="Straight Connector 7">
              <a:extLst>
                <a:ext uri="{FF2B5EF4-FFF2-40B4-BE49-F238E27FC236}">
                  <a16:creationId xmlns:a16="http://schemas.microsoft.com/office/drawing/2014/main" id="{43D16184-90F0-4615-8951-E1607E58B4A5}"/>
                </a:ext>
              </a:extLst>
            </p:cNvPr>
            <p:cNvCxnSpPr>
              <a:cxnSpLocks/>
              <a:stCxn id="27" idx="2"/>
              <a:endCxn id="84" idx="0"/>
            </p:cNvCxnSpPr>
            <p:nvPr/>
          </p:nvCxnSpPr>
          <p:spPr>
            <a:xfrm flipH="1">
              <a:off x="4711833" y="4103400"/>
              <a:ext cx="1825614" cy="6054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06194F5-94EC-46DF-9FED-1AAA1173538A}"/>
                </a:ext>
              </a:extLst>
            </p:cNvPr>
            <p:cNvCxnSpPr>
              <a:stCxn id="27" idx="2"/>
              <a:endCxn id="81" idx="0"/>
            </p:cNvCxnSpPr>
            <p:nvPr/>
          </p:nvCxnSpPr>
          <p:spPr>
            <a:xfrm>
              <a:off x="6537447" y="4103400"/>
              <a:ext cx="1696186" cy="5915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FC6012A-2191-440F-88E0-17CF2FF0677F}"/>
                </a:ext>
              </a:extLst>
            </p:cNvPr>
            <p:cNvCxnSpPr>
              <a:cxnSpLocks/>
              <a:stCxn id="84" idx="2"/>
              <a:endCxn id="50" idx="0"/>
            </p:cNvCxnSpPr>
            <p:nvPr/>
          </p:nvCxnSpPr>
          <p:spPr>
            <a:xfrm>
              <a:off x="4711833" y="5178709"/>
              <a:ext cx="0" cy="4932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88B761-44C3-407B-A0D5-2ED207F717F6}"/>
                </a:ext>
              </a:extLst>
            </p:cNvPr>
            <p:cNvCxnSpPr>
              <a:cxnSpLocks/>
              <a:stCxn id="50" idx="3"/>
              <a:endCxn id="81" idx="2"/>
            </p:cNvCxnSpPr>
            <p:nvPr/>
          </p:nvCxnSpPr>
          <p:spPr>
            <a:xfrm flipV="1">
              <a:off x="4946783" y="5164858"/>
              <a:ext cx="3286850" cy="7420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4EA7EB-F890-4EAF-A9C3-AD561E3BFE89}"/>
                </a:ext>
              </a:extLst>
            </p:cNvPr>
            <p:cNvCxnSpPr>
              <a:cxnSpLocks/>
              <a:stCxn id="50" idx="3"/>
              <a:endCxn id="51" idx="1"/>
            </p:cNvCxnSpPr>
            <p:nvPr/>
          </p:nvCxnSpPr>
          <p:spPr>
            <a:xfrm flipV="1">
              <a:off x="4946783" y="5890873"/>
              <a:ext cx="3038048" cy="1604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66EB7F26-07C5-45DF-8F23-F41084F6B1DE}"/>
                </a:ext>
              </a:extLst>
            </p:cNvPr>
            <p:cNvSpPr txBox="1"/>
            <p:nvPr/>
          </p:nvSpPr>
          <p:spPr>
            <a:xfrm>
              <a:off x="3562271" y="5640183"/>
              <a:ext cx="926857" cy="58477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RDS DB </a:t>
              </a:r>
              <a:b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Primary</a:t>
              </a:r>
            </a:p>
          </p:txBody>
        </p:sp>
        <p:grpSp>
          <p:nvGrpSpPr>
            <p:cNvPr id="57" name="Group 56">
              <a:extLst>
                <a:ext uri="{FF2B5EF4-FFF2-40B4-BE49-F238E27FC236}">
                  <a16:creationId xmlns:a16="http://schemas.microsoft.com/office/drawing/2014/main" id="{6EC10F0B-E12F-4732-AD93-F4F04A089A69}"/>
                </a:ext>
              </a:extLst>
            </p:cNvPr>
            <p:cNvGrpSpPr/>
            <p:nvPr/>
          </p:nvGrpSpPr>
          <p:grpSpPr>
            <a:xfrm>
              <a:off x="7556945" y="3721795"/>
              <a:ext cx="2286000" cy="2503163"/>
              <a:chOff x="7268189" y="3721795"/>
              <a:chExt cx="2286000" cy="2503163"/>
            </a:xfrm>
          </p:grpSpPr>
          <p:grpSp>
            <p:nvGrpSpPr>
              <p:cNvPr id="56" name="Group 55">
                <a:extLst>
                  <a:ext uri="{FF2B5EF4-FFF2-40B4-BE49-F238E27FC236}">
                    <a16:creationId xmlns:a16="http://schemas.microsoft.com/office/drawing/2014/main" id="{3B6F9473-1679-4F9C-AC5B-F59DC51304EB}"/>
                  </a:ext>
                </a:extLst>
              </p:cNvPr>
              <p:cNvGrpSpPr/>
              <p:nvPr/>
            </p:nvGrpSpPr>
            <p:grpSpPr>
              <a:xfrm>
                <a:off x="7268189" y="3721795"/>
                <a:ext cx="2286000" cy="2468880"/>
                <a:chOff x="7268189" y="3721795"/>
                <a:chExt cx="2286000" cy="2468880"/>
              </a:xfrm>
            </p:grpSpPr>
            <p:sp>
              <p:nvSpPr>
                <p:cNvPr id="43" name="Rectangle 42">
                  <a:extLst>
                    <a:ext uri="{FF2B5EF4-FFF2-40B4-BE49-F238E27FC236}">
                      <a16:creationId xmlns:a16="http://schemas.microsoft.com/office/drawing/2014/main" id="{0DCA5DBD-7408-4131-88CD-0D393BDA14AD}"/>
                    </a:ext>
                  </a:extLst>
                </p:cNvPr>
                <p:cNvSpPr/>
                <p:nvPr/>
              </p:nvSpPr>
              <p:spPr>
                <a:xfrm>
                  <a:off x="7268189" y="3721795"/>
                  <a:ext cx="2286000" cy="246888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 2: </a:t>
                  </a:r>
                  <a:b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10.0.3.0/24</a:t>
                  </a:r>
                </a:p>
              </p:txBody>
            </p:sp>
            <p:pic>
              <p:nvPicPr>
                <p:cNvPr id="46" name="Graphic 45">
                  <a:extLst>
                    <a:ext uri="{FF2B5EF4-FFF2-40B4-BE49-F238E27FC236}">
                      <a16:creationId xmlns:a16="http://schemas.microsoft.com/office/drawing/2014/main" id="{6C7577AB-E149-4563-8491-AFAC278C11E0}"/>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268189" y="3721795"/>
                  <a:ext cx="457200" cy="457200"/>
                </a:xfrm>
                <a:prstGeom prst="rect">
                  <a:avLst/>
                </a:prstGeom>
              </p:spPr>
            </p:pic>
          </p:grpSp>
          <p:grpSp>
            <p:nvGrpSpPr>
              <p:cNvPr id="52" name="Group 51">
                <a:extLst>
                  <a:ext uri="{FF2B5EF4-FFF2-40B4-BE49-F238E27FC236}">
                    <a16:creationId xmlns:a16="http://schemas.microsoft.com/office/drawing/2014/main" id="{1C3D768C-6917-4058-9B2C-4A321914C89A}"/>
                  </a:ext>
                </a:extLst>
              </p:cNvPr>
              <p:cNvGrpSpPr/>
              <p:nvPr/>
            </p:nvGrpSpPr>
            <p:grpSpPr>
              <a:xfrm>
                <a:off x="7524966" y="5326491"/>
                <a:ext cx="1765636" cy="898467"/>
                <a:chOff x="7252252" y="5326491"/>
                <a:chExt cx="1765636" cy="898467"/>
              </a:xfrm>
            </p:grpSpPr>
            <p:sp>
              <p:nvSpPr>
                <p:cNvPr id="65" name="TextBox 64">
                  <a:extLst>
                    <a:ext uri="{FF2B5EF4-FFF2-40B4-BE49-F238E27FC236}">
                      <a16:creationId xmlns:a16="http://schemas.microsoft.com/office/drawing/2014/main" id="{916E82C0-9D6D-405E-8DE7-6F236018E20D}"/>
                    </a:ext>
                  </a:extLst>
                </p:cNvPr>
                <p:cNvSpPr txBox="1"/>
                <p:nvPr/>
              </p:nvSpPr>
              <p:spPr>
                <a:xfrm>
                  <a:off x="7895466" y="5640183"/>
                  <a:ext cx="1122422" cy="584775"/>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RDS DB </a:t>
                  </a:r>
                  <a:b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Secondary</a:t>
                  </a:r>
                </a:p>
              </p:txBody>
            </p:sp>
            <p:pic>
              <p:nvPicPr>
                <p:cNvPr id="51" name="Graphic 50">
                  <a:extLst>
                    <a:ext uri="{FF2B5EF4-FFF2-40B4-BE49-F238E27FC236}">
                      <a16:creationId xmlns:a16="http://schemas.microsoft.com/office/drawing/2014/main" id="{78E08D80-9805-41C8-938D-6F57F9BE5ABD}"/>
                    </a:ext>
                    <a:ext uri="{C183D7F6-B498-43B3-948B-1728B52AA6E4}">
                      <adec:decorative xmlns:adec="http://schemas.microsoft.com/office/drawing/2017/decorative" val="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423361" y="5655923"/>
                  <a:ext cx="469900" cy="469900"/>
                </a:xfrm>
                <a:prstGeom prst="rect">
                  <a:avLst/>
                </a:prstGeom>
              </p:spPr>
            </p:pic>
            <p:sp>
              <p:nvSpPr>
                <p:cNvPr id="53" name="Rectangle 52">
                  <a:extLst>
                    <a:ext uri="{FF2B5EF4-FFF2-40B4-BE49-F238E27FC236}">
                      <a16:creationId xmlns:a16="http://schemas.microsoft.com/office/drawing/2014/main" id="{EBEEE896-3809-4FCD-8122-549A642A5369}"/>
                    </a:ext>
                  </a:extLst>
                </p:cNvPr>
                <p:cNvSpPr/>
                <p:nvPr/>
              </p:nvSpPr>
              <p:spPr>
                <a:xfrm>
                  <a:off x="7252252" y="5326491"/>
                  <a:ext cx="1765300" cy="822960"/>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t>Security group</a:t>
                  </a:r>
                </a:p>
              </p:txBody>
            </p:sp>
          </p:grpSp>
          <p:grpSp>
            <p:nvGrpSpPr>
              <p:cNvPr id="49" name="Group 48">
                <a:extLst>
                  <a:ext uri="{FF2B5EF4-FFF2-40B4-BE49-F238E27FC236}">
                    <a16:creationId xmlns:a16="http://schemas.microsoft.com/office/drawing/2014/main" id="{A2B9E2FF-EF0E-4AFB-A855-9217EA6351B3}"/>
                  </a:ext>
                </a:extLst>
              </p:cNvPr>
              <p:cNvGrpSpPr/>
              <p:nvPr/>
            </p:nvGrpSpPr>
            <p:grpSpPr>
              <a:xfrm>
                <a:off x="7536318" y="4373651"/>
                <a:ext cx="1773784" cy="888442"/>
                <a:chOff x="7263604" y="4373651"/>
                <a:chExt cx="1773784" cy="888442"/>
              </a:xfrm>
            </p:grpSpPr>
            <p:sp>
              <p:nvSpPr>
                <p:cNvPr id="79" name="Rectangle 78">
                  <a:extLst>
                    <a:ext uri="{FF2B5EF4-FFF2-40B4-BE49-F238E27FC236}">
                      <a16:creationId xmlns:a16="http://schemas.microsoft.com/office/drawing/2014/main" id="{7E6457CC-84DC-49F9-974A-79695058E2D3}"/>
                    </a:ext>
                  </a:extLst>
                </p:cNvPr>
                <p:cNvSpPr/>
                <p:nvPr/>
              </p:nvSpPr>
              <p:spPr>
                <a:xfrm>
                  <a:off x="7263604" y="4373651"/>
                  <a:ext cx="1765300" cy="822960"/>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t>Security group</a:t>
                  </a:r>
                </a:p>
              </p:txBody>
            </p:sp>
            <p:pic>
              <p:nvPicPr>
                <p:cNvPr id="81" name="Graphic 80">
                  <a:extLst>
                    <a:ext uri="{FF2B5EF4-FFF2-40B4-BE49-F238E27FC236}">
                      <a16:creationId xmlns:a16="http://schemas.microsoft.com/office/drawing/2014/main" id="{F0750393-3B52-46D5-A495-A9BD875CFB4C}"/>
                    </a:ext>
                    <a:ext uri="{C183D7F6-B498-43B3-948B-1728B52AA6E4}">
                      <adec:decorative xmlns:adec="http://schemas.microsoft.com/office/drawing/2017/decorative" val="1"/>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7437213" y="4694958"/>
                  <a:ext cx="469900" cy="469900"/>
                </a:xfrm>
                <a:prstGeom prst="rect">
                  <a:avLst/>
                </a:prstGeom>
              </p:spPr>
            </p:pic>
            <p:sp>
              <p:nvSpPr>
                <p:cNvPr id="82" name="TextBox 81">
                  <a:extLst>
                    <a:ext uri="{FF2B5EF4-FFF2-40B4-BE49-F238E27FC236}">
                      <a16:creationId xmlns:a16="http://schemas.microsoft.com/office/drawing/2014/main" id="{D6170BCE-3A83-4D5E-BE4F-87D3E5D55828}"/>
                    </a:ext>
                  </a:extLst>
                </p:cNvPr>
                <p:cNvSpPr txBox="1"/>
                <p:nvPr/>
              </p:nvSpPr>
              <p:spPr>
                <a:xfrm>
                  <a:off x="8105723" y="4677318"/>
                  <a:ext cx="931665" cy="584775"/>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Web </a:t>
                  </a:r>
                  <a:b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Instance</a:t>
                  </a:r>
                </a:p>
              </p:txBody>
            </p:sp>
          </p:grpSp>
        </p:grpSp>
        <p:sp>
          <p:nvSpPr>
            <p:cNvPr id="66" name="Rectangle 65">
              <a:extLst>
                <a:ext uri="{FF2B5EF4-FFF2-40B4-BE49-F238E27FC236}">
                  <a16:creationId xmlns:a16="http://schemas.microsoft.com/office/drawing/2014/main" id="{A9E95E75-0C27-456D-8C57-8368441BD029}"/>
                </a:ext>
              </a:extLst>
            </p:cNvPr>
            <p:cNvSpPr/>
            <p:nvPr/>
          </p:nvSpPr>
          <p:spPr>
            <a:xfrm>
              <a:off x="5778296" y="2713292"/>
              <a:ext cx="1554480" cy="1371600"/>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t>Security group</a:t>
              </a:r>
            </a:p>
          </p:txBody>
        </p:sp>
      </p:grpSp>
      <p:sp>
        <p:nvSpPr>
          <p:cNvPr id="3" name="Footer Placeholder 2">
            <a:extLst>
              <a:ext uri="{FF2B5EF4-FFF2-40B4-BE49-F238E27FC236}">
                <a16:creationId xmlns:a16="http://schemas.microsoft.com/office/drawing/2014/main" id="{57EF5604-52C6-1946-9B56-7F10AE0E4504}"/>
              </a:ext>
              <a:ext uri="{C183D7F6-B498-43B3-948B-1728B52AA6E4}">
                <adec:decorative xmlns:adec="http://schemas.microsoft.com/office/drawing/2017/decorative" val="1"/>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endParaRPr kumimoji="0" lang="en-US" sz="900" b="0" i="0" u="none" strike="noStrike" kern="1200" cap="none" spc="0" normalizeH="0" baseline="0" noProof="0" dirty="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4" name="Slide Number Placeholder 3">
            <a:extLst>
              <a:ext uri="{FF2B5EF4-FFF2-40B4-BE49-F238E27FC236}">
                <a16:creationId xmlns:a16="http://schemas.microsoft.com/office/drawing/2014/main" id="{7DF15A83-8D5A-ED4F-BA32-6245CB09EC53}"/>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7133711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244AC3-7E36-4D27-A2CC-DFC2444618EE}"/>
              </a:ext>
            </a:extLst>
          </p:cNvPr>
          <p:cNvSpPr>
            <a:spLocks noGrp="1"/>
          </p:cNvSpPr>
          <p:nvPr>
            <p:ph type="title"/>
          </p:nvPr>
        </p:nvSpPr>
        <p:spPr/>
        <p:txBody>
          <a:bodyPr/>
          <a:lstStyle/>
          <a:p>
            <a:r>
              <a:rPr lang="en-US" dirty="0">
                <a:solidFill>
                  <a:schemeClr val="bg1"/>
                </a:solidFill>
              </a:rPr>
              <a:t>Begin lab 6</a:t>
            </a:r>
          </a:p>
        </p:txBody>
      </p:sp>
      <p:pic>
        <p:nvPicPr>
          <p:cNvPr id="4" name="Picture 3">
            <a:extLst>
              <a:ext uri="{FF2B5EF4-FFF2-40B4-BE49-F238E27FC236}">
                <a16:creationId xmlns:a16="http://schemas.microsoft.com/office/drawing/2014/main" id="{425E8405-D4BA-7847-9F9B-BD8A99A69246}"/>
              </a:ext>
              <a:ext uri="{C183D7F6-B498-43B3-948B-1728B52AA6E4}">
                <adec:decorative xmlns:adec="http://schemas.microsoft.com/office/drawing/2017/decorative" val="1"/>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l="-126"/>
          <a:stretch/>
        </p:blipFill>
        <p:spPr>
          <a:xfrm>
            <a:off x="-60960" y="1920240"/>
            <a:ext cx="12252960" cy="4358640"/>
          </a:xfrm>
          <a:prstGeom prst="rect">
            <a:avLst/>
          </a:prstGeom>
        </p:spPr>
      </p:pic>
      <p:sp>
        <p:nvSpPr>
          <p:cNvPr id="8" name="Title 5">
            <a:extLst>
              <a:ext uri="{FF2B5EF4-FFF2-40B4-BE49-F238E27FC236}">
                <a16:creationId xmlns:a16="http://schemas.microsoft.com/office/drawing/2014/main" id="{E2649A16-71FE-704E-AE3D-37A2D88068C4}"/>
              </a:ext>
            </a:extLst>
          </p:cNvPr>
          <p:cNvSpPr txBox="1">
            <a:spLocks/>
          </p:cNvSpPr>
          <p:nvPr/>
        </p:nvSpPr>
        <p:spPr>
          <a:xfrm>
            <a:off x="6617368" y="2168012"/>
            <a:ext cx="5155532" cy="38493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srgbClr val="FFFFFF"/>
                </a:solidFill>
                <a:effectLst/>
                <a:uLnTx/>
                <a:uFillTx/>
                <a:latin typeface="+mj-lt"/>
                <a:ea typeface="Amazon Ember" panose="02000000000000000000" pitchFamily="2" charset="0"/>
              </a:rPr>
              <a:t>Begin Lab 6: Scale and Load Balance Your Architecture </a:t>
            </a:r>
          </a:p>
        </p:txBody>
      </p:sp>
      <p:grpSp>
        <p:nvGrpSpPr>
          <p:cNvPr id="9" name="Group 8" descr="A stopwatch icon.">
            <a:extLst>
              <a:ext uri="{FF2B5EF4-FFF2-40B4-BE49-F238E27FC236}">
                <a16:creationId xmlns:a16="http://schemas.microsoft.com/office/drawing/2014/main" id="{10DC9E4A-8285-4049-983B-7423DA3CE8FF}"/>
              </a:ext>
            </a:extLst>
          </p:cNvPr>
          <p:cNvGrpSpPr/>
          <p:nvPr/>
        </p:nvGrpSpPr>
        <p:grpSpPr>
          <a:xfrm>
            <a:off x="419099" y="579120"/>
            <a:ext cx="834514" cy="953731"/>
            <a:chOff x="11271015" y="5905029"/>
            <a:chExt cx="403626" cy="461287"/>
          </a:xfrm>
        </p:grpSpPr>
        <p:sp>
          <p:nvSpPr>
            <p:cNvPr id="10" name="Oval 9">
              <a:extLst>
                <a:ext uri="{FF2B5EF4-FFF2-40B4-BE49-F238E27FC236}">
                  <a16:creationId xmlns:a16="http://schemas.microsoft.com/office/drawing/2014/main" id="{AAC56321-5D68-4446-BED2-5F762D71FEF3}"/>
                </a:ext>
              </a:extLst>
            </p:cNvPr>
            <p:cNvSpPr/>
            <p:nvPr/>
          </p:nvSpPr>
          <p:spPr>
            <a:xfrm>
              <a:off x="11307093" y="5998845"/>
              <a:ext cx="331470" cy="33318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45C163E9-58FA-F745-9B8A-FE0E60F9CF77}"/>
                </a:ext>
                <a:ext uri="{C183D7F6-B498-43B3-948B-1728B52AA6E4}">
                  <adec:decorative xmlns:adec="http://schemas.microsoft.com/office/drawing/2017/decorative" val="1"/>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11271015" y="5905029"/>
              <a:ext cx="403626" cy="461287"/>
            </a:xfrm>
            <a:prstGeom prst="rect">
              <a:avLst/>
            </a:prstGeom>
          </p:spPr>
        </p:pic>
      </p:grpSp>
      <p:sp>
        <p:nvSpPr>
          <p:cNvPr id="12" name="TextBox 11">
            <a:extLst>
              <a:ext uri="{FF2B5EF4-FFF2-40B4-BE49-F238E27FC236}">
                <a16:creationId xmlns:a16="http://schemas.microsoft.com/office/drawing/2014/main" id="{93CB1352-7A73-A74D-9F66-0C5041597E9C}"/>
              </a:ext>
            </a:extLst>
          </p:cNvPr>
          <p:cNvSpPr txBox="1"/>
          <p:nvPr/>
        </p:nvSpPr>
        <p:spPr>
          <a:xfrm>
            <a:off x="836356" y="1225074"/>
            <a:ext cx="1926530" cy="338554"/>
          </a:xfrm>
          <a:prstGeom prst="rect">
            <a:avLst/>
          </a:prstGeom>
          <a:noFill/>
        </p:spPr>
        <p:txBody>
          <a:bodyPr wrap="square" rtlCol="0">
            <a:spAutoFit/>
          </a:bodyPr>
          <a:lstStyle/>
          <a:p>
            <a:pPr algn="ctr"/>
            <a:r>
              <a:rPr lang="en-US" sz="1600" dirty="0">
                <a:ea typeface="Amazon Ember Light" panose="020B0403020204020204" pitchFamily="34" charset="0"/>
                <a:cs typeface="Amazon Ember Light" panose="020B0403020204020204" pitchFamily="34" charset="0"/>
              </a:rPr>
              <a:t>~ 30 minutes</a:t>
            </a:r>
          </a:p>
        </p:txBody>
      </p:sp>
      <p:sp>
        <p:nvSpPr>
          <p:cNvPr id="2" name="Footer Placeholder 1">
            <a:extLst>
              <a:ext uri="{FF2B5EF4-FFF2-40B4-BE49-F238E27FC236}">
                <a16:creationId xmlns:a16="http://schemas.microsoft.com/office/drawing/2014/main" id="{90058335-3F30-2D4F-B6BF-759C23F76B61}"/>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24C9B835-4E5B-8D47-9CFC-533ADAB1CB13}"/>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35</a:t>
            </a:fld>
            <a:endParaRPr lang="en-US" dirty="0"/>
          </a:p>
        </p:txBody>
      </p:sp>
    </p:spTree>
    <p:custDataLst>
      <p:tags r:id="rId1"/>
    </p:custDataLst>
    <p:extLst>
      <p:ext uri="{BB962C8B-B14F-4D97-AF65-F5344CB8AC3E}">
        <p14:creationId xmlns:p14="http://schemas.microsoft.com/office/powerpoint/2010/main" val="13197710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9D4C57-8ACE-7A46-BE45-25F2ADAE9651}"/>
              </a:ext>
            </a:extLst>
          </p:cNvPr>
          <p:cNvSpPr>
            <a:spLocks noGrp="1"/>
          </p:cNvSpPr>
          <p:nvPr>
            <p:ph type="title"/>
          </p:nvPr>
        </p:nvSpPr>
        <p:spPr>
          <a:xfrm>
            <a:off x="419100" y="2420133"/>
            <a:ext cx="3735456" cy="2017734"/>
          </a:xfrm>
        </p:spPr>
        <p:txBody>
          <a:bodyPr/>
          <a:lstStyle/>
          <a:p>
            <a:r>
              <a:rPr lang="en-US" sz="4000" dirty="0">
                <a:latin typeface="+mj-lt"/>
              </a:rPr>
              <a:t>Lab debrief: </a:t>
            </a:r>
            <a:br>
              <a:rPr lang="en-US" sz="4000" dirty="0">
                <a:latin typeface="+mj-lt"/>
              </a:rPr>
            </a:br>
            <a:r>
              <a:rPr lang="en-US" sz="4000" dirty="0">
                <a:latin typeface="+mj-lt"/>
              </a:rPr>
              <a:t>Key takeaways</a:t>
            </a:r>
          </a:p>
        </p:txBody>
      </p:sp>
      <p:pic>
        <p:nvPicPr>
          <p:cNvPr id="5" name="Picture 4">
            <a:extLst>
              <a:ext uri="{FF2B5EF4-FFF2-40B4-BE49-F238E27FC236}">
                <a16:creationId xmlns:a16="http://schemas.microsoft.com/office/drawing/2014/main" id="{79125E67-2530-304C-9CF1-F3BC25E3B1E2}"/>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154556" y="1168065"/>
            <a:ext cx="7421479" cy="4947653"/>
          </a:xfrm>
          <a:prstGeom prst="rect">
            <a:avLst/>
          </a:prstGeom>
          <a:ln>
            <a:solidFill>
              <a:schemeClr val="accent1"/>
            </a:solidFill>
          </a:ln>
        </p:spPr>
      </p:pic>
      <p:sp>
        <p:nvSpPr>
          <p:cNvPr id="2" name="Footer Placeholder 1">
            <a:extLst>
              <a:ext uri="{FF2B5EF4-FFF2-40B4-BE49-F238E27FC236}">
                <a16:creationId xmlns:a16="http://schemas.microsoft.com/office/drawing/2014/main" id="{50B6CECA-AD66-DE40-8332-E974A5E0DA89}"/>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51DB29AB-AD97-C840-8439-66F28982EBFC}"/>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36</a:t>
            </a:fld>
            <a:endParaRPr lang="en-US" dirty="0"/>
          </a:p>
        </p:txBody>
      </p:sp>
    </p:spTree>
    <p:custDataLst>
      <p:tags r:id="rId1"/>
    </p:custDataLst>
    <p:extLst>
      <p:ext uri="{BB962C8B-B14F-4D97-AF65-F5344CB8AC3E}">
        <p14:creationId xmlns:p14="http://schemas.microsoft.com/office/powerpoint/2010/main" val="14230615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3440BC3-762D-4310-82DF-4E1F23D9E6A4}"/>
              </a:ext>
            </a:extLst>
          </p:cNvPr>
          <p:cNvSpPr>
            <a:spLocks noGrp="1"/>
          </p:cNvSpPr>
          <p:nvPr>
            <p:ph type="body" sz="quarter" idx="10"/>
          </p:nvPr>
        </p:nvSpPr>
        <p:spPr/>
        <p:txBody>
          <a:bodyPr/>
          <a:lstStyle/>
          <a:p>
            <a:r>
              <a:rPr lang="en-US" b="1" dirty="0"/>
              <a:t>Module 10: Automatic Scaling and Monitoring</a:t>
            </a:r>
          </a:p>
          <a:p>
            <a:endParaRPr lang="en-US" dirty="0"/>
          </a:p>
        </p:txBody>
      </p:sp>
      <p:sp>
        <p:nvSpPr>
          <p:cNvPr id="6" name="Title 5">
            <a:extLst>
              <a:ext uri="{FF2B5EF4-FFF2-40B4-BE49-F238E27FC236}">
                <a16:creationId xmlns:a16="http://schemas.microsoft.com/office/drawing/2014/main" id="{BFC5ECD2-AFF4-4A2B-9E54-AC9D736C4BC9}"/>
              </a:ext>
            </a:extLst>
          </p:cNvPr>
          <p:cNvSpPr>
            <a:spLocks noGrp="1"/>
          </p:cNvSpPr>
          <p:nvPr>
            <p:ph type="title"/>
          </p:nvPr>
        </p:nvSpPr>
        <p:spPr/>
        <p:txBody>
          <a:bodyPr/>
          <a:lstStyle/>
          <a:p>
            <a:r>
              <a:rPr lang="en-US" sz="4000" dirty="0"/>
              <a:t>Module wrap-up</a:t>
            </a:r>
          </a:p>
        </p:txBody>
      </p:sp>
      <p:sp>
        <p:nvSpPr>
          <p:cNvPr id="5" name="Footer Placeholder 4">
            <a:extLst>
              <a:ext uri="{FF2B5EF4-FFF2-40B4-BE49-F238E27FC236}">
                <a16:creationId xmlns:a16="http://schemas.microsoft.com/office/drawing/2014/main" id="{1F7293B6-4B54-4C93-B707-383F21234119}"/>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1912275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Module summary                                                     </a:t>
            </a:r>
          </a:p>
        </p:txBody>
      </p:sp>
      <p:sp>
        <p:nvSpPr>
          <p:cNvPr id="6" name="Content Placeholder 5">
            <a:extLst>
              <a:ext uri="{FF2B5EF4-FFF2-40B4-BE49-F238E27FC236}">
                <a16:creationId xmlns:a16="http://schemas.microsoft.com/office/drawing/2014/main" id="{96B1D8CB-247D-9047-BFCE-7C071A34030D}"/>
              </a:ext>
            </a:extLst>
          </p:cNvPr>
          <p:cNvSpPr>
            <a:spLocks noGrp="1"/>
          </p:cNvSpPr>
          <p:nvPr>
            <p:ph idx="1"/>
          </p:nvPr>
        </p:nvSpPr>
        <p:spPr/>
        <p:txBody>
          <a:bodyPr/>
          <a:lstStyle/>
          <a:p>
            <a:pPr marL="0" indent="0">
              <a:buNone/>
            </a:pPr>
            <a:r>
              <a:rPr lang="en-US" dirty="0"/>
              <a:t>In summary, in this module you learned how to:</a:t>
            </a:r>
          </a:p>
          <a:p>
            <a:r>
              <a:rPr lang="en-US" dirty="0"/>
              <a:t>Indicate how to distribute traffic across Amazon Elastic Compute Cloud (Amazon EC2) instances using Elastic Load Balancing.</a:t>
            </a:r>
          </a:p>
          <a:p>
            <a:r>
              <a:rPr lang="en-US" dirty="0"/>
              <a:t>Identify how Amazon CloudWatch enables you to monitor AWS resources and applications in real time.</a:t>
            </a:r>
          </a:p>
          <a:p>
            <a:r>
              <a:rPr lang="en-US" dirty="0"/>
              <a:t>Explain how Amazon EC2 Auto Scaling launches and releases servers in response to workload changes.</a:t>
            </a:r>
          </a:p>
          <a:p>
            <a:r>
              <a:rPr lang="en-US" dirty="0"/>
              <a:t>Perform scaling and load balancing tasks to improve an architecture.</a:t>
            </a:r>
          </a:p>
        </p:txBody>
      </p:sp>
      <p:sp>
        <p:nvSpPr>
          <p:cNvPr id="3" name="Footer Placeholder 2">
            <a:extLst>
              <a:ext uri="{FF2B5EF4-FFF2-40B4-BE49-F238E27FC236}">
                <a16:creationId xmlns:a16="http://schemas.microsoft.com/office/drawing/2014/main" id="{C6B2E223-EA0C-E54C-AFE4-3B324B5FF5A2}"/>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EBECEECC-6889-3C4B-ADDE-289EB9D9F6A9}"/>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38</a:t>
            </a:fld>
            <a:endParaRPr lang="en-US" dirty="0"/>
          </a:p>
        </p:txBody>
      </p:sp>
    </p:spTree>
    <p:custDataLst>
      <p:tags r:id="rId1"/>
    </p:custDataLst>
    <p:extLst>
      <p:ext uri="{BB962C8B-B14F-4D97-AF65-F5344CB8AC3E}">
        <p14:creationId xmlns:p14="http://schemas.microsoft.com/office/powerpoint/2010/main" val="27116608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9D4C57-8ACE-7A46-BE45-25F2ADAE9651}"/>
              </a:ext>
            </a:extLst>
          </p:cNvPr>
          <p:cNvSpPr>
            <a:spLocks noGrp="1"/>
          </p:cNvSpPr>
          <p:nvPr>
            <p:ph type="title"/>
          </p:nvPr>
        </p:nvSpPr>
        <p:spPr/>
        <p:txBody>
          <a:bodyPr/>
          <a:lstStyle/>
          <a:p>
            <a:r>
              <a:rPr lang="en-US" sz="4000" dirty="0">
                <a:latin typeface="+mj-lt"/>
              </a:rPr>
              <a:t>Complete the knowledge check</a:t>
            </a:r>
          </a:p>
        </p:txBody>
      </p:sp>
      <p:pic>
        <p:nvPicPr>
          <p:cNvPr id="6" name="Picture 5">
            <a:extLst>
              <a:ext uri="{FF2B5EF4-FFF2-40B4-BE49-F238E27FC236}">
                <a16:creationId xmlns:a16="http://schemas.microsoft.com/office/drawing/2014/main" id="{6AA59BB7-F837-804D-AFBB-23A2CCBCA2A3}"/>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2588755" y="1564105"/>
            <a:ext cx="6864617" cy="4576411"/>
          </a:xfrm>
          <a:prstGeom prst="rect">
            <a:avLst/>
          </a:prstGeom>
          <a:ln>
            <a:solidFill>
              <a:schemeClr val="accent1"/>
            </a:solidFill>
          </a:ln>
        </p:spPr>
      </p:pic>
      <p:sp>
        <p:nvSpPr>
          <p:cNvPr id="2" name="Footer Placeholder 1">
            <a:extLst>
              <a:ext uri="{FF2B5EF4-FFF2-40B4-BE49-F238E27FC236}">
                <a16:creationId xmlns:a16="http://schemas.microsoft.com/office/drawing/2014/main" id="{A1E06863-06C9-A243-9422-4B55DC60D9B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51DB29AB-AD97-C840-8439-66F28982EBFC}"/>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39</a:t>
            </a:fld>
            <a:endParaRPr lang="en-US" dirty="0"/>
          </a:p>
        </p:txBody>
      </p:sp>
    </p:spTree>
    <p:custDataLst>
      <p:tags r:id="rId1"/>
    </p:custDataLst>
    <p:extLst>
      <p:ext uri="{BB962C8B-B14F-4D97-AF65-F5344CB8AC3E}">
        <p14:creationId xmlns:p14="http://schemas.microsoft.com/office/powerpoint/2010/main" val="1725495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3CE73EB-211E-124D-80C7-B13C8898C13B}"/>
              </a:ext>
            </a:extLst>
          </p:cNvPr>
          <p:cNvSpPr>
            <a:spLocks noGrp="1"/>
          </p:cNvSpPr>
          <p:nvPr>
            <p:ph type="title"/>
          </p:nvPr>
        </p:nvSpPr>
        <p:spPr/>
        <p:txBody>
          <a:bodyPr/>
          <a:lstStyle/>
          <a:p>
            <a:r>
              <a:rPr lang="en-US" dirty="0"/>
              <a:t>Sample exam question</a:t>
            </a:r>
          </a:p>
        </p:txBody>
      </p:sp>
      <p:sp>
        <p:nvSpPr>
          <p:cNvPr id="4" name="Text Placeholder 3"/>
          <p:cNvSpPr>
            <a:spLocks noGrp="1"/>
          </p:cNvSpPr>
          <p:nvPr>
            <p:ph idx="1"/>
          </p:nvPr>
        </p:nvSpPr>
        <p:spPr/>
        <p:txBody>
          <a:bodyPr/>
          <a:lstStyle/>
          <a:p>
            <a:pPr marL="0" indent="0">
              <a:buNone/>
            </a:pPr>
            <a:r>
              <a:rPr lang="en-US" sz="2400" dirty="0"/>
              <a:t>Which service would you use to send alerts based on Amazon CloudWatch alarms?</a:t>
            </a:r>
          </a:p>
          <a:p>
            <a:endParaRPr lang="en-US" sz="2400" dirty="0"/>
          </a:p>
          <a:p>
            <a:pPr marL="457200" lvl="0" indent="-457200">
              <a:buAutoNum type="alphaUcPeriod"/>
            </a:pPr>
            <a:r>
              <a:rPr lang="en-US" sz="2400" dirty="0"/>
              <a:t>Amazon Simple Notification Service</a:t>
            </a:r>
          </a:p>
          <a:p>
            <a:pPr marL="457200" lvl="0" indent="-457200">
              <a:buAutoNum type="alphaUcPeriod"/>
            </a:pPr>
            <a:r>
              <a:rPr lang="en-US" sz="2400" dirty="0"/>
              <a:t>AWS CloudTrail</a:t>
            </a:r>
          </a:p>
          <a:p>
            <a:pPr marL="457200" lvl="0" indent="-457200">
              <a:buAutoNum type="alphaUcPeriod"/>
            </a:pPr>
            <a:r>
              <a:rPr lang="en-US" sz="2400" dirty="0"/>
              <a:t>AWS Trusted Advisor</a:t>
            </a:r>
          </a:p>
          <a:p>
            <a:pPr marL="457200" lvl="0" indent="-457200">
              <a:buAutoNum type="alphaUcPeriod"/>
            </a:pPr>
            <a:r>
              <a:rPr lang="en-US" sz="2400" dirty="0"/>
              <a:t>Amazon Route 53</a:t>
            </a:r>
          </a:p>
        </p:txBody>
      </p:sp>
      <p:sp>
        <p:nvSpPr>
          <p:cNvPr id="22" name="Rectangle 21" descr="box around send alerts.">
            <a:extLst>
              <a:ext uri="{FF2B5EF4-FFF2-40B4-BE49-F238E27FC236}">
                <a16:creationId xmlns:a16="http://schemas.microsoft.com/office/drawing/2014/main" id="{1C03C7B4-56D2-574C-84EC-E802BAD51BD6}"/>
              </a:ext>
            </a:extLst>
          </p:cNvPr>
          <p:cNvSpPr/>
          <p:nvPr/>
        </p:nvSpPr>
        <p:spPr>
          <a:xfrm>
            <a:off x="4709160" y="1528175"/>
            <a:ext cx="1554480" cy="39624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descr="box around Amazon CloudWatch alarms.">
            <a:extLst>
              <a:ext uri="{FF2B5EF4-FFF2-40B4-BE49-F238E27FC236}">
                <a16:creationId xmlns:a16="http://schemas.microsoft.com/office/drawing/2014/main" id="{D917926B-89D2-A148-BEFD-97157995F014}"/>
              </a:ext>
            </a:extLst>
          </p:cNvPr>
          <p:cNvSpPr/>
          <p:nvPr/>
        </p:nvSpPr>
        <p:spPr>
          <a:xfrm>
            <a:off x="7549333" y="1528175"/>
            <a:ext cx="3840480" cy="39624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descr="box around response A: Amazon Simple Notification Service.">
            <a:extLst>
              <a:ext uri="{FF2B5EF4-FFF2-40B4-BE49-F238E27FC236}">
                <a16:creationId xmlns:a16="http://schemas.microsoft.com/office/drawing/2014/main" id="{223D788C-6C14-CA49-9866-1E43C04FE474}"/>
              </a:ext>
            </a:extLst>
          </p:cNvPr>
          <p:cNvSpPr/>
          <p:nvPr/>
        </p:nvSpPr>
        <p:spPr>
          <a:xfrm>
            <a:off x="419100" y="2462311"/>
            <a:ext cx="5394960" cy="39624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ooter Placeholder 2">
            <a:extLst>
              <a:ext uri="{C183D7F6-B498-43B3-948B-1728B52AA6E4}">
                <adec:decorative xmlns:adec="http://schemas.microsoft.com/office/drawing/2017/decorative" val="1"/>
              </a:ext>
            </a:extLst>
          </p:cNvPr>
          <p:cNvSpPr>
            <a:spLocks noGrp="1"/>
          </p:cNvSpPr>
          <p:nvPr>
            <p:ph type="ftr" sz="quarter" idx="3"/>
          </p:nvPr>
        </p:nvSpPr>
        <p:spPr>
          <a:xfrm>
            <a:off x="419100" y="6356350"/>
            <a:ext cx="3970020" cy="365125"/>
          </a:xfrm>
        </p:spPr>
        <p:txBody>
          <a:bodyPr/>
          <a:lstStyle>
            <a:lvl1pPr>
              <a:defRPr>
                <a:latin typeface="Amazon Ember" panose="02000000000000000000" pitchFamily="2" charset="0"/>
                <a:ea typeface="Amazon Ember" panose="02000000000000000000" pitchFamily="2" charset="0"/>
              </a:defRPr>
            </a:lvl1pPr>
          </a:lstStyle>
          <a:p>
            <a:r>
              <a:rPr lang="en-US" dirty="0"/>
              <a:t>© 2019, Amazon Web Services, Inc. or its Affiliates. All rights reserved.</a:t>
            </a:r>
          </a:p>
        </p:txBody>
      </p:sp>
      <p:sp>
        <p:nvSpPr>
          <p:cNvPr id="2" name="Slide Number Placeholder 1">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40</a:t>
            </a:fld>
            <a:endParaRPr lang="en-US" dirty="0"/>
          </a:p>
        </p:txBody>
      </p:sp>
    </p:spTree>
    <p:custDataLst>
      <p:tags r:id="rId1"/>
    </p:custDataLst>
    <p:extLst>
      <p:ext uri="{BB962C8B-B14F-4D97-AF65-F5344CB8AC3E}">
        <p14:creationId xmlns:p14="http://schemas.microsoft.com/office/powerpoint/2010/main" val="3072631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normAutofit fontScale="90000"/>
          </a:bodyPr>
          <a:lstStyle/>
          <a:p>
            <a:r>
              <a:rPr lang="en-US" dirty="0">
                <a:latin typeface="+mj-lt"/>
              </a:rPr>
              <a:t>Thank you</a:t>
            </a:r>
            <a:endParaRPr lang="en-US" dirty="0">
              <a:latin typeface="+mj-lt"/>
              <a:ea typeface="Amazon Ember Light" charset="0"/>
              <a:cs typeface="Amazon Ember Light" charset="0"/>
            </a:endParaRPr>
          </a:p>
        </p:txBody>
      </p:sp>
    </p:spTree>
    <p:custDataLst>
      <p:tags r:id="rId1"/>
    </p:custDataLst>
    <p:extLst>
      <p:ext uri="{BB962C8B-B14F-4D97-AF65-F5344CB8AC3E}">
        <p14:creationId xmlns:p14="http://schemas.microsoft.com/office/powerpoint/2010/main" val="26836278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qJFqUAbJ"/>
  <p:tag name="ARTICULATE_SLIDE_THUMBNAIL_REFRESH" val="1"/>
  <p:tag name="ARTICULATE_DESIGN_ID_1_OFFICE THEME" val="xbPFa0bi"/>
  <p:tag name="ARTICULATE_SLIDE_COUNT" val="3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Academy_2019_Accessible" id="{0B1EFAAE-1898-4168-A8E4-48C906B750E4}" vid="{0BAE7003-4F32-4828-986F-3F3EE3E6BA8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12743</TotalTime>
  <Words>6400</Words>
  <Application>Microsoft Office PowerPoint</Application>
  <PresentationFormat>Widescreen</PresentationFormat>
  <Paragraphs>545</Paragraphs>
  <Slides>41</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Amazon Ember</vt:lpstr>
      <vt:lpstr>Amazon Ember Light</vt:lpstr>
      <vt:lpstr>Arial</vt:lpstr>
      <vt:lpstr>Calibri</vt:lpstr>
      <vt:lpstr>Lucida Console</vt:lpstr>
      <vt:lpstr>Wingdings</vt:lpstr>
      <vt:lpstr>Office Theme</vt:lpstr>
      <vt:lpstr>Module 10: Automatic Scaling and Monitoring</vt:lpstr>
      <vt:lpstr>Module overview</vt:lpstr>
      <vt:lpstr>Module objectives</vt:lpstr>
      <vt:lpstr>Section 1: Elastic Load Balancing</vt:lpstr>
      <vt:lpstr>Elastic Load Balancing</vt:lpstr>
      <vt:lpstr>Elastic Load Balancing </vt:lpstr>
      <vt:lpstr>Elastic Load Balancing </vt:lpstr>
      <vt:lpstr>PowerPoint Presentation</vt:lpstr>
      <vt:lpstr>PowerPoint Presentation</vt:lpstr>
      <vt:lpstr>How Elastic Load Balancing works</vt:lpstr>
      <vt:lpstr>Load balancer monitoring</vt:lpstr>
      <vt:lpstr>Section 1 key takeaways</vt:lpstr>
      <vt:lpstr>Section 2: Amazon CloudWatch</vt:lpstr>
      <vt:lpstr>Monitoring AWS resources</vt:lpstr>
      <vt:lpstr>Amazon CloudWatch</vt:lpstr>
      <vt:lpstr>CloudWatch alarms</vt:lpstr>
      <vt:lpstr>Activity: Amazon CloudWatch</vt:lpstr>
      <vt:lpstr>Section 2 key takeaways</vt:lpstr>
      <vt:lpstr>Section 3: Amazon EC2 Auto Scaling</vt:lpstr>
      <vt:lpstr>Why is scaling important?</vt:lpstr>
      <vt:lpstr>Amazon EC2 Auto Scaling</vt:lpstr>
      <vt:lpstr>Typical weekly traffic at Amazon.com</vt:lpstr>
      <vt:lpstr>November traffic to Amazon.com</vt:lpstr>
      <vt:lpstr>Auto Scaling groups</vt:lpstr>
      <vt:lpstr>Scaling out versus scaling in</vt:lpstr>
      <vt:lpstr>PowerPoint Presentation</vt:lpstr>
      <vt:lpstr>How Amazon EC2 Auto Scaling works</vt:lpstr>
      <vt:lpstr>Implementing dynamic scaling</vt:lpstr>
      <vt:lpstr>AWS Auto Scaling</vt:lpstr>
      <vt:lpstr>Section 3 key takeaways</vt:lpstr>
      <vt:lpstr>Lab 6:  Scale and Load Balance Your Architecture</vt:lpstr>
      <vt:lpstr>Lab 6: Scenario</vt:lpstr>
      <vt:lpstr>Lab 6: Tasks</vt:lpstr>
      <vt:lpstr>Lab 6: Final product </vt:lpstr>
      <vt:lpstr>Begin lab 6</vt:lpstr>
      <vt:lpstr>Lab debrief:  Key takeaways</vt:lpstr>
      <vt:lpstr>Module wrap-up</vt:lpstr>
      <vt:lpstr>Module summary                                                     </vt:lpstr>
      <vt:lpstr>Complete the knowledge check</vt:lpstr>
      <vt:lpstr>Sample exam question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Melissa Harris</dc:creator>
  <cp:keywords>v 2.0.0</cp:keywords>
  <cp:lastModifiedBy>SHAHLIZA ABD HALIM</cp:lastModifiedBy>
  <cp:revision>559</cp:revision>
  <cp:lastPrinted>2021-11-13T15:22:09Z</cp:lastPrinted>
  <dcterms:created xsi:type="dcterms:W3CDTF">2019-09-16T17:01:53Z</dcterms:created>
  <dcterms:modified xsi:type="dcterms:W3CDTF">2022-05-14T09:04:40Z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373078B8-3778-4BED-93CE-B8FC9DC9BD60</vt:lpwstr>
  </property>
  <property fmtid="{D5CDD505-2E9C-101B-9397-08002B2CF9AE}" pid="3" name="ArticulatePath">
    <vt:lpwstr>NEW 2019_TO TEST</vt:lpwstr>
  </property>
</Properties>
</file>