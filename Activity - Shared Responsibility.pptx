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856" r:id="rId2"/>
    <p:sldId id="438" r:id="rId3"/>
    <p:sldId id="857" r:id="rId4"/>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5" d="100"/>
          <a:sy n="65" d="100"/>
        </p:scale>
        <p:origin x="93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0C0BE0DD-F0F3-4F38-8FBD-E6CD1E6E627E}" type="datetimeFigureOut">
              <a:rPr lang="en-MY" smtClean="0"/>
              <a:t>1/12/2021</a:t>
            </a:fld>
            <a:endParaRPr lang="en-MY"/>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FA14FCB0-5FE0-4586-8DD2-248C80A95C0B}" type="slidenum">
              <a:rPr lang="en-MY" smtClean="0"/>
              <a:t>‹#›</a:t>
            </a:fld>
            <a:endParaRPr lang="en-MY"/>
          </a:p>
        </p:txBody>
      </p:sp>
    </p:spTree>
    <p:extLst>
      <p:ext uri="{BB962C8B-B14F-4D97-AF65-F5344CB8AC3E}">
        <p14:creationId xmlns:p14="http://schemas.microsoft.com/office/powerpoint/2010/main" val="283524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aws.amazon.com/whitepapers/latest/oracle-database-aws-best-practices/introduction.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1350963"/>
            <a:ext cx="6486525" cy="3649662"/>
          </a:xfrm>
        </p:spPr>
      </p:sp>
      <p:sp>
        <p:nvSpPr>
          <p:cNvPr id="3" name="Notes Placeholder 2"/>
          <p:cNvSpPr>
            <a:spLocks noGrp="1"/>
          </p:cNvSpPr>
          <p:nvPr>
            <p:ph type="body" idx="1"/>
          </p:nvPr>
        </p:nvSpPr>
        <p:spPr/>
        <p:txBody>
          <a:bodyPr/>
          <a:lstStyle/>
          <a:p>
            <a:r>
              <a:rPr lang="en-US" sz="1100" dirty="0"/>
              <a:t>In this educator-led activity,</a:t>
            </a:r>
            <a:r>
              <a:rPr lang="en-US" sz="1100" baseline="0" dirty="0"/>
              <a:t> </a:t>
            </a:r>
            <a:r>
              <a:rPr lang="en-US" sz="1100" dirty="0"/>
              <a:t>you will be presented with two scenarios. For each scenario, you will be asked several questions about whose responsibility it is (AWS or the customer) to ensure security of the item in question. The educator will lead the class in a discussion of each question and reveal the correct answers one at a time.</a:t>
            </a:r>
            <a:endParaRPr lang="en-US" dirty="0"/>
          </a:p>
        </p:txBody>
      </p:sp>
    </p:spTree>
    <p:extLst>
      <p:ext uri="{BB962C8B-B14F-4D97-AF65-F5344CB8AC3E}">
        <p14:creationId xmlns:p14="http://schemas.microsoft.com/office/powerpoint/2010/main" val="1775179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1350963"/>
            <a:ext cx="6486525" cy="3649662"/>
          </a:xfrm>
        </p:spPr>
      </p:sp>
      <p:sp>
        <p:nvSpPr>
          <p:cNvPr id="3" name="Notes Placeholder 2"/>
          <p:cNvSpPr>
            <a:spLocks noGrp="1"/>
          </p:cNvSpPr>
          <p:nvPr>
            <p:ph type="body" idx="1"/>
          </p:nvPr>
        </p:nvSpPr>
        <p:spPr>
          <a:xfrm>
            <a:off x="666570" y="5199975"/>
            <a:ext cx="5332554" cy="4056093"/>
          </a:xfrm>
        </p:spPr>
        <p:txBody>
          <a:bodyPr/>
          <a:lstStyle/>
          <a:p>
            <a:r>
              <a:rPr lang="en-US" sz="1100" kern="1200" dirty="0">
                <a:solidFill>
                  <a:schemeClr val="tx1"/>
                </a:solidFill>
                <a:effectLst/>
                <a:ea typeface="+mn-ea"/>
                <a:cs typeface="+mn-cs"/>
              </a:rPr>
              <a:t>Consider the case where a customer uses the AWS services and resources that</a:t>
            </a:r>
            <a:r>
              <a:rPr lang="en-US" sz="1100" kern="1200" baseline="0" dirty="0">
                <a:solidFill>
                  <a:schemeClr val="tx1"/>
                </a:solidFill>
                <a:effectLst/>
                <a:ea typeface="+mn-ea"/>
                <a:cs typeface="+mn-cs"/>
              </a:rPr>
              <a:t> are </a:t>
            </a:r>
            <a:r>
              <a:rPr lang="en-US" sz="1100" kern="1200" dirty="0">
                <a:solidFill>
                  <a:schemeClr val="tx1"/>
                </a:solidFill>
                <a:effectLst/>
                <a:ea typeface="+mn-ea"/>
                <a:cs typeface="+mn-cs"/>
              </a:rPr>
              <a:t>shown here. Who is responsible for maintaining security? AWS or the customer?</a:t>
            </a:r>
          </a:p>
          <a:p>
            <a:r>
              <a:rPr lang="en-US" sz="1100" kern="1200" dirty="0">
                <a:solidFill>
                  <a:schemeClr val="tx1"/>
                </a:solidFill>
                <a:effectLst/>
                <a:ea typeface="+mn-ea"/>
                <a:cs typeface="+mn-cs"/>
              </a:rPr>
              <a:t> </a:t>
            </a:r>
          </a:p>
          <a:p>
            <a:r>
              <a:rPr lang="en-US" sz="1100" kern="1200" dirty="0">
                <a:solidFill>
                  <a:schemeClr val="tx1"/>
                </a:solidFill>
                <a:effectLst/>
                <a:ea typeface="+mn-ea"/>
                <a:cs typeface="+mn-cs"/>
              </a:rPr>
              <a:t>The customer uses Amazon Simple Storage Service</a:t>
            </a:r>
            <a:r>
              <a:rPr lang="en-US" sz="1100" kern="1200" baseline="0" dirty="0">
                <a:solidFill>
                  <a:schemeClr val="tx1"/>
                </a:solidFill>
                <a:effectLst/>
                <a:ea typeface="+mn-ea"/>
                <a:cs typeface="+mn-cs"/>
              </a:rPr>
              <a:t> (Amazon</a:t>
            </a:r>
            <a:r>
              <a:rPr lang="en-US" sz="1100" kern="1200" dirty="0">
                <a:solidFill>
                  <a:schemeClr val="tx1"/>
                </a:solidFill>
                <a:effectLst/>
                <a:ea typeface="+mn-ea"/>
                <a:cs typeface="+mn-cs"/>
              </a:rPr>
              <a:t> S3) to store data. The customer configured a virtual private</a:t>
            </a:r>
            <a:r>
              <a:rPr lang="en-US" sz="1100" kern="1200" baseline="0" dirty="0">
                <a:solidFill>
                  <a:schemeClr val="tx1"/>
                </a:solidFill>
                <a:effectLst/>
                <a:ea typeface="+mn-ea"/>
                <a:cs typeface="+mn-cs"/>
              </a:rPr>
              <a:t> cloud (</a:t>
            </a:r>
            <a:r>
              <a:rPr lang="en-US" sz="1100" kern="1200" dirty="0">
                <a:solidFill>
                  <a:schemeClr val="tx1"/>
                </a:solidFill>
                <a:effectLst/>
                <a:ea typeface="+mn-ea"/>
                <a:cs typeface="+mn-cs"/>
              </a:rPr>
              <a:t>VPC) with Amazon Virtual Private Cloud (Amazon VPC). The EC2 instance and the Oracle database instance that they created both run in the VPC.</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In this example, the customer must manage the guest operating system (OS) that runs on the </a:t>
            </a:r>
            <a:r>
              <a:rPr lang="en-US" sz="1100" b="1" kern="1200" dirty="0">
                <a:solidFill>
                  <a:schemeClr val="tx1"/>
                </a:solidFill>
                <a:effectLst/>
                <a:ea typeface="+mn-ea"/>
                <a:cs typeface="+mn-cs"/>
              </a:rPr>
              <a:t>EC2 instance</a:t>
            </a:r>
            <a:r>
              <a:rPr lang="en-US" sz="1100" kern="1200" dirty="0">
                <a:solidFill>
                  <a:schemeClr val="tx1"/>
                </a:solidFill>
                <a:effectLst/>
                <a:ea typeface="+mn-ea"/>
                <a:cs typeface="+mn-cs"/>
              </a:rPr>
              <a:t>. Over time, the guest OS will need to be upgraded and have security patches applied. Additionally, any application software or utilities that the customer installed on the Amazon EC2 instance must also be maintained. The customer is responsible for configuring the AWS firewall (or security group) that is applied to the Amazon EC2 instance. The customer is also responsible for the </a:t>
            </a:r>
            <a:r>
              <a:rPr lang="en-US" sz="1100" b="1" kern="1200" dirty="0">
                <a:solidFill>
                  <a:schemeClr val="tx1"/>
                </a:solidFill>
                <a:effectLst/>
                <a:ea typeface="+mn-ea"/>
                <a:cs typeface="+mn-cs"/>
              </a:rPr>
              <a:t>VPC</a:t>
            </a:r>
            <a:r>
              <a:rPr lang="en-US" sz="1100" kern="1200" dirty="0">
                <a:solidFill>
                  <a:schemeClr val="tx1"/>
                </a:solidFill>
                <a:effectLst/>
                <a:ea typeface="+mn-ea"/>
                <a:cs typeface="+mn-cs"/>
              </a:rPr>
              <a:t> configurations that specify the network conditions in which the Amazon EC2 instance runs. These tasks are the same security tasks that IT staff</a:t>
            </a:r>
            <a:r>
              <a:rPr lang="en-US" sz="1100" kern="1200" baseline="0" dirty="0">
                <a:solidFill>
                  <a:schemeClr val="tx1"/>
                </a:solidFill>
                <a:effectLst/>
                <a:ea typeface="+mn-ea"/>
                <a:cs typeface="+mn-cs"/>
              </a:rPr>
              <a:t> would </a:t>
            </a:r>
            <a:r>
              <a:rPr lang="en-US" sz="1100" kern="1200" dirty="0">
                <a:solidFill>
                  <a:schemeClr val="tx1"/>
                </a:solidFill>
                <a:effectLst/>
                <a:ea typeface="+mn-ea"/>
                <a:cs typeface="+mn-cs"/>
              </a:rPr>
              <a:t>perform, no matter where their servers are located. </a:t>
            </a:r>
          </a:p>
          <a:p>
            <a:endParaRPr lang="en-US" sz="1100" kern="1200" dirty="0">
              <a:solidFill>
                <a:schemeClr val="tx1"/>
              </a:solidFill>
              <a:effectLst/>
              <a:ea typeface="+mn-ea"/>
              <a:cs typeface="+mn-cs"/>
            </a:endParaRPr>
          </a:p>
          <a:p>
            <a:r>
              <a:rPr lang="en-US" sz="1100" b="0" i="0" kern="1200" dirty="0">
                <a:solidFill>
                  <a:schemeClr val="tx1"/>
                </a:solidFill>
                <a:effectLst/>
                <a:ea typeface="+mn-ea"/>
                <a:cs typeface="+mn-cs"/>
              </a:rPr>
              <a:t>The </a:t>
            </a:r>
            <a:r>
              <a:rPr lang="en-US" sz="1100" i="0" kern="1200" dirty="0">
                <a:solidFill>
                  <a:schemeClr val="tx1"/>
                </a:solidFill>
                <a:effectLst/>
                <a:ea typeface="+mn-ea"/>
                <a:cs typeface="+mn-cs"/>
              </a:rPr>
              <a:t>Oracle instance </a:t>
            </a:r>
            <a:r>
              <a:rPr lang="en-US" sz="1100" b="0" i="0" kern="1200" dirty="0">
                <a:solidFill>
                  <a:schemeClr val="tx1"/>
                </a:solidFill>
                <a:effectLst/>
                <a:ea typeface="+mn-ea"/>
                <a:cs typeface="+mn-cs"/>
              </a:rPr>
              <a:t>in this example provides an interesting case study in terms of AWS or customer responsibility. </a:t>
            </a:r>
            <a:r>
              <a:rPr lang="en-US" sz="1100" b="1" i="0" kern="1200" dirty="0">
                <a:solidFill>
                  <a:schemeClr val="tx1"/>
                </a:solidFill>
                <a:effectLst/>
                <a:ea typeface="+mn-ea"/>
                <a:cs typeface="+mn-cs"/>
              </a:rPr>
              <a:t>If the database runs on an EC2 instance</a:t>
            </a:r>
            <a:r>
              <a:rPr lang="en-US" sz="1100" b="0" i="0" kern="1200" dirty="0">
                <a:solidFill>
                  <a:schemeClr val="tx1"/>
                </a:solidFill>
                <a:effectLst/>
                <a:ea typeface="+mn-ea"/>
                <a:cs typeface="+mn-cs"/>
              </a:rPr>
              <a:t>, then it is the customer's responsibility to apply Oracle software upgrades and patches. However, </a:t>
            </a:r>
            <a:r>
              <a:rPr lang="en-US" sz="1100" b="1" i="0" kern="1200" dirty="0">
                <a:solidFill>
                  <a:schemeClr val="tx1"/>
                </a:solidFill>
                <a:effectLst/>
                <a:ea typeface="+mn-ea"/>
                <a:cs typeface="+mn-cs"/>
              </a:rPr>
              <a:t>if the database runs as an Amazon RDS instance</a:t>
            </a:r>
            <a:r>
              <a:rPr lang="en-US" sz="1100" b="0" i="0" kern="1200" dirty="0">
                <a:solidFill>
                  <a:schemeClr val="tx1"/>
                </a:solidFill>
                <a:effectLst/>
                <a:ea typeface="+mn-ea"/>
                <a:cs typeface="+mn-cs"/>
              </a:rPr>
              <a:t>, then it is the responsibility</a:t>
            </a:r>
            <a:r>
              <a:rPr lang="en-US" sz="1100" b="0" i="0" kern="1200" baseline="0" dirty="0">
                <a:solidFill>
                  <a:schemeClr val="tx1"/>
                </a:solidFill>
                <a:effectLst/>
                <a:ea typeface="+mn-ea"/>
                <a:cs typeface="+mn-cs"/>
              </a:rPr>
              <a:t> of </a:t>
            </a:r>
            <a:r>
              <a:rPr lang="en-US" sz="1100" b="0" i="0" kern="1200" dirty="0">
                <a:solidFill>
                  <a:schemeClr val="tx1"/>
                </a:solidFill>
                <a:effectLst/>
                <a:ea typeface="+mn-ea"/>
                <a:cs typeface="+mn-cs"/>
              </a:rPr>
              <a:t>AWS to apply Oracle software upgrades and patches. Because Amazon RDS is a managed database offering, time-consuming database administration tasks—which</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include provisioning, backups, software patching, monitoring, and hardware scaling—are handled by AWS. To learn more, see </a:t>
            </a:r>
            <a:r>
              <a:rPr lang="en-US" sz="1100" dirty="0">
                <a:ea typeface="Amazon Ember Light" panose="020B0403020204020204" pitchFamily="34" charset="0"/>
                <a:cs typeface="Amazon Ember Light" panose="020B0403020204020204" pitchFamily="34" charset="0"/>
                <a:hlinkClick r:id="rId3"/>
              </a:rPr>
              <a:t>Best Practices for Running Oracle Database on AWS</a:t>
            </a:r>
            <a:r>
              <a:rPr lang="en-US" sz="1100" dirty="0">
                <a:ea typeface="Amazon Ember Light" panose="020B0403020204020204" pitchFamily="34" charset="0"/>
                <a:cs typeface="Amazon Ember Light" panose="020B0403020204020204" pitchFamily="34" charset="0"/>
              </a:rPr>
              <a:t> for details.</a:t>
            </a:r>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3318010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1350963"/>
            <a:ext cx="6488112" cy="3649662"/>
          </a:xfrm>
        </p:spPr>
      </p:sp>
      <p:sp>
        <p:nvSpPr>
          <p:cNvPr id="3" name="Notes Placeholder 2"/>
          <p:cNvSpPr>
            <a:spLocks noGrp="1"/>
          </p:cNvSpPr>
          <p:nvPr>
            <p:ph type="body" idx="1"/>
          </p:nvPr>
        </p:nvSpPr>
        <p:spPr>
          <a:xfrm>
            <a:off x="666570" y="5202678"/>
            <a:ext cx="5332554" cy="4256735"/>
          </a:xfrm>
        </p:spPr>
        <p:txBody>
          <a:bodyPr/>
          <a:lstStyle/>
          <a:p>
            <a:r>
              <a:rPr lang="en-US" sz="1100" kern="1200" dirty="0">
                <a:solidFill>
                  <a:schemeClr val="tx1"/>
                </a:solidFill>
                <a:effectLst/>
                <a:ea typeface="+mn-ea"/>
                <a:cs typeface="+mn-cs"/>
              </a:rPr>
              <a:t>Now, consider this additional case where a customer uses the AWS services and resources that are shown here. Who is responsible for maintaining security? AWS or the customer?</a:t>
            </a:r>
          </a:p>
          <a:p>
            <a:r>
              <a:rPr lang="en-US" sz="1100" kern="1200" dirty="0">
                <a:solidFill>
                  <a:schemeClr val="tx1"/>
                </a:solidFill>
                <a:effectLst/>
                <a:ea typeface="+mn-ea"/>
                <a:cs typeface="+mn-cs"/>
              </a:rPr>
              <a:t> </a:t>
            </a:r>
          </a:p>
          <a:p>
            <a:r>
              <a:rPr lang="en-US" sz="1100" kern="1200" dirty="0">
                <a:solidFill>
                  <a:schemeClr val="tx1"/>
                </a:solidFill>
                <a:effectLst/>
                <a:ea typeface="+mn-ea"/>
                <a:cs typeface="+mn-cs"/>
              </a:rPr>
              <a:t>A customer uses Amazon S3 to store data. The customer configured a virtual</a:t>
            </a:r>
            <a:r>
              <a:rPr lang="en-US" sz="1100" kern="1200" baseline="0" dirty="0">
                <a:solidFill>
                  <a:schemeClr val="tx1"/>
                </a:solidFill>
                <a:effectLst/>
                <a:ea typeface="+mn-ea"/>
                <a:cs typeface="+mn-cs"/>
              </a:rPr>
              <a:t> private cloud (</a:t>
            </a:r>
            <a:r>
              <a:rPr lang="en-US" sz="1100" kern="1200" dirty="0">
                <a:solidFill>
                  <a:schemeClr val="tx1"/>
                </a:solidFill>
                <a:effectLst/>
                <a:ea typeface="+mn-ea"/>
                <a:cs typeface="+mn-cs"/>
              </a:rPr>
              <a:t>VPC) with Amazon VPC, and is running a web server on an EC2 instance in the VPC. The customer configured an internet gateway as part of the VPC so that the web server can be reached by using the AWS Management Console or the AWS Command Line Interface (AWS CLI). When the customer uses the AWS CLI, the connection requires the use of Secure Shell (SSH) keys.</a:t>
            </a:r>
          </a:p>
        </p:txBody>
      </p:sp>
    </p:spTree>
    <p:extLst>
      <p:ext uri="{BB962C8B-B14F-4D97-AF65-F5344CB8AC3E}">
        <p14:creationId xmlns:p14="http://schemas.microsoft.com/office/powerpoint/2010/main" val="2839321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8D64E-102E-4A99-AC8F-9530488CCB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97157E44-98D2-4992-83EC-CDB98169BF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2284F0B4-9CFD-4147-890A-BA176D04D2C2}"/>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258EE19A-59BD-4779-A998-082564ED252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336989D-9118-48D9-AAC1-215D1B161DB4}"/>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228106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3B7F2-3E18-428C-A38A-CCC6D86E285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738A1B0-9C6D-42AB-9C3C-99B3D44245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0E591CE-17AD-43D0-ADA7-C0F10DE7D1A7}"/>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98418D7B-1246-427B-8828-08DDF153B29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779A4A7-4A8E-4D7A-B6D1-B0E4491EA401}"/>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070278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1CD4A-168C-4074-B8DD-BF6314D9E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1AD965D5-4A59-4836-BD4D-97474D0A18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A46B07-F8C4-41F9-A996-5FDAFC64D0BD}"/>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FA8B34A6-5CC1-481F-A2B9-14B4160C61A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31337038-E0CE-4AE8-A584-D74A441EA37F}"/>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459448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4A20-D61E-4405-A9E0-0F5B3FEF213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0A601F4-0821-41FA-92E7-523196005B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D4FEF94A-266B-42E0-8033-A60EB7C67E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91731BE5-906F-4ECD-ACFC-CA303F5E5F0B}"/>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6" name="Footer Placeholder 5">
            <a:extLst>
              <a:ext uri="{FF2B5EF4-FFF2-40B4-BE49-F238E27FC236}">
                <a16:creationId xmlns:a16="http://schemas.microsoft.com/office/drawing/2014/main" id="{3973335B-2C1F-4745-8C9D-2ECB6980682A}"/>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48E57576-1011-4E2D-96E4-F49AC96C6EFC}"/>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756555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CEA5C-7716-4AF6-853F-FE4676D6F307}"/>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2805B59-B9BC-4D0F-BD27-42461A16CC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75747F-5717-491B-AD88-E5E0CE243B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4F2E2F65-A9D5-4E75-B4AD-6B997F5717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7346FE-DA1B-46BF-9656-935C24BB41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55CBD389-0227-4930-8AAE-F16F43FA0334}"/>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8" name="Footer Placeholder 7">
            <a:extLst>
              <a:ext uri="{FF2B5EF4-FFF2-40B4-BE49-F238E27FC236}">
                <a16:creationId xmlns:a16="http://schemas.microsoft.com/office/drawing/2014/main" id="{3D495526-EB20-4727-A215-63300B6561DB}"/>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13F15153-F31A-4C62-A728-8CF748CC53E1}"/>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411774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6A59-8D48-4EE7-83F8-10ADE162BF4A}"/>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18CD9F9B-2398-41D9-BC67-F80DED1E4C9D}"/>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4" name="Footer Placeholder 3">
            <a:extLst>
              <a:ext uri="{FF2B5EF4-FFF2-40B4-BE49-F238E27FC236}">
                <a16:creationId xmlns:a16="http://schemas.microsoft.com/office/drawing/2014/main" id="{92913EC7-2CBE-4737-B6B0-E8AD8313676C}"/>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873E0C77-86AE-43FC-9425-F891CC073973}"/>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347368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91FD2F-27C4-4647-9364-80CB11ED3A32}"/>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3" name="Footer Placeholder 2">
            <a:extLst>
              <a:ext uri="{FF2B5EF4-FFF2-40B4-BE49-F238E27FC236}">
                <a16:creationId xmlns:a16="http://schemas.microsoft.com/office/drawing/2014/main" id="{BB94BBD7-66BE-4131-9DD3-B8938D6F9F37}"/>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408E26A5-8BFB-496D-A640-4F7F2BEDA845}"/>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245685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73C7-3652-4D53-A5B4-5CA3A72C0E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350EA0D6-E36F-4423-84DF-BD2F7769A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6A6761C5-A35F-4E7C-B850-7BE546D7F6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049387-7E93-4A73-B93F-CD2C11AFC28F}"/>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6" name="Footer Placeholder 5">
            <a:extLst>
              <a:ext uri="{FF2B5EF4-FFF2-40B4-BE49-F238E27FC236}">
                <a16:creationId xmlns:a16="http://schemas.microsoft.com/office/drawing/2014/main" id="{D4DF096E-9915-47BA-9ECA-5777FB65A33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AEC39406-A89F-4155-9A44-7FA3D5023479}"/>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3698958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AA3D-3B3C-4193-85F8-2AE0B0A8DB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3E2FDA16-1FF1-431C-8F86-F70D60DAC2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C3FF225E-3E65-4053-8235-1BDBA1163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6096B-5F6D-417C-B205-0116665FB636}"/>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6" name="Footer Placeholder 5">
            <a:extLst>
              <a:ext uri="{FF2B5EF4-FFF2-40B4-BE49-F238E27FC236}">
                <a16:creationId xmlns:a16="http://schemas.microsoft.com/office/drawing/2014/main" id="{34122430-7A53-440E-A2CD-50E13143184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FD4BDFD-23C7-4266-830A-7E5FDC6D2FA8}"/>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98751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72D7E-6BCC-4069-9371-358AB51184B3}"/>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8C754DB9-2D55-4B8C-A085-8B7692BE31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CADD624-5320-4D9D-AF29-C00C6D8D55D8}"/>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C7EA978C-5975-4F84-B4C1-6D78A4CC96A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4088BCD-1A5C-4056-8DD7-8D752F91AB90}"/>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340454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A87A5C-0128-41ED-B70F-39C73046C9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88ECB9A8-09D1-4CEF-803E-A1CB021E3D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31442F94-C4F2-4F4A-9F7B-C81334BCEB77}"/>
              </a:ext>
            </a:extLst>
          </p:cNvPr>
          <p:cNvSpPr>
            <a:spLocks noGrp="1"/>
          </p:cNvSpPr>
          <p:nvPr>
            <p:ph type="dt" sz="half" idx="10"/>
          </p:nvPr>
        </p:nvSpPr>
        <p:spPr/>
        <p:txBody>
          <a:body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CF6CC3C7-7D44-4EC8-B6A3-E58FBC5B8EF1}"/>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9E0B80C-70DA-4701-A64B-8A54D9A37A64}"/>
              </a:ext>
            </a:extLst>
          </p:cNvPr>
          <p:cNvSpPr>
            <a:spLocks noGrp="1"/>
          </p:cNvSpPr>
          <p:nvPr>
            <p:ph type="sldNum" sz="quarter" idx="12"/>
          </p:nvPr>
        </p:nvSpPr>
        <p:spPr/>
        <p:txBody>
          <a:bodyPr/>
          <a:lstStyle/>
          <a:p>
            <a:fld id="{48F9A40A-550B-4302-B23A-71536166739E}" type="slidenum">
              <a:rPr lang="en-MY" smtClean="0"/>
              <a:t>‹#›</a:t>
            </a:fld>
            <a:endParaRPr lang="en-MY"/>
          </a:p>
        </p:txBody>
      </p:sp>
    </p:spTree>
    <p:extLst>
      <p:ext uri="{BB962C8B-B14F-4D97-AF65-F5344CB8AC3E}">
        <p14:creationId xmlns:p14="http://schemas.microsoft.com/office/powerpoint/2010/main" val="1467779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759660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1E63B1-D793-4B62-8B91-573793A8C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2CC9095-6786-42FC-9AE8-2F871FF93A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0E7DB4E-2EB7-49A0-AEF3-956D40DF4F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DEB7B1-6231-4C7E-9187-5E77B8D04C7C}" type="datetimeFigureOut">
              <a:rPr lang="en-MY" smtClean="0"/>
              <a:t>1/12/2021</a:t>
            </a:fld>
            <a:endParaRPr lang="en-MY"/>
          </a:p>
        </p:txBody>
      </p:sp>
      <p:sp>
        <p:nvSpPr>
          <p:cNvPr id="5" name="Footer Placeholder 4">
            <a:extLst>
              <a:ext uri="{FF2B5EF4-FFF2-40B4-BE49-F238E27FC236}">
                <a16:creationId xmlns:a16="http://schemas.microsoft.com/office/drawing/2014/main" id="{8EDB8BA3-B7F1-42CA-B9DF-35A61F2F86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9D77F091-F751-4174-8E39-6F2A8FB1D1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9A40A-550B-4302-B23A-71536166739E}" type="slidenum">
              <a:rPr lang="en-MY" smtClean="0"/>
              <a:t>‹#›</a:t>
            </a:fld>
            <a:endParaRPr lang="en-MY"/>
          </a:p>
        </p:txBody>
      </p:sp>
    </p:spTree>
    <p:extLst>
      <p:ext uri="{BB962C8B-B14F-4D97-AF65-F5344CB8AC3E}">
        <p14:creationId xmlns:p14="http://schemas.microsoft.com/office/powerpoint/2010/main" val="2671682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notesSlide" Target="../notesSlides/notesSlide2.xml"/><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1.svg"/><Relationship Id="rId18" Type="http://schemas.openxmlformats.org/officeDocument/2006/relationships/image" Target="../media/image26.png"/><Relationship Id="rId3" Type="http://schemas.openxmlformats.org/officeDocument/2006/relationships/notesSlide" Target="../notesSlides/notesSlide3.xml"/><Relationship Id="rId7" Type="http://schemas.openxmlformats.org/officeDocument/2006/relationships/image" Target="../media/image17.sv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slideLayout" Target="../slideLayouts/slideLayout2.xml"/><Relationship Id="rId16" Type="http://schemas.openxmlformats.org/officeDocument/2006/relationships/image" Target="../media/image24.png"/><Relationship Id="rId1" Type="http://schemas.openxmlformats.org/officeDocument/2006/relationships/tags" Target="../tags/tag4.xml"/><Relationship Id="rId6" Type="http://schemas.openxmlformats.org/officeDocument/2006/relationships/image" Target="../media/image16.png"/><Relationship Id="rId11" Type="http://schemas.openxmlformats.org/officeDocument/2006/relationships/image" Target="../media/image19.svg"/><Relationship Id="rId5" Type="http://schemas.openxmlformats.org/officeDocument/2006/relationships/image" Target="../media/image15.svg"/><Relationship Id="rId15" Type="http://schemas.openxmlformats.org/officeDocument/2006/relationships/image" Target="../media/image23.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4.png"/><Relationship Id="rId9" Type="http://schemas.openxmlformats.org/officeDocument/2006/relationships/image" Target="../media/image9.sv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4E2BE3-1435-904C-988A-006DC38C048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017FB012-E14B-5F43-B605-4C7071827C78}"/>
              </a:ext>
            </a:extLst>
          </p:cNvPr>
          <p:cNvSpPr>
            <a:spLocks noGrp="1"/>
          </p:cNvSpPr>
          <p:nvPr>
            <p:ph type="title"/>
          </p:nvPr>
        </p:nvSpPr>
        <p:spPr/>
        <p:txBody>
          <a:bodyPr>
            <a:noAutofit/>
          </a:bodyPr>
          <a:lstStyle/>
          <a:p>
            <a:r>
              <a:rPr lang="en-US" sz="3200" dirty="0"/>
              <a:t>Activity: AWS shared responsibility model</a:t>
            </a:r>
          </a:p>
        </p:txBody>
      </p:sp>
      <p:sp>
        <p:nvSpPr>
          <p:cNvPr id="4" name="Slide Number Placeholder 3">
            <a:extLst>
              <a:ext uri="{FF2B5EF4-FFF2-40B4-BE49-F238E27FC236}">
                <a16:creationId xmlns:a16="http://schemas.microsoft.com/office/drawing/2014/main" id="{2010F476-C7B4-8D4C-9640-0C638E9308D3}"/>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a:t>
            </a:fld>
            <a:endParaRPr lang="en-US" dirty="0"/>
          </a:p>
        </p:txBody>
      </p:sp>
      <p:pic>
        <p:nvPicPr>
          <p:cNvPr id="6" name="Picture 5">
            <a:extLst>
              <a:ext uri="{FF2B5EF4-FFF2-40B4-BE49-F238E27FC236}">
                <a16:creationId xmlns:a16="http://schemas.microsoft.com/office/drawing/2014/main" id="{D2394557-4B7E-5246-9CE6-6A6809ABA7A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800451" y="1330778"/>
            <a:ext cx="5595257" cy="4196443"/>
          </a:xfrm>
          <a:prstGeom prst="rect">
            <a:avLst/>
          </a:prstGeom>
        </p:spPr>
      </p:pic>
      <p:sp>
        <p:nvSpPr>
          <p:cNvPr id="7" name="Footer Placeholder 1">
            <a:extLst>
              <a:ext uri="{FF2B5EF4-FFF2-40B4-BE49-F238E27FC236}">
                <a16:creationId xmlns:a16="http://schemas.microsoft.com/office/drawing/2014/main" id="{9817BB4C-EC5A-0447-8EAD-E767BB0AAE70}"/>
              </a:ext>
            </a:extLst>
          </p:cNvPr>
          <p:cNvSpPr txBox="1">
            <a:spLocks/>
          </p:cNvSpPr>
          <p:nvPr/>
        </p:nvSpPr>
        <p:spPr>
          <a:xfrm>
            <a:off x="5645081" y="5527221"/>
            <a:ext cx="2952998" cy="365125"/>
          </a:xfrm>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Photo by Pixabay from Pexels.</a:t>
            </a:r>
          </a:p>
        </p:txBody>
      </p:sp>
    </p:spTree>
    <p:custDataLst>
      <p:tags r:id="rId1"/>
    </p:custDataLst>
    <p:extLst>
      <p:ext uri="{BB962C8B-B14F-4D97-AF65-F5344CB8AC3E}">
        <p14:creationId xmlns:p14="http://schemas.microsoft.com/office/powerpoint/2010/main" val="2317571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Activity: Scenario 1 of 2</a:t>
            </a:r>
          </a:p>
        </p:txBody>
      </p:sp>
      <p:sp>
        <p:nvSpPr>
          <p:cNvPr id="2" name="Footer Placeholder 1">
            <a:extLst>
              <a:ext uri="{FF2B5EF4-FFF2-40B4-BE49-F238E27FC236}">
                <a16:creationId xmlns:a16="http://schemas.microsoft.com/office/drawing/2014/main" id="{51E646A1-EDF0-6740-AF23-385069AE46A6}"/>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2019 Amazon Web Services, Inc. or its Affiliates. All rights reserved.</a:t>
            </a:r>
            <a:endParaRPr lang="en-US" dirty="0"/>
          </a:p>
        </p:txBody>
      </p:sp>
      <p:sp>
        <p:nvSpPr>
          <p:cNvPr id="5" name="Slide Number Placeholder 4">
            <a:extLst>
              <a:ext uri="{FF2B5EF4-FFF2-40B4-BE49-F238E27FC236}">
                <a16:creationId xmlns:a16="http://schemas.microsoft.com/office/drawing/2014/main" id="{675D8BB1-3643-6B45-996C-47BCC8095C8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a:t>
            </a:fld>
            <a:endParaRPr lang="en-US" dirty="0"/>
          </a:p>
        </p:txBody>
      </p:sp>
      <p:grpSp>
        <p:nvGrpSpPr>
          <p:cNvPr id="31" name="Group 30" descr="the architectural diagram shows an AWS Cloud box which contains an AWS Global Infrastructure area, as well as an Amazon S3 bucket, and finally a VPC which contains an Amazon EC2 instance and an Oracle instance.">
            <a:extLst>
              <a:ext uri="{FF2B5EF4-FFF2-40B4-BE49-F238E27FC236}">
                <a16:creationId xmlns:a16="http://schemas.microsoft.com/office/drawing/2014/main" id="{62344397-6BEB-5C4E-A3F6-0375AB86EEBA}"/>
              </a:ext>
            </a:extLst>
          </p:cNvPr>
          <p:cNvGrpSpPr/>
          <p:nvPr/>
        </p:nvGrpSpPr>
        <p:grpSpPr>
          <a:xfrm>
            <a:off x="254000" y="1894114"/>
            <a:ext cx="4796972" cy="3244556"/>
            <a:chOff x="254000" y="1894114"/>
            <a:chExt cx="4796972" cy="3244556"/>
          </a:xfrm>
        </p:grpSpPr>
        <p:pic>
          <p:nvPicPr>
            <p:cNvPr id="10" name="Graphic 9">
              <a:extLst>
                <a:ext uri="{FF2B5EF4-FFF2-40B4-BE49-F238E27FC236}">
                  <a16:creationId xmlns:a16="http://schemas.microsoft.com/office/drawing/2014/main" id="{6BB2521E-0885-344C-9748-52E3F00AB2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096" y="2741058"/>
              <a:ext cx="711200" cy="711200"/>
            </a:xfrm>
            <a:prstGeom prst="rect">
              <a:avLst/>
            </a:prstGeom>
          </p:spPr>
        </p:pic>
        <p:sp>
          <p:nvSpPr>
            <p:cNvPr id="12" name="TextBox 11">
              <a:extLst>
                <a:ext uri="{FF2B5EF4-FFF2-40B4-BE49-F238E27FC236}">
                  <a16:creationId xmlns:a16="http://schemas.microsoft.com/office/drawing/2014/main" id="{1EA8A186-3FF5-A842-B753-04F0E39A200B}"/>
                </a:ext>
              </a:extLst>
            </p:cNvPr>
            <p:cNvSpPr txBox="1"/>
            <p:nvPr/>
          </p:nvSpPr>
          <p:spPr>
            <a:xfrm>
              <a:off x="273666" y="3459335"/>
              <a:ext cx="1624529" cy="830997"/>
            </a:xfrm>
            <a:prstGeom prst="rect">
              <a:avLst/>
            </a:prstGeom>
            <a:noFill/>
          </p:spPr>
          <p:txBody>
            <a:bodyPr wrap="square" rtlCol="0">
              <a:spAutoFit/>
            </a:bodyPr>
            <a:lstStyle/>
            <a:p>
              <a:pPr algn="ctr"/>
              <a:r>
                <a:rPr lang="en-US" sz="1600" dirty="0"/>
                <a:t>Amazon Simple Storage Service (Amazon S3)</a:t>
              </a:r>
            </a:p>
          </p:txBody>
        </p:sp>
        <p:sp>
          <p:nvSpPr>
            <p:cNvPr id="14" name="TextBox 13">
              <a:extLst>
                <a:ext uri="{FF2B5EF4-FFF2-40B4-BE49-F238E27FC236}">
                  <a16:creationId xmlns:a16="http://schemas.microsoft.com/office/drawing/2014/main" id="{DEFB4DA9-1A4E-F34B-88DE-5D0959E06D03}"/>
                </a:ext>
              </a:extLst>
            </p:cNvPr>
            <p:cNvSpPr txBox="1"/>
            <p:nvPr/>
          </p:nvSpPr>
          <p:spPr>
            <a:xfrm>
              <a:off x="2077747" y="3511425"/>
              <a:ext cx="1513305" cy="584775"/>
            </a:xfrm>
            <a:prstGeom prst="rect">
              <a:avLst/>
            </a:prstGeom>
            <a:noFill/>
          </p:spPr>
          <p:txBody>
            <a:bodyPr wrap="square" rtlCol="0">
              <a:spAutoFit/>
            </a:bodyPr>
            <a:lstStyle/>
            <a:p>
              <a:pPr algn="ctr"/>
              <a:r>
                <a:rPr lang="en-US" sz="1600" dirty="0"/>
                <a:t>Amazon </a:t>
              </a:r>
              <a:br>
                <a:rPr lang="en-US" sz="1600" dirty="0"/>
              </a:br>
              <a:r>
                <a:rPr lang="en-US" sz="1600" dirty="0"/>
                <a:t>EC2</a:t>
              </a:r>
            </a:p>
          </p:txBody>
        </p:sp>
        <p:pic>
          <p:nvPicPr>
            <p:cNvPr id="15" name="Graphic 14">
              <a:extLst>
                <a:ext uri="{FF2B5EF4-FFF2-40B4-BE49-F238E27FC236}">
                  <a16:creationId xmlns:a16="http://schemas.microsoft.com/office/drawing/2014/main" id="{CFCA6B7F-3260-7847-9028-AF1EFB601F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78800" y="2741058"/>
              <a:ext cx="711200" cy="711200"/>
            </a:xfrm>
            <a:prstGeom prst="rect">
              <a:avLst/>
            </a:prstGeom>
          </p:spPr>
        </p:pic>
        <p:sp>
          <p:nvSpPr>
            <p:cNvPr id="18" name="Rectangle 17">
              <a:extLst>
                <a:ext uri="{FF2B5EF4-FFF2-40B4-BE49-F238E27FC236}">
                  <a16:creationId xmlns:a16="http://schemas.microsoft.com/office/drawing/2014/main" id="{3EA89E8D-EBD6-BC48-A1A4-6F8FB7E9F3DC}"/>
                </a:ext>
              </a:extLst>
            </p:cNvPr>
            <p:cNvSpPr/>
            <p:nvPr/>
          </p:nvSpPr>
          <p:spPr>
            <a:xfrm>
              <a:off x="2039048" y="2130006"/>
              <a:ext cx="2709883" cy="2035244"/>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chemeClr val="accent5"/>
                  </a:solidFill>
                </a:rPr>
                <a:t>Virtual Private Cloud (VPC)</a:t>
              </a:r>
              <a:endParaRPr lang="en-US" sz="1200" dirty="0">
                <a:ln w="0"/>
                <a:solidFill>
                  <a:schemeClr val="accent5"/>
                </a:solidFill>
              </a:endParaRPr>
            </a:p>
          </p:txBody>
        </p:sp>
        <p:pic>
          <p:nvPicPr>
            <p:cNvPr id="19" name="Graphic 18">
              <a:extLst>
                <a:ext uri="{FF2B5EF4-FFF2-40B4-BE49-F238E27FC236}">
                  <a16:creationId xmlns:a16="http://schemas.microsoft.com/office/drawing/2014/main" id="{217CA18F-C790-8249-A9C4-0B7DF0607D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39048" y="2138782"/>
              <a:ext cx="327291" cy="327291"/>
            </a:xfrm>
            <a:prstGeom prst="rect">
              <a:avLst/>
            </a:prstGeom>
          </p:spPr>
        </p:pic>
        <p:sp>
          <p:nvSpPr>
            <p:cNvPr id="20" name="TextBox 19">
              <a:extLst>
                <a:ext uri="{FF2B5EF4-FFF2-40B4-BE49-F238E27FC236}">
                  <a16:creationId xmlns:a16="http://schemas.microsoft.com/office/drawing/2014/main" id="{EE1C367D-62EF-0746-B2F0-848ADC656C91}"/>
                </a:ext>
              </a:extLst>
            </p:cNvPr>
            <p:cNvSpPr txBox="1"/>
            <p:nvPr/>
          </p:nvSpPr>
          <p:spPr>
            <a:xfrm>
              <a:off x="3535845" y="3491820"/>
              <a:ext cx="1162652" cy="830997"/>
            </a:xfrm>
            <a:prstGeom prst="rect">
              <a:avLst/>
            </a:prstGeom>
            <a:noFill/>
          </p:spPr>
          <p:txBody>
            <a:bodyPr wrap="square" rtlCol="0">
              <a:spAutoFit/>
            </a:bodyPr>
            <a:lstStyle/>
            <a:p>
              <a:pPr algn="ctr"/>
              <a:r>
                <a:rPr lang="en-US" sz="1600" dirty="0"/>
                <a:t>Oracle instance</a:t>
              </a:r>
            </a:p>
            <a:p>
              <a:pPr algn="ctr"/>
              <a:endParaRPr lang="en-US" sz="1600" dirty="0"/>
            </a:p>
          </p:txBody>
        </p:sp>
        <p:pic>
          <p:nvPicPr>
            <p:cNvPr id="21" name="Graphic 20">
              <a:extLst>
                <a:ext uri="{FF2B5EF4-FFF2-40B4-BE49-F238E27FC236}">
                  <a16:creationId xmlns:a16="http://schemas.microsoft.com/office/drawing/2014/main" id="{5CB8050E-54BF-524A-862D-1688F3F4A33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96417" y="2741058"/>
              <a:ext cx="711200" cy="711200"/>
            </a:xfrm>
            <a:prstGeom prst="rect">
              <a:avLst/>
            </a:prstGeom>
          </p:spPr>
        </p:pic>
        <p:sp>
          <p:nvSpPr>
            <p:cNvPr id="23" name="Rectangle 22">
              <a:extLst>
                <a:ext uri="{FF2B5EF4-FFF2-40B4-BE49-F238E27FC236}">
                  <a16:creationId xmlns:a16="http://schemas.microsoft.com/office/drawing/2014/main" id="{7710ABD6-8348-D848-8430-3475FE28A221}"/>
                </a:ext>
              </a:extLst>
            </p:cNvPr>
            <p:cNvSpPr/>
            <p:nvPr/>
          </p:nvSpPr>
          <p:spPr>
            <a:xfrm>
              <a:off x="254000" y="1894114"/>
              <a:ext cx="4796972" cy="324455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AWS Cloud</a:t>
              </a:r>
            </a:p>
          </p:txBody>
        </p:sp>
        <p:pic>
          <p:nvPicPr>
            <p:cNvPr id="24" name="Graphic 23">
              <a:extLst>
                <a:ext uri="{FF2B5EF4-FFF2-40B4-BE49-F238E27FC236}">
                  <a16:creationId xmlns:a16="http://schemas.microsoft.com/office/drawing/2014/main" id="{8E7E642E-C34B-9B40-93F3-ED96D531A27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4000" y="1903220"/>
              <a:ext cx="330200" cy="330200"/>
            </a:xfrm>
            <a:prstGeom prst="rect">
              <a:avLst/>
            </a:prstGeom>
          </p:spPr>
        </p:pic>
        <p:sp>
          <p:nvSpPr>
            <p:cNvPr id="26" name="Rectangle 25">
              <a:extLst>
                <a:ext uri="{FF2B5EF4-FFF2-40B4-BE49-F238E27FC236}">
                  <a16:creationId xmlns:a16="http://schemas.microsoft.com/office/drawing/2014/main" id="{91C2A163-D034-FC49-9979-6ADBD7D60443}"/>
                </a:ext>
              </a:extLst>
            </p:cNvPr>
            <p:cNvSpPr/>
            <p:nvPr/>
          </p:nvSpPr>
          <p:spPr>
            <a:xfrm>
              <a:off x="664550" y="4349064"/>
              <a:ext cx="4084382" cy="584775"/>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2400" dirty="0">
                  <a:solidFill>
                    <a:srgbClr val="5A6B86"/>
                  </a:solidFill>
                </a:rPr>
                <a:t>AWS Global Infrastructure</a:t>
              </a:r>
              <a:endParaRPr lang="en-US" sz="1200" dirty="0">
                <a:solidFill>
                  <a:srgbClr val="5A6B86"/>
                </a:solidFill>
              </a:endParaRPr>
            </a:p>
          </p:txBody>
        </p:sp>
      </p:grpSp>
      <p:sp>
        <p:nvSpPr>
          <p:cNvPr id="27" name="Content Placeholder 2">
            <a:extLst>
              <a:ext uri="{FF2B5EF4-FFF2-40B4-BE49-F238E27FC236}">
                <a16:creationId xmlns:a16="http://schemas.microsoft.com/office/drawing/2014/main" id="{3168251C-9A60-F14C-9D92-CD0B1D639F03}"/>
              </a:ext>
            </a:extLst>
          </p:cNvPr>
          <p:cNvSpPr txBox="1">
            <a:spLocks/>
          </p:cNvSpPr>
          <p:nvPr/>
        </p:nvSpPr>
        <p:spPr>
          <a:xfrm>
            <a:off x="5200556" y="1927954"/>
            <a:ext cx="3094358"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Upgrades and patches to the operating system on the EC2 instance?</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a:pPr>
            <a:r>
              <a:rPr lang="en-US" sz="1600" dirty="0"/>
              <a:t>Physical security of the data center?</a:t>
            </a:r>
          </a:p>
          <a:p>
            <a:pPr lvl="1"/>
            <a:r>
              <a:rPr lang="en-US" sz="1600" b="1" dirty="0">
                <a:solidFill>
                  <a:schemeClr val="accent5"/>
                </a:solidFill>
              </a:rPr>
              <a:t>ANSWER: </a:t>
            </a:r>
            <a:endParaRPr lang="en-US" sz="1600" dirty="0">
              <a:solidFill>
                <a:schemeClr val="accent6"/>
              </a:solidFill>
            </a:endParaRPr>
          </a:p>
          <a:p>
            <a:pPr marL="342900" indent="-342900">
              <a:buFont typeface="+mj-lt"/>
              <a:buAutoNum type="arabicPeriod"/>
            </a:pPr>
            <a:r>
              <a:rPr lang="en-US" sz="1600" dirty="0"/>
              <a:t>Virtualization infrastructure?</a:t>
            </a:r>
          </a:p>
          <a:p>
            <a:pPr lvl="1"/>
            <a:r>
              <a:rPr lang="en-US" sz="1600" b="1" dirty="0">
                <a:solidFill>
                  <a:schemeClr val="accent5"/>
                </a:solidFill>
              </a:rPr>
              <a:t>ANSWER: </a:t>
            </a:r>
            <a:endParaRPr lang="en-US" sz="1600" dirty="0"/>
          </a:p>
          <a:p>
            <a:pPr marL="342900" indent="-342900">
              <a:buFont typeface="+mj-lt"/>
              <a:buAutoNum type="arabicPeriod"/>
            </a:pPr>
            <a:r>
              <a:rPr lang="en-US" sz="1600" dirty="0"/>
              <a:t>EC2 security group settings?</a:t>
            </a:r>
          </a:p>
          <a:p>
            <a:pPr lvl="1"/>
            <a:r>
              <a:rPr lang="en-US" sz="1600" b="1" dirty="0">
                <a:solidFill>
                  <a:schemeClr val="accent5"/>
                </a:solidFill>
              </a:rPr>
              <a:t>ANSWER:</a:t>
            </a:r>
            <a:r>
              <a:rPr lang="en-US" sz="1600" dirty="0"/>
              <a:t> </a:t>
            </a:r>
            <a:endParaRPr lang="en-US" sz="1600" dirty="0">
              <a:solidFill>
                <a:schemeClr val="accent6"/>
              </a:solidFill>
            </a:endParaRPr>
          </a:p>
          <a:p>
            <a:pPr marL="342900" indent="-342900">
              <a:buFont typeface="+mj-lt"/>
              <a:buAutoNum type="arabicPeriod"/>
            </a:pPr>
            <a:r>
              <a:rPr lang="en-US" sz="1600" dirty="0"/>
              <a:t>Configuration of applications that run on the EC2 instance?</a:t>
            </a:r>
          </a:p>
          <a:p>
            <a:pPr lvl="1"/>
            <a:r>
              <a:rPr lang="en-US" sz="1600" b="1" dirty="0">
                <a:solidFill>
                  <a:schemeClr val="accent5"/>
                </a:solidFill>
              </a:rPr>
              <a:t>ANSWER:</a:t>
            </a:r>
            <a:r>
              <a:rPr lang="en-US" sz="1600" dirty="0"/>
              <a:t> </a:t>
            </a:r>
            <a:endParaRPr lang="en-US" sz="1600" dirty="0">
              <a:solidFill>
                <a:schemeClr val="accent6"/>
              </a:solidFill>
            </a:endParaRPr>
          </a:p>
          <a:p>
            <a:pPr marL="0" indent="0">
              <a:buNone/>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p:txBody>
      </p:sp>
      <p:sp>
        <p:nvSpPr>
          <p:cNvPr id="6" name="TextBox 5">
            <a:extLst>
              <a:ext uri="{FF2B5EF4-FFF2-40B4-BE49-F238E27FC236}">
                <a16:creationId xmlns:a16="http://schemas.microsoft.com/office/drawing/2014/main" id="{6281A826-29AD-774B-AE52-A047C7B4AD91}"/>
              </a:ext>
            </a:extLst>
          </p:cNvPr>
          <p:cNvSpPr txBox="1"/>
          <p:nvPr/>
        </p:nvSpPr>
        <p:spPr>
          <a:xfrm>
            <a:off x="419100" y="1281787"/>
            <a:ext cx="11159893" cy="461665"/>
          </a:xfrm>
          <a:prstGeom prst="rect">
            <a:avLst/>
          </a:prstGeom>
          <a:noFill/>
        </p:spPr>
        <p:txBody>
          <a:bodyPr wrap="square" rtlCol="0">
            <a:spAutoFit/>
          </a:bodyPr>
          <a:lstStyle/>
          <a:p>
            <a:r>
              <a:rPr lang="en-US" sz="2400" b="1" dirty="0">
                <a:solidFill>
                  <a:schemeClr val="accent5"/>
                </a:solidFill>
              </a:rPr>
              <a:t>Consider this deployment. Who is responsible – AWS or the customer?</a:t>
            </a:r>
            <a:endPar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0" name="Content Placeholder 2">
            <a:extLst>
              <a:ext uri="{FF2B5EF4-FFF2-40B4-BE49-F238E27FC236}">
                <a16:creationId xmlns:a16="http://schemas.microsoft.com/office/drawing/2014/main" id="{0D6A1B44-E47E-714D-A549-0CCAF10451D2}"/>
              </a:ext>
            </a:extLst>
          </p:cNvPr>
          <p:cNvSpPr txBox="1">
            <a:spLocks/>
          </p:cNvSpPr>
          <p:nvPr/>
        </p:nvSpPr>
        <p:spPr>
          <a:xfrm>
            <a:off x="8484635" y="1929137"/>
            <a:ext cx="3094358"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t>Oracle upgrades or patches If the Oracle instance runs as an Amazon RDS instance?</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startAt="6"/>
            </a:pPr>
            <a:r>
              <a:rPr lang="en-US" sz="1600" dirty="0"/>
              <a:t>Oracle upgrades or patches If Oracle runs on an EC2 instance?</a:t>
            </a:r>
          </a:p>
          <a:p>
            <a:pPr lvl="1"/>
            <a:r>
              <a:rPr lang="en-US" sz="1600" b="1" dirty="0">
                <a:solidFill>
                  <a:schemeClr val="accent5"/>
                </a:solidFill>
              </a:rPr>
              <a:t>ANSWER:</a:t>
            </a:r>
            <a:r>
              <a:rPr lang="en-US" sz="1600" dirty="0"/>
              <a:t> </a:t>
            </a:r>
            <a:endParaRPr lang="en-US" sz="1600" dirty="0">
              <a:solidFill>
                <a:schemeClr val="accent6"/>
              </a:solidFill>
            </a:endParaRPr>
          </a:p>
          <a:p>
            <a:pPr marL="342900" indent="-342900">
              <a:buFont typeface="+mj-lt"/>
              <a:buAutoNum type="arabicPeriod" startAt="6"/>
            </a:pPr>
            <a:r>
              <a:rPr lang="en-US" sz="1600" dirty="0"/>
              <a:t>S3 bucket access configuration?</a:t>
            </a:r>
          </a:p>
          <a:p>
            <a:pPr lvl="1"/>
            <a:r>
              <a:rPr lang="en-US" sz="1600" b="1" dirty="0">
                <a:solidFill>
                  <a:schemeClr val="accent5"/>
                </a:solidFill>
              </a:rPr>
              <a:t>ANSWER</a:t>
            </a:r>
            <a:r>
              <a:rPr lang="en-US" sz="1600" b="1">
                <a:solidFill>
                  <a:schemeClr val="accent5"/>
                </a:solidFill>
              </a:rPr>
              <a:t>:</a:t>
            </a:r>
            <a:r>
              <a:rPr lang="en-US" sz="1600"/>
              <a:t> </a:t>
            </a:r>
            <a:endParaRPr lang="en-US" sz="1600" dirty="0">
              <a:solidFill>
                <a:schemeClr val="accent6"/>
              </a:solidFill>
            </a:endParaRPr>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p:txBody>
      </p:sp>
    </p:spTree>
    <p:custDataLst>
      <p:tags r:id="rId1"/>
    </p:custDataLst>
    <p:extLst>
      <p:ext uri="{BB962C8B-B14F-4D97-AF65-F5344CB8AC3E}">
        <p14:creationId xmlns:p14="http://schemas.microsoft.com/office/powerpoint/2010/main" val="376809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Activity</a:t>
            </a:r>
            <a:r>
              <a:rPr lang="en-US" sz="3600" dirty="0"/>
              <a:t>: Scenario 2 of 2</a:t>
            </a:r>
          </a:p>
        </p:txBody>
      </p:sp>
      <p:sp>
        <p:nvSpPr>
          <p:cNvPr id="2" name="Footer Placeholder 1">
            <a:extLst>
              <a:ext uri="{FF2B5EF4-FFF2-40B4-BE49-F238E27FC236}">
                <a16:creationId xmlns:a16="http://schemas.microsoft.com/office/drawing/2014/main" id="{51E646A1-EDF0-6740-AF23-385069AE46A6}"/>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defPPr>
              <a:defRPr lang="en-US"/>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2019 Amazon Web Services, Inc. or its Affiliates. All rights reserved.</a:t>
            </a:r>
            <a:endParaRPr lang="en-US" dirty="0"/>
          </a:p>
        </p:txBody>
      </p:sp>
      <p:sp>
        <p:nvSpPr>
          <p:cNvPr id="5" name="Slide Number Placeholder 4">
            <a:extLst>
              <a:ext uri="{FF2B5EF4-FFF2-40B4-BE49-F238E27FC236}">
                <a16:creationId xmlns:a16="http://schemas.microsoft.com/office/drawing/2014/main" id="{675D8BB1-3643-6B45-996C-47BCC8095C8A}"/>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a:t>
            </a:fld>
            <a:endParaRPr lang="en-US" dirty="0"/>
          </a:p>
        </p:txBody>
      </p:sp>
      <p:sp>
        <p:nvSpPr>
          <p:cNvPr id="27" name="Content Placeholder 2">
            <a:extLst>
              <a:ext uri="{FF2B5EF4-FFF2-40B4-BE49-F238E27FC236}">
                <a16:creationId xmlns:a16="http://schemas.microsoft.com/office/drawing/2014/main" id="{3168251C-9A60-F14C-9D92-CD0B1D639F03}"/>
              </a:ext>
            </a:extLst>
          </p:cNvPr>
          <p:cNvSpPr txBox="1">
            <a:spLocks/>
          </p:cNvSpPr>
          <p:nvPr/>
        </p:nvSpPr>
        <p:spPr>
          <a:xfrm>
            <a:off x="5339455" y="1927954"/>
            <a:ext cx="3100845" cy="39829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t>Ensuring that the AWS Management Console is not hacked?</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a:pPr>
            <a:r>
              <a:rPr lang="en-US" sz="1600" dirty="0"/>
              <a:t>Configuring the subnet?</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a:pPr>
            <a:r>
              <a:rPr lang="en-US" sz="1600" dirty="0"/>
              <a:t>Configuring the VPC?</a:t>
            </a:r>
          </a:p>
          <a:p>
            <a:pPr lvl="1"/>
            <a:r>
              <a:rPr lang="en-US" sz="1600" b="1" dirty="0">
                <a:solidFill>
                  <a:schemeClr val="accent5"/>
                </a:solidFill>
              </a:rPr>
              <a:t>ANSWER:</a:t>
            </a:r>
            <a:endParaRPr lang="en-US" sz="1600" dirty="0"/>
          </a:p>
          <a:p>
            <a:pPr marL="342900" indent="-342900">
              <a:buFont typeface="+mj-lt"/>
              <a:buAutoNum type="arabicPeriod"/>
            </a:pPr>
            <a:r>
              <a:rPr lang="en-US" sz="1600" dirty="0"/>
              <a:t>Protecting against network outages in AWS Regions?</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a:pPr>
            <a:r>
              <a:rPr lang="en-US" sz="1600" dirty="0"/>
              <a:t>Securing the SSH keys</a:t>
            </a:r>
          </a:p>
          <a:p>
            <a:pPr lvl="1"/>
            <a:r>
              <a:rPr lang="en-US" sz="1600" b="1" dirty="0">
                <a:solidFill>
                  <a:schemeClr val="accent5"/>
                </a:solidFill>
              </a:rPr>
              <a:t>ANSWER:</a:t>
            </a:r>
            <a:endParaRPr lang="en-US" sz="1600" dirty="0">
              <a:solidFill>
                <a:schemeClr val="accent6"/>
              </a:solidFill>
            </a:endParaRPr>
          </a:p>
          <a:p>
            <a:pPr marL="0" indent="0">
              <a:buNone/>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a:p>
            <a:pPr marL="342900" indent="-342900">
              <a:buFont typeface="+mj-lt"/>
              <a:buAutoNum type="arabicPeriod"/>
            </a:pPr>
            <a:endParaRPr lang="en-US" sz="1600" dirty="0"/>
          </a:p>
        </p:txBody>
      </p:sp>
      <p:sp>
        <p:nvSpPr>
          <p:cNvPr id="6" name="TextBox 5">
            <a:extLst>
              <a:ext uri="{FF2B5EF4-FFF2-40B4-BE49-F238E27FC236}">
                <a16:creationId xmlns:a16="http://schemas.microsoft.com/office/drawing/2014/main" id="{6281A826-29AD-774B-AE52-A047C7B4AD91}"/>
              </a:ext>
            </a:extLst>
          </p:cNvPr>
          <p:cNvSpPr txBox="1"/>
          <p:nvPr/>
        </p:nvSpPr>
        <p:spPr>
          <a:xfrm>
            <a:off x="419100" y="1281787"/>
            <a:ext cx="11159893" cy="461665"/>
          </a:xfrm>
          <a:prstGeom prst="rect">
            <a:avLst/>
          </a:prstGeom>
          <a:noFill/>
        </p:spPr>
        <p:txBody>
          <a:bodyPr wrap="square" rtlCol="0">
            <a:spAutoFit/>
          </a:bodyPr>
          <a:lstStyle/>
          <a:p>
            <a:r>
              <a:rPr lang="en-US" sz="2400" b="1" dirty="0">
                <a:solidFill>
                  <a:schemeClr val="accent5"/>
                </a:solidFill>
              </a:rPr>
              <a:t>Consider this deployment. Who is responsible – AWS or the customer?</a:t>
            </a:r>
            <a:endPar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0" name="Content Placeholder 2">
            <a:extLst>
              <a:ext uri="{FF2B5EF4-FFF2-40B4-BE49-F238E27FC236}">
                <a16:creationId xmlns:a16="http://schemas.microsoft.com/office/drawing/2014/main" id="{0D6A1B44-E47E-714D-A549-0CCAF10451D2}"/>
              </a:ext>
            </a:extLst>
          </p:cNvPr>
          <p:cNvSpPr txBox="1">
            <a:spLocks/>
          </p:cNvSpPr>
          <p:nvPr/>
        </p:nvSpPr>
        <p:spPr>
          <a:xfrm>
            <a:off x="8622570" y="1903906"/>
            <a:ext cx="3094358" cy="38087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6"/>
            </a:pPr>
            <a:r>
              <a:rPr lang="en-US" sz="1600" dirty="0"/>
              <a:t>Ensuring network isolation between AWS customers' data?</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startAt="6"/>
            </a:pPr>
            <a:r>
              <a:rPr lang="en-US" sz="1600" dirty="0"/>
              <a:t>Ensuring low-latency network connection between the web server and the S3 bucket?</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startAt="6"/>
            </a:pPr>
            <a:r>
              <a:rPr lang="en-US" sz="1600" dirty="0"/>
              <a:t>Enforcing multi-factor authentication for all user logins?</a:t>
            </a:r>
          </a:p>
          <a:p>
            <a:pPr lvl="1"/>
            <a:r>
              <a:rPr lang="en-US" sz="1600" b="1" dirty="0">
                <a:solidFill>
                  <a:schemeClr val="accent5"/>
                </a:solidFill>
              </a:rPr>
              <a:t>ANSWER:</a:t>
            </a:r>
            <a:endParaRPr lang="en-US" sz="1600" dirty="0">
              <a:solidFill>
                <a:schemeClr val="accent6"/>
              </a:solidFill>
            </a:endParaRPr>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a:p>
            <a:pPr marL="342900" indent="-342900">
              <a:buFont typeface="+mj-lt"/>
              <a:buAutoNum type="arabicPeriod" startAt="6"/>
            </a:pPr>
            <a:endParaRPr lang="en-US" sz="1600" dirty="0"/>
          </a:p>
        </p:txBody>
      </p:sp>
      <p:grpSp>
        <p:nvGrpSpPr>
          <p:cNvPr id="69" name="Group 68" descr="architectural diagram showing a web server running on EC2 inside a subnet and VPC. The web server connects to an S3 bucket. The web server is accessible via an internet gateway either using the AWS Management console or using the AWS Command Line Interface which makes use of SSH keys.">
            <a:extLst>
              <a:ext uri="{FF2B5EF4-FFF2-40B4-BE49-F238E27FC236}">
                <a16:creationId xmlns:a16="http://schemas.microsoft.com/office/drawing/2014/main" id="{A8C3AAE5-CBEC-4E40-A07B-716E921584C6}"/>
              </a:ext>
            </a:extLst>
          </p:cNvPr>
          <p:cNvGrpSpPr/>
          <p:nvPr/>
        </p:nvGrpSpPr>
        <p:grpSpPr>
          <a:xfrm>
            <a:off x="219918" y="1736422"/>
            <a:ext cx="4714783" cy="4602597"/>
            <a:chOff x="219918" y="1736422"/>
            <a:chExt cx="4714783" cy="4602597"/>
          </a:xfrm>
        </p:grpSpPr>
        <p:cxnSp>
          <p:nvCxnSpPr>
            <p:cNvPr id="29" name="Elbow Connector 28">
              <a:extLst>
                <a:ext uri="{FF2B5EF4-FFF2-40B4-BE49-F238E27FC236}">
                  <a16:creationId xmlns:a16="http://schemas.microsoft.com/office/drawing/2014/main" id="{2D1F2B09-6FEF-E349-8A32-D00785F20A6D}"/>
                </a:ext>
              </a:extLst>
            </p:cNvPr>
            <p:cNvCxnSpPr>
              <a:cxnSpLocks/>
              <a:stCxn id="48" idx="3"/>
            </p:cNvCxnSpPr>
            <p:nvPr/>
          </p:nvCxnSpPr>
          <p:spPr>
            <a:xfrm>
              <a:off x="1237910" y="2228943"/>
              <a:ext cx="1656517" cy="804387"/>
            </a:xfrm>
            <a:prstGeom prst="bentConnector3">
              <a:avLst>
                <a:gd name="adj1" fmla="val 33666"/>
              </a:avLst>
            </a:prstGeom>
            <a:noFill/>
            <a:ln w="12700" cap="flat" cmpd="sng" algn="ctr">
              <a:solidFill>
                <a:srgbClr val="535B63"/>
              </a:solidFill>
              <a:prstDash val="solid"/>
              <a:miter lim="800000"/>
              <a:headEnd type="none" w="med" len="sm"/>
              <a:tailEnd type="arrow" w="med" len="sm"/>
            </a:ln>
            <a:effectLst/>
          </p:spPr>
        </p:cxnSp>
        <p:pic>
          <p:nvPicPr>
            <p:cNvPr id="49" name="Graphic 48">
              <a:extLst>
                <a:ext uri="{FF2B5EF4-FFF2-40B4-BE49-F238E27FC236}">
                  <a16:creationId xmlns:a16="http://schemas.microsoft.com/office/drawing/2014/main" id="{531ED385-B2FD-BF47-9A49-E97A409C7F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1394" y="2197905"/>
              <a:ext cx="457701" cy="469900"/>
            </a:xfrm>
            <a:prstGeom prst="rect">
              <a:avLst/>
            </a:prstGeom>
          </p:spPr>
        </p:pic>
        <p:sp>
          <p:nvSpPr>
            <p:cNvPr id="50" name="TextBox 49">
              <a:extLst>
                <a:ext uri="{FF2B5EF4-FFF2-40B4-BE49-F238E27FC236}">
                  <a16:creationId xmlns:a16="http://schemas.microsoft.com/office/drawing/2014/main" id="{72658523-8B40-D346-9666-E98D1E1ADE6E}"/>
                </a:ext>
              </a:extLst>
            </p:cNvPr>
            <p:cNvSpPr txBox="1"/>
            <p:nvPr/>
          </p:nvSpPr>
          <p:spPr>
            <a:xfrm>
              <a:off x="1651911" y="1736422"/>
              <a:ext cx="1654521" cy="584775"/>
            </a:xfrm>
            <a:prstGeom prst="rect">
              <a:avLst/>
            </a:prstGeom>
            <a:noFill/>
          </p:spPr>
          <p:txBody>
            <a:bodyPr wrap="square" rtlCol="0">
              <a:spAutoFit/>
            </a:bodyPr>
            <a:lstStyle/>
            <a:p>
              <a:pPr algn="ctr"/>
              <a:r>
                <a:rPr lang="en-US" sz="1600" dirty="0"/>
                <a:t>Secure Shell (SSH) keys</a:t>
              </a:r>
            </a:p>
          </p:txBody>
        </p:sp>
        <p:cxnSp>
          <p:nvCxnSpPr>
            <p:cNvPr id="51" name="Elbow Connector 50">
              <a:extLst>
                <a:ext uri="{FF2B5EF4-FFF2-40B4-BE49-F238E27FC236}">
                  <a16:creationId xmlns:a16="http://schemas.microsoft.com/office/drawing/2014/main" id="{5BD07F69-700E-884D-B4CF-93C1AEA7F3F4}"/>
                </a:ext>
              </a:extLst>
            </p:cNvPr>
            <p:cNvCxnSpPr>
              <a:cxnSpLocks/>
            </p:cNvCxnSpPr>
            <p:nvPr/>
          </p:nvCxnSpPr>
          <p:spPr>
            <a:xfrm rot="5400000">
              <a:off x="2761063" y="3726974"/>
              <a:ext cx="478362" cy="12700"/>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52" name="TextBox 51">
              <a:extLst>
                <a:ext uri="{FF2B5EF4-FFF2-40B4-BE49-F238E27FC236}">
                  <a16:creationId xmlns:a16="http://schemas.microsoft.com/office/drawing/2014/main" id="{7031ADB8-A4C6-C247-AFB4-3881186804C1}"/>
                </a:ext>
              </a:extLst>
            </p:cNvPr>
            <p:cNvSpPr txBox="1"/>
            <p:nvPr/>
          </p:nvSpPr>
          <p:spPr>
            <a:xfrm>
              <a:off x="3190332" y="2389052"/>
              <a:ext cx="1744369" cy="830997"/>
            </a:xfrm>
            <a:prstGeom prst="rect">
              <a:avLst/>
            </a:prstGeom>
            <a:noFill/>
          </p:spPr>
          <p:txBody>
            <a:bodyPr wrap="square" rtlCol="0">
              <a:spAutoFit/>
            </a:bodyPr>
            <a:lstStyle/>
            <a:p>
              <a:pPr algn="ctr"/>
              <a:r>
                <a:rPr lang="en-US" sz="1600" dirty="0"/>
                <a:t>AWS Command Line Interface (AWS CLI)</a:t>
              </a:r>
            </a:p>
          </p:txBody>
        </p:sp>
        <p:pic>
          <p:nvPicPr>
            <p:cNvPr id="53" name="Graphic 52">
              <a:extLst>
                <a:ext uri="{FF2B5EF4-FFF2-40B4-BE49-F238E27FC236}">
                  <a16:creationId xmlns:a16="http://schemas.microsoft.com/office/drawing/2014/main" id="{E44619DA-359E-4F40-A8E9-68A7A4DB64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53118" y="1846050"/>
              <a:ext cx="565776" cy="580855"/>
            </a:xfrm>
            <a:prstGeom prst="rect">
              <a:avLst/>
            </a:prstGeom>
          </p:spPr>
        </p:pic>
        <p:cxnSp>
          <p:nvCxnSpPr>
            <p:cNvPr id="56" name="Elbow Connector 55">
              <a:extLst>
                <a:ext uri="{FF2B5EF4-FFF2-40B4-BE49-F238E27FC236}">
                  <a16:creationId xmlns:a16="http://schemas.microsoft.com/office/drawing/2014/main" id="{B26B98A1-316C-FF43-8A94-60DD40BC2ECA}"/>
                </a:ext>
              </a:extLst>
            </p:cNvPr>
            <p:cNvCxnSpPr>
              <a:cxnSpLocks/>
              <a:stCxn id="53" idx="1"/>
              <a:endCxn id="37" idx="0"/>
            </p:cNvCxnSpPr>
            <p:nvPr/>
          </p:nvCxnSpPr>
          <p:spPr>
            <a:xfrm rot="10800000" flipV="1">
              <a:off x="3000246" y="2136478"/>
              <a:ext cx="852873" cy="836336"/>
            </a:xfrm>
            <a:prstGeom prst="bentConnector2">
              <a:avLst/>
            </a:prstGeom>
            <a:noFill/>
            <a:ln w="12700" cap="flat" cmpd="sng" algn="ctr">
              <a:solidFill>
                <a:srgbClr val="535B63"/>
              </a:solidFill>
              <a:prstDash val="solid"/>
              <a:miter lim="800000"/>
              <a:headEnd type="none" w="med" len="sm"/>
              <a:tailEnd type="arrow" w="med" len="sm"/>
            </a:ln>
            <a:effectLst/>
          </p:spPr>
        </p:cxnSp>
        <p:sp>
          <p:nvSpPr>
            <p:cNvPr id="32" name="Rectangle 31">
              <a:extLst>
                <a:ext uri="{FF2B5EF4-FFF2-40B4-BE49-F238E27FC236}">
                  <a16:creationId xmlns:a16="http://schemas.microsoft.com/office/drawing/2014/main" id="{AA5CD74C-F5EF-A241-B6AE-3C17EBFBE46F}"/>
                </a:ext>
              </a:extLst>
            </p:cNvPr>
            <p:cNvSpPr/>
            <p:nvPr/>
          </p:nvSpPr>
          <p:spPr>
            <a:xfrm>
              <a:off x="469116" y="3411196"/>
              <a:ext cx="4373767" cy="205728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mazon Ember" panose="02000000000000000000" pitchFamily="2" charset="0"/>
                  <a:ea typeface="+mn-ea"/>
                  <a:cs typeface="+mn-cs"/>
                </a:rPr>
                <a:t>VPC</a:t>
              </a:r>
            </a:p>
          </p:txBody>
        </p:sp>
        <p:pic>
          <p:nvPicPr>
            <p:cNvPr id="33" name="Graphic 36">
              <a:extLst>
                <a:ext uri="{FF2B5EF4-FFF2-40B4-BE49-F238E27FC236}">
                  <a16:creationId xmlns:a16="http://schemas.microsoft.com/office/drawing/2014/main" id="{9811B841-9D14-C748-AFA7-7854903D7D4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2267" y="3416034"/>
              <a:ext cx="262682" cy="269683"/>
            </a:xfrm>
            <a:prstGeom prst="rect">
              <a:avLst/>
            </a:prstGeom>
          </p:spPr>
        </p:pic>
        <p:sp>
          <p:nvSpPr>
            <p:cNvPr id="34" name="Rectangle 33">
              <a:extLst>
                <a:ext uri="{FF2B5EF4-FFF2-40B4-BE49-F238E27FC236}">
                  <a16:creationId xmlns:a16="http://schemas.microsoft.com/office/drawing/2014/main" id="{C131ED40-2401-644B-BF59-0BE0230450B1}"/>
                </a:ext>
              </a:extLst>
            </p:cNvPr>
            <p:cNvSpPr/>
            <p:nvPr/>
          </p:nvSpPr>
          <p:spPr>
            <a:xfrm>
              <a:off x="795309" y="3818030"/>
              <a:ext cx="3912683" cy="1294595"/>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latin typeface="Amazon Ember" panose="02000000000000000000" pitchFamily="2" charset="0"/>
                  <a:ea typeface="+mn-ea"/>
                  <a:cs typeface="+mn-cs"/>
                </a:rPr>
                <a:t>Subnet</a:t>
              </a:r>
            </a:p>
          </p:txBody>
        </p:sp>
        <p:pic>
          <p:nvPicPr>
            <p:cNvPr id="35" name="Graphic 37">
              <a:extLst>
                <a:ext uri="{FF2B5EF4-FFF2-40B4-BE49-F238E27FC236}">
                  <a16:creationId xmlns:a16="http://schemas.microsoft.com/office/drawing/2014/main" id="{D9486AA8-E2E4-074D-88A8-8B9A997FA9B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09" y="3818030"/>
              <a:ext cx="262682" cy="269683"/>
            </a:xfrm>
            <a:prstGeom prst="rect">
              <a:avLst/>
            </a:prstGeom>
          </p:spPr>
        </p:pic>
        <p:sp>
          <p:nvSpPr>
            <p:cNvPr id="36" name="TextBox 35">
              <a:extLst>
                <a:ext uri="{FF2B5EF4-FFF2-40B4-BE49-F238E27FC236}">
                  <a16:creationId xmlns:a16="http://schemas.microsoft.com/office/drawing/2014/main" id="{91A29267-F422-EF4A-8503-B04364985912}"/>
                </a:ext>
              </a:extLst>
            </p:cNvPr>
            <p:cNvSpPr txBox="1"/>
            <p:nvPr/>
          </p:nvSpPr>
          <p:spPr>
            <a:xfrm>
              <a:off x="3184722" y="3118782"/>
              <a:ext cx="100208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D"/>
                  </a:solidFill>
                  <a:effectLst/>
                  <a:uLnTx/>
                  <a:uFillTx/>
                  <a:ea typeface="+mn-ea"/>
                  <a:cs typeface="+mn-cs"/>
                </a:rPr>
                <a:t>Internet gateway</a:t>
              </a:r>
            </a:p>
          </p:txBody>
        </p:sp>
        <p:pic>
          <p:nvPicPr>
            <p:cNvPr id="37" name="Graphic 36">
              <a:extLst>
                <a:ext uri="{FF2B5EF4-FFF2-40B4-BE49-F238E27FC236}">
                  <a16:creationId xmlns:a16="http://schemas.microsoft.com/office/drawing/2014/main" id="{1AF7F657-4644-2C41-90F1-CB2AEE42C73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49439" y="2972814"/>
              <a:ext cx="501611" cy="514979"/>
            </a:xfrm>
            <a:prstGeom prst="rect">
              <a:avLst/>
            </a:prstGeom>
          </p:spPr>
        </p:pic>
        <p:pic>
          <p:nvPicPr>
            <p:cNvPr id="40" name="Graphic 135">
              <a:extLst>
                <a:ext uri="{FF2B5EF4-FFF2-40B4-BE49-F238E27FC236}">
                  <a16:creationId xmlns:a16="http://schemas.microsoft.com/office/drawing/2014/main" id="{5EFB97B7-F4DA-0A4D-9623-8150FF55381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4057" y="3966155"/>
              <a:ext cx="612375" cy="628695"/>
            </a:xfrm>
            <a:prstGeom prst="rect">
              <a:avLst/>
            </a:prstGeom>
          </p:spPr>
        </p:pic>
        <p:sp>
          <p:nvSpPr>
            <p:cNvPr id="41" name="TextBox 40">
              <a:extLst>
                <a:ext uri="{FF2B5EF4-FFF2-40B4-BE49-F238E27FC236}">
                  <a16:creationId xmlns:a16="http://schemas.microsoft.com/office/drawing/2014/main" id="{9E1136AA-E256-144D-8568-46F909B87562}"/>
                </a:ext>
              </a:extLst>
            </p:cNvPr>
            <p:cNvSpPr txBox="1"/>
            <p:nvPr/>
          </p:nvSpPr>
          <p:spPr>
            <a:xfrm>
              <a:off x="2173362" y="4549451"/>
              <a:ext cx="165376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D"/>
                  </a:solidFill>
                  <a:effectLst/>
                  <a:uLnTx/>
                  <a:uFillTx/>
                  <a:ea typeface="+mn-ea"/>
                  <a:cs typeface="+mn-cs"/>
                </a:rPr>
                <a:t>Web server on Amazon EC2</a:t>
              </a:r>
            </a:p>
          </p:txBody>
        </p:sp>
        <p:sp>
          <p:nvSpPr>
            <p:cNvPr id="47" name="TextBox 46">
              <a:extLst>
                <a:ext uri="{FF2B5EF4-FFF2-40B4-BE49-F238E27FC236}">
                  <a16:creationId xmlns:a16="http://schemas.microsoft.com/office/drawing/2014/main" id="{EC2E0B8E-58D0-434B-B646-2E3D055B896A}"/>
                </a:ext>
              </a:extLst>
            </p:cNvPr>
            <p:cNvSpPr txBox="1"/>
            <p:nvPr/>
          </p:nvSpPr>
          <p:spPr>
            <a:xfrm>
              <a:off x="219918" y="2531688"/>
              <a:ext cx="153132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AWS Management Console</a:t>
              </a:r>
            </a:p>
          </p:txBody>
        </p:sp>
        <p:pic>
          <p:nvPicPr>
            <p:cNvPr id="48" name="Graphic 34">
              <a:extLst>
                <a:ext uri="{FF2B5EF4-FFF2-40B4-BE49-F238E27FC236}">
                  <a16:creationId xmlns:a16="http://schemas.microsoft.com/office/drawing/2014/main" id="{A3076FA9-C9F1-C044-AEC9-E2F28F5D1A1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2135" y="1938516"/>
              <a:ext cx="565776" cy="580855"/>
            </a:xfrm>
            <a:prstGeom prst="rect">
              <a:avLst/>
            </a:prstGeom>
          </p:spPr>
        </p:pic>
        <p:pic>
          <p:nvPicPr>
            <p:cNvPr id="61" name="Graphic 60">
              <a:extLst>
                <a:ext uri="{FF2B5EF4-FFF2-40B4-BE49-F238E27FC236}">
                  <a16:creationId xmlns:a16="http://schemas.microsoft.com/office/drawing/2014/main" id="{5BD26303-2D9D-6E4D-ABF8-0A43BFC2CF5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76093" y="5755869"/>
              <a:ext cx="469900" cy="469900"/>
            </a:xfrm>
            <a:prstGeom prst="rect">
              <a:avLst/>
            </a:prstGeom>
          </p:spPr>
        </p:pic>
        <p:sp>
          <p:nvSpPr>
            <p:cNvPr id="62" name="TextBox 61">
              <a:extLst>
                <a:ext uri="{FF2B5EF4-FFF2-40B4-BE49-F238E27FC236}">
                  <a16:creationId xmlns:a16="http://schemas.microsoft.com/office/drawing/2014/main" id="{51B8C04D-1D8E-DB4C-8C1B-C3FA7062A7B6}"/>
                </a:ext>
              </a:extLst>
            </p:cNvPr>
            <p:cNvSpPr txBox="1"/>
            <p:nvPr/>
          </p:nvSpPr>
          <p:spPr>
            <a:xfrm>
              <a:off x="2786331" y="5754244"/>
              <a:ext cx="1479734" cy="584775"/>
            </a:xfrm>
            <a:prstGeom prst="rect">
              <a:avLst/>
            </a:prstGeom>
            <a:noFill/>
          </p:spPr>
          <p:txBody>
            <a:bodyPr wrap="square" rtlCol="0">
              <a:spAutoFit/>
            </a:bodyPr>
            <a:lstStyle/>
            <a:p>
              <a:pPr algn="ctr"/>
              <a:r>
                <a:rPr lang="en-US" sz="1600" dirty="0"/>
                <a:t>S3 bucket with objects</a:t>
              </a:r>
            </a:p>
          </p:txBody>
        </p:sp>
        <p:cxnSp>
          <p:nvCxnSpPr>
            <p:cNvPr id="63" name="Elbow Connector 62">
              <a:extLst>
                <a:ext uri="{FF2B5EF4-FFF2-40B4-BE49-F238E27FC236}">
                  <a16:creationId xmlns:a16="http://schemas.microsoft.com/office/drawing/2014/main" id="{FE883950-B7D4-3046-9023-3543374F1367}"/>
                </a:ext>
              </a:extLst>
            </p:cNvPr>
            <p:cNvCxnSpPr>
              <a:cxnSpLocks/>
              <a:stCxn id="40" idx="3"/>
              <a:endCxn id="61" idx="0"/>
            </p:cNvCxnSpPr>
            <p:nvPr/>
          </p:nvCxnSpPr>
          <p:spPr>
            <a:xfrm>
              <a:off x="3306432" y="4280503"/>
              <a:ext cx="1104611" cy="1475366"/>
            </a:xfrm>
            <a:prstGeom prst="bentConnector2">
              <a:avLst/>
            </a:prstGeom>
            <a:noFill/>
            <a:ln w="12700" cap="flat" cmpd="sng" algn="ctr">
              <a:solidFill>
                <a:srgbClr val="535B63"/>
              </a:solidFill>
              <a:prstDash val="solid"/>
              <a:miter lim="800000"/>
              <a:headEnd type="triangle" w="med" len="sm"/>
              <a:tailEnd type="arrow" w="med" len="sm"/>
            </a:ln>
            <a:effectLst/>
          </p:spPr>
        </p:cxnSp>
      </p:grpSp>
    </p:spTree>
    <p:custDataLst>
      <p:tags r:id="rId1"/>
    </p:custDataLst>
    <p:extLst>
      <p:ext uri="{BB962C8B-B14F-4D97-AF65-F5344CB8AC3E}">
        <p14:creationId xmlns:p14="http://schemas.microsoft.com/office/powerpoint/2010/main" val="324154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833</Words>
  <Application>Microsoft Office PowerPoint</Application>
  <PresentationFormat>Widescreen</PresentationFormat>
  <Paragraphs>87</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Amazon Ember</vt:lpstr>
      <vt:lpstr>Amazon Ember Light</vt:lpstr>
      <vt:lpstr>Arial</vt:lpstr>
      <vt:lpstr>Calibri</vt:lpstr>
      <vt:lpstr>Calibri Light</vt:lpstr>
      <vt:lpstr>Office Theme</vt:lpstr>
      <vt:lpstr>Activity: AWS shared responsibility model</vt:lpstr>
      <vt:lpstr>Activity: Scenario 1 of 2</vt:lpstr>
      <vt:lpstr>Activity: Scenario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AWS shared responsibility model</dc:title>
  <dc:creator>SHAHLIZA ABD HALIM</dc:creator>
  <cp:lastModifiedBy>SHAHLIZA ABD HALIM</cp:lastModifiedBy>
  <cp:revision>2</cp:revision>
  <cp:lastPrinted>2021-12-01T14:28:49Z</cp:lastPrinted>
  <dcterms:created xsi:type="dcterms:W3CDTF">2021-12-01T14:24:08Z</dcterms:created>
  <dcterms:modified xsi:type="dcterms:W3CDTF">2021-12-01T14:44:17Z</dcterms:modified>
</cp:coreProperties>
</file>